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notesSlides/notesSlide7.xml" ContentType="application/vnd.openxmlformats-officedocument.presentationml.notesSlide+xml"/>
  <Override PartName="/ppt/tags/tag2.xml" ContentType="application/vnd.openxmlformats-officedocument.presentationml.tags+xml"/>
  <Override PartName="/ppt/notesSlides/notesSlide8.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9.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0.xml" ContentType="application/vnd.openxmlformats-officedocument.presentationml.tags+xml"/>
  <Override PartName="/ppt/notesSlides/notesSlide15.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16.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17.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6"/>
  </p:notesMasterIdLst>
  <p:sldIdLst>
    <p:sldId id="961" r:id="rId3"/>
    <p:sldId id="1355" r:id="rId4"/>
    <p:sldId id="1403" r:id="rId5"/>
    <p:sldId id="1426" r:id="rId6"/>
    <p:sldId id="1427" r:id="rId7"/>
    <p:sldId id="1428" r:id="rId8"/>
    <p:sldId id="1429" r:id="rId9"/>
    <p:sldId id="1430" r:id="rId10"/>
    <p:sldId id="1221" r:id="rId11"/>
    <p:sldId id="1453" r:id="rId12"/>
    <p:sldId id="1454" r:id="rId13"/>
    <p:sldId id="1455" r:id="rId14"/>
    <p:sldId id="1459" r:id="rId15"/>
    <p:sldId id="1468" r:id="rId16"/>
    <p:sldId id="1460" r:id="rId17"/>
    <p:sldId id="1461" r:id="rId18"/>
    <p:sldId id="1462" r:id="rId19"/>
    <p:sldId id="1463" r:id="rId20"/>
    <p:sldId id="1464" r:id="rId21"/>
    <p:sldId id="1465" r:id="rId22"/>
    <p:sldId id="1466" r:id="rId23"/>
    <p:sldId id="1467" r:id="rId24"/>
    <p:sldId id="962"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85445" autoAdjust="0"/>
  </p:normalViewPr>
  <p:slideViewPr>
    <p:cSldViewPr snapToGrid="0">
      <p:cViewPr varScale="1">
        <p:scale>
          <a:sx n="171" d="100"/>
          <a:sy n="171" d="100"/>
        </p:scale>
        <p:origin x="2933" y="11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E44C7FD-46B9-404C-9767-5E96954E74E7}" type="doc">
      <dgm:prSet loTypeId="urn:microsoft.com/office/officeart/2005/8/layout/venn2" loCatId="relationship" qsTypeId="urn:microsoft.com/office/officeart/2005/8/quickstyle/simple1" qsCatId="simple" csTypeId="urn:microsoft.com/office/officeart/2005/8/colors/accent1_2" csCatId="accent1" phldr="1"/>
      <dgm:spPr/>
      <dgm:t>
        <a:bodyPr/>
        <a:lstStyle/>
        <a:p>
          <a:endParaRPr lang="en-US"/>
        </a:p>
      </dgm:t>
    </dgm:pt>
    <dgm:pt modelId="{328A25BF-AD81-4718-8D31-56023ED8CA04}">
      <dgm:prSet phldrT="[Text]" custT="1"/>
      <dgm:spPr>
        <a:solidFill>
          <a:schemeClr val="accent1">
            <a:hueOff val="0"/>
            <a:satOff val="0"/>
            <a:lumOff val="0"/>
            <a:alpha val="60000"/>
          </a:schemeClr>
        </a:solidFill>
      </dgm:spPr>
      <dgm:t>
        <a:bodyPr/>
        <a:lstStyle/>
        <a:p>
          <a:r>
            <a:rPr lang="en-US" sz="1300" dirty="0"/>
            <a:t>Aleatoric</a:t>
          </a:r>
        </a:p>
        <a:p>
          <a:r>
            <a:rPr lang="en-US" sz="1300" dirty="0"/>
            <a:t>Variability</a:t>
          </a:r>
        </a:p>
      </dgm:t>
    </dgm:pt>
    <dgm:pt modelId="{F03F5302-88E0-4A89-A147-6A817FEC3BF9}" type="parTrans" cxnId="{8CFAEDE8-CC38-4AE7-8890-8B60324AF249}">
      <dgm:prSet/>
      <dgm:spPr/>
      <dgm:t>
        <a:bodyPr/>
        <a:lstStyle/>
        <a:p>
          <a:endParaRPr lang="en-US"/>
        </a:p>
      </dgm:t>
    </dgm:pt>
    <dgm:pt modelId="{3FF4E84C-BD6B-414E-8E73-17F5D8CE9855}" type="sibTrans" cxnId="{8CFAEDE8-CC38-4AE7-8890-8B60324AF249}">
      <dgm:prSet/>
      <dgm:spPr/>
      <dgm:t>
        <a:bodyPr/>
        <a:lstStyle/>
        <a:p>
          <a:endParaRPr lang="en-US"/>
        </a:p>
      </dgm:t>
    </dgm:pt>
    <dgm:pt modelId="{EA2AEBD1-1E0C-4619-A9AE-C96A5CAA52FD}">
      <dgm:prSet phldrT="[Text]" custT="1"/>
      <dgm:spPr/>
      <dgm:t>
        <a:bodyPr/>
        <a:lstStyle/>
        <a:p>
          <a:r>
            <a:rPr lang="en-US" sz="1900" dirty="0"/>
            <a:t>Reality</a:t>
          </a:r>
        </a:p>
      </dgm:t>
    </dgm:pt>
    <dgm:pt modelId="{F1A4E7E7-C614-4BDB-BA9A-D0A7453AAA40}" type="sibTrans" cxnId="{B5DF8083-128A-4A50-8687-7D7FA6C67D36}">
      <dgm:prSet/>
      <dgm:spPr/>
      <dgm:t>
        <a:bodyPr/>
        <a:lstStyle/>
        <a:p>
          <a:endParaRPr lang="en-US"/>
        </a:p>
      </dgm:t>
    </dgm:pt>
    <dgm:pt modelId="{59ECE446-76E6-47E6-B14A-AC9969F44887}" type="parTrans" cxnId="{B5DF8083-128A-4A50-8687-7D7FA6C67D36}">
      <dgm:prSet/>
      <dgm:spPr/>
      <dgm:t>
        <a:bodyPr/>
        <a:lstStyle/>
        <a:p>
          <a:endParaRPr lang="en-US"/>
        </a:p>
      </dgm:t>
    </dgm:pt>
    <dgm:pt modelId="{1C63989B-5D9A-4F57-B970-CF8553D802A5}">
      <dgm:prSet phldrT="[Text]" custT="1"/>
      <dgm:spPr>
        <a:solidFill>
          <a:schemeClr val="accent1">
            <a:hueOff val="0"/>
            <a:satOff val="0"/>
            <a:lumOff val="0"/>
            <a:alpha val="60000"/>
          </a:schemeClr>
        </a:solidFill>
      </dgm:spPr>
      <dgm:t>
        <a:bodyPr/>
        <a:lstStyle/>
        <a:p>
          <a:r>
            <a:rPr lang="en-US" sz="1300" dirty="0"/>
            <a:t>Noise</a:t>
          </a:r>
          <a:r>
            <a:rPr lang="en-US" sz="1300" baseline="0" dirty="0"/>
            <a:t> Uncertainty</a:t>
          </a:r>
          <a:endParaRPr lang="en-US" sz="1300" dirty="0"/>
        </a:p>
      </dgm:t>
    </dgm:pt>
    <dgm:pt modelId="{813DAC94-229F-48D6-95B8-A126994A3203}" type="sibTrans" cxnId="{C50C52D4-2AD5-4165-A148-D88AFC387E68}">
      <dgm:prSet/>
      <dgm:spPr/>
      <dgm:t>
        <a:bodyPr/>
        <a:lstStyle/>
        <a:p>
          <a:endParaRPr lang="en-US"/>
        </a:p>
      </dgm:t>
    </dgm:pt>
    <dgm:pt modelId="{123A52C9-177D-49E7-AFDC-09BC284EB110}" type="parTrans" cxnId="{C50C52D4-2AD5-4165-A148-D88AFC387E68}">
      <dgm:prSet/>
      <dgm:spPr/>
      <dgm:t>
        <a:bodyPr/>
        <a:lstStyle/>
        <a:p>
          <a:endParaRPr lang="en-US"/>
        </a:p>
      </dgm:t>
    </dgm:pt>
    <dgm:pt modelId="{985757C2-3092-4EC9-8AA9-2A2EAE09B84F}" type="pres">
      <dgm:prSet presAssocID="{2E44C7FD-46B9-404C-9767-5E96954E74E7}" presName="Name0" presStyleCnt="0">
        <dgm:presLayoutVars>
          <dgm:chMax val="7"/>
          <dgm:resizeHandles val="exact"/>
        </dgm:presLayoutVars>
      </dgm:prSet>
      <dgm:spPr/>
    </dgm:pt>
    <dgm:pt modelId="{5A270A1E-6415-4859-A2E5-8EC35AED88F3}" type="pres">
      <dgm:prSet presAssocID="{2E44C7FD-46B9-404C-9767-5E96954E74E7}" presName="comp1" presStyleCnt="0"/>
      <dgm:spPr/>
    </dgm:pt>
    <dgm:pt modelId="{AE09059A-C5B5-4F54-889E-E0940DBD5535}" type="pres">
      <dgm:prSet presAssocID="{2E44C7FD-46B9-404C-9767-5E96954E74E7}" presName="circle1" presStyleLbl="node1" presStyleIdx="0" presStyleCnt="3"/>
      <dgm:spPr/>
    </dgm:pt>
    <dgm:pt modelId="{4389E4F9-EA46-404E-840C-470D57D6B4A7}" type="pres">
      <dgm:prSet presAssocID="{2E44C7FD-46B9-404C-9767-5E96954E74E7}" presName="c1text" presStyleLbl="node1" presStyleIdx="0" presStyleCnt="3">
        <dgm:presLayoutVars>
          <dgm:bulletEnabled val="1"/>
        </dgm:presLayoutVars>
      </dgm:prSet>
      <dgm:spPr/>
    </dgm:pt>
    <dgm:pt modelId="{E4BEF01C-BF64-46E8-9E73-26A9CE8F742C}" type="pres">
      <dgm:prSet presAssocID="{2E44C7FD-46B9-404C-9767-5E96954E74E7}" presName="comp2" presStyleCnt="0"/>
      <dgm:spPr/>
    </dgm:pt>
    <dgm:pt modelId="{886D0D3A-00EA-44EA-83C6-25815EADC376}" type="pres">
      <dgm:prSet presAssocID="{2E44C7FD-46B9-404C-9767-5E96954E74E7}" presName="circle2" presStyleLbl="node1" presStyleIdx="1" presStyleCnt="3"/>
      <dgm:spPr/>
    </dgm:pt>
    <dgm:pt modelId="{68680E29-9F23-4D63-9528-840A52B8ED6C}" type="pres">
      <dgm:prSet presAssocID="{2E44C7FD-46B9-404C-9767-5E96954E74E7}" presName="c2text" presStyleLbl="node1" presStyleIdx="1" presStyleCnt="3">
        <dgm:presLayoutVars>
          <dgm:bulletEnabled val="1"/>
        </dgm:presLayoutVars>
      </dgm:prSet>
      <dgm:spPr/>
    </dgm:pt>
    <dgm:pt modelId="{62B8FA44-5094-499B-AE9A-A3D6AB4AB469}" type="pres">
      <dgm:prSet presAssocID="{2E44C7FD-46B9-404C-9767-5E96954E74E7}" presName="comp3" presStyleCnt="0"/>
      <dgm:spPr/>
    </dgm:pt>
    <dgm:pt modelId="{260BD720-D2E3-4846-9883-A08B066BBAB5}" type="pres">
      <dgm:prSet presAssocID="{2E44C7FD-46B9-404C-9767-5E96954E74E7}" presName="circle3" presStyleLbl="node1" presStyleIdx="2" presStyleCnt="3" custLinFactNeighborY="749"/>
      <dgm:spPr/>
    </dgm:pt>
    <dgm:pt modelId="{848D74BB-45E3-463D-B7E0-CB1B3DCA6ED3}" type="pres">
      <dgm:prSet presAssocID="{2E44C7FD-46B9-404C-9767-5E96954E74E7}" presName="c3text" presStyleLbl="node1" presStyleIdx="2" presStyleCnt="3">
        <dgm:presLayoutVars>
          <dgm:bulletEnabled val="1"/>
        </dgm:presLayoutVars>
      </dgm:prSet>
      <dgm:spPr/>
    </dgm:pt>
  </dgm:ptLst>
  <dgm:cxnLst>
    <dgm:cxn modelId="{497B2D21-EF24-4E78-9D87-88FD7B176008}" type="presOf" srcId="{2E44C7FD-46B9-404C-9767-5E96954E74E7}" destId="{985757C2-3092-4EC9-8AA9-2A2EAE09B84F}" srcOrd="0" destOrd="0" presId="urn:microsoft.com/office/officeart/2005/8/layout/venn2"/>
    <dgm:cxn modelId="{27450433-E6FF-471E-B0A6-0548C28DD452}" type="presOf" srcId="{1C63989B-5D9A-4F57-B970-CF8553D802A5}" destId="{AE09059A-C5B5-4F54-889E-E0940DBD5535}" srcOrd="0" destOrd="0" presId="urn:microsoft.com/office/officeart/2005/8/layout/venn2"/>
    <dgm:cxn modelId="{16ACA864-406E-4E41-989D-5E29456AD503}" type="presOf" srcId="{1C63989B-5D9A-4F57-B970-CF8553D802A5}" destId="{4389E4F9-EA46-404E-840C-470D57D6B4A7}" srcOrd="1" destOrd="0" presId="urn:microsoft.com/office/officeart/2005/8/layout/venn2"/>
    <dgm:cxn modelId="{BC05A64F-31C9-4C3B-A9CC-639F217AF2C9}" type="presOf" srcId="{EA2AEBD1-1E0C-4619-A9AE-C96A5CAA52FD}" destId="{848D74BB-45E3-463D-B7E0-CB1B3DCA6ED3}" srcOrd="1" destOrd="0" presId="urn:microsoft.com/office/officeart/2005/8/layout/venn2"/>
    <dgm:cxn modelId="{B5DF8083-128A-4A50-8687-7D7FA6C67D36}" srcId="{2E44C7FD-46B9-404C-9767-5E96954E74E7}" destId="{EA2AEBD1-1E0C-4619-A9AE-C96A5CAA52FD}" srcOrd="2" destOrd="0" parTransId="{59ECE446-76E6-47E6-B14A-AC9969F44887}" sibTransId="{F1A4E7E7-C614-4BDB-BA9A-D0A7453AAA40}"/>
    <dgm:cxn modelId="{701FCA8B-F49A-4057-8FB6-9CE0FB430643}" type="presOf" srcId="{328A25BF-AD81-4718-8D31-56023ED8CA04}" destId="{886D0D3A-00EA-44EA-83C6-25815EADC376}" srcOrd="0" destOrd="0" presId="urn:microsoft.com/office/officeart/2005/8/layout/venn2"/>
    <dgm:cxn modelId="{C50C52D4-2AD5-4165-A148-D88AFC387E68}" srcId="{2E44C7FD-46B9-404C-9767-5E96954E74E7}" destId="{1C63989B-5D9A-4F57-B970-CF8553D802A5}" srcOrd="0" destOrd="0" parTransId="{123A52C9-177D-49E7-AFDC-09BC284EB110}" sibTransId="{813DAC94-229F-48D6-95B8-A126994A3203}"/>
    <dgm:cxn modelId="{8CFAEDE8-CC38-4AE7-8890-8B60324AF249}" srcId="{2E44C7FD-46B9-404C-9767-5E96954E74E7}" destId="{328A25BF-AD81-4718-8D31-56023ED8CA04}" srcOrd="1" destOrd="0" parTransId="{F03F5302-88E0-4A89-A147-6A817FEC3BF9}" sibTransId="{3FF4E84C-BD6B-414E-8E73-17F5D8CE9855}"/>
    <dgm:cxn modelId="{A3D903ED-C341-4F9F-9506-F88C093A5206}" type="presOf" srcId="{328A25BF-AD81-4718-8D31-56023ED8CA04}" destId="{68680E29-9F23-4D63-9528-840A52B8ED6C}" srcOrd="1" destOrd="0" presId="urn:microsoft.com/office/officeart/2005/8/layout/venn2"/>
    <dgm:cxn modelId="{3C8062F3-FE62-465C-ADBC-39917A76F0AD}" type="presOf" srcId="{EA2AEBD1-1E0C-4619-A9AE-C96A5CAA52FD}" destId="{260BD720-D2E3-4846-9883-A08B066BBAB5}" srcOrd="0" destOrd="0" presId="urn:microsoft.com/office/officeart/2005/8/layout/venn2"/>
    <dgm:cxn modelId="{B38A88AC-0801-49F0-9F77-B03A473A8ECE}" type="presParOf" srcId="{985757C2-3092-4EC9-8AA9-2A2EAE09B84F}" destId="{5A270A1E-6415-4859-A2E5-8EC35AED88F3}" srcOrd="0" destOrd="0" presId="urn:microsoft.com/office/officeart/2005/8/layout/venn2"/>
    <dgm:cxn modelId="{C2FD6242-8801-4C5D-B46E-0B85053D8154}" type="presParOf" srcId="{5A270A1E-6415-4859-A2E5-8EC35AED88F3}" destId="{AE09059A-C5B5-4F54-889E-E0940DBD5535}" srcOrd="0" destOrd="0" presId="urn:microsoft.com/office/officeart/2005/8/layout/venn2"/>
    <dgm:cxn modelId="{C90A7CBC-6D07-4484-B913-503D9D4FF77A}" type="presParOf" srcId="{5A270A1E-6415-4859-A2E5-8EC35AED88F3}" destId="{4389E4F9-EA46-404E-840C-470D57D6B4A7}" srcOrd="1" destOrd="0" presId="urn:microsoft.com/office/officeart/2005/8/layout/venn2"/>
    <dgm:cxn modelId="{8421D5B9-A391-4894-8956-E852A34C057A}" type="presParOf" srcId="{985757C2-3092-4EC9-8AA9-2A2EAE09B84F}" destId="{E4BEF01C-BF64-46E8-9E73-26A9CE8F742C}" srcOrd="1" destOrd="0" presId="urn:microsoft.com/office/officeart/2005/8/layout/venn2"/>
    <dgm:cxn modelId="{ED8164BE-D1D3-42FC-A5B0-91BC90D68EDF}" type="presParOf" srcId="{E4BEF01C-BF64-46E8-9E73-26A9CE8F742C}" destId="{886D0D3A-00EA-44EA-83C6-25815EADC376}" srcOrd="0" destOrd="0" presId="urn:microsoft.com/office/officeart/2005/8/layout/venn2"/>
    <dgm:cxn modelId="{FF02BDC6-C97E-4EB2-907E-FC728F2FB289}" type="presParOf" srcId="{E4BEF01C-BF64-46E8-9E73-26A9CE8F742C}" destId="{68680E29-9F23-4D63-9528-840A52B8ED6C}" srcOrd="1" destOrd="0" presId="urn:microsoft.com/office/officeart/2005/8/layout/venn2"/>
    <dgm:cxn modelId="{CAA2474C-6EE6-470E-A074-5693991F91E2}" type="presParOf" srcId="{985757C2-3092-4EC9-8AA9-2A2EAE09B84F}" destId="{62B8FA44-5094-499B-AE9A-A3D6AB4AB469}" srcOrd="2" destOrd="0" presId="urn:microsoft.com/office/officeart/2005/8/layout/venn2"/>
    <dgm:cxn modelId="{C88EA3B7-1F70-4068-A5E3-7FB346559006}" type="presParOf" srcId="{62B8FA44-5094-499B-AE9A-A3D6AB4AB469}" destId="{260BD720-D2E3-4846-9883-A08B066BBAB5}" srcOrd="0" destOrd="0" presId="urn:microsoft.com/office/officeart/2005/8/layout/venn2"/>
    <dgm:cxn modelId="{6384DC75-14FD-4AA6-B6B7-B9CDD25E41AF}" type="presParOf" srcId="{62B8FA44-5094-499B-AE9A-A3D6AB4AB469}" destId="{848D74BB-45E3-463D-B7E0-CB1B3DCA6ED3}" srcOrd="1" destOrd="0" presId="urn:microsoft.com/office/officeart/2005/8/layout/ven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E44C7FD-46B9-404C-9767-5E96954E74E7}" type="doc">
      <dgm:prSet loTypeId="urn:microsoft.com/office/officeart/2005/8/layout/venn2" loCatId="relationship" qsTypeId="urn:microsoft.com/office/officeart/2005/8/quickstyle/simple1" qsCatId="simple" csTypeId="urn:microsoft.com/office/officeart/2005/8/colors/accent1_2" csCatId="accent1" phldr="1"/>
      <dgm:spPr/>
      <dgm:t>
        <a:bodyPr/>
        <a:lstStyle/>
        <a:p>
          <a:endParaRPr lang="en-US"/>
        </a:p>
      </dgm:t>
    </dgm:pt>
    <dgm:pt modelId="{328A25BF-AD81-4718-8D31-56023ED8CA04}">
      <dgm:prSet phldrT="[Text]" custT="1"/>
      <dgm:spPr>
        <a:solidFill>
          <a:schemeClr val="accent1">
            <a:hueOff val="0"/>
            <a:satOff val="0"/>
            <a:lumOff val="0"/>
            <a:alpha val="60000"/>
          </a:schemeClr>
        </a:solidFill>
      </dgm:spPr>
      <dgm:t>
        <a:bodyPr/>
        <a:lstStyle/>
        <a:p>
          <a:r>
            <a:rPr lang="en-US" sz="1300" dirty="0"/>
            <a:t>Noise Model</a:t>
          </a:r>
        </a:p>
      </dgm:t>
    </dgm:pt>
    <dgm:pt modelId="{F03F5302-88E0-4A89-A147-6A817FEC3BF9}" type="parTrans" cxnId="{8CFAEDE8-CC38-4AE7-8890-8B60324AF249}">
      <dgm:prSet/>
      <dgm:spPr/>
      <dgm:t>
        <a:bodyPr/>
        <a:lstStyle/>
        <a:p>
          <a:endParaRPr lang="en-US"/>
        </a:p>
      </dgm:t>
    </dgm:pt>
    <dgm:pt modelId="{3FF4E84C-BD6B-414E-8E73-17F5D8CE9855}" type="sibTrans" cxnId="{8CFAEDE8-CC38-4AE7-8890-8B60324AF249}">
      <dgm:prSet/>
      <dgm:spPr/>
      <dgm:t>
        <a:bodyPr/>
        <a:lstStyle/>
        <a:p>
          <a:endParaRPr lang="en-US"/>
        </a:p>
      </dgm:t>
    </dgm:pt>
    <dgm:pt modelId="{EA2AEBD1-1E0C-4619-A9AE-C96A5CAA52FD}">
      <dgm:prSet phldrT="[Text]" custT="1"/>
      <dgm:spPr/>
      <dgm:t>
        <a:bodyPr/>
        <a:lstStyle/>
        <a:p>
          <a:r>
            <a:rPr lang="en-US" sz="1900" dirty="0"/>
            <a:t>Reality</a:t>
          </a:r>
        </a:p>
      </dgm:t>
    </dgm:pt>
    <dgm:pt modelId="{F1A4E7E7-C614-4BDB-BA9A-D0A7453AAA40}" type="sibTrans" cxnId="{B5DF8083-128A-4A50-8687-7D7FA6C67D36}">
      <dgm:prSet/>
      <dgm:spPr/>
      <dgm:t>
        <a:bodyPr/>
        <a:lstStyle/>
        <a:p>
          <a:endParaRPr lang="en-US"/>
        </a:p>
      </dgm:t>
    </dgm:pt>
    <dgm:pt modelId="{59ECE446-76E6-47E6-B14A-AC9969F44887}" type="parTrans" cxnId="{B5DF8083-128A-4A50-8687-7D7FA6C67D36}">
      <dgm:prSet/>
      <dgm:spPr/>
      <dgm:t>
        <a:bodyPr/>
        <a:lstStyle/>
        <a:p>
          <a:endParaRPr lang="en-US"/>
        </a:p>
      </dgm:t>
    </dgm:pt>
    <dgm:pt modelId="{985757C2-3092-4EC9-8AA9-2A2EAE09B84F}" type="pres">
      <dgm:prSet presAssocID="{2E44C7FD-46B9-404C-9767-5E96954E74E7}" presName="Name0" presStyleCnt="0">
        <dgm:presLayoutVars>
          <dgm:chMax val="7"/>
          <dgm:resizeHandles val="exact"/>
        </dgm:presLayoutVars>
      </dgm:prSet>
      <dgm:spPr/>
    </dgm:pt>
    <dgm:pt modelId="{5A270A1E-6415-4859-A2E5-8EC35AED88F3}" type="pres">
      <dgm:prSet presAssocID="{2E44C7FD-46B9-404C-9767-5E96954E74E7}" presName="comp1" presStyleCnt="0"/>
      <dgm:spPr/>
    </dgm:pt>
    <dgm:pt modelId="{AE09059A-C5B5-4F54-889E-E0940DBD5535}" type="pres">
      <dgm:prSet presAssocID="{2E44C7FD-46B9-404C-9767-5E96954E74E7}" presName="circle1" presStyleLbl="node1" presStyleIdx="0" presStyleCnt="2"/>
      <dgm:spPr/>
    </dgm:pt>
    <dgm:pt modelId="{4389E4F9-EA46-404E-840C-470D57D6B4A7}" type="pres">
      <dgm:prSet presAssocID="{2E44C7FD-46B9-404C-9767-5E96954E74E7}" presName="c1text" presStyleLbl="node1" presStyleIdx="0" presStyleCnt="2">
        <dgm:presLayoutVars>
          <dgm:bulletEnabled val="1"/>
        </dgm:presLayoutVars>
      </dgm:prSet>
      <dgm:spPr/>
    </dgm:pt>
    <dgm:pt modelId="{E4BEF01C-BF64-46E8-9E73-26A9CE8F742C}" type="pres">
      <dgm:prSet presAssocID="{2E44C7FD-46B9-404C-9767-5E96954E74E7}" presName="comp2" presStyleCnt="0"/>
      <dgm:spPr/>
    </dgm:pt>
    <dgm:pt modelId="{886D0D3A-00EA-44EA-83C6-25815EADC376}" type="pres">
      <dgm:prSet presAssocID="{2E44C7FD-46B9-404C-9767-5E96954E74E7}" presName="circle2" presStyleLbl="node1" presStyleIdx="1" presStyleCnt="2"/>
      <dgm:spPr/>
    </dgm:pt>
    <dgm:pt modelId="{68680E29-9F23-4D63-9528-840A52B8ED6C}" type="pres">
      <dgm:prSet presAssocID="{2E44C7FD-46B9-404C-9767-5E96954E74E7}" presName="c2text" presStyleLbl="node1" presStyleIdx="1" presStyleCnt="2">
        <dgm:presLayoutVars>
          <dgm:bulletEnabled val="1"/>
        </dgm:presLayoutVars>
      </dgm:prSet>
      <dgm:spPr/>
    </dgm:pt>
  </dgm:ptLst>
  <dgm:cxnLst>
    <dgm:cxn modelId="{E6114E00-68EB-40FE-B378-E4FA57DAAA58}" type="presOf" srcId="{EA2AEBD1-1E0C-4619-A9AE-C96A5CAA52FD}" destId="{886D0D3A-00EA-44EA-83C6-25815EADC376}" srcOrd="0" destOrd="0" presId="urn:microsoft.com/office/officeart/2005/8/layout/venn2"/>
    <dgm:cxn modelId="{D033F80D-DC92-436F-8785-D13140DBADE3}" type="presOf" srcId="{328A25BF-AD81-4718-8D31-56023ED8CA04}" destId="{AE09059A-C5B5-4F54-889E-E0940DBD5535}" srcOrd="0" destOrd="0" presId="urn:microsoft.com/office/officeart/2005/8/layout/venn2"/>
    <dgm:cxn modelId="{497B2D21-EF24-4E78-9D87-88FD7B176008}" type="presOf" srcId="{2E44C7FD-46B9-404C-9767-5E96954E74E7}" destId="{985757C2-3092-4EC9-8AA9-2A2EAE09B84F}" srcOrd="0" destOrd="0" presId="urn:microsoft.com/office/officeart/2005/8/layout/venn2"/>
    <dgm:cxn modelId="{3DCF624E-1731-4613-B4AE-3A2433F39B2A}" type="presOf" srcId="{EA2AEBD1-1E0C-4619-A9AE-C96A5CAA52FD}" destId="{68680E29-9F23-4D63-9528-840A52B8ED6C}" srcOrd="1" destOrd="0" presId="urn:microsoft.com/office/officeart/2005/8/layout/venn2"/>
    <dgm:cxn modelId="{ADD09478-75E0-4660-8BCB-ECAAEA738FAD}" type="presOf" srcId="{328A25BF-AD81-4718-8D31-56023ED8CA04}" destId="{4389E4F9-EA46-404E-840C-470D57D6B4A7}" srcOrd="1" destOrd="0" presId="urn:microsoft.com/office/officeart/2005/8/layout/venn2"/>
    <dgm:cxn modelId="{B5DF8083-128A-4A50-8687-7D7FA6C67D36}" srcId="{2E44C7FD-46B9-404C-9767-5E96954E74E7}" destId="{EA2AEBD1-1E0C-4619-A9AE-C96A5CAA52FD}" srcOrd="1" destOrd="0" parTransId="{59ECE446-76E6-47E6-B14A-AC9969F44887}" sibTransId="{F1A4E7E7-C614-4BDB-BA9A-D0A7453AAA40}"/>
    <dgm:cxn modelId="{8CFAEDE8-CC38-4AE7-8890-8B60324AF249}" srcId="{2E44C7FD-46B9-404C-9767-5E96954E74E7}" destId="{328A25BF-AD81-4718-8D31-56023ED8CA04}" srcOrd="0" destOrd="0" parTransId="{F03F5302-88E0-4A89-A147-6A817FEC3BF9}" sibTransId="{3FF4E84C-BD6B-414E-8E73-17F5D8CE9855}"/>
    <dgm:cxn modelId="{B38A88AC-0801-49F0-9F77-B03A473A8ECE}" type="presParOf" srcId="{985757C2-3092-4EC9-8AA9-2A2EAE09B84F}" destId="{5A270A1E-6415-4859-A2E5-8EC35AED88F3}" srcOrd="0" destOrd="0" presId="urn:microsoft.com/office/officeart/2005/8/layout/venn2"/>
    <dgm:cxn modelId="{C2FD6242-8801-4C5D-B46E-0B85053D8154}" type="presParOf" srcId="{5A270A1E-6415-4859-A2E5-8EC35AED88F3}" destId="{AE09059A-C5B5-4F54-889E-E0940DBD5535}" srcOrd="0" destOrd="0" presId="urn:microsoft.com/office/officeart/2005/8/layout/venn2"/>
    <dgm:cxn modelId="{C90A7CBC-6D07-4484-B913-503D9D4FF77A}" type="presParOf" srcId="{5A270A1E-6415-4859-A2E5-8EC35AED88F3}" destId="{4389E4F9-EA46-404E-840C-470D57D6B4A7}" srcOrd="1" destOrd="0" presId="urn:microsoft.com/office/officeart/2005/8/layout/venn2"/>
    <dgm:cxn modelId="{8421D5B9-A391-4894-8956-E852A34C057A}" type="presParOf" srcId="{985757C2-3092-4EC9-8AA9-2A2EAE09B84F}" destId="{E4BEF01C-BF64-46E8-9E73-26A9CE8F742C}" srcOrd="1" destOrd="0" presId="urn:microsoft.com/office/officeart/2005/8/layout/venn2"/>
    <dgm:cxn modelId="{ED8164BE-D1D3-42FC-A5B0-91BC90D68EDF}" type="presParOf" srcId="{E4BEF01C-BF64-46E8-9E73-26A9CE8F742C}" destId="{886D0D3A-00EA-44EA-83C6-25815EADC376}" srcOrd="0" destOrd="0" presId="urn:microsoft.com/office/officeart/2005/8/layout/venn2"/>
    <dgm:cxn modelId="{FF02BDC6-C97E-4EB2-907E-FC728F2FB289}" type="presParOf" srcId="{E4BEF01C-BF64-46E8-9E73-26A9CE8F742C}" destId="{68680E29-9F23-4D63-9528-840A52B8ED6C}" srcOrd="1" destOrd="0" presId="urn:microsoft.com/office/officeart/2005/8/layout/ven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E44C7FD-46B9-404C-9767-5E96954E74E7}" type="doc">
      <dgm:prSet loTypeId="urn:microsoft.com/office/officeart/2005/8/layout/venn2" loCatId="relationship" qsTypeId="urn:microsoft.com/office/officeart/2005/8/quickstyle/simple1" qsCatId="simple" csTypeId="urn:microsoft.com/office/officeart/2005/8/colors/accent1_2" csCatId="accent1" phldr="1"/>
      <dgm:spPr/>
      <dgm:t>
        <a:bodyPr/>
        <a:lstStyle/>
        <a:p>
          <a:endParaRPr lang="en-US"/>
        </a:p>
      </dgm:t>
    </dgm:pt>
    <dgm:pt modelId="{328A25BF-AD81-4718-8D31-56023ED8CA04}">
      <dgm:prSet phldrT="[Text]" custT="1"/>
      <dgm:spPr>
        <a:solidFill>
          <a:schemeClr val="accent1">
            <a:hueOff val="0"/>
            <a:satOff val="0"/>
            <a:lumOff val="0"/>
            <a:alpha val="60000"/>
          </a:schemeClr>
        </a:solidFill>
      </dgm:spPr>
      <dgm:t>
        <a:bodyPr/>
        <a:lstStyle/>
        <a:p>
          <a:r>
            <a:rPr lang="en-US" sz="1300" dirty="0"/>
            <a:t>Inadequacy Model</a:t>
          </a:r>
        </a:p>
      </dgm:t>
    </dgm:pt>
    <dgm:pt modelId="{F03F5302-88E0-4A89-A147-6A817FEC3BF9}" type="parTrans" cxnId="{8CFAEDE8-CC38-4AE7-8890-8B60324AF249}">
      <dgm:prSet/>
      <dgm:spPr/>
      <dgm:t>
        <a:bodyPr/>
        <a:lstStyle/>
        <a:p>
          <a:endParaRPr lang="en-US"/>
        </a:p>
      </dgm:t>
    </dgm:pt>
    <dgm:pt modelId="{3FF4E84C-BD6B-414E-8E73-17F5D8CE9855}" type="sibTrans" cxnId="{8CFAEDE8-CC38-4AE7-8890-8B60324AF249}">
      <dgm:prSet/>
      <dgm:spPr/>
      <dgm:t>
        <a:bodyPr/>
        <a:lstStyle/>
        <a:p>
          <a:endParaRPr lang="en-US"/>
        </a:p>
      </dgm:t>
    </dgm:pt>
    <dgm:pt modelId="{EA2AEBD1-1E0C-4619-A9AE-C96A5CAA52FD}">
      <dgm:prSet phldrT="[Text]" custT="1"/>
      <dgm:spPr/>
      <dgm:t>
        <a:bodyPr/>
        <a:lstStyle/>
        <a:p>
          <a:r>
            <a:rPr lang="en-US" sz="1900" dirty="0"/>
            <a:t>Physical Model</a:t>
          </a:r>
        </a:p>
      </dgm:t>
    </dgm:pt>
    <dgm:pt modelId="{F1A4E7E7-C614-4BDB-BA9A-D0A7453AAA40}" type="sibTrans" cxnId="{B5DF8083-128A-4A50-8687-7D7FA6C67D36}">
      <dgm:prSet/>
      <dgm:spPr/>
      <dgm:t>
        <a:bodyPr/>
        <a:lstStyle/>
        <a:p>
          <a:endParaRPr lang="en-US"/>
        </a:p>
      </dgm:t>
    </dgm:pt>
    <dgm:pt modelId="{59ECE446-76E6-47E6-B14A-AC9969F44887}" type="parTrans" cxnId="{B5DF8083-128A-4A50-8687-7D7FA6C67D36}">
      <dgm:prSet/>
      <dgm:spPr/>
      <dgm:t>
        <a:bodyPr/>
        <a:lstStyle/>
        <a:p>
          <a:endParaRPr lang="en-US"/>
        </a:p>
      </dgm:t>
    </dgm:pt>
    <dgm:pt modelId="{985757C2-3092-4EC9-8AA9-2A2EAE09B84F}" type="pres">
      <dgm:prSet presAssocID="{2E44C7FD-46B9-404C-9767-5E96954E74E7}" presName="Name0" presStyleCnt="0">
        <dgm:presLayoutVars>
          <dgm:chMax val="7"/>
          <dgm:resizeHandles val="exact"/>
        </dgm:presLayoutVars>
      </dgm:prSet>
      <dgm:spPr/>
    </dgm:pt>
    <dgm:pt modelId="{5A270A1E-6415-4859-A2E5-8EC35AED88F3}" type="pres">
      <dgm:prSet presAssocID="{2E44C7FD-46B9-404C-9767-5E96954E74E7}" presName="comp1" presStyleCnt="0"/>
      <dgm:spPr/>
    </dgm:pt>
    <dgm:pt modelId="{AE09059A-C5B5-4F54-889E-E0940DBD5535}" type="pres">
      <dgm:prSet presAssocID="{2E44C7FD-46B9-404C-9767-5E96954E74E7}" presName="circle1" presStyleLbl="node1" presStyleIdx="0" presStyleCnt="2"/>
      <dgm:spPr/>
    </dgm:pt>
    <dgm:pt modelId="{4389E4F9-EA46-404E-840C-470D57D6B4A7}" type="pres">
      <dgm:prSet presAssocID="{2E44C7FD-46B9-404C-9767-5E96954E74E7}" presName="c1text" presStyleLbl="node1" presStyleIdx="0" presStyleCnt="2">
        <dgm:presLayoutVars>
          <dgm:bulletEnabled val="1"/>
        </dgm:presLayoutVars>
      </dgm:prSet>
      <dgm:spPr/>
    </dgm:pt>
    <dgm:pt modelId="{E4BEF01C-BF64-46E8-9E73-26A9CE8F742C}" type="pres">
      <dgm:prSet presAssocID="{2E44C7FD-46B9-404C-9767-5E96954E74E7}" presName="comp2" presStyleCnt="0"/>
      <dgm:spPr/>
    </dgm:pt>
    <dgm:pt modelId="{886D0D3A-00EA-44EA-83C6-25815EADC376}" type="pres">
      <dgm:prSet presAssocID="{2E44C7FD-46B9-404C-9767-5E96954E74E7}" presName="circle2" presStyleLbl="node1" presStyleIdx="1" presStyleCnt="2"/>
      <dgm:spPr/>
    </dgm:pt>
    <dgm:pt modelId="{68680E29-9F23-4D63-9528-840A52B8ED6C}" type="pres">
      <dgm:prSet presAssocID="{2E44C7FD-46B9-404C-9767-5E96954E74E7}" presName="c2text" presStyleLbl="node1" presStyleIdx="1" presStyleCnt="2">
        <dgm:presLayoutVars>
          <dgm:bulletEnabled val="1"/>
        </dgm:presLayoutVars>
      </dgm:prSet>
      <dgm:spPr/>
    </dgm:pt>
  </dgm:ptLst>
  <dgm:cxnLst>
    <dgm:cxn modelId="{E6114E00-68EB-40FE-B378-E4FA57DAAA58}" type="presOf" srcId="{EA2AEBD1-1E0C-4619-A9AE-C96A5CAA52FD}" destId="{886D0D3A-00EA-44EA-83C6-25815EADC376}" srcOrd="0" destOrd="0" presId="urn:microsoft.com/office/officeart/2005/8/layout/venn2"/>
    <dgm:cxn modelId="{D033F80D-DC92-436F-8785-D13140DBADE3}" type="presOf" srcId="{328A25BF-AD81-4718-8D31-56023ED8CA04}" destId="{AE09059A-C5B5-4F54-889E-E0940DBD5535}" srcOrd="0" destOrd="0" presId="urn:microsoft.com/office/officeart/2005/8/layout/venn2"/>
    <dgm:cxn modelId="{497B2D21-EF24-4E78-9D87-88FD7B176008}" type="presOf" srcId="{2E44C7FD-46B9-404C-9767-5E96954E74E7}" destId="{985757C2-3092-4EC9-8AA9-2A2EAE09B84F}" srcOrd="0" destOrd="0" presId="urn:microsoft.com/office/officeart/2005/8/layout/venn2"/>
    <dgm:cxn modelId="{3DCF624E-1731-4613-B4AE-3A2433F39B2A}" type="presOf" srcId="{EA2AEBD1-1E0C-4619-A9AE-C96A5CAA52FD}" destId="{68680E29-9F23-4D63-9528-840A52B8ED6C}" srcOrd="1" destOrd="0" presId="urn:microsoft.com/office/officeart/2005/8/layout/venn2"/>
    <dgm:cxn modelId="{ADD09478-75E0-4660-8BCB-ECAAEA738FAD}" type="presOf" srcId="{328A25BF-AD81-4718-8D31-56023ED8CA04}" destId="{4389E4F9-EA46-404E-840C-470D57D6B4A7}" srcOrd="1" destOrd="0" presId="urn:microsoft.com/office/officeart/2005/8/layout/venn2"/>
    <dgm:cxn modelId="{B5DF8083-128A-4A50-8687-7D7FA6C67D36}" srcId="{2E44C7FD-46B9-404C-9767-5E96954E74E7}" destId="{EA2AEBD1-1E0C-4619-A9AE-C96A5CAA52FD}" srcOrd="1" destOrd="0" parTransId="{59ECE446-76E6-47E6-B14A-AC9969F44887}" sibTransId="{F1A4E7E7-C614-4BDB-BA9A-D0A7453AAA40}"/>
    <dgm:cxn modelId="{8CFAEDE8-CC38-4AE7-8890-8B60324AF249}" srcId="{2E44C7FD-46B9-404C-9767-5E96954E74E7}" destId="{328A25BF-AD81-4718-8D31-56023ED8CA04}" srcOrd="0" destOrd="0" parTransId="{F03F5302-88E0-4A89-A147-6A817FEC3BF9}" sibTransId="{3FF4E84C-BD6B-414E-8E73-17F5D8CE9855}"/>
    <dgm:cxn modelId="{B38A88AC-0801-49F0-9F77-B03A473A8ECE}" type="presParOf" srcId="{985757C2-3092-4EC9-8AA9-2A2EAE09B84F}" destId="{5A270A1E-6415-4859-A2E5-8EC35AED88F3}" srcOrd="0" destOrd="0" presId="urn:microsoft.com/office/officeart/2005/8/layout/venn2"/>
    <dgm:cxn modelId="{C2FD6242-8801-4C5D-B46E-0B85053D8154}" type="presParOf" srcId="{5A270A1E-6415-4859-A2E5-8EC35AED88F3}" destId="{AE09059A-C5B5-4F54-889E-E0940DBD5535}" srcOrd="0" destOrd="0" presId="urn:microsoft.com/office/officeart/2005/8/layout/venn2"/>
    <dgm:cxn modelId="{C90A7CBC-6D07-4484-B913-503D9D4FF77A}" type="presParOf" srcId="{5A270A1E-6415-4859-A2E5-8EC35AED88F3}" destId="{4389E4F9-EA46-404E-840C-470D57D6B4A7}" srcOrd="1" destOrd="0" presId="urn:microsoft.com/office/officeart/2005/8/layout/venn2"/>
    <dgm:cxn modelId="{8421D5B9-A391-4894-8956-E852A34C057A}" type="presParOf" srcId="{985757C2-3092-4EC9-8AA9-2A2EAE09B84F}" destId="{E4BEF01C-BF64-46E8-9E73-26A9CE8F742C}" srcOrd="1" destOrd="0" presId="urn:microsoft.com/office/officeart/2005/8/layout/venn2"/>
    <dgm:cxn modelId="{ED8164BE-D1D3-42FC-A5B0-91BC90D68EDF}" type="presParOf" srcId="{E4BEF01C-BF64-46E8-9E73-26A9CE8F742C}" destId="{886D0D3A-00EA-44EA-83C6-25815EADC376}" srcOrd="0" destOrd="0" presId="urn:microsoft.com/office/officeart/2005/8/layout/venn2"/>
    <dgm:cxn modelId="{FF02BDC6-C97E-4EB2-907E-FC728F2FB289}" type="presParOf" srcId="{E4BEF01C-BF64-46E8-9E73-26A9CE8F742C}" destId="{68680E29-9F23-4D63-9528-840A52B8ED6C}" srcOrd="1" destOrd="0" presId="urn:microsoft.com/office/officeart/2005/8/layout/venn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E44C7FD-46B9-404C-9767-5E96954E74E7}" type="doc">
      <dgm:prSet loTypeId="urn:microsoft.com/office/officeart/2005/8/layout/venn2" loCatId="relationship" qsTypeId="urn:microsoft.com/office/officeart/2005/8/quickstyle/simple1" qsCatId="simple" csTypeId="urn:microsoft.com/office/officeart/2005/8/colors/accent1_2" csCatId="accent1" phldr="1"/>
      <dgm:spPr/>
      <dgm:t>
        <a:bodyPr/>
        <a:lstStyle/>
        <a:p>
          <a:endParaRPr lang="en-US"/>
        </a:p>
      </dgm:t>
    </dgm:pt>
    <dgm:pt modelId="{EA2AEBD1-1E0C-4619-A9AE-C96A5CAA52FD}">
      <dgm:prSet phldrT="[Text]" custT="1"/>
      <dgm:spPr/>
      <dgm:t>
        <a:bodyPr/>
        <a:lstStyle/>
        <a:p>
          <a:r>
            <a:rPr lang="en-US" sz="1500" dirty="0"/>
            <a:t>Physical Model</a:t>
          </a:r>
        </a:p>
      </dgm:t>
    </dgm:pt>
    <dgm:pt modelId="{F1A4E7E7-C614-4BDB-BA9A-D0A7453AAA40}" type="sibTrans" cxnId="{B5DF8083-128A-4A50-8687-7D7FA6C67D36}">
      <dgm:prSet/>
      <dgm:spPr/>
      <dgm:t>
        <a:bodyPr/>
        <a:lstStyle/>
        <a:p>
          <a:endParaRPr lang="en-US"/>
        </a:p>
      </dgm:t>
    </dgm:pt>
    <dgm:pt modelId="{59ECE446-76E6-47E6-B14A-AC9969F44887}" type="parTrans" cxnId="{B5DF8083-128A-4A50-8687-7D7FA6C67D36}">
      <dgm:prSet/>
      <dgm:spPr/>
      <dgm:t>
        <a:bodyPr/>
        <a:lstStyle/>
        <a:p>
          <a:endParaRPr lang="en-US"/>
        </a:p>
      </dgm:t>
    </dgm:pt>
    <dgm:pt modelId="{985757C2-3092-4EC9-8AA9-2A2EAE09B84F}" type="pres">
      <dgm:prSet presAssocID="{2E44C7FD-46B9-404C-9767-5E96954E74E7}" presName="Name0" presStyleCnt="0">
        <dgm:presLayoutVars>
          <dgm:chMax val="7"/>
          <dgm:resizeHandles val="exact"/>
        </dgm:presLayoutVars>
      </dgm:prSet>
      <dgm:spPr/>
    </dgm:pt>
    <dgm:pt modelId="{5A270A1E-6415-4859-A2E5-8EC35AED88F3}" type="pres">
      <dgm:prSet presAssocID="{2E44C7FD-46B9-404C-9767-5E96954E74E7}" presName="comp1" presStyleCnt="0"/>
      <dgm:spPr/>
    </dgm:pt>
    <dgm:pt modelId="{AE09059A-C5B5-4F54-889E-E0940DBD5535}" type="pres">
      <dgm:prSet presAssocID="{2E44C7FD-46B9-404C-9767-5E96954E74E7}" presName="circle1" presStyleLbl="node1" presStyleIdx="0" presStyleCnt="1"/>
      <dgm:spPr/>
    </dgm:pt>
    <dgm:pt modelId="{4389E4F9-EA46-404E-840C-470D57D6B4A7}" type="pres">
      <dgm:prSet presAssocID="{2E44C7FD-46B9-404C-9767-5E96954E74E7}" presName="c1text" presStyleLbl="node1" presStyleIdx="0" presStyleCnt="1">
        <dgm:presLayoutVars>
          <dgm:bulletEnabled val="1"/>
        </dgm:presLayoutVars>
      </dgm:prSet>
      <dgm:spPr/>
    </dgm:pt>
  </dgm:ptLst>
  <dgm:cxnLst>
    <dgm:cxn modelId="{497B2D21-EF24-4E78-9D87-88FD7B176008}" type="presOf" srcId="{2E44C7FD-46B9-404C-9767-5E96954E74E7}" destId="{985757C2-3092-4EC9-8AA9-2A2EAE09B84F}" srcOrd="0" destOrd="0" presId="urn:microsoft.com/office/officeart/2005/8/layout/venn2"/>
    <dgm:cxn modelId="{E595F033-A746-4918-A1E4-E2FB41F320E9}" type="presOf" srcId="{EA2AEBD1-1E0C-4619-A9AE-C96A5CAA52FD}" destId="{AE09059A-C5B5-4F54-889E-E0940DBD5535}" srcOrd="0" destOrd="0" presId="urn:microsoft.com/office/officeart/2005/8/layout/venn2"/>
    <dgm:cxn modelId="{17475D48-C520-48F5-83F7-B215E59F84B2}" type="presOf" srcId="{EA2AEBD1-1E0C-4619-A9AE-C96A5CAA52FD}" destId="{4389E4F9-EA46-404E-840C-470D57D6B4A7}" srcOrd="1" destOrd="0" presId="urn:microsoft.com/office/officeart/2005/8/layout/venn2"/>
    <dgm:cxn modelId="{B5DF8083-128A-4A50-8687-7D7FA6C67D36}" srcId="{2E44C7FD-46B9-404C-9767-5E96954E74E7}" destId="{EA2AEBD1-1E0C-4619-A9AE-C96A5CAA52FD}" srcOrd="0" destOrd="0" parTransId="{59ECE446-76E6-47E6-B14A-AC9969F44887}" sibTransId="{F1A4E7E7-C614-4BDB-BA9A-D0A7453AAA40}"/>
    <dgm:cxn modelId="{B38A88AC-0801-49F0-9F77-B03A473A8ECE}" type="presParOf" srcId="{985757C2-3092-4EC9-8AA9-2A2EAE09B84F}" destId="{5A270A1E-6415-4859-A2E5-8EC35AED88F3}" srcOrd="0" destOrd="0" presId="urn:microsoft.com/office/officeart/2005/8/layout/venn2"/>
    <dgm:cxn modelId="{C2FD6242-8801-4C5D-B46E-0B85053D8154}" type="presParOf" srcId="{5A270A1E-6415-4859-A2E5-8EC35AED88F3}" destId="{AE09059A-C5B5-4F54-889E-E0940DBD5535}" srcOrd="0" destOrd="0" presId="urn:microsoft.com/office/officeart/2005/8/layout/venn2"/>
    <dgm:cxn modelId="{C90A7CBC-6D07-4484-B913-503D9D4FF77A}" type="presParOf" srcId="{5A270A1E-6415-4859-A2E5-8EC35AED88F3}" destId="{4389E4F9-EA46-404E-840C-470D57D6B4A7}" srcOrd="1" destOrd="0" presId="urn:microsoft.com/office/officeart/2005/8/layout/venn2"/>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09059A-C5B5-4F54-889E-E0940DBD5535}">
      <dsp:nvSpPr>
        <dsp:cNvPr id="0" name=""/>
        <dsp:cNvSpPr/>
      </dsp:nvSpPr>
      <dsp:spPr>
        <a:xfrm>
          <a:off x="5516049" y="0"/>
          <a:ext cx="2894993" cy="2894993"/>
        </a:xfrm>
        <a:prstGeom prst="ellipse">
          <a:avLst/>
        </a:prstGeom>
        <a:solidFill>
          <a:schemeClr val="accent1">
            <a:hueOff val="0"/>
            <a:satOff val="0"/>
            <a:lumOff val="0"/>
            <a:alpha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kern="1200" dirty="0"/>
            <a:t>Noise</a:t>
          </a:r>
          <a:r>
            <a:rPr lang="en-US" sz="1300" kern="1200" baseline="0" dirty="0"/>
            <a:t> Uncertainty</a:t>
          </a:r>
          <a:endParaRPr lang="en-US" sz="1300" kern="1200" dirty="0"/>
        </a:p>
      </dsp:txBody>
      <dsp:txXfrm>
        <a:off x="6457645" y="144749"/>
        <a:ext cx="1011800" cy="434248"/>
      </dsp:txXfrm>
    </dsp:sp>
    <dsp:sp modelId="{886D0D3A-00EA-44EA-83C6-25815EADC376}">
      <dsp:nvSpPr>
        <dsp:cNvPr id="0" name=""/>
        <dsp:cNvSpPr/>
      </dsp:nvSpPr>
      <dsp:spPr>
        <a:xfrm>
          <a:off x="5877923" y="723748"/>
          <a:ext cx="2171244" cy="2171244"/>
        </a:xfrm>
        <a:prstGeom prst="ellipse">
          <a:avLst/>
        </a:prstGeom>
        <a:solidFill>
          <a:schemeClr val="accent1">
            <a:hueOff val="0"/>
            <a:satOff val="0"/>
            <a:lumOff val="0"/>
            <a:alpha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kern="1200" dirty="0"/>
            <a:t>Aleatoric</a:t>
          </a:r>
        </a:p>
        <a:p>
          <a:pPr marL="0" lvl="0" indent="0" algn="ctr" defTabSz="577850">
            <a:lnSpc>
              <a:spcPct val="90000"/>
            </a:lnSpc>
            <a:spcBef>
              <a:spcPct val="0"/>
            </a:spcBef>
            <a:spcAft>
              <a:spcPct val="35000"/>
            </a:spcAft>
            <a:buNone/>
          </a:pPr>
          <a:r>
            <a:rPr lang="en-US" sz="1300" kern="1200" dirty="0"/>
            <a:t>Variability</a:t>
          </a:r>
        </a:p>
      </dsp:txBody>
      <dsp:txXfrm>
        <a:off x="6457645" y="859451"/>
        <a:ext cx="1011800" cy="407108"/>
      </dsp:txXfrm>
    </dsp:sp>
    <dsp:sp modelId="{260BD720-D2E3-4846-9883-A08B066BBAB5}">
      <dsp:nvSpPr>
        <dsp:cNvPr id="0" name=""/>
        <dsp:cNvSpPr/>
      </dsp:nvSpPr>
      <dsp:spPr>
        <a:xfrm>
          <a:off x="6239797" y="1447496"/>
          <a:ext cx="1447496" cy="144749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dirty="0"/>
            <a:t>Reality</a:t>
          </a:r>
        </a:p>
      </dsp:txBody>
      <dsp:txXfrm>
        <a:off x="6451778" y="1809370"/>
        <a:ext cx="1023534" cy="7237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09059A-C5B5-4F54-889E-E0940DBD5535}">
      <dsp:nvSpPr>
        <dsp:cNvPr id="0" name=""/>
        <dsp:cNvSpPr/>
      </dsp:nvSpPr>
      <dsp:spPr>
        <a:xfrm>
          <a:off x="233766" y="0"/>
          <a:ext cx="2021863" cy="2021863"/>
        </a:xfrm>
        <a:prstGeom prst="ellipse">
          <a:avLst/>
        </a:prstGeom>
        <a:solidFill>
          <a:schemeClr val="accent1">
            <a:hueOff val="0"/>
            <a:satOff val="0"/>
            <a:lumOff val="0"/>
            <a:alpha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kern="1200" dirty="0"/>
            <a:t>Noise Model</a:t>
          </a:r>
        </a:p>
      </dsp:txBody>
      <dsp:txXfrm>
        <a:off x="713958" y="151639"/>
        <a:ext cx="1061478" cy="343716"/>
      </dsp:txXfrm>
    </dsp:sp>
    <dsp:sp modelId="{886D0D3A-00EA-44EA-83C6-25815EADC376}">
      <dsp:nvSpPr>
        <dsp:cNvPr id="0" name=""/>
        <dsp:cNvSpPr/>
      </dsp:nvSpPr>
      <dsp:spPr>
        <a:xfrm>
          <a:off x="486499" y="505465"/>
          <a:ext cx="1516397" cy="151639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dirty="0"/>
            <a:t>Reality</a:t>
          </a:r>
        </a:p>
      </dsp:txBody>
      <dsp:txXfrm>
        <a:off x="708570" y="884565"/>
        <a:ext cx="1072254" cy="75819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09059A-C5B5-4F54-889E-E0940DBD5535}">
      <dsp:nvSpPr>
        <dsp:cNvPr id="0" name=""/>
        <dsp:cNvSpPr/>
      </dsp:nvSpPr>
      <dsp:spPr>
        <a:xfrm>
          <a:off x="233766" y="0"/>
          <a:ext cx="2021863" cy="2021863"/>
        </a:xfrm>
        <a:prstGeom prst="ellipse">
          <a:avLst/>
        </a:prstGeom>
        <a:solidFill>
          <a:schemeClr val="accent1">
            <a:hueOff val="0"/>
            <a:satOff val="0"/>
            <a:lumOff val="0"/>
            <a:alpha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kern="1200" dirty="0"/>
            <a:t>Inadequacy Model</a:t>
          </a:r>
        </a:p>
      </dsp:txBody>
      <dsp:txXfrm>
        <a:off x="713958" y="151639"/>
        <a:ext cx="1061478" cy="343716"/>
      </dsp:txXfrm>
    </dsp:sp>
    <dsp:sp modelId="{886D0D3A-00EA-44EA-83C6-25815EADC376}">
      <dsp:nvSpPr>
        <dsp:cNvPr id="0" name=""/>
        <dsp:cNvSpPr/>
      </dsp:nvSpPr>
      <dsp:spPr>
        <a:xfrm>
          <a:off x="486499" y="505465"/>
          <a:ext cx="1516397" cy="151639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dirty="0"/>
            <a:t>Physical Model</a:t>
          </a:r>
        </a:p>
      </dsp:txBody>
      <dsp:txXfrm>
        <a:off x="708570" y="884565"/>
        <a:ext cx="1072254" cy="75819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09059A-C5B5-4F54-889E-E0940DBD5535}">
      <dsp:nvSpPr>
        <dsp:cNvPr id="0" name=""/>
        <dsp:cNvSpPr/>
      </dsp:nvSpPr>
      <dsp:spPr>
        <a:xfrm>
          <a:off x="139233" y="0"/>
          <a:ext cx="1204245" cy="120424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dirty="0"/>
            <a:t>Physical Model</a:t>
          </a:r>
        </a:p>
      </dsp:txBody>
      <dsp:txXfrm>
        <a:off x="315591" y="301061"/>
        <a:ext cx="851529" cy="602122"/>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3.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4.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2C3A5D-9EC1-4E2E-A5F5-F57C4274B9D9}" type="datetimeFigureOut">
              <a:rPr lang="en-US" smtClean="0"/>
              <a:t>4/1/2024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E96CD4-D923-48F0-B01E-35879D93E3CB}" type="slidenum">
              <a:rPr lang="en-US" smtClean="0"/>
              <a:t>‹#›</a:t>
            </a:fld>
            <a:endParaRPr lang="en-US"/>
          </a:p>
        </p:txBody>
      </p:sp>
    </p:spTree>
    <p:extLst>
      <p:ext uri="{BB962C8B-B14F-4D97-AF65-F5344CB8AC3E}">
        <p14:creationId xmlns:p14="http://schemas.microsoft.com/office/powerpoint/2010/main" val="2300877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6E074355-CE0D-4C68-A6CB-C364ED71B33B}" type="slidenum">
              <a:rPr kumimoji="0" lang="en-US" sz="1200" b="0" i="0" u="none" strike="noStrike" kern="1200" cap="none" spc="0" normalizeH="0" baseline="0" noProof="0" smtClean="0">
                <a:ln>
                  <a:noFill/>
                </a:ln>
                <a:solidFill>
                  <a:srgbClr val="000000"/>
                </a:solidFill>
                <a:effectLst/>
                <a:uLnTx/>
                <a:uFillTx/>
                <a:latin typeface="Arial" charset="0"/>
              </a:rPr>
              <a:pPr marL="0" marR="0" lvl="0" indent="0" algn="r" defTabSz="914400" rtl="0" eaLnBrk="0" fontAlgn="base" latinLnBrk="0" hangingPunct="0">
                <a:lnSpc>
                  <a:spcPct val="100000"/>
                </a:lnSpc>
                <a:spcBef>
                  <a:spcPct val="0"/>
                </a:spcBef>
                <a:spcAft>
                  <a:spcPct val="0"/>
                </a:spcAft>
                <a:buClrTx/>
                <a:buSzTx/>
                <a:buFontTx/>
                <a:buNone/>
                <a:tabLst/>
                <a:defRPr/>
              </a:pPr>
              <a:t>1</a:t>
            </a:fld>
            <a:endParaRPr kumimoji="0" lang="en-US" sz="1200" b="0" i="0" u="none" strike="noStrike" kern="1200" cap="none" spc="0" normalizeH="0" baseline="0" noProof="0">
              <a:ln>
                <a:noFill/>
              </a:ln>
              <a:solidFill>
                <a:srgbClr val="000000"/>
              </a:solidFill>
              <a:effectLst/>
              <a:uLnTx/>
              <a:uFillTx/>
              <a:latin typeface="Arial" charset="0"/>
            </a:endParaRPr>
          </a:p>
        </p:txBody>
      </p:sp>
    </p:spTree>
    <p:extLst>
      <p:ext uri="{BB962C8B-B14F-4D97-AF65-F5344CB8AC3E}">
        <p14:creationId xmlns:p14="http://schemas.microsoft.com/office/powerpoint/2010/main" val="37337929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 will begin my talk with a simple question: How do we make a scientific inference?</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Here is an elementary depiction of the scientific method: On the left hand side of this table, we have the real world in which natural phenomena occur, and on the right hand side, we have the mathematical abstraction of the physical world.</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We perform an initial experiment and collect some data. Then we form a hypothesis or mathematical model for the observed data,  calibrate and validate the model, and then make a prediction based on the model and compare the results with more observations from nature.</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More formally, we can represent this process by a hierarchical pyramid structure. The right face of the pyramid represents observational data,  the left face represents the model, and the rear face is the reality, which we never observed, simply because it is always convolved with complex measurement errors and uncertainties. Then, the scientific methodology starts from the bottom of the pyramid, first we calibrate the model using the calibration data, then we perform model validation to ensure that the model’s predictions are accurate enough for our problem. And finally we make a prediction using the validated model to obtain the quantity of interest in our scientific problem.</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i="0" dirty="0"/>
              <a:t>For centuries, this methodology has been the workhorse of scientific inference. But, over the past few decades things have slightly changed.</a:t>
            </a:r>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6E074355-CE0D-4C68-A6CB-C364ED71B33B}" type="slidenum">
              <a:rPr kumimoji="0" lang="en-US" sz="1200" b="0" i="0" u="none" strike="noStrike" kern="1200" cap="none" spc="0" normalizeH="0" baseline="0" noProof="0" smtClean="0">
                <a:ln>
                  <a:noFill/>
                </a:ln>
                <a:solidFill>
                  <a:srgbClr val="000000"/>
                </a:solidFill>
                <a:effectLst/>
                <a:uLnTx/>
                <a:uFillTx/>
                <a:latin typeface="Arial" charset="0"/>
              </a:rPr>
              <a:pPr marL="0" marR="0" lvl="0" indent="0" algn="r" defTabSz="914400" rtl="0" eaLnBrk="0" fontAlgn="base" latinLnBrk="0" hangingPunct="0">
                <a:lnSpc>
                  <a:spcPct val="100000"/>
                </a:lnSpc>
                <a:spcBef>
                  <a:spcPct val="0"/>
                </a:spcBef>
                <a:spcAft>
                  <a:spcPct val="0"/>
                </a:spcAft>
                <a:buClrTx/>
                <a:buSzTx/>
                <a:buFontTx/>
                <a:buNone/>
                <a:tabLst/>
                <a:defRPr/>
              </a:pPr>
              <a:t>2</a:t>
            </a:fld>
            <a:endParaRPr kumimoji="0" lang="en-US" sz="1200" b="0" i="0" u="none" strike="noStrike" kern="1200" cap="none" spc="0" normalizeH="0" baseline="0" noProof="0" dirty="0">
              <a:ln>
                <a:noFill/>
              </a:ln>
              <a:solidFill>
                <a:srgbClr val="000000"/>
              </a:solidFill>
              <a:effectLst/>
              <a:uLnTx/>
              <a:uFillTx/>
              <a:latin typeface="Arial" charset="0"/>
            </a:endParaRPr>
          </a:p>
        </p:txBody>
      </p:sp>
    </p:spTree>
    <p:extLst>
      <p:ext uri="{BB962C8B-B14F-4D97-AF65-F5344CB8AC3E}">
        <p14:creationId xmlns:p14="http://schemas.microsoft.com/office/powerpoint/2010/main" val="25691259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 will begin my talk with a simple question: How do we make a scientific inference?</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Here is an elementary depiction of the scientific method: On the left hand side of this table, we have the real world in which natural phenomena occur, and on the right hand side, we have the mathematical abstraction of the physical world.</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We perform an initial experiment and collect some data. Then we form a hypothesis or mathematical model for the observed data,  calibrate and validate the model, and then make a prediction based on the model and compare the results with more observations from nature.</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More formally, we can represent this process by a hierarchical pyramid structure. The right face of the pyramid represents observational data,  the left face represents the model, and the rear face is the reality, which we never observed, simply because it is always convolved with complex measurement errors and uncertainties. Then, the scientific methodology starts from the bottom of the pyramid, first we calibrate the model using the calibration data, then we perform model validation to ensure that the model’s predictions are accurate enough for our problem. And finally we make a prediction using the validated model to obtain the quantity of interest in our scientific problem.</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i="0" dirty="0"/>
              <a:t>For centuries, this methodology has been the workhorse of scientific inference. But, over the past few decades things have slightly changed.</a:t>
            </a:r>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6E074355-CE0D-4C68-A6CB-C364ED71B33B}" type="slidenum">
              <a:rPr kumimoji="0" lang="en-US" sz="1200" b="0" i="0" u="none" strike="noStrike" kern="1200" cap="none" spc="0" normalizeH="0" baseline="0" noProof="0" smtClean="0">
                <a:ln>
                  <a:noFill/>
                </a:ln>
                <a:solidFill>
                  <a:srgbClr val="000000"/>
                </a:solidFill>
                <a:effectLst/>
                <a:uLnTx/>
                <a:uFillTx/>
                <a:latin typeface="Arial" charset="0"/>
              </a:rPr>
              <a:pPr marL="0" marR="0" lvl="0" indent="0" algn="r" defTabSz="914400" rtl="0" eaLnBrk="0" fontAlgn="base" latinLnBrk="0" hangingPunct="0">
                <a:lnSpc>
                  <a:spcPct val="100000"/>
                </a:lnSpc>
                <a:spcBef>
                  <a:spcPct val="0"/>
                </a:spcBef>
                <a:spcAft>
                  <a:spcPct val="0"/>
                </a:spcAft>
                <a:buClrTx/>
                <a:buSzTx/>
                <a:buFontTx/>
                <a:buNone/>
                <a:tabLst/>
                <a:defRPr/>
              </a:pPr>
              <a:t>3</a:t>
            </a:fld>
            <a:endParaRPr kumimoji="0" lang="en-US" sz="1200" b="0" i="0" u="none" strike="noStrike" kern="1200" cap="none" spc="0" normalizeH="0" baseline="0" noProof="0" dirty="0">
              <a:ln>
                <a:noFill/>
              </a:ln>
              <a:solidFill>
                <a:srgbClr val="000000"/>
              </a:solidFill>
              <a:effectLst/>
              <a:uLnTx/>
              <a:uFillTx/>
              <a:latin typeface="Arial" charset="0"/>
            </a:endParaRPr>
          </a:p>
        </p:txBody>
      </p:sp>
    </p:spTree>
    <p:extLst>
      <p:ext uri="{BB962C8B-B14F-4D97-AF65-F5344CB8AC3E}">
        <p14:creationId xmlns:p14="http://schemas.microsoft.com/office/powerpoint/2010/main" val="26801549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97B7625-B870-4444-BF89-68422ABACDD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521512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97B7625-B870-4444-BF89-68422ABACDD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989463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97B7625-B870-4444-BF89-68422ABACDD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917703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97B7625-B870-4444-BF89-68422ABACDD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261020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97B7625-B870-4444-BF89-68422ABACDD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625250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i="0" dirty="0"/>
          </a:p>
        </p:txBody>
      </p:sp>
      <p:sp>
        <p:nvSpPr>
          <p:cNvPr id="4" name="Slide Number Placeholder 3"/>
          <p:cNvSpPr>
            <a:spLocks noGrp="1"/>
          </p:cNvSpPr>
          <p:nvPr>
            <p:ph type="sldNum" sz="quarter" idx="10"/>
          </p:nvPr>
        </p:nvSpPr>
        <p:spPr/>
        <p:txBody>
          <a:bodyPr/>
          <a:lstStyle/>
          <a:p>
            <a:pPr>
              <a:defRPr/>
            </a:pPr>
            <a:fld id="{6E074355-CE0D-4C68-A6CB-C364ED71B33B}" type="slidenum">
              <a:rPr lang="en-US" smtClean="0"/>
              <a:pPr>
                <a:defRPr/>
              </a:pPr>
              <a:t>9</a:t>
            </a:fld>
            <a:endParaRPr lang="en-US" dirty="0"/>
          </a:p>
        </p:txBody>
      </p:sp>
    </p:spTree>
    <p:extLst>
      <p:ext uri="{BB962C8B-B14F-4D97-AF65-F5344CB8AC3E}">
        <p14:creationId xmlns:p14="http://schemas.microsoft.com/office/powerpoint/2010/main" val="38505958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i="0" dirty="0"/>
          </a:p>
        </p:txBody>
      </p:sp>
      <p:sp>
        <p:nvSpPr>
          <p:cNvPr id="4" name="Slide Number Placeholder 3"/>
          <p:cNvSpPr>
            <a:spLocks noGrp="1"/>
          </p:cNvSpPr>
          <p:nvPr>
            <p:ph type="sldNum" sz="quarter" idx="10"/>
          </p:nvPr>
        </p:nvSpPr>
        <p:spPr/>
        <p:txBody>
          <a:bodyPr/>
          <a:lstStyle/>
          <a:p>
            <a:pPr>
              <a:defRPr/>
            </a:pPr>
            <a:fld id="{6E074355-CE0D-4C68-A6CB-C364ED71B33B}" type="slidenum">
              <a:rPr lang="en-US" smtClean="0"/>
              <a:pPr>
                <a:defRPr/>
              </a:pPr>
              <a:t>10</a:t>
            </a:fld>
            <a:endParaRPr lang="en-US" dirty="0"/>
          </a:p>
        </p:txBody>
      </p:sp>
    </p:spTree>
    <p:extLst>
      <p:ext uri="{BB962C8B-B14F-4D97-AF65-F5344CB8AC3E}">
        <p14:creationId xmlns:p14="http://schemas.microsoft.com/office/powerpoint/2010/main" val="42294000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i="0" dirty="0"/>
          </a:p>
        </p:txBody>
      </p:sp>
      <p:sp>
        <p:nvSpPr>
          <p:cNvPr id="4" name="Slide Number Placeholder 3"/>
          <p:cNvSpPr>
            <a:spLocks noGrp="1"/>
          </p:cNvSpPr>
          <p:nvPr>
            <p:ph type="sldNum" sz="quarter" idx="10"/>
          </p:nvPr>
        </p:nvSpPr>
        <p:spPr/>
        <p:txBody>
          <a:bodyPr/>
          <a:lstStyle/>
          <a:p>
            <a:pPr>
              <a:defRPr/>
            </a:pPr>
            <a:fld id="{6E074355-CE0D-4C68-A6CB-C364ED71B33B}" type="slidenum">
              <a:rPr lang="en-US" smtClean="0"/>
              <a:pPr>
                <a:defRPr/>
              </a:pPr>
              <a:t>11</a:t>
            </a:fld>
            <a:endParaRPr lang="en-US" dirty="0"/>
          </a:p>
        </p:txBody>
      </p:sp>
    </p:spTree>
    <p:extLst>
      <p:ext uri="{BB962C8B-B14F-4D97-AF65-F5344CB8AC3E}">
        <p14:creationId xmlns:p14="http://schemas.microsoft.com/office/powerpoint/2010/main" val="26039835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E16A498-CF41-4AF6-8A2C-3024948F12A4}"/>
              </a:ext>
            </a:extLst>
          </p:cNvPr>
          <p:cNvSpPr>
            <a:spLocks noGrp="1"/>
          </p:cNvSpPr>
          <p:nvPr>
            <p:ph type="body" idx="1"/>
          </p:nvPr>
        </p:nvSpPr>
        <p:spPr/>
        <p:txBody>
          <a:bodyPr/>
          <a:lstStyle/>
          <a:p>
            <a:r>
              <a:rPr lang="en-US" dirty="0"/>
              <a:t>Historically, there has been two fundamentally different approaches to scientific inference.</a:t>
            </a:r>
          </a:p>
          <a:p>
            <a:r>
              <a:rPr lang="en-US" dirty="0"/>
              <a:t>…</a:t>
            </a:r>
          </a:p>
          <a:p>
            <a:r>
              <a:rPr lang="en-US" dirty="0"/>
              <a:t>Now I will try to explain the fundamental difference between the two schools of thought by a simple example.</a:t>
            </a:r>
          </a:p>
        </p:txBody>
      </p:sp>
    </p:spTree>
    <p:extLst>
      <p:ext uri="{BB962C8B-B14F-4D97-AF65-F5344CB8AC3E}">
        <p14:creationId xmlns:p14="http://schemas.microsoft.com/office/powerpoint/2010/main" val="451661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i="0" dirty="0"/>
          </a:p>
        </p:txBody>
      </p:sp>
      <p:sp>
        <p:nvSpPr>
          <p:cNvPr id="4" name="Slide Number Placeholder 3"/>
          <p:cNvSpPr>
            <a:spLocks noGrp="1"/>
          </p:cNvSpPr>
          <p:nvPr>
            <p:ph type="sldNum" sz="quarter" idx="10"/>
          </p:nvPr>
        </p:nvSpPr>
        <p:spPr/>
        <p:txBody>
          <a:bodyPr/>
          <a:lstStyle/>
          <a:p>
            <a:pPr>
              <a:defRPr/>
            </a:pPr>
            <a:fld id="{6E074355-CE0D-4C68-A6CB-C364ED71B33B}" type="slidenum">
              <a:rPr lang="en-US" smtClean="0"/>
              <a:pPr>
                <a:defRPr/>
              </a:pPr>
              <a:t>13</a:t>
            </a:fld>
            <a:endParaRPr lang="en-US" dirty="0"/>
          </a:p>
        </p:txBody>
      </p:sp>
    </p:spTree>
    <p:extLst>
      <p:ext uri="{BB962C8B-B14F-4D97-AF65-F5344CB8AC3E}">
        <p14:creationId xmlns:p14="http://schemas.microsoft.com/office/powerpoint/2010/main" val="776402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i="0" dirty="0"/>
          </a:p>
        </p:txBody>
      </p:sp>
      <p:sp>
        <p:nvSpPr>
          <p:cNvPr id="4" name="Slide Number Placeholder 3"/>
          <p:cNvSpPr>
            <a:spLocks noGrp="1"/>
          </p:cNvSpPr>
          <p:nvPr>
            <p:ph type="sldNum" sz="quarter" idx="10"/>
          </p:nvPr>
        </p:nvSpPr>
        <p:spPr/>
        <p:txBody>
          <a:bodyPr/>
          <a:lstStyle/>
          <a:p>
            <a:pPr>
              <a:defRPr/>
            </a:pPr>
            <a:fld id="{6E074355-CE0D-4C68-A6CB-C364ED71B33B}" type="slidenum">
              <a:rPr lang="en-US" smtClean="0"/>
              <a:pPr>
                <a:defRPr/>
              </a:pPr>
              <a:t>14</a:t>
            </a:fld>
            <a:endParaRPr lang="en-US" dirty="0"/>
          </a:p>
        </p:txBody>
      </p:sp>
    </p:spTree>
    <p:extLst>
      <p:ext uri="{BB962C8B-B14F-4D97-AF65-F5344CB8AC3E}">
        <p14:creationId xmlns:p14="http://schemas.microsoft.com/office/powerpoint/2010/main" val="32429976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i="0" dirty="0"/>
          </a:p>
        </p:txBody>
      </p:sp>
      <p:sp>
        <p:nvSpPr>
          <p:cNvPr id="4" name="Slide Number Placeholder 3"/>
          <p:cNvSpPr>
            <a:spLocks noGrp="1"/>
          </p:cNvSpPr>
          <p:nvPr>
            <p:ph type="sldNum" sz="quarter" idx="10"/>
          </p:nvPr>
        </p:nvSpPr>
        <p:spPr/>
        <p:txBody>
          <a:bodyPr/>
          <a:lstStyle/>
          <a:p>
            <a:pPr>
              <a:defRPr/>
            </a:pPr>
            <a:fld id="{6E074355-CE0D-4C68-A6CB-C364ED71B33B}" type="slidenum">
              <a:rPr lang="en-US" smtClean="0"/>
              <a:pPr>
                <a:defRPr/>
              </a:pPr>
              <a:t>15</a:t>
            </a:fld>
            <a:endParaRPr lang="en-US" dirty="0"/>
          </a:p>
        </p:txBody>
      </p:sp>
    </p:spTree>
    <p:extLst>
      <p:ext uri="{BB962C8B-B14F-4D97-AF65-F5344CB8AC3E}">
        <p14:creationId xmlns:p14="http://schemas.microsoft.com/office/powerpoint/2010/main" val="31969180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i="0" dirty="0"/>
          </a:p>
        </p:txBody>
      </p:sp>
      <p:sp>
        <p:nvSpPr>
          <p:cNvPr id="4" name="Slide Number Placeholder 3"/>
          <p:cNvSpPr>
            <a:spLocks noGrp="1"/>
          </p:cNvSpPr>
          <p:nvPr>
            <p:ph type="sldNum" sz="quarter" idx="10"/>
          </p:nvPr>
        </p:nvSpPr>
        <p:spPr/>
        <p:txBody>
          <a:bodyPr/>
          <a:lstStyle/>
          <a:p>
            <a:pPr>
              <a:defRPr/>
            </a:pPr>
            <a:fld id="{6E074355-CE0D-4C68-A6CB-C364ED71B33B}" type="slidenum">
              <a:rPr lang="en-US" smtClean="0"/>
              <a:pPr>
                <a:defRPr/>
              </a:pPr>
              <a:t>16</a:t>
            </a:fld>
            <a:endParaRPr lang="en-US" dirty="0"/>
          </a:p>
        </p:txBody>
      </p:sp>
    </p:spTree>
    <p:extLst>
      <p:ext uri="{BB962C8B-B14F-4D97-AF65-F5344CB8AC3E}">
        <p14:creationId xmlns:p14="http://schemas.microsoft.com/office/powerpoint/2010/main" val="2022576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i="0" dirty="0"/>
          </a:p>
        </p:txBody>
      </p:sp>
      <p:sp>
        <p:nvSpPr>
          <p:cNvPr id="4" name="Slide Number Placeholder 3"/>
          <p:cNvSpPr>
            <a:spLocks noGrp="1"/>
          </p:cNvSpPr>
          <p:nvPr>
            <p:ph type="sldNum" sz="quarter" idx="10"/>
          </p:nvPr>
        </p:nvSpPr>
        <p:spPr/>
        <p:txBody>
          <a:bodyPr/>
          <a:lstStyle/>
          <a:p>
            <a:pPr>
              <a:defRPr/>
            </a:pPr>
            <a:fld id="{6E074355-CE0D-4C68-A6CB-C364ED71B33B}" type="slidenum">
              <a:rPr lang="en-US" smtClean="0"/>
              <a:pPr>
                <a:defRPr/>
              </a:pPr>
              <a:t>17</a:t>
            </a:fld>
            <a:endParaRPr lang="en-US" dirty="0"/>
          </a:p>
        </p:txBody>
      </p:sp>
    </p:spTree>
    <p:extLst>
      <p:ext uri="{BB962C8B-B14F-4D97-AF65-F5344CB8AC3E}">
        <p14:creationId xmlns:p14="http://schemas.microsoft.com/office/powerpoint/2010/main" val="17533842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i="0" dirty="0"/>
          </a:p>
        </p:txBody>
      </p:sp>
      <p:sp>
        <p:nvSpPr>
          <p:cNvPr id="4" name="Slide Number Placeholder 3"/>
          <p:cNvSpPr>
            <a:spLocks noGrp="1"/>
          </p:cNvSpPr>
          <p:nvPr>
            <p:ph type="sldNum" sz="quarter" idx="10"/>
          </p:nvPr>
        </p:nvSpPr>
        <p:spPr/>
        <p:txBody>
          <a:bodyPr/>
          <a:lstStyle/>
          <a:p>
            <a:pPr>
              <a:defRPr/>
            </a:pPr>
            <a:fld id="{6E074355-CE0D-4C68-A6CB-C364ED71B33B}" type="slidenum">
              <a:rPr lang="en-US" smtClean="0"/>
              <a:pPr>
                <a:defRPr/>
              </a:pPr>
              <a:t>18</a:t>
            </a:fld>
            <a:endParaRPr lang="en-US" dirty="0"/>
          </a:p>
        </p:txBody>
      </p:sp>
    </p:spTree>
    <p:extLst>
      <p:ext uri="{BB962C8B-B14F-4D97-AF65-F5344CB8AC3E}">
        <p14:creationId xmlns:p14="http://schemas.microsoft.com/office/powerpoint/2010/main" val="31742632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i="0" dirty="0"/>
              <a:t>We can only talk about</a:t>
            </a:r>
            <a:r>
              <a:rPr lang="en-US" i="0" baseline="0" dirty="0"/>
              <a:t> subjective notion of probability. </a:t>
            </a:r>
            <a:r>
              <a:rPr lang="en-US" i="0" dirty="0"/>
              <a:t>For example in a horse race betting, no race can be repeated in order</a:t>
            </a:r>
            <a:r>
              <a:rPr lang="en-US" i="0" baseline="0" dirty="0"/>
              <a:t> to apply frequentist notion of probability.</a:t>
            </a:r>
            <a:endParaRPr lang="en-US" i="0" dirty="0"/>
          </a:p>
        </p:txBody>
      </p:sp>
      <p:sp>
        <p:nvSpPr>
          <p:cNvPr id="4" name="Slide Number Placeholder 3"/>
          <p:cNvSpPr>
            <a:spLocks noGrp="1"/>
          </p:cNvSpPr>
          <p:nvPr>
            <p:ph type="sldNum" sz="quarter" idx="10"/>
          </p:nvPr>
        </p:nvSpPr>
        <p:spPr/>
        <p:txBody>
          <a:bodyPr/>
          <a:lstStyle/>
          <a:p>
            <a:pPr>
              <a:defRPr/>
            </a:pPr>
            <a:fld id="{6E074355-CE0D-4C68-A6CB-C364ED71B33B}" type="slidenum">
              <a:rPr lang="en-US" smtClean="0"/>
              <a:pPr>
                <a:defRPr/>
              </a:pPr>
              <a:t>19</a:t>
            </a:fld>
            <a:endParaRPr lang="en-US" dirty="0"/>
          </a:p>
        </p:txBody>
      </p:sp>
    </p:spTree>
    <p:extLst>
      <p:ext uri="{BB962C8B-B14F-4D97-AF65-F5344CB8AC3E}">
        <p14:creationId xmlns:p14="http://schemas.microsoft.com/office/powerpoint/2010/main" val="10938651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75487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29519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D9C64B8E-23EA-44BC-A124-50BE7C2C0E23}"/>
              </a:ext>
            </a:extLst>
          </p:cNvPr>
          <p:cNvSpPr>
            <a:spLocks noGrp="1"/>
          </p:cNvSpPr>
          <p:nvPr>
            <p:ph type="body" idx="1"/>
          </p:nvPr>
        </p:nvSpPr>
        <p:spPr/>
        <p:txBody>
          <a:bodyPr/>
          <a:lstStyle/>
          <a:p>
            <a:r>
              <a:rPr lang="en-US" dirty="0"/>
              <a:t>These two fundamentally different world-views lead to two entirely different approaches to treating uncertainty in data. For a frequentist, reality is always obscured by inherent variability as well as measurement noise, whereas in Bayesian modeling, the inherent variability is solely due to the inadequacy of the model or the uncertainty in our model, and data is data uncertainty is solely due to noise in the measurements.</a:t>
            </a:r>
          </a:p>
        </p:txBody>
      </p:sp>
    </p:spTree>
    <p:extLst>
      <p:ext uri="{BB962C8B-B14F-4D97-AF65-F5344CB8AC3E}">
        <p14:creationId xmlns:p14="http://schemas.microsoft.com/office/powerpoint/2010/main" val="32915800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i="0" dirty="0"/>
              <a:t>We define an event</a:t>
            </a:r>
            <a:r>
              <a:rPr lang="en-US" i="0" baseline="0" dirty="0"/>
              <a:t> as a subset of these possible outcomes in the sample space.</a:t>
            </a:r>
            <a:endParaRPr lang="en-US" i="0" dirty="0"/>
          </a:p>
        </p:txBody>
      </p:sp>
      <p:sp>
        <p:nvSpPr>
          <p:cNvPr id="4" name="Slide Number Placeholder 3"/>
          <p:cNvSpPr>
            <a:spLocks noGrp="1"/>
          </p:cNvSpPr>
          <p:nvPr>
            <p:ph type="sldNum" sz="quarter" idx="10"/>
          </p:nvPr>
        </p:nvSpPr>
        <p:spPr/>
        <p:txBody>
          <a:bodyPr/>
          <a:lstStyle/>
          <a:p>
            <a:pPr>
              <a:defRPr/>
            </a:pPr>
            <a:fld id="{6E074355-CE0D-4C68-A6CB-C364ED71B33B}" type="slidenum">
              <a:rPr lang="en-US" smtClean="0"/>
              <a:pPr>
                <a:defRPr/>
              </a:pPr>
              <a:t>23</a:t>
            </a:fld>
            <a:endParaRPr lang="en-US" dirty="0"/>
          </a:p>
        </p:txBody>
      </p:sp>
    </p:spTree>
    <p:extLst>
      <p:ext uri="{BB962C8B-B14F-4D97-AF65-F5344CB8AC3E}">
        <p14:creationId xmlns:p14="http://schemas.microsoft.com/office/powerpoint/2010/main" val="27676262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B9BDF-5E51-4DC7-A5F3-208ECAB2D359}"/>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FBFE54-D08C-42C1-A8D4-EB8EFFE3EA5E}"/>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5F08568-9083-4142-83E6-A5E951B6DCC8}"/>
              </a:ext>
            </a:extLst>
          </p:cNvPr>
          <p:cNvSpPr>
            <a:spLocks noGrp="1"/>
          </p:cNvSpPr>
          <p:nvPr>
            <p:ph type="dt" sz="half" idx="10"/>
          </p:nvPr>
        </p:nvSpPr>
        <p:spPr/>
        <p:txBody>
          <a:bodyPr/>
          <a:lstStyle/>
          <a:p>
            <a:fld id="{16097714-2330-4288-A0E3-0FDE6F22DE3C}" type="datetimeFigureOut">
              <a:rPr lang="en-US" smtClean="0"/>
              <a:t>4/1/2024</a:t>
            </a:fld>
            <a:endParaRPr lang="en-US"/>
          </a:p>
        </p:txBody>
      </p:sp>
      <p:sp>
        <p:nvSpPr>
          <p:cNvPr id="5" name="Footer Placeholder 4">
            <a:extLst>
              <a:ext uri="{FF2B5EF4-FFF2-40B4-BE49-F238E27FC236}">
                <a16:creationId xmlns:a16="http://schemas.microsoft.com/office/drawing/2014/main" id="{650811E0-09A4-49EF-90D2-73F03DD7DF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492F07-FBB3-4009-A648-C210747F1254}"/>
              </a:ext>
            </a:extLst>
          </p:cNvPr>
          <p:cNvSpPr>
            <a:spLocks noGrp="1"/>
          </p:cNvSpPr>
          <p:nvPr>
            <p:ph type="sldNum" sz="quarter" idx="12"/>
          </p:nvPr>
        </p:nvSpPr>
        <p:spPr/>
        <p:txBody>
          <a:bodyPr/>
          <a:lstStyle/>
          <a:p>
            <a:fld id="{9779EF10-7722-4FC5-B339-71C82576020E}" type="slidenum">
              <a:rPr lang="en-US" smtClean="0"/>
              <a:t>‹#›</a:t>
            </a:fld>
            <a:endParaRPr lang="en-US"/>
          </a:p>
        </p:txBody>
      </p:sp>
    </p:spTree>
    <p:extLst>
      <p:ext uri="{BB962C8B-B14F-4D97-AF65-F5344CB8AC3E}">
        <p14:creationId xmlns:p14="http://schemas.microsoft.com/office/powerpoint/2010/main" val="3090349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7E655-A379-4EA2-A769-012FD6ABF3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AECEC5-D1B1-4008-98A2-AAD599BEE5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667407-96D2-4AC7-A24F-C3F50146CCCC}"/>
              </a:ext>
            </a:extLst>
          </p:cNvPr>
          <p:cNvSpPr>
            <a:spLocks noGrp="1"/>
          </p:cNvSpPr>
          <p:nvPr>
            <p:ph type="dt" sz="half" idx="10"/>
          </p:nvPr>
        </p:nvSpPr>
        <p:spPr/>
        <p:txBody>
          <a:bodyPr/>
          <a:lstStyle/>
          <a:p>
            <a:fld id="{16097714-2330-4288-A0E3-0FDE6F22DE3C}" type="datetimeFigureOut">
              <a:rPr lang="en-US" smtClean="0"/>
              <a:t>4/1/2024</a:t>
            </a:fld>
            <a:endParaRPr lang="en-US"/>
          </a:p>
        </p:txBody>
      </p:sp>
      <p:sp>
        <p:nvSpPr>
          <p:cNvPr id="5" name="Footer Placeholder 4">
            <a:extLst>
              <a:ext uri="{FF2B5EF4-FFF2-40B4-BE49-F238E27FC236}">
                <a16:creationId xmlns:a16="http://schemas.microsoft.com/office/drawing/2014/main" id="{5F0A092B-D895-4BAC-A9AA-3A45D5699A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4F5190-7F34-446F-9DEE-7FF3558C0DCA}"/>
              </a:ext>
            </a:extLst>
          </p:cNvPr>
          <p:cNvSpPr>
            <a:spLocks noGrp="1"/>
          </p:cNvSpPr>
          <p:nvPr>
            <p:ph type="sldNum" sz="quarter" idx="12"/>
          </p:nvPr>
        </p:nvSpPr>
        <p:spPr/>
        <p:txBody>
          <a:bodyPr/>
          <a:lstStyle/>
          <a:p>
            <a:fld id="{9779EF10-7722-4FC5-B339-71C82576020E}" type="slidenum">
              <a:rPr lang="en-US" smtClean="0"/>
              <a:t>‹#›</a:t>
            </a:fld>
            <a:endParaRPr lang="en-US"/>
          </a:p>
        </p:txBody>
      </p:sp>
    </p:spTree>
    <p:extLst>
      <p:ext uri="{BB962C8B-B14F-4D97-AF65-F5344CB8AC3E}">
        <p14:creationId xmlns:p14="http://schemas.microsoft.com/office/powerpoint/2010/main" val="3790169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C6590-9009-4408-AEF0-529F328D75C7}"/>
              </a:ext>
            </a:extLst>
          </p:cNvPr>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AD6BEF9-C069-4EE4-86F1-7AD867438E70}"/>
              </a:ext>
            </a:extLst>
          </p:cNvPr>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79CD26-2293-4B6D-B4D0-DC40F8E5624C}"/>
              </a:ext>
            </a:extLst>
          </p:cNvPr>
          <p:cNvSpPr>
            <a:spLocks noGrp="1"/>
          </p:cNvSpPr>
          <p:nvPr>
            <p:ph type="dt" sz="half" idx="10"/>
          </p:nvPr>
        </p:nvSpPr>
        <p:spPr/>
        <p:txBody>
          <a:bodyPr/>
          <a:lstStyle/>
          <a:p>
            <a:fld id="{16097714-2330-4288-A0E3-0FDE6F22DE3C}" type="datetimeFigureOut">
              <a:rPr lang="en-US" smtClean="0"/>
              <a:t>4/1/2024</a:t>
            </a:fld>
            <a:endParaRPr lang="en-US"/>
          </a:p>
        </p:txBody>
      </p:sp>
      <p:sp>
        <p:nvSpPr>
          <p:cNvPr id="5" name="Footer Placeholder 4">
            <a:extLst>
              <a:ext uri="{FF2B5EF4-FFF2-40B4-BE49-F238E27FC236}">
                <a16:creationId xmlns:a16="http://schemas.microsoft.com/office/drawing/2014/main" id="{152B7541-BCE3-4B3D-8B45-A7A00158DA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024F8F-1568-4849-B28B-876322080FE7}"/>
              </a:ext>
            </a:extLst>
          </p:cNvPr>
          <p:cNvSpPr>
            <a:spLocks noGrp="1"/>
          </p:cNvSpPr>
          <p:nvPr>
            <p:ph type="sldNum" sz="quarter" idx="12"/>
          </p:nvPr>
        </p:nvSpPr>
        <p:spPr/>
        <p:txBody>
          <a:bodyPr/>
          <a:lstStyle/>
          <a:p>
            <a:fld id="{9779EF10-7722-4FC5-B339-71C82576020E}" type="slidenum">
              <a:rPr lang="en-US" smtClean="0"/>
              <a:t>‹#›</a:t>
            </a:fld>
            <a:endParaRPr lang="en-US"/>
          </a:p>
        </p:txBody>
      </p:sp>
    </p:spTree>
    <p:extLst>
      <p:ext uri="{BB962C8B-B14F-4D97-AF65-F5344CB8AC3E}">
        <p14:creationId xmlns:p14="http://schemas.microsoft.com/office/powerpoint/2010/main" val="6061636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55B5C-13B0-4F80-A6FB-3D561B73E2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760D359-0EF4-4F7A-A8E6-94DAECB58CF4}"/>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E0AB4C-836F-4C9A-A442-F55F555ABC52}"/>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8981720-E44F-4907-8422-5CA1CC9FD196}"/>
              </a:ext>
            </a:extLst>
          </p:cNvPr>
          <p:cNvSpPr>
            <a:spLocks noGrp="1"/>
          </p:cNvSpPr>
          <p:nvPr>
            <p:ph type="dt" sz="half" idx="10"/>
          </p:nvPr>
        </p:nvSpPr>
        <p:spPr/>
        <p:txBody>
          <a:bodyPr/>
          <a:lstStyle/>
          <a:p>
            <a:fld id="{16097714-2330-4288-A0E3-0FDE6F22DE3C}" type="datetimeFigureOut">
              <a:rPr lang="en-US" smtClean="0"/>
              <a:t>4/1/2024</a:t>
            </a:fld>
            <a:endParaRPr lang="en-US"/>
          </a:p>
        </p:txBody>
      </p:sp>
      <p:sp>
        <p:nvSpPr>
          <p:cNvPr id="6" name="Footer Placeholder 5">
            <a:extLst>
              <a:ext uri="{FF2B5EF4-FFF2-40B4-BE49-F238E27FC236}">
                <a16:creationId xmlns:a16="http://schemas.microsoft.com/office/drawing/2014/main" id="{2C4582BE-C09A-424D-9428-9388C3E199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AC356C-F772-4F8D-B1D7-6D7549C307F4}"/>
              </a:ext>
            </a:extLst>
          </p:cNvPr>
          <p:cNvSpPr>
            <a:spLocks noGrp="1"/>
          </p:cNvSpPr>
          <p:nvPr>
            <p:ph type="sldNum" sz="quarter" idx="12"/>
          </p:nvPr>
        </p:nvSpPr>
        <p:spPr/>
        <p:txBody>
          <a:bodyPr/>
          <a:lstStyle/>
          <a:p>
            <a:fld id="{9779EF10-7722-4FC5-B339-71C82576020E}" type="slidenum">
              <a:rPr lang="en-US" smtClean="0"/>
              <a:t>‹#›</a:t>
            </a:fld>
            <a:endParaRPr lang="en-US"/>
          </a:p>
        </p:txBody>
      </p:sp>
    </p:spTree>
    <p:extLst>
      <p:ext uri="{BB962C8B-B14F-4D97-AF65-F5344CB8AC3E}">
        <p14:creationId xmlns:p14="http://schemas.microsoft.com/office/powerpoint/2010/main" val="339983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D57B6-1EEE-42E6-AC88-72E5C2D1FBCA}"/>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A61A456-BF46-47D3-BBBE-554CFB1E3B76}"/>
              </a:ext>
            </a:extLst>
          </p:cNvPr>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6761D8-B94B-4DD0-BEB7-DE05F21343C1}"/>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C8FB6C0-D00E-4768-8E04-5E5BB19EDF09}"/>
              </a:ext>
            </a:extLst>
          </p:cNvPr>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71C06F-97A6-4E35-9D79-62F345CDCD8B}"/>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CB4B39-AB39-4A09-BB4D-1D3A8C40385D}"/>
              </a:ext>
            </a:extLst>
          </p:cNvPr>
          <p:cNvSpPr>
            <a:spLocks noGrp="1"/>
          </p:cNvSpPr>
          <p:nvPr>
            <p:ph type="dt" sz="half" idx="10"/>
          </p:nvPr>
        </p:nvSpPr>
        <p:spPr/>
        <p:txBody>
          <a:bodyPr/>
          <a:lstStyle/>
          <a:p>
            <a:fld id="{16097714-2330-4288-A0E3-0FDE6F22DE3C}" type="datetimeFigureOut">
              <a:rPr lang="en-US" smtClean="0"/>
              <a:t>4/1/2024</a:t>
            </a:fld>
            <a:endParaRPr lang="en-US"/>
          </a:p>
        </p:txBody>
      </p:sp>
      <p:sp>
        <p:nvSpPr>
          <p:cNvPr id="8" name="Footer Placeholder 7">
            <a:extLst>
              <a:ext uri="{FF2B5EF4-FFF2-40B4-BE49-F238E27FC236}">
                <a16:creationId xmlns:a16="http://schemas.microsoft.com/office/drawing/2014/main" id="{E444B08A-8B0C-4657-BA37-B80F02668B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CF24EB-7619-4AD8-A10F-9079158F17FD}"/>
              </a:ext>
            </a:extLst>
          </p:cNvPr>
          <p:cNvSpPr>
            <a:spLocks noGrp="1"/>
          </p:cNvSpPr>
          <p:nvPr>
            <p:ph type="sldNum" sz="quarter" idx="12"/>
          </p:nvPr>
        </p:nvSpPr>
        <p:spPr/>
        <p:txBody>
          <a:bodyPr/>
          <a:lstStyle/>
          <a:p>
            <a:fld id="{9779EF10-7722-4FC5-B339-71C82576020E}" type="slidenum">
              <a:rPr lang="en-US" smtClean="0"/>
              <a:t>‹#›</a:t>
            </a:fld>
            <a:endParaRPr lang="en-US"/>
          </a:p>
        </p:txBody>
      </p:sp>
    </p:spTree>
    <p:extLst>
      <p:ext uri="{BB962C8B-B14F-4D97-AF65-F5344CB8AC3E}">
        <p14:creationId xmlns:p14="http://schemas.microsoft.com/office/powerpoint/2010/main" val="1385182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C3101-6781-42BD-82D9-176D0D9749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D719956-1272-4A55-B5C0-6608F6DC39B0}"/>
              </a:ext>
            </a:extLst>
          </p:cNvPr>
          <p:cNvSpPr>
            <a:spLocks noGrp="1"/>
          </p:cNvSpPr>
          <p:nvPr>
            <p:ph type="dt" sz="half" idx="10"/>
          </p:nvPr>
        </p:nvSpPr>
        <p:spPr/>
        <p:txBody>
          <a:bodyPr/>
          <a:lstStyle/>
          <a:p>
            <a:fld id="{16097714-2330-4288-A0E3-0FDE6F22DE3C}" type="datetimeFigureOut">
              <a:rPr lang="en-US" smtClean="0"/>
              <a:t>4/1/2024</a:t>
            </a:fld>
            <a:endParaRPr lang="en-US"/>
          </a:p>
        </p:txBody>
      </p:sp>
      <p:sp>
        <p:nvSpPr>
          <p:cNvPr id="4" name="Footer Placeholder 3">
            <a:extLst>
              <a:ext uri="{FF2B5EF4-FFF2-40B4-BE49-F238E27FC236}">
                <a16:creationId xmlns:a16="http://schemas.microsoft.com/office/drawing/2014/main" id="{E7E5F23D-179D-4418-84BB-B81091E1553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C615B9B-BCFF-4F95-9135-24ADBE5C7B4C}"/>
              </a:ext>
            </a:extLst>
          </p:cNvPr>
          <p:cNvSpPr>
            <a:spLocks noGrp="1"/>
          </p:cNvSpPr>
          <p:nvPr>
            <p:ph type="sldNum" sz="quarter" idx="12"/>
          </p:nvPr>
        </p:nvSpPr>
        <p:spPr/>
        <p:txBody>
          <a:bodyPr/>
          <a:lstStyle/>
          <a:p>
            <a:fld id="{9779EF10-7722-4FC5-B339-71C82576020E}" type="slidenum">
              <a:rPr lang="en-US" smtClean="0"/>
              <a:t>‹#›</a:t>
            </a:fld>
            <a:endParaRPr lang="en-US"/>
          </a:p>
        </p:txBody>
      </p:sp>
    </p:spTree>
    <p:extLst>
      <p:ext uri="{BB962C8B-B14F-4D97-AF65-F5344CB8AC3E}">
        <p14:creationId xmlns:p14="http://schemas.microsoft.com/office/powerpoint/2010/main" val="3470514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2252A0-C5D5-4DB2-AEE4-60342E9909E7}"/>
              </a:ext>
            </a:extLst>
          </p:cNvPr>
          <p:cNvSpPr>
            <a:spLocks noGrp="1"/>
          </p:cNvSpPr>
          <p:nvPr>
            <p:ph type="dt" sz="half" idx="10"/>
          </p:nvPr>
        </p:nvSpPr>
        <p:spPr/>
        <p:txBody>
          <a:bodyPr/>
          <a:lstStyle/>
          <a:p>
            <a:fld id="{16097714-2330-4288-A0E3-0FDE6F22DE3C}" type="datetimeFigureOut">
              <a:rPr lang="en-US" smtClean="0"/>
              <a:t>4/1/2024</a:t>
            </a:fld>
            <a:endParaRPr lang="en-US"/>
          </a:p>
        </p:txBody>
      </p:sp>
      <p:sp>
        <p:nvSpPr>
          <p:cNvPr id="3" name="Footer Placeholder 2">
            <a:extLst>
              <a:ext uri="{FF2B5EF4-FFF2-40B4-BE49-F238E27FC236}">
                <a16:creationId xmlns:a16="http://schemas.microsoft.com/office/drawing/2014/main" id="{D84B89A9-1261-4578-B77D-C3267BE0101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C054C1C-EA15-4154-919A-C582A8588DA5}"/>
              </a:ext>
            </a:extLst>
          </p:cNvPr>
          <p:cNvSpPr>
            <a:spLocks noGrp="1"/>
          </p:cNvSpPr>
          <p:nvPr>
            <p:ph type="sldNum" sz="quarter" idx="12"/>
          </p:nvPr>
        </p:nvSpPr>
        <p:spPr/>
        <p:txBody>
          <a:bodyPr/>
          <a:lstStyle/>
          <a:p>
            <a:fld id="{9779EF10-7722-4FC5-B339-71C82576020E}" type="slidenum">
              <a:rPr lang="en-US" smtClean="0"/>
              <a:t>‹#›</a:t>
            </a:fld>
            <a:endParaRPr lang="en-US"/>
          </a:p>
        </p:txBody>
      </p:sp>
    </p:spTree>
    <p:extLst>
      <p:ext uri="{BB962C8B-B14F-4D97-AF65-F5344CB8AC3E}">
        <p14:creationId xmlns:p14="http://schemas.microsoft.com/office/powerpoint/2010/main" val="374825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20625-84B9-4D04-ACBA-371E904396E5}"/>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4B2EB58-3500-4E8A-BCFE-4D1CD37518E7}"/>
              </a:ext>
            </a:extLst>
          </p:cNvPr>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A3E9D5-B964-40B7-9B47-2CE96CC0CF54}"/>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5BC8C1-5665-4E8C-9F1E-97E272503ECD}"/>
              </a:ext>
            </a:extLst>
          </p:cNvPr>
          <p:cNvSpPr>
            <a:spLocks noGrp="1"/>
          </p:cNvSpPr>
          <p:nvPr>
            <p:ph type="dt" sz="half" idx="10"/>
          </p:nvPr>
        </p:nvSpPr>
        <p:spPr/>
        <p:txBody>
          <a:bodyPr/>
          <a:lstStyle/>
          <a:p>
            <a:fld id="{16097714-2330-4288-A0E3-0FDE6F22DE3C}" type="datetimeFigureOut">
              <a:rPr lang="en-US" smtClean="0"/>
              <a:t>4/1/2024</a:t>
            </a:fld>
            <a:endParaRPr lang="en-US"/>
          </a:p>
        </p:txBody>
      </p:sp>
      <p:sp>
        <p:nvSpPr>
          <p:cNvPr id="6" name="Footer Placeholder 5">
            <a:extLst>
              <a:ext uri="{FF2B5EF4-FFF2-40B4-BE49-F238E27FC236}">
                <a16:creationId xmlns:a16="http://schemas.microsoft.com/office/drawing/2014/main" id="{145F8B6B-5292-4DF9-AB51-58608601DA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23194B-E8DA-4C16-8AC0-9276BC361A78}"/>
              </a:ext>
            </a:extLst>
          </p:cNvPr>
          <p:cNvSpPr>
            <a:spLocks noGrp="1"/>
          </p:cNvSpPr>
          <p:nvPr>
            <p:ph type="sldNum" sz="quarter" idx="12"/>
          </p:nvPr>
        </p:nvSpPr>
        <p:spPr/>
        <p:txBody>
          <a:bodyPr/>
          <a:lstStyle/>
          <a:p>
            <a:fld id="{9779EF10-7722-4FC5-B339-71C82576020E}" type="slidenum">
              <a:rPr lang="en-US" smtClean="0"/>
              <a:t>‹#›</a:t>
            </a:fld>
            <a:endParaRPr lang="en-US"/>
          </a:p>
        </p:txBody>
      </p:sp>
    </p:spTree>
    <p:extLst>
      <p:ext uri="{BB962C8B-B14F-4D97-AF65-F5344CB8AC3E}">
        <p14:creationId xmlns:p14="http://schemas.microsoft.com/office/powerpoint/2010/main" val="3454559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12538-4ADF-48D4-B199-35A0B9AC556F}"/>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66AE218-BE61-4723-A768-2F699E105766}"/>
              </a:ext>
            </a:extLst>
          </p:cNvPr>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00EAD8D-373E-4556-B18A-E8D85018ACF9}"/>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73FC48-5AC1-478A-B128-C7A28F612E7E}"/>
              </a:ext>
            </a:extLst>
          </p:cNvPr>
          <p:cNvSpPr>
            <a:spLocks noGrp="1"/>
          </p:cNvSpPr>
          <p:nvPr>
            <p:ph type="dt" sz="half" idx="10"/>
          </p:nvPr>
        </p:nvSpPr>
        <p:spPr/>
        <p:txBody>
          <a:bodyPr/>
          <a:lstStyle/>
          <a:p>
            <a:fld id="{16097714-2330-4288-A0E3-0FDE6F22DE3C}" type="datetimeFigureOut">
              <a:rPr lang="en-US" smtClean="0"/>
              <a:t>4/1/2024</a:t>
            </a:fld>
            <a:endParaRPr lang="en-US"/>
          </a:p>
        </p:txBody>
      </p:sp>
      <p:sp>
        <p:nvSpPr>
          <p:cNvPr id="6" name="Footer Placeholder 5">
            <a:extLst>
              <a:ext uri="{FF2B5EF4-FFF2-40B4-BE49-F238E27FC236}">
                <a16:creationId xmlns:a16="http://schemas.microsoft.com/office/drawing/2014/main" id="{EC242A18-3A73-43B5-870B-EE8B5900D0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C37C5A-576C-4E12-925D-1485FCE24F48}"/>
              </a:ext>
            </a:extLst>
          </p:cNvPr>
          <p:cNvSpPr>
            <a:spLocks noGrp="1"/>
          </p:cNvSpPr>
          <p:nvPr>
            <p:ph type="sldNum" sz="quarter" idx="12"/>
          </p:nvPr>
        </p:nvSpPr>
        <p:spPr/>
        <p:txBody>
          <a:bodyPr/>
          <a:lstStyle/>
          <a:p>
            <a:fld id="{9779EF10-7722-4FC5-B339-71C82576020E}" type="slidenum">
              <a:rPr lang="en-US" smtClean="0"/>
              <a:t>‹#›</a:t>
            </a:fld>
            <a:endParaRPr lang="en-US"/>
          </a:p>
        </p:txBody>
      </p:sp>
    </p:spTree>
    <p:extLst>
      <p:ext uri="{BB962C8B-B14F-4D97-AF65-F5344CB8AC3E}">
        <p14:creationId xmlns:p14="http://schemas.microsoft.com/office/powerpoint/2010/main" val="31963874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620B0-9ABD-47E7-A7E5-443A88B0A8F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4DCB2FB-2A3F-4A3E-8FB2-BA3DAFA23E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61C612-F407-454E-8CC5-8994845BB9DC}"/>
              </a:ext>
            </a:extLst>
          </p:cNvPr>
          <p:cNvSpPr>
            <a:spLocks noGrp="1"/>
          </p:cNvSpPr>
          <p:nvPr>
            <p:ph type="dt" sz="half" idx="10"/>
          </p:nvPr>
        </p:nvSpPr>
        <p:spPr/>
        <p:txBody>
          <a:bodyPr/>
          <a:lstStyle/>
          <a:p>
            <a:fld id="{16097714-2330-4288-A0E3-0FDE6F22DE3C}" type="datetimeFigureOut">
              <a:rPr lang="en-US" smtClean="0"/>
              <a:t>4/1/2024</a:t>
            </a:fld>
            <a:endParaRPr lang="en-US"/>
          </a:p>
        </p:txBody>
      </p:sp>
      <p:sp>
        <p:nvSpPr>
          <p:cNvPr id="5" name="Footer Placeholder 4">
            <a:extLst>
              <a:ext uri="{FF2B5EF4-FFF2-40B4-BE49-F238E27FC236}">
                <a16:creationId xmlns:a16="http://schemas.microsoft.com/office/drawing/2014/main" id="{9931E3AE-49E4-4C2C-9418-C9261D7338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D12156-9764-4CA1-A8EC-F44F165596F3}"/>
              </a:ext>
            </a:extLst>
          </p:cNvPr>
          <p:cNvSpPr>
            <a:spLocks noGrp="1"/>
          </p:cNvSpPr>
          <p:nvPr>
            <p:ph type="sldNum" sz="quarter" idx="12"/>
          </p:nvPr>
        </p:nvSpPr>
        <p:spPr/>
        <p:txBody>
          <a:bodyPr/>
          <a:lstStyle/>
          <a:p>
            <a:fld id="{9779EF10-7722-4FC5-B339-71C82576020E}" type="slidenum">
              <a:rPr lang="en-US" smtClean="0"/>
              <a:t>‹#›</a:t>
            </a:fld>
            <a:endParaRPr lang="en-US"/>
          </a:p>
        </p:txBody>
      </p:sp>
    </p:spTree>
    <p:extLst>
      <p:ext uri="{BB962C8B-B14F-4D97-AF65-F5344CB8AC3E}">
        <p14:creationId xmlns:p14="http://schemas.microsoft.com/office/powerpoint/2010/main" val="36002352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A7AFE7-D395-45D8-9836-FF08E6BC8C51}"/>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476B398-0E14-4B0C-926D-4F15CBA29EFB}"/>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83841D-98FA-4023-BA05-69D7804BEC26}"/>
              </a:ext>
            </a:extLst>
          </p:cNvPr>
          <p:cNvSpPr>
            <a:spLocks noGrp="1"/>
          </p:cNvSpPr>
          <p:nvPr>
            <p:ph type="dt" sz="half" idx="10"/>
          </p:nvPr>
        </p:nvSpPr>
        <p:spPr/>
        <p:txBody>
          <a:bodyPr/>
          <a:lstStyle/>
          <a:p>
            <a:fld id="{16097714-2330-4288-A0E3-0FDE6F22DE3C}" type="datetimeFigureOut">
              <a:rPr lang="en-US" smtClean="0"/>
              <a:t>4/1/2024</a:t>
            </a:fld>
            <a:endParaRPr lang="en-US"/>
          </a:p>
        </p:txBody>
      </p:sp>
      <p:sp>
        <p:nvSpPr>
          <p:cNvPr id="5" name="Footer Placeholder 4">
            <a:extLst>
              <a:ext uri="{FF2B5EF4-FFF2-40B4-BE49-F238E27FC236}">
                <a16:creationId xmlns:a16="http://schemas.microsoft.com/office/drawing/2014/main" id="{D312921F-BD7B-4E7B-BC2B-7C28AB4D9D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3A94E4-F146-4C73-B491-767BED8C9761}"/>
              </a:ext>
            </a:extLst>
          </p:cNvPr>
          <p:cNvSpPr>
            <a:spLocks noGrp="1"/>
          </p:cNvSpPr>
          <p:nvPr>
            <p:ph type="sldNum" sz="quarter" idx="12"/>
          </p:nvPr>
        </p:nvSpPr>
        <p:spPr/>
        <p:txBody>
          <a:bodyPr/>
          <a:lstStyle/>
          <a:p>
            <a:fld id="{9779EF10-7722-4FC5-B339-71C82576020E}" type="slidenum">
              <a:rPr lang="en-US" smtClean="0"/>
              <a:t>‹#›</a:t>
            </a:fld>
            <a:endParaRPr lang="en-US"/>
          </a:p>
        </p:txBody>
      </p:sp>
    </p:spTree>
    <p:extLst>
      <p:ext uri="{BB962C8B-B14F-4D97-AF65-F5344CB8AC3E}">
        <p14:creationId xmlns:p14="http://schemas.microsoft.com/office/powerpoint/2010/main" val="27712659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95402"/>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124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36410531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2"/>
            <a:ext cx="2133600" cy="365125"/>
          </a:xfrm>
          <a:prstGeom prst="rect">
            <a:avLst/>
          </a:prstGeom>
        </p:spPr>
        <p:txBody>
          <a:bodyPr/>
          <a:lstStyle/>
          <a:p>
            <a:fld id="{638F6AEB-8D55-45A4-92B9-3A64A5EABA57}" type="datetime1">
              <a:rPr lang="en-US" smtClean="0"/>
              <a:t>4/1/2024</a:t>
            </a:fld>
            <a:endParaRPr lang="en-US"/>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p>
            <a:pPr>
              <a:defRPr/>
            </a:pPr>
            <a:fld id="{8B879F29-07CC-4734-BC9D-F46D4774DF95}" type="slidenum">
              <a:rPr lang="en-US" smtClean="0"/>
              <a:pPr>
                <a:defRPr/>
              </a:pPr>
              <a:t>‹#›</a:t>
            </a:fld>
            <a:endParaRPr lang="en-US" sz="1400"/>
          </a:p>
        </p:txBody>
      </p:sp>
    </p:spTree>
    <p:extLst>
      <p:ext uri="{BB962C8B-B14F-4D97-AF65-F5344CB8AC3E}">
        <p14:creationId xmlns:p14="http://schemas.microsoft.com/office/powerpoint/2010/main" val="16600760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a:xfrm>
            <a:off x="457200" y="6356352"/>
            <a:ext cx="2133600" cy="365125"/>
          </a:xfrm>
          <a:prstGeom prst="rect">
            <a:avLst/>
          </a:prstGeom>
        </p:spPr>
        <p:txBody>
          <a:bodyPr/>
          <a:lstStyle/>
          <a:p>
            <a:fld id="{0B330C99-3C89-4925-989D-87B6215129DF}" type="datetime1">
              <a:rPr lang="en-US" smtClean="0"/>
              <a:t>4/1/2024</a:t>
            </a:fld>
            <a:endParaRPr lang="en-US"/>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p>
            <a:pPr>
              <a:defRPr/>
            </a:pPr>
            <a:fld id="{70B4FEC8-3D7B-4AEE-BB2B-4DA7498A7F66}" type="slidenum">
              <a:rPr lang="en-US" smtClean="0"/>
              <a:pPr>
                <a:defRPr/>
              </a:pPr>
              <a:t>‹#›</a:t>
            </a:fld>
            <a:endParaRPr lang="en-US" sz="1400"/>
          </a:p>
        </p:txBody>
      </p:sp>
    </p:spTree>
    <p:extLst>
      <p:ext uri="{BB962C8B-B14F-4D97-AF65-F5344CB8AC3E}">
        <p14:creationId xmlns:p14="http://schemas.microsoft.com/office/powerpoint/2010/main" val="16439199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81201"/>
            <a:ext cx="40386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981201"/>
            <a:ext cx="40386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356352"/>
            <a:ext cx="2133600" cy="365125"/>
          </a:xfrm>
          <a:prstGeom prst="rect">
            <a:avLst/>
          </a:prstGeom>
        </p:spPr>
        <p:txBody>
          <a:bodyPr/>
          <a:lstStyle/>
          <a:p>
            <a:fld id="{6C3E9C4C-7487-48D4-AB70-3452BFB1BF7D}" type="datetime1">
              <a:rPr lang="en-US" smtClean="0"/>
              <a:t>4/1/2024</a:t>
            </a:fld>
            <a:endParaRPr lang="en-US"/>
          </a:p>
        </p:txBody>
      </p:sp>
      <p:sp>
        <p:nvSpPr>
          <p:cNvPr id="6" name="Footer Placeholder 5"/>
          <p:cNvSpPr>
            <a:spLocks noGrp="1"/>
          </p:cNvSpPr>
          <p:nvPr>
            <p:ph type="ftr" sz="quarter" idx="11"/>
          </p:nvPr>
        </p:nvSpPr>
        <p:spPr>
          <a:xfrm>
            <a:off x="3124200" y="6356352"/>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2"/>
            <a:ext cx="2133600" cy="365125"/>
          </a:xfrm>
          <a:prstGeom prst="rect">
            <a:avLst/>
          </a:prstGeom>
        </p:spPr>
        <p:txBody>
          <a:bodyPr/>
          <a:lstStyle/>
          <a:p>
            <a:pPr>
              <a:defRPr/>
            </a:pPr>
            <a:fld id="{0BFB47B6-E5D9-439A-BE4E-EE64598FF312}" type="slidenum">
              <a:rPr lang="en-US" smtClean="0"/>
              <a:pPr>
                <a:defRPr/>
              </a:pPr>
              <a:t>‹#›</a:t>
            </a:fld>
            <a:endParaRPr lang="en-US" sz="1400"/>
          </a:p>
        </p:txBody>
      </p:sp>
    </p:spTree>
    <p:extLst>
      <p:ext uri="{BB962C8B-B14F-4D97-AF65-F5344CB8AC3E}">
        <p14:creationId xmlns:p14="http://schemas.microsoft.com/office/powerpoint/2010/main" val="34604557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Tree>
    <p:extLst>
      <p:ext uri="{BB962C8B-B14F-4D97-AF65-F5344CB8AC3E}">
        <p14:creationId xmlns:p14="http://schemas.microsoft.com/office/powerpoint/2010/main" val="32285361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7194402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2"/>
            <a:ext cx="2133600" cy="365125"/>
          </a:xfrm>
          <a:prstGeom prst="rect">
            <a:avLst/>
          </a:prstGeom>
        </p:spPr>
        <p:txBody>
          <a:bodyPr/>
          <a:lstStyle/>
          <a:p>
            <a:fld id="{EE74E987-2009-4DB4-A81A-1C7C9FA247B0}" type="datetime1">
              <a:rPr lang="en-US" smtClean="0"/>
              <a:t>4/1/2024</a:t>
            </a:fld>
            <a:endParaRPr lang="en-US"/>
          </a:p>
        </p:txBody>
      </p:sp>
      <p:sp>
        <p:nvSpPr>
          <p:cNvPr id="6" name="Footer Placeholder 5"/>
          <p:cNvSpPr>
            <a:spLocks noGrp="1"/>
          </p:cNvSpPr>
          <p:nvPr>
            <p:ph type="ftr" sz="quarter" idx="11"/>
          </p:nvPr>
        </p:nvSpPr>
        <p:spPr>
          <a:xfrm>
            <a:off x="3124200" y="6356352"/>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2"/>
            <a:ext cx="2133600" cy="365125"/>
          </a:xfrm>
          <a:prstGeom prst="rect">
            <a:avLst/>
          </a:prstGeom>
        </p:spPr>
        <p:txBody>
          <a:bodyPr/>
          <a:lstStyle/>
          <a:p>
            <a:pPr>
              <a:defRPr/>
            </a:pPr>
            <a:fld id="{288100D8-BB89-428B-B60F-A4CDEC89E416}" type="slidenum">
              <a:rPr lang="en-US" smtClean="0"/>
              <a:pPr>
                <a:defRPr/>
              </a:pPr>
              <a:t>‹#›</a:t>
            </a:fld>
            <a:endParaRPr lang="en-US" sz="1400"/>
          </a:p>
        </p:txBody>
      </p:sp>
    </p:spTree>
    <p:extLst>
      <p:ext uri="{BB962C8B-B14F-4D97-AF65-F5344CB8AC3E}">
        <p14:creationId xmlns:p14="http://schemas.microsoft.com/office/powerpoint/2010/main" val="26037385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676400"/>
          </a:xfrm>
        </p:spPr>
        <p:txBody>
          <a:bodyPr/>
          <a:lstStyle/>
          <a:p>
            <a:r>
              <a:rPr lang="en-US" dirty="0"/>
              <a:t>Click to edit Master title style</a:t>
            </a:r>
          </a:p>
        </p:txBody>
      </p:sp>
      <p:sp>
        <p:nvSpPr>
          <p:cNvPr id="3" name="Vertical Text Placeholder 2"/>
          <p:cNvSpPr>
            <a:spLocks noGrp="1"/>
          </p:cNvSpPr>
          <p:nvPr>
            <p:ph type="body" orient="vert" idx="1"/>
          </p:nvPr>
        </p:nvSpPr>
        <p:spPr>
          <a:xfrm rot="16200000">
            <a:off x="3607993" y="964010"/>
            <a:ext cx="3429000" cy="6834983"/>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457200" y="6356352"/>
            <a:ext cx="2133600" cy="365125"/>
          </a:xfrm>
          <a:prstGeom prst="rect">
            <a:avLst/>
          </a:prstGeom>
        </p:spPr>
        <p:txBody>
          <a:bodyPr/>
          <a:lstStyle/>
          <a:p>
            <a:fld id="{BC169090-F8B9-43BE-BE88-016FB88AD439}" type="datetime1">
              <a:rPr lang="en-US" smtClean="0"/>
              <a:t>4/1/2024</a:t>
            </a:fld>
            <a:endParaRPr lang="en-US"/>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p>
            <a:pPr>
              <a:defRPr/>
            </a:pPr>
            <a:fld id="{0D43F31C-FC08-480E-89F2-BE02BC6A4A33}" type="slidenum">
              <a:rPr lang="en-US" smtClean="0"/>
              <a:pPr>
                <a:defRPr/>
              </a:pPr>
              <a:t>‹#›</a:t>
            </a:fld>
            <a:endParaRPr lang="en-US" sz="1400"/>
          </a:p>
        </p:txBody>
      </p:sp>
    </p:spTree>
    <p:extLst>
      <p:ext uri="{BB962C8B-B14F-4D97-AF65-F5344CB8AC3E}">
        <p14:creationId xmlns:p14="http://schemas.microsoft.com/office/powerpoint/2010/main" val="4165691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image" Target="../media/image1.png"/><Relationship Id="rId4" Type="http://schemas.openxmlformats.org/officeDocument/2006/relationships/slideLayout" Target="../slideLayouts/slideLayout15.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1CBF36-ECAA-4742-B5CE-F8887E81DE7D}"/>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BA373A2-2693-4587-8A65-BEB1136E260C}"/>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FA51A3-9F55-4606-B2E0-EDAA65BE8024}"/>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097714-2330-4288-A0E3-0FDE6F22DE3C}" type="datetimeFigureOut">
              <a:rPr lang="en-US" smtClean="0"/>
              <a:t>4/1/2024</a:t>
            </a:fld>
            <a:endParaRPr lang="en-US"/>
          </a:p>
        </p:txBody>
      </p:sp>
      <p:sp>
        <p:nvSpPr>
          <p:cNvPr id="5" name="Footer Placeholder 4">
            <a:extLst>
              <a:ext uri="{FF2B5EF4-FFF2-40B4-BE49-F238E27FC236}">
                <a16:creationId xmlns:a16="http://schemas.microsoft.com/office/drawing/2014/main" id="{B267B1C6-79A8-49EA-B418-A34AC0576E30}"/>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F1CE39-2F54-472A-A5FE-A18051E5A263}"/>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79EF10-7722-4FC5-B339-71C82576020E}" type="slidenum">
              <a:rPr lang="en-US" smtClean="0"/>
              <a:t>‹#›</a:t>
            </a:fld>
            <a:endParaRPr lang="en-US"/>
          </a:p>
        </p:txBody>
      </p:sp>
    </p:spTree>
    <p:extLst>
      <p:ext uri="{BB962C8B-B14F-4D97-AF65-F5344CB8AC3E}">
        <p14:creationId xmlns:p14="http://schemas.microsoft.com/office/powerpoint/2010/main" val="2444107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l="-4000" r="-4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81000"/>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8006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995946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hf sldNum="0" hdr="0" dt="0"/>
  <p:txStyles>
    <p:titleStyle>
      <a:lvl1pPr algn="ctr" defTabSz="457200" rtl="0" eaLnBrk="1" latinLnBrk="0" hangingPunct="1">
        <a:spcBef>
          <a:spcPct val="0"/>
        </a:spcBef>
        <a:buNone/>
        <a:defRPr sz="3600" kern="1200">
          <a:solidFill>
            <a:schemeClr val="accent1">
              <a:lumMod val="50000"/>
            </a:schemeClr>
          </a:solidFill>
          <a:latin typeface="Arial"/>
          <a:ea typeface="+mj-ea"/>
          <a:cs typeface="+mj-cs"/>
        </a:defRPr>
      </a:lvl1pPr>
    </p:titleStyle>
    <p:bodyStyle>
      <a:lvl1pPr marL="342900" indent="-342900" algn="l" defTabSz="457200" rtl="0" eaLnBrk="1" latinLnBrk="0" hangingPunct="1">
        <a:spcBef>
          <a:spcPct val="20000"/>
        </a:spcBef>
        <a:buFont typeface="Arial"/>
        <a:buChar char="•"/>
        <a:defRPr sz="2800" kern="1200">
          <a:solidFill>
            <a:schemeClr val="accent1">
              <a:lumMod val="50000"/>
            </a:schemeClr>
          </a:solidFill>
          <a:latin typeface="Arial"/>
          <a:ea typeface="+mn-ea"/>
          <a:cs typeface="+mn-cs"/>
        </a:defRPr>
      </a:lvl1pPr>
      <a:lvl2pPr marL="742950" indent="-285750" algn="l" defTabSz="457200" rtl="0" eaLnBrk="1" latinLnBrk="0" hangingPunct="1">
        <a:spcBef>
          <a:spcPct val="20000"/>
        </a:spcBef>
        <a:buFont typeface="Arial"/>
        <a:buChar char="–"/>
        <a:defRPr sz="2800" kern="1200">
          <a:solidFill>
            <a:schemeClr val="accent1">
              <a:lumMod val="50000"/>
            </a:schemeClr>
          </a:solidFill>
          <a:latin typeface="Arial"/>
          <a:ea typeface="+mn-ea"/>
          <a:cs typeface="+mn-cs"/>
        </a:defRPr>
      </a:lvl2pPr>
      <a:lvl3pPr marL="1143000" indent="-228600" algn="l" defTabSz="457200" rtl="0" eaLnBrk="1" latinLnBrk="0" hangingPunct="1">
        <a:spcBef>
          <a:spcPct val="20000"/>
        </a:spcBef>
        <a:buFont typeface="Arial"/>
        <a:buChar char="•"/>
        <a:defRPr sz="2400" kern="1200">
          <a:solidFill>
            <a:schemeClr val="accent1">
              <a:lumMod val="50000"/>
            </a:schemeClr>
          </a:solidFill>
          <a:latin typeface="Arial"/>
          <a:ea typeface="+mn-ea"/>
          <a:cs typeface="+mn-cs"/>
        </a:defRPr>
      </a:lvl3pPr>
      <a:lvl4pPr marL="1600200" indent="-228600" algn="l" defTabSz="457200" rtl="0" eaLnBrk="1" latinLnBrk="0" hangingPunct="1">
        <a:spcBef>
          <a:spcPct val="20000"/>
        </a:spcBef>
        <a:buFont typeface="Arial"/>
        <a:buChar char="–"/>
        <a:defRPr sz="2000" kern="1200">
          <a:solidFill>
            <a:schemeClr val="accent1">
              <a:lumMod val="50000"/>
            </a:schemeClr>
          </a:solidFill>
          <a:latin typeface="Arial"/>
          <a:ea typeface="+mn-ea"/>
          <a:cs typeface="+mn-cs"/>
        </a:defRPr>
      </a:lvl4pPr>
      <a:lvl5pPr marL="2057400" indent="-228600" algn="l" defTabSz="457200" rtl="0" eaLnBrk="1" latinLnBrk="0" hangingPunct="1">
        <a:spcBef>
          <a:spcPct val="20000"/>
        </a:spcBef>
        <a:buFont typeface="Arial"/>
        <a:buChar char="»"/>
        <a:defRPr sz="2000" kern="1200">
          <a:solidFill>
            <a:schemeClr val="accent1">
              <a:lumMod val="50000"/>
            </a:schemeClr>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image" Target="../media/image6.emf"/></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emf"/><Relationship Id="rId2" Type="http://schemas.openxmlformats.org/officeDocument/2006/relationships/notesSlide" Target="../notesSlides/notesSlide6.xml"/><Relationship Id="rId1" Type="http://schemas.openxmlformats.org/officeDocument/2006/relationships/slideLayout" Target="../slideLayouts/slideLayout16.xml"/><Relationship Id="rId6" Type="http://schemas.openxmlformats.org/officeDocument/2006/relationships/image" Target="../media/image8.emf"/><Relationship Id="rId5" Type="http://schemas.openxmlformats.org/officeDocument/2006/relationships/image" Target="../media/image7.emf"/><Relationship Id="rId4" Type="http://schemas.openxmlformats.org/officeDocument/2006/relationships/image" Target="../media/image6.em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9.emf"/><Relationship Id="rId2" Type="http://schemas.openxmlformats.org/officeDocument/2006/relationships/slideLayout" Target="../slideLayouts/slideLayout16.xml"/><Relationship Id="rId1" Type="http://schemas.openxmlformats.org/officeDocument/2006/relationships/tags" Target="../tags/tag1.xml"/><Relationship Id="rId6" Type="http://schemas.openxmlformats.org/officeDocument/2006/relationships/image" Target="../media/image8.emf"/><Relationship Id="rId5" Type="http://schemas.openxmlformats.org/officeDocument/2006/relationships/image" Target="../media/image7.emf"/><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9.emf"/><Relationship Id="rId2" Type="http://schemas.openxmlformats.org/officeDocument/2006/relationships/slideLayout" Target="../slideLayouts/slideLayout16.xml"/><Relationship Id="rId1" Type="http://schemas.openxmlformats.org/officeDocument/2006/relationships/tags" Target="../tags/tag2.xml"/><Relationship Id="rId6" Type="http://schemas.openxmlformats.org/officeDocument/2006/relationships/image" Target="../media/image8.emf"/><Relationship Id="rId5" Type="http://schemas.openxmlformats.org/officeDocument/2006/relationships/image" Target="../media/image7.emf"/><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13" Type="http://schemas.openxmlformats.org/officeDocument/2006/relationships/image" Target="../media/image13.png"/><Relationship Id="rId18" Type="http://schemas.openxmlformats.org/officeDocument/2006/relationships/image" Target="../media/image620.png"/><Relationship Id="rId3" Type="http://schemas.openxmlformats.org/officeDocument/2006/relationships/tags" Target="../tags/tag5.xml"/><Relationship Id="rId21" Type="http://schemas.openxmlformats.org/officeDocument/2006/relationships/image" Target="../media/image17.png"/><Relationship Id="rId7" Type="http://schemas.openxmlformats.org/officeDocument/2006/relationships/slideLayout" Target="../slideLayouts/slideLayout16.xml"/><Relationship Id="rId12" Type="http://schemas.openxmlformats.org/officeDocument/2006/relationships/image" Target="../media/image12.png"/><Relationship Id="rId17" Type="http://schemas.openxmlformats.org/officeDocument/2006/relationships/image" Target="../media/image610.png"/><Relationship Id="rId2" Type="http://schemas.openxmlformats.org/officeDocument/2006/relationships/tags" Target="../tags/tag4.xml"/><Relationship Id="rId16" Type="http://schemas.openxmlformats.org/officeDocument/2006/relationships/image" Target="../media/image15.png"/><Relationship Id="rId20" Type="http://schemas.openxmlformats.org/officeDocument/2006/relationships/image" Target="../media/image16.png"/><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image" Target="../media/image550.png"/><Relationship Id="rId5" Type="http://schemas.openxmlformats.org/officeDocument/2006/relationships/tags" Target="../tags/tag7.xml"/><Relationship Id="rId15" Type="http://schemas.openxmlformats.org/officeDocument/2006/relationships/image" Target="../media/image14.png"/><Relationship Id="rId23" Type="http://schemas.openxmlformats.org/officeDocument/2006/relationships/image" Target="../media/image19.png"/><Relationship Id="rId10" Type="http://schemas.openxmlformats.org/officeDocument/2006/relationships/image" Target="../media/image540.png"/><Relationship Id="rId19" Type="http://schemas.openxmlformats.org/officeDocument/2006/relationships/image" Target="../media/image630.png"/><Relationship Id="rId4" Type="http://schemas.openxmlformats.org/officeDocument/2006/relationships/tags" Target="../tags/tag6.xml"/><Relationship Id="rId9" Type="http://schemas.openxmlformats.org/officeDocument/2006/relationships/image" Target="../media/image11.png"/><Relationship Id="rId14" Type="http://schemas.openxmlformats.org/officeDocument/2006/relationships/image" Target="../media/image580.png"/><Relationship Id="rId22"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8" Type="http://schemas.openxmlformats.org/officeDocument/2006/relationships/image" Target="../media/image25.jp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6.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27.jpeg"/><Relationship Id="rId4" Type="http://schemas.openxmlformats.org/officeDocument/2006/relationships/image" Target="../media/image21.png"/><Relationship Id="rId9" Type="http://schemas.openxmlformats.org/officeDocument/2006/relationships/image" Target="../media/image26.png"/></Relationships>
</file>

<file path=ppt/slides/_rels/slide12.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440.png"/><Relationship Id="rId3" Type="http://schemas.openxmlformats.org/officeDocument/2006/relationships/notesSlide" Target="../notesSlides/notesSlide12.xml"/><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slideLayout" Target="../slideLayouts/slideLayout16.xml"/><Relationship Id="rId16" Type="http://schemas.openxmlformats.org/officeDocument/2006/relationships/image" Target="../media/image470.png"/><Relationship Id="rId1" Type="http://schemas.openxmlformats.org/officeDocument/2006/relationships/tags" Target="../tags/tag9.xml"/><Relationship Id="rId6" Type="http://schemas.openxmlformats.org/officeDocument/2006/relationships/image" Target="../media/image22.png"/><Relationship Id="rId11" Type="http://schemas.openxmlformats.org/officeDocument/2006/relationships/image" Target="../media/image27.jpeg"/><Relationship Id="rId5" Type="http://schemas.openxmlformats.org/officeDocument/2006/relationships/image" Target="../media/image21.png"/><Relationship Id="rId15" Type="http://schemas.openxmlformats.org/officeDocument/2006/relationships/image" Target="../media/image460.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jpg"/><Relationship Id="rId14" Type="http://schemas.openxmlformats.org/officeDocument/2006/relationships/image" Target="../media/image450.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6.xml"/><Relationship Id="rId5" Type="http://schemas.openxmlformats.org/officeDocument/2006/relationships/image" Target="../media/image31.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16.xml"/><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6.xml"/><Relationship Id="rId1" Type="http://schemas.openxmlformats.org/officeDocument/2006/relationships/tags" Target="../tags/tag10.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tags" Target="../tags/tag13.xml"/><Relationship Id="rId7" Type="http://schemas.openxmlformats.org/officeDocument/2006/relationships/image" Target="../media/image33.png"/><Relationship Id="rId12" Type="http://schemas.openxmlformats.org/officeDocument/2006/relationships/image" Target="../media/image36.pn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notesSlide" Target="../notesSlides/notesSlide16.xml"/><Relationship Id="rId11" Type="http://schemas.openxmlformats.org/officeDocument/2006/relationships/image" Target="../media/image35.png"/><Relationship Id="rId5" Type="http://schemas.openxmlformats.org/officeDocument/2006/relationships/slideLayout" Target="../slideLayouts/slideLayout16.xml"/><Relationship Id="rId10" Type="http://schemas.openxmlformats.org/officeDocument/2006/relationships/image" Target="../media/image34.png"/><Relationship Id="rId4" Type="http://schemas.openxmlformats.org/officeDocument/2006/relationships/tags" Target="../tags/tag14.xml"/><Relationship Id="rId9" Type="http://schemas.openxmlformats.org/officeDocument/2006/relationships/image" Target="../media/image31.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13" Type="http://schemas.openxmlformats.org/officeDocument/2006/relationships/image" Target="../media/image35.png"/><Relationship Id="rId3" Type="http://schemas.openxmlformats.org/officeDocument/2006/relationships/tags" Target="../tags/tag17.xml"/><Relationship Id="rId7" Type="http://schemas.openxmlformats.org/officeDocument/2006/relationships/slideLayout" Target="../slideLayouts/slideLayout16.xml"/><Relationship Id="rId12" Type="http://schemas.openxmlformats.org/officeDocument/2006/relationships/image" Target="../media/image34.png"/><Relationship Id="rId2" Type="http://schemas.openxmlformats.org/officeDocument/2006/relationships/tags" Target="../tags/tag16.xml"/><Relationship Id="rId16" Type="http://schemas.openxmlformats.org/officeDocument/2006/relationships/image" Target="../media/image38.png"/><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image" Target="../media/image31.png"/><Relationship Id="rId5" Type="http://schemas.openxmlformats.org/officeDocument/2006/relationships/tags" Target="../tags/tag19.xml"/><Relationship Id="rId15" Type="http://schemas.openxmlformats.org/officeDocument/2006/relationships/image" Target="../media/image37.png"/><Relationship Id="rId10" Type="http://schemas.openxmlformats.org/officeDocument/2006/relationships/image" Target="../media/image30.png"/><Relationship Id="rId4" Type="http://schemas.openxmlformats.org/officeDocument/2006/relationships/tags" Target="../tags/tag18.xml"/><Relationship Id="rId9" Type="http://schemas.openxmlformats.org/officeDocument/2006/relationships/image" Target="../media/image33.png"/><Relationship Id="rId14" Type="http://schemas.openxmlformats.org/officeDocument/2006/relationships/image" Target="../media/image36.png"/></Relationships>
</file>

<file path=ppt/slides/_rels/slide1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tags" Target="../tags/tag23.xml"/><Relationship Id="rId7" Type="http://schemas.openxmlformats.org/officeDocument/2006/relationships/image" Target="../media/image39.png"/><Relationship Id="rId12" Type="http://schemas.openxmlformats.org/officeDocument/2006/relationships/image" Target="../media/image36.pn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notesSlide" Target="../notesSlides/notesSlide18.xml"/><Relationship Id="rId11" Type="http://schemas.openxmlformats.org/officeDocument/2006/relationships/image" Target="../media/image34.png"/><Relationship Id="rId5" Type="http://schemas.openxmlformats.org/officeDocument/2006/relationships/slideLayout" Target="../slideLayouts/slideLayout16.xml"/><Relationship Id="rId10" Type="http://schemas.openxmlformats.org/officeDocument/2006/relationships/image" Target="../media/image40.png"/><Relationship Id="rId4" Type="http://schemas.openxmlformats.org/officeDocument/2006/relationships/tags" Target="../tags/tag24.xml"/><Relationship Id="rId9" Type="http://schemas.openxmlformats.org/officeDocument/2006/relationships/image" Target="../media/image31.png"/></Relationships>
</file>

<file path=ppt/slides/_rels/slide19.xml.rels><?xml version="1.0" encoding="UTF-8" standalone="yes"?>
<Relationships xmlns="http://schemas.openxmlformats.org/package/2006/relationships"><Relationship Id="rId8" Type="http://schemas.openxmlformats.org/officeDocument/2006/relationships/image" Target="../media/image44.gif"/><Relationship Id="rId3" Type="http://schemas.openxmlformats.org/officeDocument/2006/relationships/image" Target="../media/image41.gif"/><Relationship Id="rId7" Type="http://schemas.openxmlformats.org/officeDocument/2006/relationships/image" Target="../media/image43.gif"/><Relationship Id="rId2" Type="http://schemas.openxmlformats.org/officeDocument/2006/relationships/notesSlide" Target="../notesSlides/notesSlide19.xml"/><Relationship Id="rId1" Type="http://schemas.openxmlformats.org/officeDocument/2006/relationships/slideLayout" Target="../slideLayouts/slideLayout16.xml"/><Relationship Id="rId6" Type="http://schemas.openxmlformats.org/officeDocument/2006/relationships/image" Target="../media/image800.png"/><Relationship Id="rId5" Type="http://schemas.openxmlformats.org/officeDocument/2006/relationships/image" Target="../media/image790.png"/><Relationship Id="rId4" Type="http://schemas.openxmlformats.org/officeDocument/2006/relationships/image" Target="../media/image42.gif"/></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18" Type="http://schemas.openxmlformats.org/officeDocument/2006/relationships/diagramData" Target="../diagrams/data4.xml"/><Relationship Id="rId3" Type="http://schemas.openxmlformats.org/officeDocument/2006/relationships/diagramData" Target="../diagrams/data1.xml"/><Relationship Id="rId21" Type="http://schemas.openxmlformats.org/officeDocument/2006/relationships/diagramColors" Target="../diagrams/colors4.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 Type="http://schemas.openxmlformats.org/officeDocument/2006/relationships/notesSlide" Target="../notesSlides/notesSlide22.xml"/><Relationship Id="rId16" Type="http://schemas.openxmlformats.org/officeDocument/2006/relationships/diagramColors" Target="../diagrams/colors3.xml"/><Relationship Id="rId20" Type="http://schemas.openxmlformats.org/officeDocument/2006/relationships/diagramQuickStyle" Target="../diagrams/quickStyle4.xml"/><Relationship Id="rId1" Type="http://schemas.openxmlformats.org/officeDocument/2006/relationships/slideLayout" Target="../slideLayouts/slideLayout16.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10" Type="http://schemas.openxmlformats.org/officeDocument/2006/relationships/diagramQuickStyle" Target="../diagrams/quickStyle2.xml"/><Relationship Id="rId19" Type="http://schemas.openxmlformats.org/officeDocument/2006/relationships/diagramLayout" Target="../diagrams/layout4.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 Id="rId22" Type="http://schemas.microsoft.com/office/2007/relationships/diagramDrawing" Target="../diagrams/drawing4.xml"/></Relationships>
</file>

<file path=ppt/slides/_rels/slide23.xml.rels><?xml version="1.0" encoding="UTF-8" standalone="yes"?>
<Relationships xmlns="http://schemas.openxmlformats.org/package/2006/relationships"><Relationship Id="rId8" Type="http://schemas.openxmlformats.org/officeDocument/2006/relationships/image" Target="../media/image390.png"/><Relationship Id="rId3" Type="http://schemas.openxmlformats.org/officeDocument/2006/relationships/tags" Target="../tags/tag27.xml"/><Relationship Id="rId7" Type="http://schemas.openxmlformats.org/officeDocument/2006/relationships/image" Target="../media/image46.pn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380.png"/><Relationship Id="rId11" Type="http://schemas.openxmlformats.org/officeDocument/2006/relationships/image" Target="../media/image48.png"/><Relationship Id="rId5" Type="http://schemas.openxmlformats.org/officeDocument/2006/relationships/notesSlide" Target="../notesSlides/notesSlide23.xml"/><Relationship Id="rId10" Type="http://schemas.openxmlformats.org/officeDocument/2006/relationships/image" Target="../media/image650.png"/><Relationship Id="rId4" Type="http://schemas.openxmlformats.org/officeDocument/2006/relationships/slideLayout" Target="../slideLayouts/slideLayout16.xml"/><Relationship Id="rId9"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24E087F-0D08-4EC9-8E76-CC1A2F4D0697}"/>
              </a:ext>
            </a:extLst>
          </p:cNvPr>
          <p:cNvSpPr/>
          <p:nvPr/>
        </p:nvSpPr>
        <p:spPr>
          <a:xfrm>
            <a:off x="-1" y="6200917"/>
            <a:ext cx="9144000" cy="704850"/>
          </a:xfrm>
          <a:prstGeom prst="rect">
            <a:avLst/>
          </a:prstGeom>
          <a:gradFill flip="none" rotWithShape="1">
            <a:gsLst>
              <a:gs pos="0">
                <a:srgbClr val="448599">
                  <a:tint val="66000"/>
                  <a:satMod val="160000"/>
                </a:srgbClr>
              </a:gs>
              <a:gs pos="57000">
                <a:srgbClr val="448599">
                  <a:tint val="44500"/>
                  <a:satMod val="160000"/>
                </a:srgbClr>
              </a:gs>
              <a:gs pos="100000">
                <a:srgbClr val="448599">
                  <a:tint val="23500"/>
                  <a:satMod val="160000"/>
                </a:srgbClr>
              </a:gs>
            </a:gsLst>
            <a:path path="rect">
              <a:fillToRect l="100000" t="100000"/>
            </a:path>
            <a:tileRect r="-100000" b="-100000"/>
          </a:gradFill>
          <a:ln>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base">
              <a:spcBef>
                <a:spcPct val="0"/>
              </a:spcBef>
              <a:spcAft>
                <a:spcPct val="0"/>
              </a:spcAft>
            </a:pPr>
            <a:endParaRPr lang="en-US" sz="2400" dirty="0">
              <a:solidFill>
                <a:srgbClr val="FFFFFF"/>
              </a:solidFill>
              <a:latin typeface="Calibri"/>
              <a:ea typeface="MS PGothic" pitchFamily="34" charset="-128"/>
            </a:endParaRPr>
          </a:p>
        </p:txBody>
      </p:sp>
      <p:sp>
        <p:nvSpPr>
          <p:cNvPr id="6" name="Subtitle 6"/>
          <p:cNvSpPr txBox="1">
            <a:spLocks/>
          </p:cNvSpPr>
          <p:nvPr/>
        </p:nvSpPr>
        <p:spPr>
          <a:xfrm>
            <a:off x="297904" y="4038600"/>
            <a:ext cx="8382000" cy="2590800"/>
          </a:xfrm>
          <a:prstGeom prst="rect">
            <a:avLst/>
          </a:prstGeom>
          <a:effectLst/>
        </p:spPr>
        <p:txBody>
          <a:bodyPr vert="horz" lIns="91440" tIns="45720" rIns="91440" bIns="45720" rtlCol="0">
            <a:noAutofit/>
          </a:bodyPr>
          <a:lstStyle>
            <a:lvl1pPr marL="0" indent="0" algn="ctr" defTabSz="457200" rtl="0" eaLnBrk="1" latinLnBrk="0" hangingPunct="1">
              <a:spcBef>
                <a:spcPct val="20000"/>
              </a:spcBef>
              <a:buFont typeface="Arial"/>
              <a:buNone/>
              <a:defRPr sz="2800" kern="1200">
                <a:solidFill>
                  <a:schemeClr val="tx1"/>
                </a:solidFill>
                <a:latin typeface="Arial"/>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Arial"/>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Arial"/>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Arial"/>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Arial"/>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defTabSz="914400" fontAlgn="base">
              <a:spcBef>
                <a:spcPct val="0"/>
              </a:spcBef>
              <a:spcAft>
                <a:spcPct val="0"/>
              </a:spcAft>
            </a:pPr>
            <a:endParaRPr lang="en-US" sz="1000" dirty="0">
              <a:solidFill>
                <a:prstClr val="black"/>
              </a:solidFill>
              <a:latin typeface="Arial" charset="0"/>
              <a:cs typeface="Arial" charset="0"/>
            </a:endParaRPr>
          </a:p>
          <a:p>
            <a:pPr fontAlgn="base">
              <a:spcAft>
                <a:spcPct val="0"/>
              </a:spcAft>
            </a:pPr>
            <a:r>
              <a:rPr lang="en-US" sz="2300" dirty="0">
                <a:solidFill>
                  <a:prstClr val="black"/>
                </a:solidFill>
              </a:rPr>
              <a:t>Amir Shahmoradi</a:t>
            </a:r>
          </a:p>
          <a:p>
            <a:pPr fontAlgn="base">
              <a:spcAft>
                <a:spcPct val="0"/>
              </a:spcAft>
            </a:pPr>
            <a:endParaRPr lang="en-US" sz="1000" dirty="0">
              <a:solidFill>
                <a:prstClr val="black"/>
              </a:solidFill>
            </a:endParaRPr>
          </a:p>
          <a:p>
            <a:pPr fontAlgn="base">
              <a:spcAft>
                <a:spcPct val="0"/>
              </a:spcAft>
            </a:pPr>
            <a:r>
              <a:rPr lang="en-US" sz="1600" dirty="0">
                <a:solidFill>
                  <a:prstClr val="black"/>
                </a:solidFill>
              </a:rPr>
              <a:t>Department of Physics / College of Science</a:t>
            </a:r>
          </a:p>
          <a:p>
            <a:pPr fontAlgn="base">
              <a:spcAft>
                <a:spcPct val="0"/>
              </a:spcAft>
            </a:pPr>
            <a:r>
              <a:rPr lang="en-US" sz="1600" dirty="0">
                <a:solidFill>
                  <a:prstClr val="black"/>
                </a:solidFill>
              </a:rPr>
              <a:t>Data Science Program / College of Science</a:t>
            </a:r>
          </a:p>
          <a:p>
            <a:pPr fontAlgn="base">
              <a:spcAft>
                <a:spcPct val="0"/>
              </a:spcAft>
            </a:pPr>
            <a:r>
              <a:rPr lang="en-US" sz="1600" dirty="0">
                <a:solidFill>
                  <a:prstClr val="black"/>
                </a:solidFill>
              </a:rPr>
              <a:t>The University of Texas</a:t>
            </a:r>
          </a:p>
          <a:p>
            <a:pPr fontAlgn="base">
              <a:spcAft>
                <a:spcPct val="0"/>
              </a:spcAft>
            </a:pPr>
            <a:r>
              <a:rPr lang="en-US" sz="1600" dirty="0">
                <a:solidFill>
                  <a:prstClr val="black"/>
                </a:solidFill>
              </a:rPr>
              <a:t>Arlington, Texas</a:t>
            </a:r>
          </a:p>
          <a:p>
            <a:pPr fontAlgn="base">
              <a:spcAft>
                <a:spcPct val="0"/>
              </a:spcAft>
            </a:pPr>
            <a:endParaRPr lang="en-US" sz="1000" dirty="0">
              <a:solidFill>
                <a:prstClr val="black"/>
              </a:solidFill>
            </a:endParaRPr>
          </a:p>
          <a:p>
            <a:pPr fontAlgn="base">
              <a:spcAft>
                <a:spcPct val="0"/>
              </a:spcAft>
            </a:pPr>
            <a:endParaRPr lang="en-US" sz="1600" dirty="0">
              <a:solidFill>
                <a:prstClr val="black"/>
              </a:solidFill>
            </a:endParaRPr>
          </a:p>
          <a:p>
            <a:pPr fontAlgn="base">
              <a:spcAft>
                <a:spcPct val="0"/>
              </a:spcAft>
            </a:pPr>
            <a:endParaRPr lang="en-US" sz="1600" dirty="0">
              <a:solidFill>
                <a:prstClr val="black"/>
              </a:solidFill>
            </a:endParaRPr>
          </a:p>
        </p:txBody>
      </p:sp>
      <p:sp>
        <p:nvSpPr>
          <p:cNvPr id="15" name="Title 4">
            <a:extLst>
              <a:ext uri="{FF2B5EF4-FFF2-40B4-BE49-F238E27FC236}">
                <a16:creationId xmlns:a16="http://schemas.microsoft.com/office/drawing/2014/main" id="{C81CCA77-68A9-4F76-9A2C-295FB4C45869}"/>
              </a:ext>
            </a:extLst>
          </p:cNvPr>
          <p:cNvSpPr txBox="1">
            <a:spLocks/>
          </p:cNvSpPr>
          <p:nvPr/>
        </p:nvSpPr>
        <p:spPr>
          <a:xfrm>
            <a:off x="824406" y="1442305"/>
            <a:ext cx="7328994" cy="2748697"/>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3600" kern="1200">
                <a:solidFill>
                  <a:schemeClr val="accent1">
                    <a:lumMod val="50000"/>
                  </a:schemeClr>
                </a:solidFill>
                <a:latin typeface="Arial"/>
                <a:ea typeface="+mj-ea"/>
                <a:cs typeface="+mj-cs"/>
              </a:defRPr>
            </a:lvl1pPr>
          </a:lstStyle>
          <a:p>
            <a:r>
              <a:rPr lang="en-US" sz="4400" dirty="0">
                <a:solidFill>
                  <a:prstClr val="black"/>
                </a:solidFill>
                <a:latin typeface="Arial" pitchFamily="34" charset="0"/>
                <a:cs typeface="Arial" pitchFamily="34" charset="0"/>
              </a:rPr>
              <a:t>DATA 1301</a:t>
            </a:r>
          </a:p>
          <a:p>
            <a:r>
              <a:rPr lang="en-US" sz="4400" dirty="0">
                <a:solidFill>
                  <a:prstClr val="black"/>
                </a:solidFill>
                <a:latin typeface="Arial" pitchFamily="34" charset="0"/>
                <a:cs typeface="Arial" pitchFamily="34" charset="0"/>
              </a:rPr>
              <a:t>Introduction to Data Science</a:t>
            </a:r>
          </a:p>
          <a:p>
            <a:r>
              <a:rPr lang="en-US" sz="3000" dirty="0">
                <a:solidFill>
                  <a:prstClr val="black"/>
                </a:solidFill>
                <a:latin typeface="Arial" pitchFamily="34" charset="0"/>
                <a:cs typeface="Arial" pitchFamily="34" charset="0"/>
              </a:rPr>
              <a:t>Logic and Probability Theory</a:t>
            </a:r>
          </a:p>
        </p:txBody>
      </p:sp>
      <p:pic>
        <p:nvPicPr>
          <p:cNvPr id="16" name="Picture 15" descr="A picture containing object&#10;&#10;Description generated with high confidence">
            <a:extLst>
              <a:ext uri="{FF2B5EF4-FFF2-40B4-BE49-F238E27FC236}">
                <a16:creationId xmlns:a16="http://schemas.microsoft.com/office/drawing/2014/main" id="{02CDBEDA-2272-4C7A-AC18-60180D6D63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8303" y="83765"/>
            <a:ext cx="1981200" cy="1358538"/>
          </a:xfrm>
          <a:prstGeom prst="rect">
            <a:avLst/>
          </a:prstGeom>
        </p:spPr>
      </p:pic>
    </p:spTree>
    <p:extLst>
      <p:ext uri="{BB962C8B-B14F-4D97-AF65-F5344CB8AC3E}">
        <p14:creationId xmlns:p14="http://schemas.microsoft.com/office/powerpoint/2010/main" val="6514824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D35396E-4D0F-4D9D-BC1B-8820F80057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13410" y="2480323"/>
            <a:ext cx="4666383" cy="3486269"/>
          </a:xfrm>
          <a:prstGeom prst="rect">
            <a:avLst/>
          </a:prstGeom>
        </p:spPr>
      </p:pic>
      <p:sp>
        <p:nvSpPr>
          <p:cNvPr id="5" name="Title 4 1"/>
          <p:cNvSpPr>
            <a:spLocks noGrp="1"/>
          </p:cNvSpPr>
          <p:nvPr>
            <p:ph type="title"/>
          </p:nvPr>
        </p:nvSpPr>
        <p:spPr>
          <a:xfrm>
            <a:off x="152400" y="228603"/>
            <a:ext cx="8839200" cy="468875"/>
          </a:xfrm>
        </p:spPr>
        <p:txBody>
          <a:bodyPr>
            <a:normAutofit/>
          </a:bodyPr>
          <a:lstStyle/>
          <a:p>
            <a:r>
              <a:rPr lang="en-US" sz="1800" b="1" dirty="0">
                <a:solidFill>
                  <a:schemeClr val="tx1"/>
                </a:solidFill>
              </a:rPr>
              <a:t>The two classical pillars of science: Experiment and Theory</a:t>
            </a:r>
          </a:p>
        </p:txBody>
      </p:sp>
      <p:sp>
        <p:nvSpPr>
          <p:cNvPr id="20" name="Title 4 2 1 1"/>
          <p:cNvSpPr txBox="1">
            <a:spLocks/>
          </p:cNvSpPr>
          <p:nvPr/>
        </p:nvSpPr>
        <p:spPr>
          <a:xfrm>
            <a:off x="2286002" y="2012585"/>
            <a:ext cx="4593791" cy="474416"/>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a:r>
              <a:rPr lang="en-US" sz="1500" dirty="0">
                <a:solidFill>
                  <a:prstClr val="black"/>
                </a:solidFill>
              </a:rPr>
              <a:t>A very elementary depiction of the scientific method</a:t>
            </a:r>
          </a:p>
        </p:txBody>
      </p:sp>
      <p:sp>
        <p:nvSpPr>
          <p:cNvPr id="26" name="Title 4 2 1 1"/>
          <p:cNvSpPr txBox="1">
            <a:spLocks/>
          </p:cNvSpPr>
          <p:nvPr/>
        </p:nvSpPr>
        <p:spPr>
          <a:xfrm>
            <a:off x="1600200" y="1143000"/>
            <a:ext cx="5943600" cy="474416"/>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a:r>
              <a:rPr lang="en-US" sz="1500" b="1" dirty="0">
                <a:solidFill>
                  <a:prstClr val="black"/>
                </a:solidFill>
              </a:rPr>
              <a:t>How do we make a scientific inference?</a:t>
            </a:r>
          </a:p>
        </p:txBody>
      </p:sp>
    </p:spTree>
    <p:extLst>
      <p:ext uri="{BB962C8B-B14F-4D97-AF65-F5344CB8AC3E}">
        <p14:creationId xmlns:p14="http://schemas.microsoft.com/office/powerpoint/2010/main" val="16098836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0" grpId="1"/>
      <p:bldP spid="2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202D0A7-EC4D-4C79-8F8D-222C46D21CB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99000" y="2566105"/>
            <a:ext cx="4419600" cy="3314700"/>
          </a:xfrm>
          <a:prstGeom prst="rect">
            <a:avLst/>
          </a:prstGeom>
        </p:spPr>
      </p:pic>
      <p:pic>
        <p:nvPicPr>
          <p:cNvPr id="8" name="Picture 7">
            <a:extLst>
              <a:ext uri="{FF2B5EF4-FFF2-40B4-BE49-F238E27FC236}">
                <a16:creationId xmlns:a16="http://schemas.microsoft.com/office/drawing/2014/main" id="{FD35396E-4D0F-4D9D-BC1B-8820F80057F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4802" y="2394538"/>
            <a:ext cx="4666383" cy="3486269"/>
          </a:xfrm>
          <a:prstGeom prst="rect">
            <a:avLst/>
          </a:prstGeom>
        </p:spPr>
      </p:pic>
      <p:sp>
        <p:nvSpPr>
          <p:cNvPr id="5" name="Title 4 1"/>
          <p:cNvSpPr>
            <a:spLocks noGrp="1"/>
          </p:cNvSpPr>
          <p:nvPr>
            <p:ph type="title"/>
          </p:nvPr>
        </p:nvSpPr>
        <p:spPr>
          <a:xfrm>
            <a:off x="152400" y="228603"/>
            <a:ext cx="8839200" cy="468875"/>
          </a:xfrm>
        </p:spPr>
        <p:txBody>
          <a:bodyPr>
            <a:normAutofit/>
          </a:bodyPr>
          <a:lstStyle/>
          <a:p>
            <a:r>
              <a:rPr lang="en-US" sz="1800" b="1" dirty="0">
                <a:solidFill>
                  <a:schemeClr val="tx1"/>
                </a:solidFill>
              </a:rPr>
              <a:t>The two classical pillars of science: Experiment and Theory</a:t>
            </a:r>
          </a:p>
        </p:txBody>
      </p:sp>
      <p:sp>
        <p:nvSpPr>
          <p:cNvPr id="20" name="Title 4 2 1 1"/>
          <p:cNvSpPr txBox="1">
            <a:spLocks/>
          </p:cNvSpPr>
          <p:nvPr/>
        </p:nvSpPr>
        <p:spPr>
          <a:xfrm>
            <a:off x="341097" y="1983705"/>
            <a:ext cx="4593791" cy="474416"/>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a:r>
              <a:rPr lang="en-US" sz="1500" dirty="0">
                <a:solidFill>
                  <a:prstClr val="black"/>
                </a:solidFill>
              </a:rPr>
              <a:t>A very elementary depiction of the scientific method</a:t>
            </a:r>
          </a:p>
        </p:txBody>
      </p:sp>
      <p:sp>
        <p:nvSpPr>
          <p:cNvPr id="26" name="Title 4 2 1 1"/>
          <p:cNvSpPr txBox="1">
            <a:spLocks/>
          </p:cNvSpPr>
          <p:nvPr/>
        </p:nvSpPr>
        <p:spPr>
          <a:xfrm>
            <a:off x="1600200" y="1143000"/>
            <a:ext cx="5943600" cy="474416"/>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a:r>
              <a:rPr lang="en-US" sz="1500" b="1" dirty="0">
                <a:solidFill>
                  <a:prstClr val="black"/>
                </a:solidFill>
              </a:rPr>
              <a:t>How do we make a scientific inference?</a:t>
            </a:r>
          </a:p>
        </p:txBody>
      </p:sp>
      <p:sp>
        <p:nvSpPr>
          <p:cNvPr id="32" name="Title 4 2 1 1">
            <a:extLst>
              <a:ext uri="{FF2B5EF4-FFF2-40B4-BE49-F238E27FC236}">
                <a16:creationId xmlns:a16="http://schemas.microsoft.com/office/drawing/2014/main" id="{F2B84A76-C2B3-4F9B-8EDD-F095E4D4C629}"/>
              </a:ext>
            </a:extLst>
          </p:cNvPr>
          <p:cNvSpPr txBox="1">
            <a:spLocks/>
          </p:cNvSpPr>
          <p:nvPr/>
        </p:nvSpPr>
        <p:spPr>
          <a:xfrm>
            <a:off x="5334000" y="1996740"/>
            <a:ext cx="3048000" cy="474416"/>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a:r>
              <a:rPr lang="en-US" sz="1500" dirty="0">
                <a:solidFill>
                  <a:prstClr val="black"/>
                </a:solidFill>
              </a:rPr>
              <a:t>The prediction pyramid</a:t>
            </a:r>
          </a:p>
        </p:txBody>
      </p:sp>
    </p:spTree>
    <p:extLst>
      <p:ext uri="{BB962C8B-B14F-4D97-AF65-F5344CB8AC3E}">
        <p14:creationId xmlns:p14="http://schemas.microsoft.com/office/powerpoint/2010/main" val="26625699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fade">
                                      <p:cBhvr>
                                        <p:cTn id="1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3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4 1"/>
          <p:cNvSpPr>
            <a:spLocks noGrp="1"/>
          </p:cNvSpPr>
          <p:nvPr>
            <p:ph type="title"/>
          </p:nvPr>
        </p:nvSpPr>
        <p:spPr>
          <a:xfrm>
            <a:off x="139446" y="164483"/>
            <a:ext cx="8839200" cy="380999"/>
          </a:xfrm>
        </p:spPr>
        <p:txBody>
          <a:bodyPr>
            <a:normAutofit/>
          </a:bodyPr>
          <a:lstStyle/>
          <a:p>
            <a:r>
              <a:rPr lang="en-US" sz="1800" b="1" dirty="0">
                <a:solidFill>
                  <a:schemeClr val="tx1"/>
                </a:solidFill>
              </a:rPr>
              <a:t>The desiderata of Probability Theory</a:t>
            </a:r>
          </a:p>
        </p:txBody>
      </p:sp>
      <p:sp>
        <p:nvSpPr>
          <p:cNvPr id="14" name="Rectangle 13">
            <a:extLst>
              <a:ext uri="{FF2B5EF4-FFF2-40B4-BE49-F238E27FC236}">
                <a16:creationId xmlns:a16="http://schemas.microsoft.com/office/drawing/2014/main" id="{F7CE52AB-3FCC-4DF2-9AF8-F769F7CD9DF2}"/>
              </a:ext>
            </a:extLst>
          </p:cNvPr>
          <p:cNvSpPr/>
          <p:nvPr/>
        </p:nvSpPr>
        <p:spPr>
          <a:xfrm>
            <a:off x="234874" y="630087"/>
            <a:ext cx="8648344" cy="5632311"/>
          </a:xfrm>
          <a:prstGeom prst="rect">
            <a:avLst/>
          </a:prstGeom>
        </p:spPr>
        <p:txBody>
          <a:bodyPr wrap="square">
            <a:spAutoFit/>
          </a:bodyPr>
          <a:lstStyle/>
          <a:p>
            <a:pPr algn="ctr"/>
            <a:endParaRPr lang="en-US" dirty="0">
              <a:latin typeface="Times-Roman"/>
            </a:endParaRPr>
          </a:p>
          <a:p>
            <a:pPr algn="ctr"/>
            <a:r>
              <a:rPr lang="en-US" dirty="0">
                <a:latin typeface="Times-Roman"/>
              </a:rPr>
              <a:t>There is a set of properties that we </a:t>
            </a:r>
            <a:r>
              <a:rPr lang="en-US" b="1" dirty="0">
                <a:latin typeface="Times-Roman"/>
              </a:rPr>
              <a:t>desire</a:t>
            </a:r>
            <a:r>
              <a:rPr lang="en-US" dirty="0">
                <a:latin typeface="Times-Roman"/>
              </a:rPr>
              <a:t> to have in a theory of probability that we wish to construct now.</a:t>
            </a:r>
          </a:p>
          <a:p>
            <a:pPr algn="ctr"/>
            <a:endParaRPr lang="en-US" dirty="0">
              <a:latin typeface="Times-Roman"/>
            </a:endParaRPr>
          </a:p>
          <a:p>
            <a:pPr marL="400050" indent="-400050">
              <a:buAutoNum type="romanUcParenBoth"/>
            </a:pPr>
            <a:r>
              <a:rPr lang="en-US" dirty="0">
                <a:latin typeface="Times-Roman"/>
              </a:rPr>
              <a:t>Degrees of plausibility are represented by real numbers.</a:t>
            </a:r>
          </a:p>
          <a:p>
            <a:pPr marL="400050" indent="-400050">
              <a:buAutoNum type="romanUcParenBoth"/>
            </a:pPr>
            <a:endParaRPr lang="en-US" dirty="0">
              <a:latin typeface="Times-Roman"/>
            </a:endParaRPr>
          </a:p>
          <a:p>
            <a:pPr marL="400050" indent="-400050">
              <a:buAutoNum type="romanUcParenBoth"/>
            </a:pPr>
            <a:r>
              <a:rPr lang="en-US" dirty="0">
                <a:latin typeface="Times-Roman"/>
              </a:rPr>
              <a:t>Qualitative correspondence with common sense.</a:t>
            </a:r>
          </a:p>
          <a:p>
            <a:pPr marL="400050" indent="-400050">
              <a:buAutoNum type="romanUcParenBoth"/>
            </a:pPr>
            <a:endParaRPr lang="en-US" dirty="0">
              <a:latin typeface="Times-Roman"/>
            </a:endParaRPr>
          </a:p>
          <a:p>
            <a:pPr marL="400050" indent="-400050">
              <a:buAutoNum type="romanUcParenBoth"/>
            </a:pPr>
            <a:r>
              <a:rPr lang="en-US" dirty="0">
                <a:latin typeface="Times-Roman"/>
              </a:rPr>
              <a:t> Consistency.</a:t>
            </a:r>
          </a:p>
          <a:p>
            <a:pPr marL="400050" indent="-400050">
              <a:buAutoNum type="romanUcParenBoth"/>
            </a:pPr>
            <a:endParaRPr lang="en-US" dirty="0">
              <a:latin typeface="Times-Roman"/>
            </a:endParaRPr>
          </a:p>
          <a:p>
            <a:pPr marL="857250" lvl="1" indent="-400050">
              <a:buAutoNum type="romanUcParenBoth"/>
            </a:pPr>
            <a:r>
              <a:rPr lang="en-US" dirty="0">
                <a:latin typeface="Times-Roman"/>
              </a:rPr>
              <a:t>If a conclusion can be reasoned out in more than one way, then every possible way must lead to the same result.</a:t>
            </a:r>
          </a:p>
          <a:p>
            <a:pPr marL="857250" lvl="1" indent="-400050">
              <a:buAutoNum type="romanUcParenBoth"/>
            </a:pPr>
            <a:endParaRPr lang="en-US" dirty="0">
              <a:latin typeface="Times-Roman"/>
            </a:endParaRPr>
          </a:p>
          <a:p>
            <a:pPr marL="857250" lvl="1" indent="-400050">
              <a:buAutoNum type="romanUcParenBoth"/>
            </a:pPr>
            <a:r>
              <a:rPr lang="en-US" dirty="0">
                <a:latin typeface="Times-Roman"/>
              </a:rPr>
              <a:t>We must always consider all the evidence relevant to a question. We should not arbitrarily ignore some information, basing the conclusions only on what remains.</a:t>
            </a:r>
          </a:p>
          <a:p>
            <a:pPr marL="857250" lvl="1" indent="-400050">
              <a:buAutoNum type="romanUcParenBoth"/>
            </a:pPr>
            <a:endParaRPr lang="en-US" dirty="0">
              <a:latin typeface="Times-Roman"/>
            </a:endParaRPr>
          </a:p>
          <a:p>
            <a:pPr marL="857250" lvl="1" indent="-400050">
              <a:buAutoNum type="romanUcParenBoth"/>
            </a:pPr>
            <a:r>
              <a:rPr lang="en-US" dirty="0">
                <a:latin typeface="Times-Roman"/>
              </a:rPr>
              <a:t> We must always represent equivalent states of knowledge by equivalent plausibility assignments. That is, if the state of knowledge is the same (except perhaps for labeling the propositions) in two problems, then it must assign the same </a:t>
            </a:r>
            <a:r>
              <a:rPr lang="en-US" dirty="0" err="1">
                <a:latin typeface="Times-Roman"/>
              </a:rPr>
              <a:t>plausibilities</a:t>
            </a:r>
            <a:r>
              <a:rPr lang="en-US" dirty="0">
                <a:latin typeface="Times-Roman"/>
              </a:rPr>
              <a:t> in both.</a:t>
            </a:r>
          </a:p>
        </p:txBody>
      </p:sp>
    </p:spTree>
    <p:extLst>
      <p:ext uri="{BB962C8B-B14F-4D97-AF65-F5344CB8AC3E}">
        <p14:creationId xmlns:p14="http://schemas.microsoft.com/office/powerpoint/2010/main" val="21534102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4 1"/>
          <p:cNvSpPr>
            <a:spLocks noGrp="1"/>
          </p:cNvSpPr>
          <p:nvPr>
            <p:ph type="title"/>
          </p:nvPr>
        </p:nvSpPr>
        <p:spPr>
          <a:xfrm>
            <a:off x="139446" y="164483"/>
            <a:ext cx="8839200" cy="380999"/>
          </a:xfrm>
        </p:spPr>
        <p:txBody>
          <a:bodyPr>
            <a:normAutofit/>
          </a:bodyPr>
          <a:lstStyle/>
          <a:p>
            <a:r>
              <a:rPr lang="en-US" sz="1800" b="1" dirty="0">
                <a:solidFill>
                  <a:schemeClr val="tx1"/>
                </a:solidFill>
              </a:rPr>
              <a:t>An example of correspondence with common sense</a:t>
            </a:r>
          </a:p>
        </p:txBody>
      </p:sp>
      <p:sp>
        <p:nvSpPr>
          <p:cNvPr id="14" name="Rectangle 13">
            <a:extLst>
              <a:ext uri="{FF2B5EF4-FFF2-40B4-BE49-F238E27FC236}">
                <a16:creationId xmlns:a16="http://schemas.microsoft.com/office/drawing/2014/main" id="{F7CE52AB-3FCC-4DF2-9AF8-F769F7CD9DF2}"/>
              </a:ext>
            </a:extLst>
          </p:cNvPr>
          <p:cNvSpPr/>
          <p:nvPr/>
        </p:nvSpPr>
        <p:spPr>
          <a:xfrm>
            <a:off x="234874" y="630087"/>
            <a:ext cx="8648344" cy="646331"/>
          </a:xfrm>
          <a:prstGeom prst="rect">
            <a:avLst/>
          </a:prstGeom>
        </p:spPr>
        <p:txBody>
          <a:bodyPr wrap="square">
            <a:spAutoFit/>
          </a:bodyPr>
          <a:lstStyle/>
          <a:p>
            <a:r>
              <a:rPr lang="en-US" dirty="0">
                <a:latin typeface="Times-Roman"/>
              </a:rPr>
              <a:t>First, let’s learn the conditional notation: A proposition (A) whose truth is conditioned on the truth of another proposition (B) is typically denoted by,</a:t>
            </a:r>
          </a:p>
        </p:txBody>
      </p:sp>
      <p:pic>
        <p:nvPicPr>
          <p:cNvPr id="2" name="Picture 1">
            <a:extLst>
              <a:ext uri="{FF2B5EF4-FFF2-40B4-BE49-F238E27FC236}">
                <a16:creationId xmlns:a16="http://schemas.microsoft.com/office/drawing/2014/main" id="{F486092A-43BB-42F9-BE4C-F158E58903B6}"/>
              </a:ext>
            </a:extLst>
          </p:cNvPr>
          <p:cNvPicPr>
            <a:picLocks noChangeAspect="1"/>
          </p:cNvPicPr>
          <p:nvPr/>
        </p:nvPicPr>
        <p:blipFill>
          <a:blip r:embed="rId3"/>
          <a:stretch>
            <a:fillRect/>
          </a:stretch>
        </p:blipFill>
        <p:spPr>
          <a:xfrm>
            <a:off x="4162425" y="1458749"/>
            <a:ext cx="819150" cy="590550"/>
          </a:xfrm>
          <a:prstGeom prst="rect">
            <a:avLst/>
          </a:prstGeom>
        </p:spPr>
      </p:pic>
      <p:sp>
        <p:nvSpPr>
          <p:cNvPr id="5" name="Rectangle 4">
            <a:extLst>
              <a:ext uri="{FF2B5EF4-FFF2-40B4-BE49-F238E27FC236}">
                <a16:creationId xmlns:a16="http://schemas.microsoft.com/office/drawing/2014/main" id="{DBF729B7-2D4F-4899-87C4-8836E117CA41}"/>
              </a:ext>
            </a:extLst>
          </p:cNvPr>
          <p:cNvSpPr/>
          <p:nvPr/>
        </p:nvSpPr>
        <p:spPr>
          <a:xfrm>
            <a:off x="247828" y="2163264"/>
            <a:ext cx="8648344" cy="646331"/>
          </a:xfrm>
          <a:prstGeom prst="rect">
            <a:avLst/>
          </a:prstGeom>
        </p:spPr>
        <p:txBody>
          <a:bodyPr wrap="square">
            <a:spAutoFit/>
          </a:bodyPr>
          <a:lstStyle/>
          <a:p>
            <a:r>
              <a:rPr lang="en-US" dirty="0">
                <a:latin typeface="Times-Roman"/>
              </a:rPr>
              <a:t>Second, </a:t>
            </a:r>
            <a:r>
              <a:rPr lang="en-US" b="1" dirty="0">
                <a:latin typeface="Times-Roman"/>
              </a:rPr>
              <a:t>by convention</a:t>
            </a:r>
            <a:r>
              <a:rPr lang="en-US" dirty="0">
                <a:latin typeface="Times-Roman"/>
              </a:rPr>
              <a:t>, we will assume that propositions with greater degree of plausibility correspond to greater real numbers.</a:t>
            </a:r>
            <a:endParaRPr lang="en-US" b="1" dirty="0">
              <a:latin typeface="Times-Roman"/>
            </a:endParaRPr>
          </a:p>
        </p:txBody>
      </p:sp>
      <p:sp>
        <p:nvSpPr>
          <p:cNvPr id="6" name="Rectangle 5">
            <a:extLst>
              <a:ext uri="{FF2B5EF4-FFF2-40B4-BE49-F238E27FC236}">
                <a16:creationId xmlns:a16="http://schemas.microsoft.com/office/drawing/2014/main" id="{FE82A634-E6ED-4118-A35F-4A57A3059AEC}"/>
              </a:ext>
            </a:extLst>
          </p:cNvPr>
          <p:cNvSpPr/>
          <p:nvPr/>
        </p:nvSpPr>
        <p:spPr>
          <a:xfrm>
            <a:off x="247828" y="2936145"/>
            <a:ext cx="8648344" cy="369332"/>
          </a:xfrm>
          <a:prstGeom prst="rect">
            <a:avLst/>
          </a:prstGeom>
        </p:spPr>
        <p:txBody>
          <a:bodyPr wrap="square">
            <a:spAutoFit/>
          </a:bodyPr>
          <a:lstStyle/>
          <a:p>
            <a:r>
              <a:rPr lang="en-US" dirty="0">
                <a:latin typeface="Times-Roman"/>
              </a:rPr>
              <a:t>Therefore, </a:t>
            </a:r>
            <a:endParaRPr lang="en-US" b="1" dirty="0">
              <a:latin typeface="Times-Roman"/>
            </a:endParaRPr>
          </a:p>
        </p:txBody>
      </p:sp>
      <p:pic>
        <p:nvPicPr>
          <p:cNvPr id="3" name="Picture 2">
            <a:extLst>
              <a:ext uri="{FF2B5EF4-FFF2-40B4-BE49-F238E27FC236}">
                <a16:creationId xmlns:a16="http://schemas.microsoft.com/office/drawing/2014/main" id="{8C597005-B382-46DB-B357-CD8A073193CA}"/>
              </a:ext>
            </a:extLst>
          </p:cNvPr>
          <p:cNvPicPr>
            <a:picLocks noChangeAspect="1"/>
          </p:cNvPicPr>
          <p:nvPr/>
        </p:nvPicPr>
        <p:blipFill>
          <a:blip r:embed="rId4"/>
          <a:stretch>
            <a:fillRect/>
          </a:stretch>
        </p:blipFill>
        <p:spPr>
          <a:xfrm>
            <a:off x="3572142" y="3394885"/>
            <a:ext cx="1999716" cy="382874"/>
          </a:xfrm>
          <a:prstGeom prst="rect">
            <a:avLst/>
          </a:prstGeom>
        </p:spPr>
      </p:pic>
    </p:spTree>
    <p:extLst>
      <p:ext uri="{BB962C8B-B14F-4D97-AF65-F5344CB8AC3E}">
        <p14:creationId xmlns:p14="http://schemas.microsoft.com/office/powerpoint/2010/main" val="2801784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4 1"/>
          <p:cNvSpPr>
            <a:spLocks noGrp="1"/>
          </p:cNvSpPr>
          <p:nvPr>
            <p:ph type="title"/>
          </p:nvPr>
        </p:nvSpPr>
        <p:spPr>
          <a:xfrm>
            <a:off x="139446" y="164483"/>
            <a:ext cx="8839200" cy="380999"/>
          </a:xfrm>
        </p:spPr>
        <p:txBody>
          <a:bodyPr>
            <a:normAutofit/>
          </a:bodyPr>
          <a:lstStyle/>
          <a:p>
            <a:r>
              <a:rPr lang="en-US" sz="1800" b="1" dirty="0">
                <a:solidFill>
                  <a:schemeClr val="tx1"/>
                </a:solidFill>
              </a:rPr>
              <a:t>An example of correspondence with common sense</a:t>
            </a:r>
          </a:p>
        </p:txBody>
      </p:sp>
      <p:sp>
        <p:nvSpPr>
          <p:cNvPr id="14" name="Rectangle 13">
            <a:extLst>
              <a:ext uri="{FF2B5EF4-FFF2-40B4-BE49-F238E27FC236}">
                <a16:creationId xmlns:a16="http://schemas.microsoft.com/office/drawing/2014/main" id="{F7CE52AB-3FCC-4DF2-9AF8-F769F7CD9DF2}"/>
              </a:ext>
            </a:extLst>
          </p:cNvPr>
          <p:cNvSpPr/>
          <p:nvPr/>
        </p:nvSpPr>
        <p:spPr>
          <a:xfrm>
            <a:off x="234874" y="630087"/>
            <a:ext cx="8648344" cy="646331"/>
          </a:xfrm>
          <a:prstGeom prst="rect">
            <a:avLst/>
          </a:prstGeom>
        </p:spPr>
        <p:txBody>
          <a:bodyPr wrap="square">
            <a:spAutoFit/>
          </a:bodyPr>
          <a:lstStyle/>
          <a:p>
            <a:r>
              <a:rPr lang="en-US" dirty="0">
                <a:latin typeface="Times-Roman"/>
              </a:rPr>
              <a:t>First, let’s learn the conditional notation: A proposition (A) whose truth is conditioned on the truth of another proposition (B) is typically denoted by,</a:t>
            </a:r>
          </a:p>
        </p:txBody>
      </p:sp>
      <p:pic>
        <p:nvPicPr>
          <p:cNvPr id="2" name="Picture 1">
            <a:extLst>
              <a:ext uri="{FF2B5EF4-FFF2-40B4-BE49-F238E27FC236}">
                <a16:creationId xmlns:a16="http://schemas.microsoft.com/office/drawing/2014/main" id="{F486092A-43BB-42F9-BE4C-F158E58903B6}"/>
              </a:ext>
            </a:extLst>
          </p:cNvPr>
          <p:cNvPicPr>
            <a:picLocks noChangeAspect="1"/>
          </p:cNvPicPr>
          <p:nvPr/>
        </p:nvPicPr>
        <p:blipFill>
          <a:blip r:embed="rId3"/>
          <a:stretch>
            <a:fillRect/>
          </a:stretch>
        </p:blipFill>
        <p:spPr>
          <a:xfrm>
            <a:off x="4162425" y="1458749"/>
            <a:ext cx="819150" cy="590550"/>
          </a:xfrm>
          <a:prstGeom prst="rect">
            <a:avLst/>
          </a:prstGeom>
        </p:spPr>
      </p:pic>
      <p:sp>
        <p:nvSpPr>
          <p:cNvPr id="5" name="Rectangle 4">
            <a:extLst>
              <a:ext uri="{FF2B5EF4-FFF2-40B4-BE49-F238E27FC236}">
                <a16:creationId xmlns:a16="http://schemas.microsoft.com/office/drawing/2014/main" id="{DBF729B7-2D4F-4899-87C4-8836E117CA41}"/>
              </a:ext>
            </a:extLst>
          </p:cNvPr>
          <p:cNvSpPr/>
          <p:nvPr/>
        </p:nvSpPr>
        <p:spPr>
          <a:xfrm>
            <a:off x="247828" y="2163264"/>
            <a:ext cx="8648344" cy="646331"/>
          </a:xfrm>
          <a:prstGeom prst="rect">
            <a:avLst/>
          </a:prstGeom>
        </p:spPr>
        <p:txBody>
          <a:bodyPr wrap="square">
            <a:spAutoFit/>
          </a:bodyPr>
          <a:lstStyle/>
          <a:p>
            <a:r>
              <a:rPr lang="en-US" dirty="0">
                <a:latin typeface="Times-Roman"/>
              </a:rPr>
              <a:t>Second, </a:t>
            </a:r>
            <a:r>
              <a:rPr lang="en-US" b="1" dirty="0">
                <a:latin typeface="Times-Roman"/>
              </a:rPr>
              <a:t>by convention</a:t>
            </a:r>
            <a:r>
              <a:rPr lang="en-US" dirty="0">
                <a:latin typeface="Times-Roman"/>
              </a:rPr>
              <a:t>, we will assume that propositions with greater degree of plausibility correspond to greater real numbers.</a:t>
            </a:r>
            <a:endParaRPr lang="en-US" b="1" dirty="0">
              <a:latin typeface="Times-Roman"/>
            </a:endParaRPr>
          </a:p>
        </p:txBody>
      </p:sp>
      <p:sp>
        <p:nvSpPr>
          <p:cNvPr id="6" name="Rectangle 5">
            <a:extLst>
              <a:ext uri="{FF2B5EF4-FFF2-40B4-BE49-F238E27FC236}">
                <a16:creationId xmlns:a16="http://schemas.microsoft.com/office/drawing/2014/main" id="{FE82A634-E6ED-4118-A35F-4A57A3059AEC}"/>
              </a:ext>
            </a:extLst>
          </p:cNvPr>
          <p:cNvSpPr/>
          <p:nvPr/>
        </p:nvSpPr>
        <p:spPr>
          <a:xfrm>
            <a:off x="247828" y="2842139"/>
            <a:ext cx="8648344" cy="369332"/>
          </a:xfrm>
          <a:prstGeom prst="rect">
            <a:avLst/>
          </a:prstGeom>
        </p:spPr>
        <p:txBody>
          <a:bodyPr wrap="square">
            <a:spAutoFit/>
          </a:bodyPr>
          <a:lstStyle/>
          <a:p>
            <a:r>
              <a:rPr lang="en-US" dirty="0">
                <a:latin typeface="Times-Roman"/>
              </a:rPr>
              <a:t>Therefore, </a:t>
            </a:r>
            <a:endParaRPr lang="en-US" b="1" dirty="0">
              <a:latin typeface="Times-Roman"/>
            </a:endParaRPr>
          </a:p>
        </p:txBody>
      </p:sp>
      <p:pic>
        <p:nvPicPr>
          <p:cNvPr id="3" name="Picture 2">
            <a:extLst>
              <a:ext uri="{FF2B5EF4-FFF2-40B4-BE49-F238E27FC236}">
                <a16:creationId xmlns:a16="http://schemas.microsoft.com/office/drawing/2014/main" id="{8C597005-B382-46DB-B357-CD8A073193CA}"/>
              </a:ext>
            </a:extLst>
          </p:cNvPr>
          <p:cNvPicPr>
            <a:picLocks noChangeAspect="1"/>
          </p:cNvPicPr>
          <p:nvPr/>
        </p:nvPicPr>
        <p:blipFill>
          <a:blip r:embed="rId4"/>
          <a:stretch>
            <a:fillRect/>
          </a:stretch>
        </p:blipFill>
        <p:spPr>
          <a:xfrm>
            <a:off x="3572142" y="3147054"/>
            <a:ext cx="1999716" cy="382874"/>
          </a:xfrm>
          <a:prstGeom prst="rect">
            <a:avLst/>
          </a:prstGeom>
        </p:spPr>
      </p:pic>
      <p:sp>
        <p:nvSpPr>
          <p:cNvPr id="9" name="Rectangle 8">
            <a:extLst>
              <a:ext uri="{FF2B5EF4-FFF2-40B4-BE49-F238E27FC236}">
                <a16:creationId xmlns:a16="http://schemas.microsoft.com/office/drawing/2014/main" id="{8E4C796B-8F00-44D7-8433-CC8B44BC18BD}"/>
              </a:ext>
            </a:extLst>
          </p:cNvPr>
          <p:cNvSpPr/>
          <p:nvPr/>
        </p:nvSpPr>
        <p:spPr>
          <a:xfrm>
            <a:off x="330302" y="3644973"/>
            <a:ext cx="8648344" cy="369332"/>
          </a:xfrm>
          <a:prstGeom prst="rect">
            <a:avLst/>
          </a:prstGeom>
        </p:spPr>
        <p:txBody>
          <a:bodyPr wrap="square">
            <a:spAutoFit/>
          </a:bodyPr>
          <a:lstStyle/>
          <a:p>
            <a:r>
              <a:rPr lang="en-US" dirty="0">
                <a:latin typeface="Times-Roman"/>
              </a:rPr>
              <a:t>says that, given B, A is more plausible than C.</a:t>
            </a:r>
          </a:p>
        </p:txBody>
      </p:sp>
      <p:sp>
        <p:nvSpPr>
          <p:cNvPr id="10" name="Rectangle 9">
            <a:extLst>
              <a:ext uri="{FF2B5EF4-FFF2-40B4-BE49-F238E27FC236}">
                <a16:creationId xmlns:a16="http://schemas.microsoft.com/office/drawing/2014/main" id="{6EF4C295-E26C-4F3F-BA7F-51206E515B96}"/>
              </a:ext>
            </a:extLst>
          </p:cNvPr>
          <p:cNvSpPr/>
          <p:nvPr/>
        </p:nvSpPr>
        <p:spPr>
          <a:xfrm>
            <a:off x="330302" y="4143362"/>
            <a:ext cx="8648344" cy="369332"/>
          </a:xfrm>
          <a:prstGeom prst="rect">
            <a:avLst/>
          </a:prstGeom>
        </p:spPr>
        <p:txBody>
          <a:bodyPr wrap="square">
            <a:spAutoFit/>
          </a:bodyPr>
          <a:lstStyle/>
          <a:p>
            <a:r>
              <a:rPr lang="en-US" dirty="0">
                <a:latin typeface="Times-Roman"/>
              </a:rPr>
              <a:t>Now, what do we mean by “</a:t>
            </a:r>
            <a:r>
              <a:rPr lang="en-US" dirty="0"/>
              <a:t>correspondence with common sense” ? Suppose,</a:t>
            </a:r>
            <a:endParaRPr lang="en-US" dirty="0">
              <a:latin typeface="Times-Roman"/>
            </a:endParaRPr>
          </a:p>
        </p:txBody>
      </p:sp>
      <p:sp>
        <p:nvSpPr>
          <p:cNvPr id="13" name="Rectangle 12">
            <a:extLst>
              <a:ext uri="{FF2B5EF4-FFF2-40B4-BE49-F238E27FC236}">
                <a16:creationId xmlns:a16="http://schemas.microsoft.com/office/drawing/2014/main" id="{672509AC-A663-486D-B7D0-FA6EEE0DEF82}"/>
              </a:ext>
            </a:extLst>
          </p:cNvPr>
          <p:cNvSpPr/>
          <p:nvPr/>
        </p:nvSpPr>
        <p:spPr>
          <a:xfrm>
            <a:off x="247828" y="5616989"/>
            <a:ext cx="8648344" cy="369332"/>
          </a:xfrm>
          <a:prstGeom prst="rect">
            <a:avLst/>
          </a:prstGeom>
        </p:spPr>
        <p:txBody>
          <a:bodyPr wrap="square">
            <a:spAutoFit/>
          </a:bodyPr>
          <a:lstStyle/>
          <a:p>
            <a:r>
              <a:rPr lang="en-US" dirty="0">
                <a:latin typeface="Times-Roman"/>
              </a:rPr>
              <a:t>Then, the desiderata of “correspondence with commonsense” requires us to have, </a:t>
            </a:r>
          </a:p>
        </p:txBody>
      </p:sp>
      <p:pic>
        <p:nvPicPr>
          <p:cNvPr id="15" name="Picture 14">
            <a:extLst>
              <a:ext uri="{FF2B5EF4-FFF2-40B4-BE49-F238E27FC236}">
                <a16:creationId xmlns:a16="http://schemas.microsoft.com/office/drawing/2014/main" id="{229F6A24-A685-4DD5-86DE-E3E8154F4A07}"/>
              </a:ext>
            </a:extLst>
          </p:cNvPr>
          <p:cNvPicPr>
            <a:picLocks noChangeAspect="1"/>
          </p:cNvPicPr>
          <p:nvPr/>
        </p:nvPicPr>
        <p:blipFill>
          <a:blip r:embed="rId5"/>
          <a:stretch>
            <a:fillRect/>
          </a:stretch>
        </p:blipFill>
        <p:spPr>
          <a:xfrm>
            <a:off x="3751604" y="4585056"/>
            <a:ext cx="1640792" cy="403470"/>
          </a:xfrm>
          <a:prstGeom prst="rect">
            <a:avLst/>
          </a:prstGeom>
        </p:spPr>
      </p:pic>
      <p:pic>
        <p:nvPicPr>
          <p:cNvPr id="16" name="Picture 15">
            <a:extLst>
              <a:ext uri="{FF2B5EF4-FFF2-40B4-BE49-F238E27FC236}">
                <a16:creationId xmlns:a16="http://schemas.microsoft.com/office/drawing/2014/main" id="{930E5186-5926-4609-B439-01B2F957040C}"/>
              </a:ext>
            </a:extLst>
          </p:cNvPr>
          <p:cNvPicPr>
            <a:picLocks noChangeAspect="1"/>
          </p:cNvPicPr>
          <p:nvPr/>
        </p:nvPicPr>
        <p:blipFill>
          <a:blip r:embed="rId6"/>
          <a:stretch>
            <a:fillRect/>
          </a:stretch>
        </p:blipFill>
        <p:spPr>
          <a:xfrm>
            <a:off x="3520867" y="5106332"/>
            <a:ext cx="2102266" cy="408232"/>
          </a:xfrm>
          <a:prstGeom prst="rect">
            <a:avLst/>
          </a:prstGeom>
        </p:spPr>
      </p:pic>
      <p:pic>
        <p:nvPicPr>
          <p:cNvPr id="17" name="Picture 16">
            <a:extLst>
              <a:ext uri="{FF2B5EF4-FFF2-40B4-BE49-F238E27FC236}">
                <a16:creationId xmlns:a16="http://schemas.microsoft.com/office/drawing/2014/main" id="{8985EE34-C70A-4415-9D3C-9C802F749EBB}"/>
              </a:ext>
            </a:extLst>
          </p:cNvPr>
          <p:cNvPicPr>
            <a:picLocks noChangeAspect="1"/>
          </p:cNvPicPr>
          <p:nvPr/>
        </p:nvPicPr>
        <p:blipFill>
          <a:blip r:embed="rId7"/>
          <a:stretch>
            <a:fillRect/>
          </a:stretch>
        </p:blipFill>
        <p:spPr>
          <a:xfrm>
            <a:off x="3520869" y="6217363"/>
            <a:ext cx="2102264" cy="336552"/>
          </a:xfrm>
          <a:prstGeom prst="rect">
            <a:avLst/>
          </a:prstGeom>
        </p:spPr>
      </p:pic>
    </p:spTree>
    <p:extLst>
      <p:ext uri="{BB962C8B-B14F-4D97-AF65-F5344CB8AC3E}">
        <p14:creationId xmlns:p14="http://schemas.microsoft.com/office/powerpoint/2010/main" val="1298326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4 1"/>
          <p:cNvSpPr>
            <a:spLocks noGrp="1"/>
          </p:cNvSpPr>
          <p:nvPr>
            <p:ph type="title"/>
          </p:nvPr>
        </p:nvSpPr>
        <p:spPr>
          <a:xfrm>
            <a:off x="139446" y="164483"/>
            <a:ext cx="8839200" cy="380999"/>
          </a:xfrm>
        </p:spPr>
        <p:txBody>
          <a:bodyPr>
            <a:normAutofit/>
          </a:bodyPr>
          <a:lstStyle/>
          <a:p>
            <a:r>
              <a:rPr lang="en-US" sz="1800" b="1" dirty="0">
                <a:solidFill>
                  <a:schemeClr val="tx1"/>
                </a:solidFill>
              </a:rPr>
              <a:t>An example of correspondence with common sense</a:t>
            </a:r>
          </a:p>
        </p:txBody>
      </p:sp>
      <p:sp>
        <p:nvSpPr>
          <p:cNvPr id="14" name="Rectangle 13">
            <a:extLst>
              <a:ext uri="{FF2B5EF4-FFF2-40B4-BE49-F238E27FC236}">
                <a16:creationId xmlns:a16="http://schemas.microsoft.com/office/drawing/2014/main" id="{F7CE52AB-3FCC-4DF2-9AF8-F769F7CD9DF2}"/>
              </a:ext>
            </a:extLst>
          </p:cNvPr>
          <p:cNvSpPr/>
          <p:nvPr/>
        </p:nvSpPr>
        <p:spPr>
          <a:xfrm>
            <a:off x="234874" y="630087"/>
            <a:ext cx="8648344" cy="646331"/>
          </a:xfrm>
          <a:prstGeom prst="rect">
            <a:avLst/>
          </a:prstGeom>
        </p:spPr>
        <p:txBody>
          <a:bodyPr wrap="square">
            <a:spAutoFit/>
          </a:bodyPr>
          <a:lstStyle/>
          <a:p>
            <a:r>
              <a:rPr lang="en-US" dirty="0">
                <a:latin typeface="Times-Roman"/>
              </a:rPr>
              <a:t>To illustrate the principle of commonsense with an example, consider the following scenario,</a:t>
            </a:r>
          </a:p>
        </p:txBody>
      </p:sp>
      <p:sp>
        <p:nvSpPr>
          <p:cNvPr id="10" name="Rectangle 9">
            <a:extLst>
              <a:ext uri="{FF2B5EF4-FFF2-40B4-BE49-F238E27FC236}">
                <a16:creationId xmlns:a16="http://schemas.microsoft.com/office/drawing/2014/main" id="{6EF4C295-E26C-4F3F-BA7F-51206E515B96}"/>
              </a:ext>
            </a:extLst>
          </p:cNvPr>
          <p:cNvSpPr/>
          <p:nvPr/>
        </p:nvSpPr>
        <p:spPr>
          <a:xfrm>
            <a:off x="330302" y="3280236"/>
            <a:ext cx="8648344" cy="369332"/>
          </a:xfrm>
          <a:prstGeom prst="rect">
            <a:avLst/>
          </a:prstGeom>
        </p:spPr>
        <p:txBody>
          <a:bodyPr wrap="square">
            <a:spAutoFit/>
          </a:bodyPr>
          <a:lstStyle/>
          <a:p>
            <a:r>
              <a:rPr lang="en-US" dirty="0">
                <a:latin typeface="Times-Roman"/>
              </a:rPr>
              <a:t>Therefore,</a:t>
            </a:r>
          </a:p>
        </p:txBody>
      </p:sp>
      <p:sp>
        <p:nvSpPr>
          <p:cNvPr id="13" name="Rectangle 12">
            <a:extLst>
              <a:ext uri="{FF2B5EF4-FFF2-40B4-BE49-F238E27FC236}">
                <a16:creationId xmlns:a16="http://schemas.microsoft.com/office/drawing/2014/main" id="{672509AC-A663-486D-B7D0-FA6EEE0DEF82}"/>
              </a:ext>
            </a:extLst>
          </p:cNvPr>
          <p:cNvSpPr/>
          <p:nvPr/>
        </p:nvSpPr>
        <p:spPr>
          <a:xfrm>
            <a:off x="247828" y="4882052"/>
            <a:ext cx="8648344" cy="369332"/>
          </a:xfrm>
          <a:prstGeom prst="rect">
            <a:avLst/>
          </a:prstGeom>
        </p:spPr>
        <p:txBody>
          <a:bodyPr wrap="square">
            <a:spAutoFit/>
          </a:bodyPr>
          <a:lstStyle/>
          <a:p>
            <a:r>
              <a:rPr lang="en-US" dirty="0">
                <a:latin typeface="Times-Roman"/>
              </a:rPr>
              <a:t>Then, the desiderata of “correspondence with commonsense” requires us to have, </a:t>
            </a:r>
          </a:p>
        </p:txBody>
      </p:sp>
      <p:pic>
        <p:nvPicPr>
          <p:cNvPr id="25" name="Picture 24" descr="\documentclass{article}&#10;\usepackage{amsfonts,amssymb,amsbsy,amsmath}&#10;\pagestyle{empty}&#10;\begin{document}&#10;&#10;\begin{eqnarray}&#10;A  &amp;\equiv&amp; {\text{The probability that I will go to school today}} \nonumber \\&#10;B  &amp;\equiv&amp; {\text{The probability that it will rain today}} \nonumber \\&#10;C  &amp;\equiv&amp; {\text{The probability that the sky will be sunny today}} \nonumber \\&#10;C'  &amp;\equiv&amp; {\text{The probability that the sky will be cloudy today}} \nonumber&#10;\end{eqnarray}&#10;&#10;\end{document}" title="IguanaTex Bitmap Display">
            <a:extLst>
              <a:ext uri="{FF2B5EF4-FFF2-40B4-BE49-F238E27FC236}">
                <a16:creationId xmlns:a16="http://schemas.microsoft.com/office/drawing/2014/main" id="{11D93F11-6A28-4A39-8EE8-7DAE9DD69CA2}"/>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1337718" y="1517853"/>
            <a:ext cx="6468564" cy="1373374"/>
          </a:xfrm>
          <a:prstGeom prst="rect">
            <a:avLst/>
          </a:prstGeom>
        </p:spPr>
      </p:pic>
      <p:pic>
        <p:nvPicPr>
          <p:cNvPr id="26" name="Picture 25">
            <a:extLst>
              <a:ext uri="{FF2B5EF4-FFF2-40B4-BE49-F238E27FC236}">
                <a16:creationId xmlns:a16="http://schemas.microsoft.com/office/drawing/2014/main" id="{70F13279-387C-481C-BA69-D84D5F19F388}"/>
              </a:ext>
            </a:extLst>
          </p:cNvPr>
          <p:cNvPicPr>
            <a:picLocks noChangeAspect="1"/>
          </p:cNvPicPr>
          <p:nvPr/>
        </p:nvPicPr>
        <p:blipFill>
          <a:blip r:embed="rId5"/>
          <a:stretch>
            <a:fillRect/>
          </a:stretch>
        </p:blipFill>
        <p:spPr>
          <a:xfrm>
            <a:off x="3751604" y="3701379"/>
            <a:ext cx="1640792" cy="403470"/>
          </a:xfrm>
          <a:prstGeom prst="rect">
            <a:avLst/>
          </a:prstGeom>
        </p:spPr>
      </p:pic>
      <p:pic>
        <p:nvPicPr>
          <p:cNvPr id="27" name="Picture 26">
            <a:extLst>
              <a:ext uri="{FF2B5EF4-FFF2-40B4-BE49-F238E27FC236}">
                <a16:creationId xmlns:a16="http://schemas.microsoft.com/office/drawing/2014/main" id="{40DDB23D-ED96-4B0F-8480-B04F426E8748}"/>
              </a:ext>
            </a:extLst>
          </p:cNvPr>
          <p:cNvPicPr>
            <a:picLocks noChangeAspect="1"/>
          </p:cNvPicPr>
          <p:nvPr/>
        </p:nvPicPr>
        <p:blipFill>
          <a:blip r:embed="rId6"/>
          <a:stretch>
            <a:fillRect/>
          </a:stretch>
        </p:blipFill>
        <p:spPr>
          <a:xfrm>
            <a:off x="3520867" y="4222655"/>
            <a:ext cx="2102266" cy="408232"/>
          </a:xfrm>
          <a:prstGeom prst="rect">
            <a:avLst/>
          </a:prstGeom>
        </p:spPr>
      </p:pic>
      <p:pic>
        <p:nvPicPr>
          <p:cNvPr id="28" name="Picture 27">
            <a:extLst>
              <a:ext uri="{FF2B5EF4-FFF2-40B4-BE49-F238E27FC236}">
                <a16:creationId xmlns:a16="http://schemas.microsoft.com/office/drawing/2014/main" id="{A9EFC632-4C8D-4507-942F-A4EFC314B0C0}"/>
              </a:ext>
            </a:extLst>
          </p:cNvPr>
          <p:cNvPicPr>
            <a:picLocks noChangeAspect="1"/>
          </p:cNvPicPr>
          <p:nvPr/>
        </p:nvPicPr>
        <p:blipFill>
          <a:blip r:embed="rId7"/>
          <a:stretch>
            <a:fillRect/>
          </a:stretch>
        </p:blipFill>
        <p:spPr>
          <a:xfrm>
            <a:off x="3520868" y="5564882"/>
            <a:ext cx="2102264" cy="336552"/>
          </a:xfrm>
          <a:prstGeom prst="rect">
            <a:avLst/>
          </a:prstGeom>
        </p:spPr>
      </p:pic>
    </p:spTree>
    <p:extLst>
      <p:ext uri="{BB962C8B-B14F-4D97-AF65-F5344CB8AC3E}">
        <p14:creationId xmlns:p14="http://schemas.microsoft.com/office/powerpoint/2010/main" val="4211059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4 1"/>
          <p:cNvSpPr>
            <a:spLocks noGrp="1"/>
          </p:cNvSpPr>
          <p:nvPr>
            <p:ph type="title"/>
          </p:nvPr>
        </p:nvSpPr>
        <p:spPr>
          <a:xfrm>
            <a:off x="152400" y="249088"/>
            <a:ext cx="8839200" cy="380999"/>
          </a:xfrm>
        </p:spPr>
        <p:txBody>
          <a:bodyPr>
            <a:normAutofit/>
          </a:bodyPr>
          <a:lstStyle/>
          <a:p>
            <a:r>
              <a:rPr lang="en-US" sz="1800" b="1" dirty="0">
                <a:solidFill>
                  <a:schemeClr val="tx1"/>
                </a:solidFill>
              </a:rPr>
              <a:t>Probability is real number whose range must be either [0,1] or [1,+infinity]</a:t>
            </a:r>
          </a:p>
        </p:txBody>
      </p:sp>
      <p:sp>
        <p:nvSpPr>
          <p:cNvPr id="14" name="Rectangle 13">
            <a:extLst>
              <a:ext uri="{FF2B5EF4-FFF2-40B4-BE49-F238E27FC236}">
                <a16:creationId xmlns:a16="http://schemas.microsoft.com/office/drawing/2014/main" id="{F7CE52AB-3FCC-4DF2-9AF8-F769F7CD9DF2}"/>
              </a:ext>
            </a:extLst>
          </p:cNvPr>
          <p:cNvSpPr/>
          <p:nvPr/>
        </p:nvSpPr>
        <p:spPr>
          <a:xfrm>
            <a:off x="234874" y="630087"/>
            <a:ext cx="8648344" cy="646331"/>
          </a:xfrm>
          <a:prstGeom prst="rect">
            <a:avLst/>
          </a:prstGeom>
        </p:spPr>
        <p:txBody>
          <a:bodyPr wrap="square">
            <a:spAutoFit/>
          </a:bodyPr>
          <a:lstStyle/>
          <a:p>
            <a:r>
              <a:rPr lang="en-US" dirty="0">
                <a:latin typeface="Times-Roman"/>
              </a:rPr>
              <a:t>To illustrate the principle of commonsense with an example, consider the following scenario,</a:t>
            </a:r>
          </a:p>
        </p:txBody>
      </p:sp>
      <p:sp>
        <p:nvSpPr>
          <p:cNvPr id="10" name="Rectangle 9">
            <a:extLst>
              <a:ext uri="{FF2B5EF4-FFF2-40B4-BE49-F238E27FC236}">
                <a16:creationId xmlns:a16="http://schemas.microsoft.com/office/drawing/2014/main" id="{6EF4C295-E26C-4F3F-BA7F-51206E515B96}"/>
              </a:ext>
            </a:extLst>
          </p:cNvPr>
          <p:cNvSpPr/>
          <p:nvPr/>
        </p:nvSpPr>
        <p:spPr>
          <a:xfrm>
            <a:off x="330302" y="3075135"/>
            <a:ext cx="8648344" cy="369332"/>
          </a:xfrm>
          <a:prstGeom prst="rect">
            <a:avLst/>
          </a:prstGeom>
        </p:spPr>
        <p:txBody>
          <a:bodyPr wrap="square">
            <a:spAutoFit/>
          </a:bodyPr>
          <a:lstStyle/>
          <a:p>
            <a:r>
              <a:rPr lang="en-US" dirty="0">
                <a:latin typeface="Times-Roman"/>
              </a:rPr>
              <a:t>Therefore,</a:t>
            </a:r>
          </a:p>
        </p:txBody>
      </p:sp>
      <p:sp>
        <p:nvSpPr>
          <p:cNvPr id="13" name="Rectangle 12">
            <a:extLst>
              <a:ext uri="{FF2B5EF4-FFF2-40B4-BE49-F238E27FC236}">
                <a16:creationId xmlns:a16="http://schemas.microsoft.com/office/drawing/2014/main" id="{672509AC-A663-486D-B7D0-FA6EEE0DEF82}"/>
              </a:ext>
            </a:extLst>
          </p:cNvPr>
          <p:cNvSpPr/>
          <p:nvPr/>
        </p:nvSpPr>
        <p:spPr>
          <a:xfrm>
            <a:off x="247828" y="4505278"/>
            <a:ext cx="8648344" cy="369332"/>
          </a:xfrm>
          <a:prstGeom prst="rect">
            <a:avLst/>
          </a:prstGeom>
        </p:spPr>
        <p:txBody>
          <a:bodyPr wrap="square">
            <a:spAutoFit/>
          </a:bodyPr>
          <a:lstStyle/>
          <a:p>
            <a:r>
              <a:rPr lang="en-US" dirty="0">
                <a:latin typeface="Times-Roman"/>
              </a:rPr>
              <a:t>Then, the desiderata of “correspondence with commonsense” requires us to have, </a:t>
            </a:r>
          </a:p>
        </p:txBody>
      </p:sp>
      <p:pic>
        <p:nvPicPr>
          <p:cNvPr id="25" name="Picture 24" descr="\documentclass{article}&#10;\usepackage{amsfonts,amssymb,amsbsy,amsmath}&#10;\pagestyle{empty}&#10;\begin{document}&#10;&#10;\begin{eqnarray}&#10;A  &amp;\equiv&amp; {\text{The probability that I will go to school today}} \nonumber \\&#10;B  &amp;\equiv&amp; {\text{The probability that it will rain today}} \nonumber \\&#10;C  &amp;\equiv&amp; {\text{The probability that the sky will be sunny today}} \nonumber \\&#10;C'  &amp;\equiv&amp; {\text{The probability that the sky will be cloudy today}} \nonumber&#10;\end{eqnarray}&#10;&#10;\end{document}" title="IguanaTex Bitmap Display">
            <a:extLst>
              <a:ext uri="{FF2B5EF4-FFF2-40B4-BE49-F238E27FC236}">
                <a16:creationId xmlns:a16="http://schemas.microsoft.com/office/drawing/2014/main" id="{11D93F11-6A28-4A39-8EE8-7DAE9DD69CA2}"/>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1337718" y="1517853"/>
            <a:ext cx="6468564" cy="1373374"/>
          </a:xfrm>
          <a:prstGeom prst="rect">
            <a:avLst/>
          </a:prstGeom>
        </p:spPr>
      </p:pic>
      <p:pic>
        <p:nvPicPr>
          <p:cNvPr id="26" name="Picture 25">
            <a:extLst>
              <a:ext uri="{FF2B5EF4-FFF2-40B4-BE49-F238E27FC236}">
                <a16:creationId xmlns:a16="http://schemas.microsoft.com/office/drawing/2014/main" id="{70F13279-387C-481C-BA69-D84D5F19F388}"/>
              </a:ext>
            </a:extLst>
          </p:cNvPr>
          <p:cNvPicPr>
            <a:picLocks noChangeAspect="1"/>
          </p:cNvPicPr>
          <p:nvPr/>
        </p:nvPicPr>
        <p:blipFill>
          <a:blip r:embed="rId5"/>
          <a:stretch>
            <a:fillRect/>
          </a:stretch>
        </p:blipFill>
        <p:spPr>
          <a:xfrm>
            <a:off x="3751604" y="3479185"/>
            <a:ext cx="1640792" cy="403470"/>
          </a:xfrm>
          <a:prstGeom prst="rect">
            <a:avLst/>
          </a:prstGeom>
        </p:spPr>
      </p:pic>
      <p:pic>
        <p:nvPicPr>
          <p:cNvPr id="27" name="Picture 26">
            <a:extLst>
              <a:ext uri="{FF2B5EF4-FFF2-40B4-BE49-F238E27FC236}">
                <a16:creationId xmlns:a16="http://schemas.microsoft.com/office/drawing/2014/main" id="{40DDB23D-ED96-4B0F-8480-B04F426E8748}"/>
              </a:ext>
            </a:extLst>
          </p:cNvPr>
          <p:cNvPicPr>
            <a:picLocks noChangeAspect="1"/>
          </p:cNvPicPr>
          <p:nvPr/>
        </p:nvPicPr>
        <p:blipFill>
          <a:blip r:embed="rId6"/>
          <a:stretch>
            <a:fillRect/>
          </a:stretch>
        </p:blipFill>
        <p:spPr>
          <a:xfrm>
            <a:off x="3520867" y="4000461"/>
            <a:ext cx="2102266" cy="408232"/>
          </a:xfrm>
          <a:prstGeom prst="rect">
            <a:avLst/>
          </a:prstGeom>
        </p:spPr>
      </p:pic>
      <p:pic>
        <p:nvPicPr>
          <p:cNvPr id="28" name="Picture 27">
            <a:extLst>
              <a:ext uri="{FF2B5EF4-FFF2-40B4-BE49-F238E27FC236}">
                <a16:creationId xmlns:a16="http://schemas.microsoft.com/office/drawing/2014/main" id="{A9EFC632-4C8D-4507-942F-A4EFC314B0C0}"/>
              </a:ext>
            </a:extLst>
          </p:cNvPr>
          <p:cNvPicPr>
            <a:picLocks noChangeAspect="1"/>
          </p:cNvPicPr>
          <p:nvPr/>
        </p:nvPicPr>
        <p:blipFill>
          <a:blip r:embed="rId7"/>
          <a:stretch>
            <a:fillRect/>
          </a:stretch>
        </p:blipFill>
        <p:spPr>
          <a:xfrm>
            <a:off x="3520869" y="4999723"/>
            <a:ext cx="2102264" cy="336552"/>
          </a:xfrm>
          <a:prstGeom prst="rect">
            <a:avLst/>
          </a:prstGeom>
        </p:spPr>
      </p:pic>
      <p:sp>
        <p:nvSpPr>
          <p:cNvPr id="11" name="Rectangle 10">
            <a:extLst>
              <a:ext uri="{FF2B5EF4-FFF2-40B4-BE49-F238E27FC236}">
                <a16:creationId xmlns:a16="http://schemas.microsoft.com/office/drawing/2014/main" id="{C61D9581-3BB8-4F90-9BAD-F21F4D27457C}"/>
              </a:ext>
            </a:extLst>
          </p:cNvPr>
          <p:cNvSpPr/>
          <p:nvPr/>
        </p:nvSpPr>
        <p:spPr>
          <a:xfrm>
            <a:off x="330302" y="5566089"/>
            <a:ext cx="8648344" cy="923330"/>
          </a:xfrm>
          <a:prstGeom prst="rect">
            <a:avLst/>
          </a:prstGeom>
        </p:spPr>
        <p:txBody>
          <a:bodyPr wrap="square">
            <a:spAutoFit/>
          </a:bodyPr>
          <a:lstStyle/>
          <a:p>
            <a:r>
              <a:rPr lang="en-US" dirty="0">
                <a:latin typeface="Times-Roman"/>
              </a:rPr>
              <a:t>Without going through proofs, we will state here that our three desiderates probability theory dictate that </a:t>
            </a:r>
            <a:r>
              <a:rPr lang="en-US" b="1" dirty="0">
                <a:latin typeface="Times-Roman"/>
              </a:rPr>
              <a:t>probability is a real number whose range must be either [0,1] or [1,+infinity]</a:t>
            </a:r>
            <a:r>
              <a:rPr lang="en-US" dirty="0">
                <a:latin typeface="Times-Roman"/>
              </a:rPr>
              <a:t>.</a:t>
            </a:r>
          </a:p>
        </p:txBody>
      </p:sp>
    </p:spTree>
    <p:extLst>
      <p:ext uri="{BB962C8B-B14F-4D97-AF65-F5344CB8AC3E}">
        <p14:creationId xmlns:p14="http://schemas.microsoft.com/office/powerpoint/2010/main" val="1098121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ounded Rectangle 70"/>
          <p:cNvSpPr/>
          <p:nvPr/>
        </p:nvSpPr>
        <p:spPr>
          <a:xfrm>
            <a:off x="4876800" y="4628919"/>
            <a:ext cx="3571812" cy="1805735"/>
          </a:xfrm>
          <a:prstGeom prst="roundRect">
            <a:avLst/>
          </a:prstGeom>
          <a:solidFill>
            <a:srgbClr val="FCE7E0">
              <a:alpha val="90000"/>
            </a:srgbClr>
          </a:solidFill>
          <a:ln>
            <a:solidFill>
              <a:schemeClr val="accent1">
                <a:shade val="95000"/>
                <a:satMod val="105000"/>
                <a:alpha val="68000"/>
              </a:schemeClr>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900" b="1" dirty="0">
                <a:solidFill>
                  <a:schemeClr val="tx1"/>
                </a:solidFill>
              </a:rPr>
              <a:t>Bayes rule</a:t>
            </a:r>
          </a:p>
          <a:p>
            <a:pPr algn="ctr"/>
            <a:endParaRPr lang="en-US" sz="1900" b="1" dirty="0">
              <a:solidFill>
                <a:schemeClr val="tx1"/>
              </a:solidFill>
            </a:endParaRPr>
          </a:p>
          <a:p>
            <a:pPr algn="ctr"/>
            <a:endParaRPr lang="en-US" sz="1900" b="1" dirty="0">
              <a:solidFill>
                <a:schemeClr val="tx1"/>
              </a:solidFill>
            </a:endParaRPr>
          </a:p>
          <a:p>
            <a:pPr algn="ctr"/>
            <a:endParaRPr lang="en-US" sz="1900" b="1" dirty="0">
              <a:solidFill>
                <a:schemeClr val="tx1"/>
              </a:solidFill>
            </a:endParaRPr>
          </a:p>
          <a:p>
            <a:pPr algn="ctr"/>
            <a:endParaRPr lang="en-US" sz="1900" b="1" dirty="0">
              <a:solidFill>
                <a:schemeClr val="tx1"/>
              </a:solidFill>
            </a:endParaRPr>
          </a:p>
        </p:txBody>
      </p:sp>
      <p:grpSp>
        <p:nvGrpSpPr>
          <p:cNvPr id="22" name="Group 21"/>
          <p:cNvGrpSpPr/>
          <p:nvPr/>
        </p:nvGrpSpPr>
        <p:grpSpPr>
          <a:xfrm>
            <a:off x="0" y="1066800"/>
            <a:ext cx="3337919" cy="1852542"/>
            <a:chOff x="0" y="1066800"/>
            <a:chExt cx="3337919" cy="1852542"/>
          </a:xfrm>
        </p:grpSpPr>
        <p:grpSp>
          <p:nvGrpSpPr>
            <p:cNvPr id="6" name="Group 5"/>
            <p:cNvGrpSpPr/>
            <p:nvPr/>
          </p:nvGrpSpPr>
          <p:grpSpPr>
            <a:xfrm>
              <a:off x="0" y="1066800"/>
              <a:ext cx="2124974" cy="1852542"/>
              <a:chOff x="98441" y="848604"/>
              <a:chExt cx="2124974" cy="1852542"/>
            </a:xfrm>
          </p:grpSpPr>
          <p:pic>
            <p:nvPicPr>
              <p:cNvPr id="31" name="Picture 30"/>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8441" y="848604"/>
                <a:ext cx="2124974" cy="1852542"/>
              </a:xfrm>
              <a:prstGeom prst="rect">
                <a:avLst/>
              </a:prstGeom>
            </p:spPr>
          </p:pic>
          <mc:AlternateContent xmlns:mc="http://schemas.openxmlformats.org/markup-compatibility/2006" xmlns:a14="http://schemas.microsoft.com/office/drawing/2010/main">
            <mc:Choice Requires="a14">
              <p:sp>
                <p:nvSpPr>
                  <p:cNvPr id="2" name="TextBox 1"/>
                  <p:cNvSpPr txBox="1"/>
                  <p:nvPr/>
                </p:nvSpPr>
                <p:spPr>
                  <a:xfrm>
                    <a:off x="691329" y="1585305"/>
                    <a:ext cx="284440" cy="29238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300" i="1" dirty="0" smtClean="0">
                              <a:solidFill>
                                <a:schemeClr val="bg1"/>
                              </a:solidFill>
                              <a:latin typeface="Cambria Math" panose="02040503050406030204" pitchFamily="18" charset="0"/>
                              <a:cs typeface="Times New Roman" panose="02020603050405020304" pitchFamily="18" charset="0"/>
                            </a:rPr>
                            <m:t>𝐴</m:t>
                          </m:r>
                        </m:oMath>
                      </m:oMathPara>
                    </a14:m>
                    <a:endParaRPr lang="en-US" sz="1300"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691329" y="1585305"/>
                    <a:ext cx="284440" cy="292388"/>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787889" y="2152551"/>
                    <a:ext cx="746076" cy="29238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300" b="0" i="1" dirty="0" smtClean="0">
                              <a:solidFill>
                                <a:schemeClr val="tx1"/>
                              </a:solidFill>
                              <a:latin typeface="Cambria Math" panose="02040503050406030204" pitchFamily="18" charset="0"/>
                              <a:cs typeface="Times New Roman" panose="02020603050405020304" pitchFamily="18" charset="0"/>
                            </a:rPr>
                            <m:t>𝑈𝑛𝑖𝑣𝑒𝑟𝑠𝑒</m:t>
                          </m:r>
                        </m:oMath>
                      </m:oMathPara>
                    </a14:m>
                    <a:endParaRPr lang="en-US" sz="1300"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46" name="TextBox 45"/>
                  <p:cNvSpPr txBox="1">
                    <a:spLocks noRot="1" noChangeAspect="1" noMove="1" noResize="1" noEditPoints="1" noAdjustHandles="1" noChangeArrowheads="1" noChangeShapeType="1" noTextEdit="1"/>
                  </p:cNvSpPr>
                  <p:nvPr/>
                </p:nvSpPr>
                <p:spPr>
                  <a:xfrm>
                    <a:off x="787889" y="2152551"/>
                    <a:ext cx="746076" cy="292388"/>
                  </a:xfrm>
                  <a:prstGeom prst="rect">
                    <a:avLst/>
                  </a:prstGeom>
                  <a:blipFill>
                    <a:blip r:embed="rId11"/>
                    <a:stretch>
                      <a:fillRect r="-9836"/>
                    </a:stretch>
                  </a:blipFill>
                </p:spPr>
                <p:txBody>
                  <a:bodyPr/>
                  <a:lstStyle/>
                  <a:p>
                    <a:r>
                      <a:rPr lang="en-US">
                        <a:noFill/>
                      </a:rPr>
                      <a:t> </a:t>
                    </a:r>
                  </a:p>
                </p:txBody>
              </p:sp>
            </mc:Fallback>
          </mc:AlternateContent>
        </p:grpSp>
        <p:pic>
          <p:nvPicPr>
            <p:cNvPr id="9" name="Picture 8"/>
            <p:cNvPicPr>
              <a:picLocks noChangeAspect="1"/>
            </p:cNvPicPr>
            <p:nvPr>
              <p:custDataLst>
                <p:tags r:id="rId6"/>
              </p:custDataLst>
            </p:nvPr>
          </p:nvPicPr>
          <p:blipFill>
            <a:blip r:embed="rId12" cstate="print">
              <a:extLst>
                <a:ext uri="{28A0092B-C50C-407E-A947-70E740481C1C}">
                  <a14:useLocalDpi xmlns:a14="http://schemas.microsoft.com/office/drawing/2010/main" val="0"/>
                </a:ext>
              </a:extLst>
            </a:blip>
            <a:stretch>
              <a:fillRect/>
            </a:stretch>
          </p:blipFill>
          <p:spPr>
            <a:xfrm>
              <a:off x="2195061" y="1727166"/>
              <a:ext cx="1142858" cy="531809"/>
            </a:xfrm>
            <a:prstGeom prst="rect">
              <a:avLst/>
            </a:prstGeom>
          </p:spPr>
        </p:pic>
      </p:grpSp>
      <p:grpSp>
        <p:nvGrpSpPr>
          <p:cNvPr id="25" name="Group 24"/>
          <p:cNvGrpSpPr/>
          <p:nvPr/>
        </p:nvGrpSpPr>
        <p:grpSpPr>
          <a:xfrm>
            <a:off x="-2" y="2919534"/>
            <a:ext cx="3359255" cy="1852544"/>
            <a:chOff x="-2" y="2919534"/>
            <a:chExt cx="3359255" cy="1852544"/>
          </a:xfrm>
        </p:grpSpPr>
        <p:grpSp>
          <p:nvGrpSpPr>
            <p:cNvPr id="4" name="Group 3"/>
            <p:cNvGrpSpPr/>
            <p:nvPr/>
          </p:nvGrpSpPr>
          <p:grpSpPr>
            <a:xfrm>
              <a:off x="-2" y="2919534"/>
              <a:ext cx="2124976" cy="1852544"/>
              <a:chOff x="98439" y="2824601"/>
              <a:chExt cx="2124976" cy="1852544"/>
            </a:xfrm>
          </p:grpSpPr>
          <p:pic>
            <p:nvPicPr>
              <p:cNvPr id="35" name="Picture 34"/>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8439" y="2824601"/>
                <a:ext cx="2124976" cy="1852544"/>
              </a:xfrm>
              <a:prstGeom prst="rect">
                <a:avLst/>
              </a:prstGeom>
            </p:spPr>
          </p:pic>
          <mc:AlternateContent xmlns:mc="http://schemas.openxmlformats.org/markup-compatibility/2006" xmlns:a14="http://schemas.microsoft.com/office/drawing/2010/main">
            <mc:Choice Requires="a14">
              <p:sp>
                <p:nvSpPr>
                  <p:cNvPr id="43" name="TextBox 42"/>
                  <p:cNvSpPr txBox="1"/>
                  <p:nvPr/>
                </p:nvSpPr>
                <p:spPr>
                  <a:xfrm>
                    <a:off x="1160927" y="3604679"/>
                    <a:ext cx="284440" cy="29238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300" b="0" i="1" dirty="0" smtClean="0">
                              <a:solidFill>
                                <a:schemeClr val="bg1"/>
                              </a:solidFill>
                              <a:latin typeface="Cambria Math" panose="02040503050406030204" pitchFamily="18" charset="0"/>
                              <a:cs typeface="Times New Roman" panose="02020603050405020304" pitchFamily="18" charset="0"/>
                            </a:rPr>
                            <m:t>𝐵</m:t>
                          </m:r>
                        </m:oMath>
                      </m:oMathPara>
                    </a14:m>
                    <a:endParaRPr lang="en-US" sz="1300"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1160927" y="3604679"/>
                    <a:ext cx="284440" cy="292388"/>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p:cNvSpPr txBox="1"/>
                  <p:nvPr/>
                </p:nvSpPr>
                <p:spPr>
                  <a:xfrm>
                    <a:off x="787889" y="4128990"/>
                    <a:ext cx="746076" cy="29238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300" b="0" i="1" dirty="0" smtClean="0">
                              <a:solidFill>
                                <a:schemeClr val="tx1"/>
                              </a:solidFill>
                              <a:latin typeface="Cambria Math" panose="02040503050406030204" pitchFamily="18" charset="0"/>
                              <a:cs typeface="Times New Roman" panose="02020603050405020304" pitchFamily="18" charset="0"/>
                            </a:rPr>
                            <m:t>𝑈𝑛𝑖𝑣𝑒𝑟𝑠𝑒</m:t>
                          </m:r>
                        </m:oMath>
                      </m:oMathPara>
                    </a14:m>
                    <a:endParaRPr lang="en-US" sz="1300"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47" name="TextBox 46"/>
                  <p:cNvSpPr txBox="1">
                    <a:spLocks noRot="1" noChangeAspect="1" noMove="1" noResize="1" noEditPoints="1" noAdjustHandles="1" noChangeArrowheads="1" noChangeShapeType="1" noTextEdit="1"/>
                  </p:cNvSpPr>
                  <p:nvPr/>
                </p:nvSpPr>
                <p:spPr>
                  <a:xfrm>
                    <a:off x="787889" y="4128990"/>
                    <a:ext cx="746076" cy="292388"/>
                  </a:xfrm>
                  <a:prstGeom prst="rect">
                    <a:avLst/>
                  </a:prstGeom>
                  <a:blipFill>
                    <a:blip r:embed="rId11"/>
                    <a:stretch>
                      <a:fillRect r="-9836"/>
                    </a:stretch>
                  </a:blipFill>
                </p:spPr>
                <p:txBody>
                  <a:bodyPr/>
                  <a:lstStyle/>
                  <a:p>
                    <a:r>
                      <a:rPr lang="en-US">
                        <a:noFill/>
                      </a:rPr>
                      <a:t> </a:t>
                    </a:r>
                  </a:p>
                </p:txBody>
              </p:sp>
            </mc:Fallback>
          </mc:AlternateContent>
        </p:grpSp>
        <p:pic>
          <p:nvPicPr>
            <p:cNvPr id="10" name="Picture 9"/>
            <p:cNvPicPr>
              <a:picLocks noChangeAspect="1"/>
            </p:cNvPicPr>
            <p:nvPr>
              <p:custDataLst>
                <p:tags r:id="rId5"/>
              </p:custDataLst>
            </p:nvPr>
          </p:nvPicPr>
          <p:blipFill>
            <a:blip r:embed="rId15" cstate="print">
              <a:extLst>
                <a:ext uri="{28A0092B-C50C-407E-A947-70E740481C1C}">
                  <a14:useLocalDpi xmlns:a14="http://schemas.microsoft.com/office/drawing/2010/main" val="0"/>
                </a:ext>
              </a:extLst>
            </a:blip>
            <a:stretch>
              <a:fillRect/>
            </a:stretch>
          </p:blipFill>
          <p:spPr>
            <a:xfrm>
              <a:off x="2195062" y="3579901"/>
              <a:ext cx="1164191" cy="522666"/>
            </a:xfrm>
            <a:prstGeom prst="rect">
              <a:avLst/>
            </a:prstGeom>
          </p:spPr>
        </p:pic>
      </p:grpSp>
      <p:grpSp>
        <p:nvGrpSpPr>
          <p:cNvPr id="7" name="Group 6"/>
          <p:cNvGrpSpPr/>
          <p:nvPr/>
        </p:nvGrpSpPr>
        <p:grpSpPr>
          <a:xfrm>
            <a:off x="2" y="4772463"/>
            <a:ext cx="3667262" cy="1852540"/>
            <a:chOff x="2" y="4772463"/>
            <a:chExt cx="3667262" cy="1852540"/>
          </a:xfrm>
        </p:grpSpPr>
        <p:grpSp>
          <p:nvGrpSpPr>
            <p:cNvPr id="3" name="Group 2"/>
            <p:cNvGrpSpPr/>
            <p:nvPr/>
          </p:nvGrpSpPr>
          <p:grpSpPr>
            <a:xfrm>
              <a:off x="2" y="4772463"/>
              <a:ext cx="2124972" cy="1852540"/>
              <a:chOff x="98443" y="4800600"/>
              <a:chExt cx="2124972" cy="1852540"/>
            </a:xfrm>
          </p:grpSpPr>
          <p:pic>
            <p:nvPicPr>
              <p:cNvPr id="36" name="Picture 35"/>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98443" y="4800600"/>
                <a:ext cx="2124972" cy="1852540"/>
              </a:xfrm>
              <a:prstGeom prst="rect">
                <a:avLst/>
              </a:prstGeom>
            </p:spPr>
          </p:pic>
          <mc:AlternateContent xmlns:mc="http://schemas.openxmlformats.org/markup-compatibility/2006" xmlns:a14="http://schemas.microsoft.com/office/drawing/2010/main">
            <mc:Choice Requires="a14">
              <p:sp>
                <p:nvSpPr>
                  <p:cNvPr id="38" name="TextBox 37"/>
                  <p:cNvSpPr txBox="1"/>
                  <p:nvPr/>
                </p:nvSpPr>
                <p:spPr>
                  <a:xfrm>
                    <a:off x="833549" y="5575313"/>
                    <a:ext cx="381000"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100" i="1" dirty="0" smtClean="0">
                              <a:solidFill>
                                <a:schemeClr val="bg1"/>
                              </a:solidFill>
                              <a:latin typeface="Cambria Math" panose="02040503050406030204" pitchFamily="18" charset="0"/>
                              <a:cs typeface="Times New Roman" panose="02020603050405020304" pitchFamily="18" charset="0"/>
                            </a:rPr>
                            <m:t>𝐴𝐵</m:t>
                          </m:r>
                        </m:oMath>
                      </m:oMathPara>
                    </a14:m>
                    <a:endParaRPr lang="en-US" sz="1100"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38" name="TextBox 37"/>
                  <p:cNvSpPr txBox="1">
                    <a:spLocks noRot="1" noChangeAspect="1" noMove="1" noResize="1" noEditPoints="1" noAdjustHandles="1" noChangeArrowheads="1" noChangeShapeType="1" noTextEdit="1"/>
                  </p:cNvSpPr>
                  <p:nvPr/>
                </p:nvSpPr>
                <p:spPr>
                  <a:xfrm>
                    <a:off x="833549" y="5575313"/>
                    <a:ext cx="381000" cy="261610"/>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a:off x="534552" y="5559924"/>
                    <a:ext cx="284440" cy="29238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300" i="1" dirty="0" smtClean="0">
                              <a:solidFill>
                                <a:schemeClr val="bg1"/>
                              </a:solidFill>
                              <a:latin typeface="Cambria Math" panose="02040503050406030204" pitchFamily="18" charset="0"/>
                              <a:cs typeface="Times New Roman" panose="02020603050405020304" pitchFamily="18" charset="0"/>
                            </a:rPr>
                            <m:t>𝐴</m:t>
                          </m:r>
                        </m:oMath>
                      </m:oMathPara>
                    </a14:m>
                    <a:endParaRPr lang="en-US" sz="1300"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42" name="TextBox 41"/>
                  <p:cNvSpPr txBox="1">
                    <a:spLocks noRot="1" noChangeAspect="1" noMove="1" noResize="1" noEditPoints="1" noAdjustHandles="1" noChangeArrowheads="1" noChangeShapeType="1" noTextEdit="1"/>
                  </p:cNvSpPr>
                  <p:nvPr/>
                </p:nvSpPr>
                <p:spPr>
                  <a:xfrm>
                    <a:off x="534552" y="5559924"/>
                    <a:ext cx="284440" cy="292388"/>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p:cNvSpPr txBox="1"/>
                  <p:nvPr/>
                </p:nvSpPr>
                <p:spPr>
                  <a:xfrm>
                    <a:off x="787889" y="6098837"/>
                    <a:ext cx="746076" cy="29238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300" b="0" i="1" dirty="0" smtClean="0">
                              <a:solidFill>
                                <a:schemeClr val="tx1"/>
                              </a:solidFill>
                              <a:latin typeface="Cambria Math" panose="02040503050406030204" pitchFamily="18" charset="0"/>
                              <a:cs typeface="Times New Roman" panose="02020603050405020304" pitchFamily="18" charset="0"/>
                            </a:rPr>
                            <m:t>𝑈𝑛𝑖𝑣𝑒𝑟𝑠𝑒</m:t>
                          </m:r>
                        </m:oMath>
                      </m:oMathPara>
                    </a14:m>
                    <a:endParaRPr lang="en-US" sz="1300"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48" name="TextBox 47"/>
                  <p:cNvSpPr txBox="1">
                    <a:spLocks noRot="1" noChangeAspect="1" noMove="1" noResize="1" noEditPoints="1" noAdjustHandles="1" noChangeArrowheads="1" noChangeShapeType="1" noTextEdit="1"/>
                  </p:cNvSpPr>
                  <p:nvPr/>
                </p:nvSpPr>
                <p:spPr>
                  <a:xfrm>
                    <a:off x="787889" y="6098837"/>
                    <a:ext cx="746076" cy="292388"/>
                  </a:xfrm>
                  <a:prstGeom prst="rect">
                    <a:avLst/>
                  </a:prstGeom>
                  <a:blipFill>
                    <a:blip r:embed="rId11"/>
                    <a:stretch>
                      <a:fillRect r="-98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p:cNvSpPr txBox="1"/>
                  <p:nvPr/>
                </p:nvSpPr>
                <p:spPr>
                  <a:xfrm>
                    <a:off x="1160927" y="5559924"/>
                    <a:ext cx="284440" cy="29238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300" b="0" i="1" dirty="0" smtClean="0">
                              <a:solidFill>
                                <a:schemeClr val="bg1"/>
                              </a:solidFill>
                              <a:latin typeface="Cambria Math" panose="02040503050406030204" pitchFamily="18" charset="0"/>
                              <a:cs typeface="Times New Roman" panose="02020603050405020304" pitchFamily="18" charset="0"/>
                            </a:rPr>
                            <m:t>𝐵</m:t>
                          </m:r>
                        </m:oMath>
                      </m:oMathPara>
                    </a14:m>
                    <a:endParaRPr lang="en-US" sz="1300"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52" name="TextBox 51"/>
                  <p:cNvSpPr txBox="1">
                    <a:spLocks noRot="1" noChangeAspect="1" noMove="1" noResize="1" noEditPoints="1" noAdjustHandles="1" noChangeArrowheads="1" noChangeShapeType="1" noTextEdit="1"/>
                  </p:cNvSpPr>
                  <p:nvPr/>
                </p:nvSpPr>
                <p:spPr>
                  <a:xfrm>
                    <a:off x="1160927" y="5559924"/>
                    <a:ext cx="284440" cy="292388"/>
                  </a:xfrm>
                  <a:prstGeom prst="rect">
                    <a:avLst/>
                  </a:prstGeom>
                  <a:blipFill>
                    <a:blip r:embed="rId19"/>
                    <a:stretch>
                      <a:fillRect/>
                    </a:stretch>
                  </a:blipFill>
                </p:spPr>
                <p:txBody>
                  <a:bodyPr/>
                  <a:lstStyle/>
                  <a:p>
                    <a:r>
                      <a:rPr lang="en-US">
                        <a:noFill/>
                      </a:rPr>
                      <a:t> </a:t>
                    </a:r>
                  </a:p>
                </p:txBody>
              </p:sp>
            </mc:Fallback>
          </mc:AlternateContent>
        </p:grpSp>
        <p:pic>
          <p:nvPicPr>
            <p:cNvPr id="8" name="Picture 7"/>
            <p:cNvPicPr>
              <a:picLocks noChangeAspect="1"/>
            </p:cNvPicPr>
            <p:nvPr>
              <p:custDataLst>
                <p:tags r:id="rId4"/>
              </p:custDataLst>
            </p:nvPr>
          </p:nvPicPr>
          <p:blipFill>
            <a:blip r:embed="rId20" cstate="print">
              <a:extLst>
                <a:ext uri="{28A0092B-C50C-407E-A947-70E740481C1C}">
                  <a14:useLocalDpi xmlns:a14="http://schemas.microsoft.com/office/drawing/2010/main" val="0"/>
                </a:ext>
              </a:extLst>
            </a:blip>
            <a:stretch>
              <a:fillRect/>
            </a:stretch>
          </p:blipFill>
          <p:spPr>
            <a:xfrm>
              <a:off x="2124975" y="5437400"/>
              <a:ext cx="1542289" cy="531875"/>
            </a:xfrm>
            <a:prstGeom prst="rect">
              <a:avLst/>
            </a:prstGeom>
          </p:spPr>
        </p:pic>
      </p:grpSp>
      <p:pic>
        <p:nvPicPr>
          <p:cNvPr id="12" name="Picture 11"/>
          <p:cNvPicPr>
            <a:picLocks noChangeAspect="1"/>
          </p:cNvPicPr>
          <p:nvPr>
            <p:custDataLst>
              <p:tags r:id="rId1"/>
            </p:custDataLst>
          </p:nvPr>
        </p:nvPicPr>
        <p:blipFill>
          <a:blip r:embed="rId21" cstate="print">
            <a:extLst>
              <a:ext uri="{28A0092B-C50C-407E-A947-70E740481C1C}">
                <a14:useLocalDpi xmlns:a14="http://schemas.microsoft.com/office/drawing/2010/main" val="0"/>
              </a:ext>
            </a:extLst>
          </a:blip>
          <a:stretch>
            <a:fillRect/>
          </a:stretch>
        </p:blipFill>
        <p:spPr>
          <a:xfrm>
            <a:off x="4876800" y="1645642"/>
            <a:ext cx="3571812" cy="694856"/>
          </a:xfrm>
          <a:prstGeom prst="rect">
            <a:avLst/>
          </a:prstGeom>
        </p:spPr>
      </p:pic>
      <p:pic>
        <p:nvPicPr>
          <p:cNvPr id="13" name="Picture 12"/>
          <p:cNvPicPr>
            <a:picLocks noChangeAspect="1"/>
          </p:cNvPicPr>
          <p:nvPr>
            <p:custDataLst>
              <p:tags r:id="rId2"/>
            </p:custDataLst>
          </p:nvPr>
        </p:nvPicPr>
        <p:blipFill>
          <a:blip r:embed="rId22" cstate="print">
            <a:extLst>
              <a:ext uri="{28A0092B-C50C-407E-A947-70E740481C1C}">
                <a14:useLocalDpi xmlns:a14="http://schemas.microsoft.com/office/drawing/2010/main" val="0"/>
              </a:ext>
            </a:extLst>
          </a:blip>
          <a:stretch>
            <a:fillRect/>
          </a:stretch>
        </p:blipFill>
        <p:spPr>
          <a:xfrm>
            <a:off x="4876800" y="3493806"/>
            <a:ext cx="3571812" cy="694856"/>
          </a:xfrm>
          <a:prstGeom prst="rect">
            <a:avLst/>
          </a:prstGeom>
        </p:spPr>
      </p:pic>
      <p:cxnSp>
        <p:nvCxnSpPr>
          <p:cNvPr id="15" name="Straight Connector 14"/>
          <p:cNvCxnSpPr/>
          <p:nvPr/>
        </p:nvCxnSpPr>
        <p:spPr>
          <a:xfrm>
            <a:off x="4428565" y="1219200"/>
            <a:ext cx="0" cy="5365234"/>
          </a:xfrm>
          <a:prstGeom prst="line">
            <a:avLst/>
          </a:prstGeom>
          <a:ln w="1270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20" name="Picture 19"/>
          <p:cNvPicPr>
            <a:picLocks noChangeAspect="1"/>
          </p:cNvPicPr>
          <p:nvPr>
            <p:custDataLst>
              <p:tags r:id="rId3"/>
            </p:custDataLst>
          </p:nvPr>
        </p:nvPicPr>
        <p:blipFill>
          <a:blip r:embed="rId23" cstate="print">
            <a:extLst>
              <a:ext uri="{28A0092B-C50C-407E-A947-70E740481C1C}">
                <a14:useLocalDpi xmlns:a14="http://schemas.microsoft.com/office/drawing/2010/main" val="0"/>
              </a:ext>
            </a:extLst>
          </a:blip>
          <a:stretch>
            <a:fillRect/>
          </a:stretch>
        </p:blipFill>
        <p:spPr>
          <a:xfrm>
            <a:off x="5324800" y="5400067"/>
            <a:ext cx="2675812" cy="597332"/>
          </a:xfrm>
          <a:prstGeom prst="rect">
            <a:avLst/>
          </a:prstGeom>
        </p:spPr>
      </p:pic>
      <p:sp>
        <p:nvSpPr>
          <p:cNvPr id="33" name="Title 4 1">
            <a:extLst>
              <a:ext uri="{FF2B5EF4-FFF2-40B4-BE49-F238E27FC236}">
                <a16:creationId xmlns:a16="http://schemas.microsoft.com/office/drawing/2014/main" id="{DEE090F3-9927-4102-A17F-649F1DCF855A}"/>
              </a:ext>
            </a:extLst>
          </p:cNvPr>
          <p:cNvSpPr>
            <a:spLocks noGrp="1"/>
          </p:cNvSpPr>
          <p:nvPr>
            <p:ph type="title"/>
          </p:nvPr>
        </p:nvSpPr>
        <p:spPr>
          <a:xfrm>
            <a:off x="152400" y="152400"/>
            <a:ext cx="8839200" cy="304800"/>
          </a:xfrm>
        </p:spPr>
        <p:txBody>
          <a:bodyPr>
            <a:noAutofit/>
          </a:bodyPr>
          <a:lstStyle/>
          <a:p>
            <a:r>
              <a:rPr lang="en-US" sz="1800" b="1" dirty="0">
                <a:solidFill>
                  <a:prstClr val="black"/>
                </a:solidFill>
              </a:rPr>
              <a:t>The product Rule (A prelude to the Bayesian Probability Theory)</a:t>
            </a:r>
            <a:endParaRPr lang="en-US" sz="1700" dirty="0">
              <a:solidFill>
                <a:schemeClr val="tx1"/>
              </a:solidFill>
            </a:endParaRPr>
          </a:p>
        </p:txBody>
      </p:sp>
    </p:spTree>
    <p:extLst>
      <p:ext uri="{BB962C8B-B14F-4D97-AF65-F5344CB8AC3E}">
        <p14:creationId xmlns:p14="http://schemas.microsoft.com/office/powerpoint/2010/main" val="3172172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71"/>
                                        </p:tgtEl>
                                        <p:attrNameLst>
                                          <p:attrName>style.visibility</p:attrName>
                                        </p:attrNameLst>
                                      </p:cBhvr>
                                      <p:to>
                                        <p:strVal val="visible"/>
                                      </p:to>
                                    </p:set>
                                    <p:animEffect transition="in" filter="fade">
                                      <p:cBhvr>
                                        <p:cTn id="35"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1"/>
          <p:cNvSpPr>
            <a:spLocks noGrp="1"/>
          </p:cNvSpPr>
          <p:nvPr>
            <p:ph type="title"/>
          </p:nvPr>
        </p:nvSpPr>
        <p:spPr>
          <a:xfrm>
            <a:off x="152400" y="152400"/>
            <a:ext cx="8839200" cy="304800"/>
          </a:xfrm>
        </p:spPr>
        <p:txBody>
          <a:bodyPr>
            <a:noAutofit/>
          </a:bodyPr>
          <a:lstStyle/>
          <a:p>
            <a:r>
              <a:rPr lang="en-US" sz="1700" b="1" dirty="0">
                <a:solidFill>
                  <a:schemeClr val="tx1"/>
                </a:solidFill>
              </a:rPr>
              <a:t>A Tug-of-War in the History of Probability Theory</a:t>
            </a:r>
            <a:endParaRPr lang="en-US" sz="1700" dirty="0">
              <a:solidFill>
                <a:schemeClr val="tx1"/>
              </a:solidFill>
            </a:endParaRPr>
          </a:p>
        </p:txBody>
      </p:sp>
      <p:grpSp>
        <p:nvGrpSpPr>
          <p:cNvPr id="30" name="Group 29">
            <a:extLst>
              <a:ext uri="{FF2B5EF4-FFF2-40B4-BE49-F238E27FC236}">
                <a16:creationId xmlns:a16="http://schemas.microsoft.com/office/drawing/2014/main" id="{9D0B129D-C8F9-4A16-AB8E-5E016B449800}"/>
              </a:ext>
            </a:extLst>
          </p:cNvPr>
          <p:cNvGrpSpPr/>
          <p:nvPr/>
        </p:nvGrpSpPr>
        <p:grpSpPr>
          <a:xfrm>
            <a:off x="76200" y="685800"/>
            <a:ext cx="8763000" cy="315818"/>
            <a:chOff x="76200" y="838199"/>
            <a:chExt cx="8763000" cy="315818"/>
          </a:xfrm>
        </p:grpSpPr>
        <p:cxnSp>
          <p:nvCxnSpPr>
            <p:cNvPr id="7" name="Straight Arrow Connector 6">
              <a:extLst>
                <a:ext uri="{FF2B5EF4-FFF2-40B4-BE49-F238E27FC236}">
                  <a16:creationId xmlns:a16="http://schemas.microsoft.com/office/drawing/2014/main" id="{EDC6CF29-0C7E-4134-8087-72D39189B6F3}"/>
                </a:ext>
              </a:extLst>
            </p:cNvPr>
            <p:cNvCxnSpPr>
              <a:cxnSpLocks/>
            </p:cNvCxnSpPr>
            <p:nvPr/>
          </p:nvCxnSpPr>
          <p:spPr>
            <a:xfrm>
              <a:off x="304800" y="1143000"/>
              <a:ext cx="8534400" cy="0"/>
            </a:xfrm>
            <a:prstGeom prst="straightConnector1">
              <a:avLst/>
            </a:prstGeom>
            <a:ln w="31750">
              <a:tailEnd type="stealth" w="lg" len="lg"/>
            </a:ln>
          </p:spPr>
          <p:style>
            <a:lnRef idx="2">
              <a:schemeClr val="accent1"/>
            </a:lnRef>
            <a:fillRef idx="0">
              <a:schemeClr val="accent1"/>
            </a:fillRef>
            <a:effectRef idx="1">
              <a:schemeClr val="accent1"/>
            </a:effectRef>
            <a:fontRef idx="minor">
              <a:schemeClr val="tx1"/>
            </a:fontRef>
          </p:style>
        </p:cxnSp>
        <p:sp>
          <p:nvSpPr>
            <p:cNvPr id="14" name="Title 4 2 1 1">
              <a:extLst>
                <a:ext uri="{FF2B5EF4-FFF2-40B4-BE49-F238E27FC236}">
                  <a16:creationId xmlns:a16="http://schemas.microsoft.com/office/drawing/2014/main" id="{59423085-6222-46E2-B8DE-35676CFFD7E5}"/>
                </a:ext>
              </a:extLst>
            </p:cNvPr>
            <p:cNvSpPr txBox="1">
              <a:spLocks/>
            </p:cNvSpPr>
            <p:nvPr/>
          </p:nvSpPr>
          <p:spPr>
            <a:xfrm>
              <a:off x="76200" y="849216"/>
              <a:ext cx="759056" cy="304801"/>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200" dirty="0">
                  <a:solidFill>
                    <a:schemeClr val="tx1"/>
                  </a:solidFill>
                </a:rPr>
                <a:t>1700</a:t>
              </a:r>
            </a:p>
          </p:txBody>
        </p:sp>
        <p:sp>
          <p:nvSpPr>
            <p:cNvPr id="15" name="Title 4 2 1 1">
              <a:extLst>
                <a:ext uri="{FF2B5EF4-FFF2-40B4-BE49-F238E27FC236}">
                  <a16:creationId xmlns:a16="http://schemas.microsoft.com/office/drawing/2014/main" id="{8EB09671-8876-4A6A-95F5-E8799A099B8B}"/>
                </a:ext>
              </a:extLst>
            </p:cNvPr>
            <p:cNvSpPr txBox="1">
              <a:spLocks/>
            </p:cNvSpPr>
            <p:nvPr/>
          </p:nvSpPr>
          <p:spPr>
            <a:xfrm>
              <a:off x="3810000" y="838199"/>
              <a:ext cx="759056" cy="304801"/>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200" dirty="0">
                  <a:solidFill>
                    <a:schemeClr val="tx1"/>
                  </a:solidFill>
                </a:rPr>
                <a:t>1840</a:t>
              </a:r>
            </a:p>
          </p:txBody>
        </p:sp>
        <p:sp>
          <p:nvSpPr>
            <p:cNvPr id="16" name="Title 4 2 1 1">
              <a:extLst>
                <a:ext uri="{FF2B5EF4-FFF2-40B4-BE49-F238E27FC236}">
                  <a16:creationId xmlns:a16="http://schemas.microsoft.com/office/drawing/2014/main" id="{84424706-D9F0-411B-BC1B-B051860F27E7}"/>
                </a:ext>
              </a:extLst>
            </p:cNvPr>
            <p:cNvSpPr txBox="1">
              <a:spLocks/>
            </p:cNvSpPr>
            <p:nvPr/>
          </p:nvSpPr>
          <p:spPr>
            <a:xfrm>
              <a:off x="8080144" y="844992"/>
              <a:ext cx="759056" cy="304801"/>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200" dirty="0">
                  <a:solidFill>
                    <a:schemeClr val="tx1"/>
                  </a:solidFill>
                </a:rPr>
                <a:t>present</a:t>
              </a:r>
            </a:p>
          </p:txBody>
        </p:sp>
        <p:sp>
          <p:nvSpPr>
            <p:cNvPr id="17" name="Title 4 2 1 1">
              <a:extLst>
                <a:ext uri="{FF2B5EF4-FFF2-40B4-BE49-F238E27FC236}">
                  <a16:creationId xmlns:a16="http://schemas.microsoft.com/office/drawing/2014/main" id="{D365D905-66F1-435B-B64B-3F4B79C8F117}"/>
                </a:ext>
              </a:extLst>
            </p:cNvPr>
            <p:cNvSpPr txBox="1">
              <a:spLocks/>
            </p:cNvSpPr>
            <p:nvPr/>
          </p:nvSpPr>
          <p:spPr>
            <a:xfrm>
              <a:off x="6477000" y="844991"/>
              <a:ext cx="759056" cy="304801"/>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200" dirty="0">
                  <a:solidFill>
                    <a:schemeClr val="tx1"/>
                  </a:solidFill>
                </a:rPr>
                <a:t>1940</a:t>
              </a:r>
            </a:p>
          </p:txBody>
        </p:sp>
      </p:grpSp>
      <p:grpSp>
        <p:nvGrpSpPr>
          <p:cNvPr id="29" name="Group 28">
            <a:extLst>
              <a:ext uri="{FF2B5EF4-FFF2-40B4-BE49-F238E27FC236}">
                <a16:creationId xmlns:a16="http://schemas.microsoft.com/office/drawing/2014/main" id="{8BAE1422-DD49-4C81-80FF-A80EF20C7933}"/>
              </a:ext>
            </a:extLst>
          </p:cNvPr>
          <p:cNvGrpSpPr/>
          <p:nvPr/>
        </p:nvGrpSpPr>
        <p:grpSpPr>
          <a:xfrm>
            <a:off x="228599" y="1123118"/>
            <a:ext cx="5486401" cy="1239082"/>
            <a:chOff x="990599" y="1264496"/>
            <a:chExt cx="5486401" cy="1239082"/>
          </a:xfrm>
        </p:grpSpPr>
        <p:sp>
          <p:nvSpPr>
            <p:cNvPr id="4" name="Arrow: Right 3">
              <a:extLst>
                <a:ext uri="{FF2B5EF4-FFF2-40B4-BE49-F238E27FC236}">
                  <a16:creationId xmlns:a16="http://schemas.microsoft.com/office/drawing/2014/main" id="{5A0ED774-4DA3-4790-81AE-FF61C59B1F42}"/>
                </a:ext>
              </a:extLst>
            </p:cNvPr>
            <p:cNvSpPr/>
            <p:nvPr/>
          </p:nvSpPr>
          <p:spPr>
            <a:xfrm>
              <a:off x="1066800" y="1295400"/>
              <a:ext cx="5410200" cy="1208178"/>
            </a:xfrm>
            <a:prstGeom prst="rightArrow">
              <a:avLst/>
            </a:prstGeom>
            <a:gradFill flip="none" rotWithShape="1">
              <a:gsLst>
                <a:gs pos="2000">
                  <a:schemeClr val="accent1">
                    <a:tint val="100000"/>
                    <a:shade val="100000"/>
                    <a:satMod val="130000"/>
                  </a:schemeClr>
                </a:gs>
                <a:gs pos="87000">
                  <a:schemeClr val="accent1">
                    <a:tint val="50000"/>
                    <a:shade val="100000"/>
                    <a:satMod val="350000"/>
                    <a:alpha val="8000"/>
                  </a:schemeClr>
                </a:gs>
              </a:gsLst>
              <a:path path="circle">
                <a:fillToRect t="100000" r="100000"/>
              </a:path>
              <a:tileRect l="-100000" b="-100000"/>
            </a:gra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00" dirty="0">
                  <a:solidFill>
                    <a:schemeClr val="tx1"/>
                  </a:solidFill>
                </a:rPr>
                <a:t>J </a:t>
              </a:r>
              <a:r>
                <a:rPr lang="en-US" sz="1300" b="1" dirty="0">
                  <a:solidFill>
                    <a:schemeClr val="tx1"/>
                  </a:solidFill>
                </a:rPr>
                <a:t>Bernoulli</a:t>
              </a:r>
              <a:r>
                <a:rPr lang="en-US" sz="1300" dirty="0">
                  <a:solidFill>
                    <a:schemeClr val="tx1"/>
                  </a:solidFill>
                </a:rPr>
                <a:t>, </a:t>
              </a:r>
              <a:r>
                <a:rPr lang="en-US" sz="1300" b="1" dirty="0">
                  <a:solidFill>
                    <a:schemeClr val="tx1"/>
                  </a:solidFill>
                </a:rPr>
                <a:t>de </a:t>
              </a:r>
              <a:r>
                <a:rPr lang="en-US" sz="1300" b="1" dirty="0" err="1">
                  <a:solidFill>
                    <a:schemeClr val="tx1"/>
                  </a:solidFill>
                </a:rPr>
                <a:t>Moivre</a:t>
              </a:r>
              <a:r>
                <a:rPr lang="en-US" sz="1300" dirty="0">
                  <a:solidFill>
                    <a:schemeClr val="tx1"/>
                  </a:solidFill>
                </a:rPr>
                <a:t>, </a:t>
              </a:r>
              <a:r>
                <a:rPr lang="en-US" sz="1300" b="1" dirty="0">
                  <a:solidFill>
                    <a:schemeClr val="tx1"/>
                  </a:solidFill>
                </a:rPr>
                <a:t>Bayes</a:t>
              </a:r>
              <a:r>
                <a:rPr lang="en-US" sz="1300" dirty="0">
                  <a:solidFill>
                    <a:schemeClr val="tx1"/>
                  </a:solidFill>
                </a:rPr>
                <a:t>, </a:t>
              </a:r>
              <a:r>
                <a:rPr lang="en-US" sz="1300" b="1" dirty="0">
                  <a:solidFill>
                    <a:schemeClr val="tx1"/>
                  </a:solidFill>
                </a:rPr>
                <a:t>Laplace</a:t>
              </a:r>
              <a:r>
                <a:rPr lang="en-US" sz="1300" dirty="0">
                  <a:solidFill>
                    <a:schemeClr val="tx1"/>
                  </a:solidFill>
                </a:rPr>
                <a:t>, D </a:t>
              </a:r>
              <a:r>
                <a:rPr lang="en-US" sz="1300" b="1" dirty="0">
                  <a:solidFill>
                    <a:schemeClr val="tx1"/>
                  </a:solidFill>
                </a:rPr>
                <a:t>Bernoulli</a:t>
              </a:r>
              <a:r>
                <a:rPr lang="en-US" sz="1300" dirty="0">
                  <a:solidFill>
                    <a:schemeClr val="tx1"/>
                  </a:solidFill>
                </a:rPr>
                <a:t>, Condorcet, Lubbock, Poisson, </a:t>
              </a:r>
              <a:r>
                <a:rPr lang="en-US" sz="1300" b="1" dirty="0">
                  <a:solidFill>
                    <a:schemeClr val="tx1"/>
                  </a:solidFill>
                </a:rPr>
                <a:t>de Morgan</a:t>
              </a:r>
              <a:r>
                <a:rPr lang="en-US" sz="1300" dirty="0">
                  <a:solidFill>
                    <a:schemeClr val="tx1"/>
                  </a:solidFill>
                </a:rPr>
                <a:t>, Maxwell, Jevons, Boltzmann, Gibbs</a:t>
              </a:r>
            </a:p>
          </p:txBody>
        </p:sp>
        <p:sp>
          <p:nvSpPr>
            <p:cNvPr id="22" name="Title 4 2 1 1 1">
              <a:extLst>
                <a:ext uri="{FF2B5EF4-FFF2-40B4-BE49-F238E27FC236}">
                  <a16:creationId xmlns:a16="http://schemas.microsoft.com/office/drawing/2014/main" id="{EEDA43E5-BE3F-437B-A46E-F65C5FA4EBB8}"/>
                </a:ext>
              </a:extLst>
            </p:cNvPr>
            <p:cNvSpPr txBox="1">
              <a:spLocks/>
            </p:cNvSpPr>
            <p:nvPr/>
          </p:nvSpPr>
          <p:spPr>
            <a:xfrm>
              <a:off x="990599" y="1264496"/>
              <a:ext cx="2666983" cy="335704"/>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fontAlgn="auto">
                <a:spcAft>
                  <a:spcPts val="0"/>
                </a:spcAft>
              </a:pPr>
              <a:r>
                <a:rPr lang="en-US" sz="1300" dirty="0">
                  <a:solidFill>
                    <a:schemeClr val="tx1"/>
                  </a:solidFill>
                </a:rPr>
                <a:t>Classical Probability (150 years)</a:t>
              </a:r>
            </a:p>
          </p:txBody>
        </p:sp>
      </p:grpSp>
      <p:grpSp>
        <p:nvGrpSpPr>
          <p:cNvPr id="28" name="Group 27">
            <a:extLst>
              <a:ext uri="{FF2B5EF4-FFF2-40B4-BE49-F238E27FC236}">
                <a16:creationId xmlns:a16="http://schemas.microsoft.com/office/drawing/2014/main" id="{289EC03D-A98A-406D-B7BD-64188E3D196D}"/>
              </a:ext>
            </a:extLst>
          </p:cNvPr>
          <p:cNvGrpSpPr/>
          <p:nvPr/>
        </p:nvGrpSpPr>
        <p:grpSpPr>
          <a:xfrm>
            <a:off x="6019800" y="1905000"/>
            <a:ext cx="2819400" cy="2144592"/>
            <a:chOff x="6019800" y="2209817"/>
            <a:chExt cx="2819400" cy="2144592"/>
          </a:xfrm>
        </p:grpSpPr>
        <p:sp>
          <p:nvSpPr>
            <p:cNvPr id="20" name="Arrow: Right 19">
              <a:extLst>
                <a:ext uri="{FF2B5EF4-FFF2-40B4-BE49-F238E27FC236}">
                  <a16:creationId xmlns:a16="http://schemas.microsoft.com/office/drawing/2014/main" id="{1D272D1E-E85F-4138-A9FD-2B1400A4D099}"/>
                </a:ext>
              </a:extLst>
            </p:cNvPr>
            <p:cNvSpPr/>
            <p:nvPr/>
          </p:nvSpPr>
          <p:spPr>
            <a:xfrm>
              <a:off x="6096000" y="2209817"/>
              <a:ext cx="2743200" cy="2144592"/>
            </a:xfrm>
            <a:prstGeom prst="rightArrow">
              <a:avLst>
                <a:gd name="adj1" fmla="val 50000"/>
                <a:gd name="adj2" fmla="val 37083"/>
              </a:avLst>
            </a:prstGeom>
            <a:gradFill flip="none" rotWithShape="1">
              <a:gsLst>
                <a:gs pos="35000">
                  <a:srgbClr val="F76742"/>
                </a:gs>
                <a:gs pos="0">
                  <a:schemeClr val="accent1">
                    <a:tint val="100000"/>
                    <a:shade val="100000"/>
                    <a:satMod val="130000"/>
                  </a:schemeClr>
                </a:gs>
                <a:gs pos="77000">
                  <a:schemeClr val="accent1">
                    <a:tint val="50000"/>
                    <a:shade val="100000"/>
                    <a:satMod val="350000"/>
                    <a:alpha val="8000"/>
                  </a:schemeClr>
                </a:gs>
              </a:gsLst>
              <a:path path="circle">
                <a:fillToRect l="100000" t="100000"/>
              </a:path>
              <a:tileRect r="-100000" b="-100000"/>
            </a:gra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00" dirty="0">
                  <a:solidFill>
                    <a:schemeClr val="tx1"/>
                  </a:solidFill>
                </a:rPr>
                <a:t>Poincare, </a:t>
              </a:r>
              <a:r>
                <a:rPr lang="en-US" sz="1300" b="1" dirty="0">
                  <a:solidFill>
                    <a:schemeClr val="tx1"/>
                  </a:solidFill>
                </a:rPr>
                <a:t>Keynes</a:t>
              </a:r>
              <a:r>
                <a:rPr lang="en-US" sz="1300" dirty="0">
                  <a:solidFill>
                    <a:schemeClr val="tx1"/>
                  </a:solidFill>
                </a:rPr>
                <a:t>, Ramsey, </a:t>
              </a:r>
              <a:r>
                <a:rPr lang="en-US" sz="1300" b="1" dirty="0">
                  <a:solidFill>
                    <a:schemeClr val="tx1"/>
                  </a:solidFill>
                </a:rPr>
                <a:t>de </a:t>
              </a:r>
              <a:r>
                <a:rPr lang="en-US" sz="1300" b="1" dirty="0" err="1">
                  <a:solidFill>
                    <a:schemeClr val="tx1"/>
                  </a:solidFill>
                </a:rPr>
                <a:t>Finetti</a:t>
              </a:r>
              <a:r>
                <a:rPr lang="en-US" sz="1300" dirty="0">
                  <a:solidFill>
                    <a:schemeClr val="tx1"/>
                  </a:solidFill>
                </a:rPr>
                <a:t>, </a:t>
              </a:r>
              <a:r>
                <a:rPr lang="en-US" sz="1300" b="1" dirty="0">
                  <a:solidFill>
                    <a:schemeClr val="tx1"/>
                  </a:solidFill>
                </a:rPr>
                <a:t>Jeffreys</a:t>
              </a:r>
              <a:r>
                <a:rPr lang="en-US" sz="1300" dirty="0">
                  <a:solidFill>
                    <a:schemeClr val="tx1"/>
                  </a:solidFill>
                </a:rPr>
                <a:t>, </a:t>
              </a:r>
              <a:r>
                <a:rPr lang="en-US" sz="1300" b="1" dirty="0">
                  <a:solidFill>
                    <a:schemeClr val="tx1"/>
                  </a:solidFill>
                </a:rPr>
                <a:t>RT Cox</a:t>
              </a:r>
              <a:r>
                <a:rPr lang="en-US" sz="1300" dirty="0">
                  <a:solidFill>
                    <a:schemeClr val="tx1"/>
                  </a:solidFill>
                </a:rPr>
                <a:t>, Carnap, Good, </a:t>
              </a:r>
              <a:r>
                <a:rPr lang="en-US" sz="1300" dirty="0" err="1">
                  <a:solidFill>
                    <a:schemeClr val="tx1"/>
                  </a:solidFill>
                </a:rPr>
                <a:t>Polya</a:t>
              </a:r>
              <a:r>
                <a:rPr lang="en-US" sz="1300" dirty="0">
                  <a:solidFill>
                    <a:schemeClr val="tx1"/>
                  </a:solidFill>
                </a:rPr>
                <a:t>, Savage, Zellner, </a:t>
              </a:r>
              <a:r>
                <a:rPr lang="en-US" sz="1300" b="1" dirty="0">
                  <a:solidFill>
                    <a:schemeClr val="tx1"/>
                  </a:solidFill>
                </a:rPr>
                <a:t>Jaynes</a:t>
              </a:r>
              <a:r>
                <a:rPr lang="en-US" sz="1300" dirty="0">
                  <a:solidFill>
                    <a:schemeClr val="tx1"/>
                  </a:solidFill>
                </a:rPr>
                <a:t>, Jeffrey, …</a:t>
              </a:r>
            </a:p>
          </p:txBody>
        </p:sp>
        <p:sp>
          <p:nvSpPr>
            <p:cNvPr id="23" name="Title 4 2 1 1 1">
              <a:extLst>
                <a:ext uri="{FF2B5EF4-FFF2-40B4-BE49-F238E27FC236}">
                  <a16:creationId xmlns:a16="http://schemas.microsoft.com/office/drawing/2014/main" id="{2284C277-609E-4ED3-9B03-D3847ED1E00F}"/>
                </a:ext>
              </a:extLst>
            </p:cNvPr>
            <p:cNvSpPr txBox="1">
              <a:spLocks/>
            </p:cNvSpPr>
            <p:nvPr/>
          </p:nvSpPr>
          <p:spPr>
            <a:xfrm>
              <a:off x="6019800" y="2407048"/>
              <a:ext cx="1981200" cy="335704"/>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fontAlgn="auto">
                <a:spcAft>
                  <a:spcPts val="0"/>
                </a:spcAft>
              </a:pPr>
              <a:r>
                <a:rPr lang="en-US" sz="1300" dirty="0">
                  <a:solidFill>
                    <a:schemeClr val="tx1"/>
                  </a:solidFill>
                </a:rPr>
                <a:t>Bayesian Probability</a:t>
              </a:r>
            </a:p>
          </p:txBody>
        </p:sp>
      </p:grpSp>
      <p:grpSp>
        <p:nvGrpSpPr>
          <p:cNvPr id="27" name="Group 26">
            <a:extLst>
              <a:ext uri="{FF2B5EF4-FFF2-40B4-BE49-F238E27FC236}">
                <a16:creationId xmlns:a16="http://schemas.microsoft.com/office/drawing/2014/main" id="{06F8393A-DA3A-4ABF-A6BF-D1E3191FCE1B}"/>
              </a:ext>
            </a:extLst>
          </p:cNvPr>
          <p:cNvGrpSpPr/>
          <p:nvPr/>
        </p:nvGrpSpPr>
        <p:grpSpPr>
          <a:xfrm>
            <a:off x="3429000" y="4312496"/>
            <a:ext cx="5410200" cy="1250104"/>
            <a:chOff x="3429000" y="4388696"/>
            <a:chExt cx="5410200" cy="1250104"/>
          </a:xfrm>
        </p:grpSpPr>
        <p:sp>
          <p:nvSpPr>
            <p:cNvPr id="18" name="Arrow: Right 17">
              <a:extLst>
                <a:ext uri="{FF2B5EF4-FFF2-40B4-BE49-F238E27FC236}">
                  <a16:creationId xmlns:a16="http://schemas.microsoft.com/office/drawing/2014/main" id="{E5B1A1B4-1D36-4B51-80BD-EFFBD50D326E}"/>
                </a:ext>
              </a:extLst>
            </p:cNvPr>
            <p:cNvSpPr/>
            <p:nvPr/>
          </p:nvSpPr>
          <p:spPr>
            <a:xfrm>
              <a:off x="3512134" y="4430622"/>
              <a:ext cx="5327066" cy="1208178"/>
            </a:xfrm>
            <a:prstGeom prst="rightArrow">
              <a:avLst>
                <a:gd name="adj1" fmla="val 50000"/>
                <a:gd name="adj2" fmla="val 66819"/>
              </a:avLst>
            </a:prstGeom>
            <a:gradFill flip="none" rotWithShape="1">
              <a:gsLst>
                <a:gs pos="0">
                  <a:schemeClr val="accent1">
                    <a:tint val="100000"/>
                    <a:shade val="100000"/>
                    <a:satMod val="130000"/>
                  </a:schemeClr>
                </a:gs>
                <a:gs pos="31000">
                  <a:srgbClr val="FB7D63"/>
                </a:gs>
                <a:gs pos="0">
                  <a:srgbClr val="F76742"/>
                </a:gs>
                <a:gs pos="61000">
                  <a:schemeClr val="accent1">
                    <a:tint val="50000"/>
                    <a:shade val="100000"/>
                    <a:satMod val="350000"/>
                    <a:alpha val="8000"/>
                  </a:schemeClr>
                </a:gs>
              </a:gsLst>
              <a:path path="circle">
                <a:fillToRect l="50000" t="50000" r="50000" b="50000"/>
              </a:path>
              <a:tileRect/>
            </a:gra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00" dirty="0">
                  <a:solidFill>
                    <a:schemeClr val="tx1"/>
                  </a:solidFill>
                </a:rPr>
                <a:t>Cournot, Ellis, Boole, </a:t>
              </a:r>
              <a:r>
                <a:rPr lang="en-US" sz="1300" b="1" dirty="0">
                  <a:solidFill>
                    <a:schemeClr val="tx1"/>
                  </a:solidFill>
                </a:rPr>
                <a:t>Venn</a:t>
              </a:r>
              <a:r>
                <a:rPr lang="en-US" sz="1300" dirty="0">
                  <a:solidFill>
                    <a:schemeClr val="tx1"/>
                  </a:solidFill>
                </a:rPr>
                <a:t>, Chrystal, Galton, </a:t>
              </a:r>
              <a:r>
                <a:rPr lang="en-US" sz="1300" b="1" dirty="0">
                  <a:solidFill>
                    <a:schemeClr val="tx1"/>
                  </a:solidFill>
                </a:rPr>
                <a:t>Fisher</a:t>
              </a:r>
              <a:r>
                <a:rPr lang="en-US" sz="1300" dirty="0">
                  <a:solidFill>
                    <a:schemeClr val="tx1"/>
                  </a:solidFill>
                </a:rPr>
                <a:t>, </a:t>
              </a:r>
              <a:r>
                <a:rPr lang="en-US" sz="1300" b="1" dirty="0">
                  <a:solidFill>
                    <a:schemeClr val="tx1"/>
                  </a:solidFill>
                </a:rPr>
                <a:t>von Mises</a:t>
              </a:r>
              <a:r>
                <a:rPr lang="en-US" sz="1300" dirty="0">
                  <a:solidFill>
                    <a:schemeClr val="tx1"/>
                  </a:solidFill>
                </a:rPr>
                <a:t>, Reichenbach,</a:t>
              </a:r>
              <a:r>
                <a:rPr lang="en-US" sz="1300" b="1" dirty="0">
                  <a:solidFill>
                    <a:schemeClr val="tx1"/>
                  </a:solidFill>
                </a:rPr>
                <a:t> Pearson</a:t>
              </a:r>
              <a:r>
                <a:rPr lang="en-US" sz="1300" dirty="0">
                  <a:solidFill>
                    <a:schemeClr val="tx1"/>
                  </a:solidFill>
                </a:rPr>
                <a:t>,</a:t>
              </a:r>
              <a:r>
                <a:rPr lang="en-US" sz="1300" b="1" dirty="0">
                  <a:solidFill>
                    <a:schemeClr val="tx1"/>
                  </a:solidFill>
                </a:rPr>
                <a:t> Kendall</a:t>
              </a:r>
              <a:r>
                <a:rPr lang="en-US" sz="1300" dirty="0">
                  <a:solidFill>
                    <a:schemeClr val="tx1"/>
                  </a:solidFill>
                </a:rPr>
                <a:t>, </a:t>
              </a:r>
              <a:r>
                <a:rPr lang="en-US" sz="1300" b="1" dirty="0">
                  <a:solidFill>
                    <a:schemeClr val="tx1"/>
                  </a:solidFill>
                </a:rPr>
                <a:t>Cramer</a:t>
              </a:r>
              <a:r>
                <a:rPr lang="en-US" sz="1300" dirty="0">
                  <a:solidFill>
                    <a:schemeClr val="tx1"/>
                  </a:solidFill>
                </a:rPr>
                <a:t>,</a:t>
              </a:r>
              <a:r>
                <a:rPr lang="en-US" sz="1300" b="1" dirty="0">
                  <a:solidFill>
                    <a:schemeClr val="tx1"/>
                  </a:solidFill>
                </a:rPr>
                <a:t> </a:t>
              </a:r>
              <a:r>
                <a:rPr lang="en-US" sz="1300" b="1" dirty="0" err="1">
                  <a:solidFill>
                    <a:schemeClr val="tx1"/>
                  </a:solidFill>
                </a:rPr>
                <a:t>Neyman</a:t>
              </a:r>
              <a:r>
                <a:rPr lang="en-US" sz="1300" dirty="0">
                  <a:solidFill>
                    <a:schemeClr val="tx1"/>
                  </a:solidFill>
                </a:rPr>
                <a:t>,</a:t>
              </a:r>
              <a:r>
                <a:rPr lang="en-US" sz="1300" b="1" dirty="0">
                  <a:solidFill>
                    <a:schemeClr val="tx1"/>
                  </a:solidFill>
                </a:rPr>
                <a:t> Feller</a:t>
              </a:r>
              <a:r>
                <a:rPr lang="en-US" sz="1300" dirty="0">
                  <a:solidFill>
                    <a:schemeClr val="tx1"/>
                  </a:solidFill>
                </a:rPr>
                <a:t>, …</a:t>
              </a:r>
            </a:p>
          </p:txBody>
        </p:sp>
        <p:sp>
          <p:nvSpPr>
            <p:cNvPr id="24" name="Title 4 2 1 1 1">
              <a:extLst>
                <a:ext uri="{FF2B5EF4-FFF2-40B4-BE49-F238E27FC236}">
                  <a16:creationId xmlns:a16="http://schemas.microsoft.com/office/drawing/2014/main" id="{B5F26787-A119-4EC0-AB34-EECE231EA722}"/>
                </a:ext>
              </a:extLst>
            </p:cNvPr>
            <p:cNvSpPr txBox="1">
              <a:spLocks/>
            </p:cNvSpPr>
            <p:nvPr/>
          </p:nvSpPr>
          <p:spPr>
            <a:xfrm>
              <a:off x="3429000" y="4388696"/>
              <a:ext cx="2743200" cy="335704"/>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fontAlgn="auto">
                <a:spcAft>
                  <a:spcPts val="0"/>
                </a:spcAft>
              </a:pPr>
              <a:r>
                <a:rPr lang="en-US" sz="1300" dirty="0">
                  <a:solidFill>
                    <a:schemeClr val="tx1"/>
                  </a:solidFill>
                </a:rPr>
                <a:t>Frequentist Probability (100 years)</a:t>
              </a:r>
            </a:p>
          </p:txBody>
        </p:sp>
      </p:grpSp>
      <p:grpSp>
        <p:nvGrpSpPr>
          <p:cNvPr id="26" name="Group 25">
            <a:extLst>
              <a:ext uri="{FF2B5EF4-FFF2-40B4-BE49-F238E27FC236}">
                <a16:creationId xmlns:a16="http://schemas.microsoft.com/office/drawing/2014/main" id="{56C90E82-1E34-43A2-AC94-87AA9446741C}"/>
              </a:ext>
            </a:extLst>
          </p:cNvPr>
          <p:cNvGrpSpPr/>
          <p:nvPr/>
        </p:nvGrpSpPr>
        <p:grpSpPr>
          <a:xfrm>
            <a:off x="7086600" y="5638800"/>
            <a:ext cx="1524000" cy="1022914"/>
            <a:chOff x="7162800" y="5653730"/>
            <a:chExt cx="1524000" cy="1022914"/>
          </a:xfrm>
        </p:grpSpPr>
        <p:sp>
          <p:nvSpPr>
            <p:cNvPr id="21" name="Arrow: Right 20">
              <a:extLst>
                <a:ext uri="{FF2B5EF4-FFF2-40B4-BE49-F238E27FC236}">
                  <a16:creationId xmlns:a16="http://schemas.microsoft.com/office/drawing/2014/main" id="{42C62A4C-9640-45FE-A2AD-8EB5BBDEE442}"/>
                </a:ext>
              </a:extLst>
            </p:cNvPr>
            <p:cNvSpPr/>
            <p:nvPr/>
          </p:nvSpPr>
          <p:spPr>
            <a:xfrm>
              <a:off x="7236056" y="5680302"/>
              <a:ext cx="1450744" cy="996342"/>
            </a:xfrm>
            <a:prstGeom prst="rightArrow">
              <a:avLst>
                <a:gd name="adj1" fmla="val 50000"/>
                <a:gd name="adj2" fmla="val 33681"/>
              </a:avLst>
            </a:prstGeom>
            <a:gradFill flip="none" rotWithShape="1">
              <a:gsLst>
                <a:gs pos="0">
                  <a:schemeClr val="accent1">
                    <a:tint val="100000"/>
                    <a:shade val="100000"/>
                    <a:satMod val="130000"/>
                  </a:schemeClr>
                </a:gs>
                <a:gs pos="0">
                  <a:srgbClr val="F76742"/>
                </a:gs>
                <a:gs pos="0">
                  <a:schemeClr val="accent1">
                    <a:tint val="50000"/>
                    <a:shade val="100000"/>
                    <a:satMod val="350000"/>
                    <a:alpha val="8000"/>
                  </a:schemeClr>
                </a:gs>
              </a:gsLst>
              <a:path path="circle">
                <a:fillToRect l="50000" t="50000" r="50000" b="50000"/>
              </a:path>
              <a:tileRect/>
            </a:gra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00" b="1" dirty="0">
                  <a:solidFill>
                    <a:schemeClr val="tx1"/>
                  </a:solidFill>
                </a:rPr>
                <a:t>Popper</a:t>
              </a:r>
              <a:r>
                <a:rPr lang="en-US" sz="1300" dirty="0">
                  <a:solidFill>
                    <a:schemeClr val="tx1"/>
                  </a:solidFill>
                </a:rPr>
                <a:t>, Gillies, Fetzer, Miller</a:t>
              </a:r>
            </a:p>
          </p:txBody>
        </p:sp>
        <p:sp>
          <p:nvSpPr>
            <p:cNvPr id="25" name="Title 4 2 1 1 1">
              <a:extLst>
                <a:ext uri="{FF2B5EF4-FFF2-40B4-BE49-F238E27FC236}">
                  <a16:creationId xmlns:a16="http://schemas.microsoft.com/office/drawing/2014/main" id="{83DF3B82-AB9D-4FB0-88D4-D38C367B7E47}"/>
                </a:ext>
              </a:extLst>
            </p:cNvPr>
            <p:cNvSpPr txBox="1">
              <a:spLocks/>
            </p:cNvSpPr>
            <p:nvPr/>
          </p:nvSpPr>
          <p:spPr>
            <a:xfrm>
              <a:off x="7162800" y="5653730"/>
              <a:ext cx="993544" cy="304799"/>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fontAlgn="auto">
                <a:spcAft>
                  <a:spcPts val="0"/>
                </a:spcAft>
              </a:pPr>
              <a:r>
                <a:rPr lang="en-US" sz="1300" dirty="0">
                  <a:solidFill>
                    <a:schemeClr val="tx1"/>
                  </a:solidFill>
                </a:rPr>
                <a:t>Propensity</a:t>
              </a:r>
            </a:p>
          </p:txBody>
        </p:sp>
      </p:grpSp>
      <p:cxnSp>
        <p:nvCxnSpPr>
          <p:cNvPr id="33" name="Straight Connector 32">
            <a:extLst>
              <a:ext uri="{FF2B5EF4-FFF2-40B4-BE49-F238E27FC236}">
                <a16:creationId xmlns:a16="http://schemas.microsoft.com/office/drawing/2014/main" id="{33177DE8-8AFE-48BA-B28C-78301A9C7E78}"/>
              </a:ext>
            </a:extLst>
          </p:cNvPr>
          <p:cNvCxnSpPr>
            <a:cxnSpLocks/>
          </p:cNvCxnSpPr>
          <p:nvPr/>
        </p:nvCxnSpPr>
        <p:spPr>
          <a:xfrm>
            <a:off x="304800" y="4191000"/>
            <a:ext cx="8526585" cy="0"/>
          </a:xfrm>
          <a:prstGeom prst="line">
            <a:avLst/>
          </a:prstGeom>
          <a:ln w="31750" cmpd="sng">
            <a:prstDash val="dash"/>
          </a:ln>
        </p:spPr>
        <p:style>
          <a:lnRef idx="2">
            <a:schemeClr val="accent1"/>
          </a:lnRef>
          <a:fillRef idx="0">
            <a:schemeClr val="accent1"/>
          </a:fillRef>
          <a:effectRef idx="1">
            <a:schemeClr val="accent1"/>
          </a:effectRef>
          <a:fontRef idx="minor">
            <a:schemeClr val="tx1"/>
          </a:fontRef>
        </p:style>
      </p:cxnSp>
      <p:sp>
        <p:nvSpPr>
          <p:cNvPr id="36" name="Content Placeholder 3">
            <a:extLst>
              <a:ext uri="{FF2B5EF4-FFF2-40B4-BE49-F238E27FC236}">
                <a16:creationId xmlns:a16="http://schemas.microsoft.com/office/drawing/2014/main" id="{EFBF18AF-DE2A-4CFF-9D9D-2261E3DF7BAD}"/>
              </a:ext>
            </a:extLst>
          </p:cNvPr>
          <p:cNvSpPr txBox="1">
            <a:spLocks/>
          </p:cNvSpPr>
          <p:nvPr/>
        </p:nvSpPr>
        <p:spPr>
          <a:xfrm>
            <a:off x="228600" y="2514600"/>
            <a:ext cx="4340456" cy="1219200"/>
          </a:xfrm>
          <a:prstGeom prst="rect">
            <a:avLst/>
          </a:prstGeom>
        </p:spPr>
        <p:txBody>
          <a:bodyPr>
            <a:normAutofit/>
          </a:bodyPr>
          <a:lstStyle>
            <a:lvl1pPr marL="342900" indent="-342900" algn="l" defTabSz="457200" rtl="0" eaLnBrk="1" latinLnBrk="0" hangingPunct="1">
              <a:spcBef>
                <a:spcPct val="20000"/>
              </a:spcBef>
              <a:buFont typeface="Arial"/>
              <a:buChar char="•"/>
              <a:defRPr sz="2800" kern="1200">
                <a:solidFill>
                  <a:schemeClr val="accent1">
                    <a:lumMod val="50000"/>
                  </a:schemeClr>
                </a:solidFill>
                <a:latin typeface="Arial"/>
                <a:ea typeface="+mn-ea"/>
                <a:cs typeface="+mn-cs"/>
              </a:defRPr>
            </a:lvl1pPr>
            <a:lvl2pPr marL="742950" indent="-285750" algn="l" defTabSz="457200" rtl="0" eaLnBrk="1" latinLnBrk="0" hangingPunct="1">
              <a:spcBef>
                <a:spcPct val="20000"/>
              </a:spcBef>
              <a:buFont typeface="Arial"/>
              <a:buChar char="–"/>
              <a:defRPr sz="2800" kern="1200">
                <a:solidFill>
                  <a:schemeClr val="accent1">
                    <a:lumMod val="50000"/>
                  </a:schemeClr>
                </a:solidFill>
                <a:latin typeface="Arial"/>
                <a:ea typeface="+mn-ea"/>
                <a:cs typeface="+mn-cs"/>
              </a:defRPr>
            </a:lvl2pPr>
            <a:lvl3pPr marL="1143000" indent="-228600" algn="l" defTabSz="457200" rtl="0" eaLnBrk="1" latinLnBrk="0" hangingPunct="1">
              <a:spcBef>
                <a:spcPct val="20000"/>
              </a:spcBef>
              <a:buFont typeface="Arial"/>
              <a:buChar char="•"/>
              <a:defRPr sz="2400" kern="1200">
                <a:solidFill>
                  <a:schemeClr val="accent1">
                    <a:lumMod val="50000"/>
                  </a:schemeClr>
                </a:solidFill>
                <a:latin typeface="Arial"/>
                <a:ea typeface="+mn-ea"/>
                <a:cs typeface="+mn-cs"/>
              </a:defRPr>
            </a:lvl3pPr>
            <a:lvl4pPr marL="1600200" indent="-228600" algn="l" defTabSz="457200" rtl="0" eaLnBrk="1" latinLnBrk="0" hangingPunct="1">
              <a:spcBef>
                <a:spcPct val="20000"/>
              </a:spcBef>
              <a:buFont typeface="Arial"/>
              <a:buChar char="–"/>
              <a:defRPr sz="2000" kern="1200">
                <a:solidFill>
                  <a:schemeClr val="accent1">
                    <a:lumMod val="50000"/>
                  </a:schemeClr>
                </a:solidFill>
                <a:latin typeface="Arial"/>
                <a:ea typeface="+mn-ea"/>
                <a:cs typeface="+mn-cs"/>
              </a:defRPr>
            </a:lvl4pPr>
            <a:lvl5pPr marL="2057400" indent="-228600" algn="l" defTabSz="457200" rtl="0" eaLnBrk="1" latinLnBrk="0" hangingPunct="1">
              <a:spcBef>
                <a:spcPct val="20000"/>
              </a:spcBef>
              <a:buFont typeface="Arial"/>
              <a:buChar char="»"/>
              <a:defRPr sz="2000" kern="1200">
                <a:solidFill>
                  <a:schemeClr val="accent1">
                    <a:lumMod val="50000"/>
                  </a:schemeClr>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just">
              <a:buNone/>
            </a:pPr>
            <a:r>
              <a:rPr lang="en-US" sz="1200" b="1" dirty="0">
                <a:solidFill>
                  <a:schemeClr val="tx1"/>
                </a:solidFill>
              </a:rPr>
              <a:t>Probability</a:t>
            </a:r>
            <a:r>
              <a:rPr lang="en-US" sz="1200" dirty="0">
                <a:solidFill>
                  <a:schemeClr val="tx1"/>
                </a:solidFill>
              </a:rPr>
              <a:t>: degree of belief</a:t>
            </a:r>
          </a:p>
          <a:p>
            <a:pPr marL="0" indent="0" algn="just">
              <a:buNone/>
            </a:pPr>
            <a:r>
              <a:rPr lang="en-US" sz="1200" b="1" dirty="0">
                <a:solidFill>
                  <a:schemeClr val="tx1"/>
                </a:solidFill>
              </a:rPr>
              <a:t>Prior knowledge</a:t>
            </a:r>
            <a:r>
              <a:rPr lang="en-US" sz="1200" dirty="0">
                <a:solidFill>
                  <a:schemeClr val="tx1"/>
                </a:solidFill>
              </a:rPr>
              <a:t>: allowed in inference</a:t>
            </a:r>
          </a:p>
          <a:p>
            <a:pPr marL="0" indent="0" algn="just">
              <a:buNone/>
            </a:pPr>
            <a:r>
              <a:rPr lang="en-US" sz="1200" b="1" dirty="0">
                <a:solidFill>
                  <a:schemeClr val="tx1"/>
                </a:solidFill>
              </a:rPr>
              <a:t>Popular in</a:t>
            </a:r>
            <a:r>
              <a:rPr lang="en-US" sz="1200" dirty="0">
                <a:solidFill>
                  <a:schemeClr val="tx1"/>
                </a:solidFill>
              </a:rPr>
              <a:t>: Astronomy, Physics, Economics, Geoscience</a:t>
            </a:r>
          </a:p>
          <a:p>
            <a:pPr marL="0" indent="0" algn="just">
              <a:buNone/>
            </a:pPr>
            <a:r>
              <a:rPr lang="en-US" sz="1200" b="1" dirty="0">
                <a:solidFill>
                  <a:schemeClr val="tx1"/>
                </a:solidFill>
              </a:rPr>
              <a:t>Data</a:t>
            </a:r>
            <a:r>
              <a:rPr lang="en-US" sz="1200" dirty="0">
                <a:solidFill>
                  <a:schemeClr val="tx1"/>
                </a:solidFill>
              </a:rPr>
              <a:t>: scarce</a:t>
            </a:r>
          </a:p>
          <a:p>
            <a:pPr marL="0" indent="0" algn="just">
              <a:buNone/>
            </a:pPr>
            <a:endParaRPr lang="en-US" sz="1200" dirty="0">
              <a:solidFill>
                <a:schemeClr val="tx1"/>
              </a:solidFill>
            </a:endParaRPr>
          </a:p>
          <a:p>
            <a:pPr marL="0" indent="0" algn="just">
              <a:buNone/>
            </a:pPr>
            <a:endParaRPr lang="en-US" sz="1200" dirty="0">
              <a:solidFill>
                <a:schemeClr val="tx1"/>
              </a:solidFill>
            </a:endParaRPr>
          </a:p>
        </p:txBody>
      </p:sp>
      <p:sp>
        <p:nvSpPr>
          <p:cNvPr id="38" name="Content Placeholder 3">
            <a:extLst>
              <a:ext uri="{FF2B5EF4-FFF2-40B4-BE49-F238E27FC236}">
                <a16:creationId xmlns:a16="http://schemas.microsoft.com/office/drawing/2014/main" id="{A73ECA68-EE33-4A21-B078-1214D80DB113}"/>
              </a:ext>
            </a:extLst>
          </p:cNvPr>
          <p:cNvSpPr txBox="1">
            <a:spLocks/>
          </p:cNvSpPr>
          <p:nvPr/>
        </p:nvSpPr>
        <p:spPr>
          <a:xfrm>
            <a:off x="228600" y="5638800"/>
            <a:ext cx="4038600" cy="996342"/>
          </a:xfrm>
          <a:prstGeom prst="rect">
            <a:avLst/>
          </a:prstGeom>
        </p:spPr>
        <p:txBody>
          <a:bodyPr>
            <a:normAutofit/>
          </a:bodyPr>
          <a:lstStyle>
            <a:lvl1pPr marL="342900" indent="-342900" algn="l" defTabSz="457200" rtl="0" eaLnBrk="1" latinLnBrk="0" hangingPunct="1">
              <a:spcBef>
                <a:spcPct val="20000"/>
              </a:spcBef>
              <a:buFont typeface="Arial"/>
              <a:buChar char="•"/>
              <a:defRPr sz="2800" kern="1200">
                <a:solidFill>
                  <a:schemeClr val="accent1">
                    <a:lumMod val="50000"/>
                  </a:schemeClr>
                </a:solidFill>
                <a:latin typeface="Arial"/>
                <a:ea typeface="+mn-ea"/>
                <a:cs typeface="+mn-cs"/>
              </a:defRPr>
            </a:lvl1pPr>
            <a:lvl2pPr marL="742950" indent="-285750" algn="l" defTabSz="457200" rtl="0" eaLnBrk="1" latinLnBrk="0" hangingPunct="1">
              <a:spcBef>
                <a:spcPct val="20000"/>
              </a:spcBef>
              <a:buFont typeface="Arial"/>
              <a:buChar char="–"/>
              <a:defRPr sz="2800" kern="1200">
                <a:solidFill>
                  <a:schemeClr val="accent1">
                    <a:lumMod val="50000"/>
                  </a:schemeClr>
                </a:solidFill>
                <a:latin typeface="Arial"/>
                <a:ea typeface="+mn-ea"/>
                <a:cs typeface="+mn-cs"/>
              </a:defRPr>
            </a:lvl2pPr>
            <a:lvl3pPr marL="1143000" indent="-228600" algn="l" defTabSz="457200" rtl="0" eaLnBrk="1" latinLnBrk="0" hangingPunct="1">
              <a:spcBef>
                <a:spcPct val="20000"/>
              </a:spcBef>
              <a:buFont typeface="Arial"/>
              <a:buChar char="•"/>
              <a:defRPr sz="2400" kern="1200">
                <a:solidFill>
                  <a:schemeClr val="accent1">
                    <a:lumMod val="50000"/>
                  </a:schemeClr>
                </a:solidFill>
                <a:latin typeface="Arial"/>
                <a:ea typeface="+mn-ea"/>
                <a:cs typeface="+mn-cs"/>
              </a:defRPr>
            </a:lvl3pPr>
            <a:lvl4pPr marL="1600200" indent="-228600" algn="l" defTabSz="457200" rtl="0" eaLnBrk="1" latinLnBrk="0" hangingPunct="1">
              <a:spcBef>
                <a:spcPct val="20000"/>
              </a:spcBef>
              <a:buFont typeface="Arial"/>
              <a:buChar char="–"/>
              <a:defRPr sz="2000" kern="1200">
                <a:solidFill>
                  <a:schemeClr val="accent1">
                    <a:lumMod val="50000"/>
                  </a:schemeClr>
                </a:solidFill>
                <a:latin typeface="Arial"/>
                <a:ea typeface="+mn-ea"/>
                <a:cs typeface="+mn-cs"/>
              </a:defRPr>
            </a:lvl4pPr>
            <a:lvl5pPr marL="2057400" indent="-228600" algn="l" defTabSz="457200" rtl="0" eaLnBrk="1" latinLnBrk="0" hangingPunct="1">
              <a:spcBef>
                <a:spcPct val="20000"/>
              </a:spcBef>
              <a:buFont typeface="Arial"/>
              <a:buChar char="»"/>
              <a:defRPr sz="2000" kern="1200">
                <a:solidFill>
                  <a:schemeClr val="accent1">
                    <a:lumMod val="50000"/>
                  </a:schemeClr>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just">
              <a:buNone/>
            </a:pPr>
            <a:r>
              <a:rPr lang="en-US" sz="1200" b="1" dirty="0">
                <a:solidFill>
                  <a:schemeClr val="tx1"/>
                </a:solidFill>
              </a:rPr>
              <a:t>Probability</a:t>
            </a:r>
            <a:r>
              <a:rPr lang="en-US" sz="1200" dirty="0">
                <a:solidFill>
                  <a:schemeClr val="tx1"/>
                </a:solidFill>
              </a:rPr>
              <a:t>: relative frequency of occurrence</a:t>
            </a:r>
          </a:p>
          <a:p>
            <a:pPr marL="0" indent="0" algn="just">
              <a:buNone/>
            </a:pPr>
            <a:r>
              <a:rPr lang="en-US" sz="1200" b="1" dirty="0">
                <a:solidFill>
                  <a:schemeClr val="tx1"/>
                </a:solidFill>
              </a:rPr>
              <a:t>Prior knowledge</a:t>
            </a:r>
            <a:r>
              <a:rPr lang="en-US" sz="1200" dirty="0">
                <a:solidFill>
                  <a:schemeClr val="tx1"/>
                </a:solidFill>
              </a:rPr>
              <a:t>: NOT allowed in inference</a:t>
            </a:r>
          </a:p>
          <a:p>
            <a:pPr marL="0" indent="0" algn="just">
              <a:buNone/>
            </a:pPr>
            <a:r>
              <a:rPr lang="en-US" sz="1200" b="1" dirty="0">
                <a:solidFill>
                  <a:schemeClr val="tx1"/>
                </a:solidFill>
              </a:rPr>
              <a:t>Popular in</a:t>
            </a:r>
            <a:r>
              <a:rPr lang="en-US" sz="1200" dirty="0">
                <a:solidFill>
                  <a:schemeClr val="tx1"/>
                </a:solidFill>
              </a:rPr>
              <a:t>: Biology, Statistics, Philosophy</a:t>
            </a:r>
          </a:p>
          <a:p>
            <a:pPr marL="0" indent="0" algn="just">
              <a:buNone/>
            </a:pPr>
            <a:r>
              <a:rPr lang="en-US" sz="1200" b="1" dirty="0">
                <a:solidFill>
                  <a:schemeClr val="tx1"/>
                </a:solidFill>
              </a:rPr>
              <a:t>Data</a:t>
            </a:r>
            <a:r>
              <a:rPr lang="en-US" sz="1200" dirty="0">
                <a:solidFill>
                  <a:schemeClr val="tx1"/>
                </a:solidFill>
              </a:rPr>
              <a:t>: abundant</a:t>
            </a:r>
          </a:p>
        </p:txBody>
      </p:sp>
      <p:grpSp>
        <p:nvGrpSpPr>
          <p:cNvPr id="44" name="Group 43">
            <a:extLst>
              <a:ext uri="{FF2B5EF4-FFF2-40B4-BE49-F238E27FC236}">
                <a16:creationId xmlns:a16="http://schemas.microsoft.com/office/drawing/2014/main" id="{107CABB6-9248-4C23-97C6-F3A7C8E3C2AE}"/>
              </a:ext>
            </a:extLst>
          </p:cNvPr>
          <p:cNvGrpSpPr/>
          <p:nvPr/>
        </p:nvGrpSpPr>
        <p:grpSpPr>
          <a:xfrm>
            <a:off x="7086600" y="990601"/>
            <a:ext cx="1981200" cy="494030"/>
            <a:chOff x="7142902" y="990601"/>
            <a:chExt cx="1981200" cy="494030"/>
          </a:xfrm>
        </p:grpSpPr>
        <p:cxnSp>
          <p:nvCxnSpPr>
            <p:cNvPr id="40" name="Straight Connector 39">
              <a:extLst>
                <a:ext uri="{FF2B5EF4-FFF2-40B4-BE49-F238E27FC236}">
                  <a16:creationId xmlns:a16="http://schemas.microsoft.com/office/drawing/2014/main" id="{C9420537-B3BF-4953-9FA6-969D7017F066}"/>
                </a:ext>
              </a:extLst>
            </p:cNvPr>
            <p:cNvCxnSpPr>
              <a:cxnSpLocks/>
            </p:cNvCxnSpPr>
            <p:nvPr/>
          </p:nvCxnSpPr>
          <p:spPr>
            <a:xfrm>
              <a:off x="7142902" y="990601"/>
              <a:ext cx="0" cy="411903"/>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
          <p:nvSpPr>
            <p:cNvPr id="43" name="Title 4 2 1 1 1">
              <a:extLst>
                <a:ext uri="{FF2B5EF4-FFF2-40B4-BE49-F238E27FC236}">
                  <a16:creationId xmlns:a16="http://schemas.microsoft.com/office/drawing/2014/main" id="{36386167-C524-4A03-B3B6-8A38CA683C88}"/>
                </a:ext>
              </a:extLst>
            </p:cNvPr>
            <p:cNvSpPr txBox="1">
              <a:spLocks/>
            </p:cNvSpPr>
            <p:nvPr/>
          </p:nvSpPr>
          <p:spPr>
            <a:xfrm>
              <a:off x="7142902" y="1148927"/>
              <a:ext cx="1981200" cy="335704"/>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fontAlgn="auto">
                <a:spcAft>
                  <a:spcPts val="0"/>
                </a:spcAft>
              </a:pPr>
              <a:r>
                <a:rPr lang="en-US" sz="1300" dirty="0">
                  <a:solidFill>
                    <a:schemeClr val="tx1"/>
                  </a:solidFill>
                </a:rPr>
                <a:t>First digital computer</a:t>
              </a:r>
            </a:p>
          </p:txBody>
        </p:sp>
      </p:grpSp>
    </p:spTree>
    <p:extLst>
      <p:ext uri="{BB962C8B-B14F-4D97-AF65-F5344CB8AC3E}">
        <p14:creationId xmlns:p14="http://schemas.microsoft.com/office/powerpoint/2010/main" val="1690423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childTnLst>
                                </p:cTn>
                              </p:par>
                              <p:par>
                                <p:cTn id="11" presetID="10"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nodeType="withEffect">
                                  <p:stCondLst>
                                    <p:cond delay="0"/>
                                  </p:stCondLst>
                                  <p:childTnLst>
                                    <p:set>
                                      <p:cBhvr>
                                        <p:cTn id="15" dur="1" fill="hold">
                                          <p:stCondLst>
                                            <p:cond delay="0"/>
                                          </p:stCondLst>
                                        </p:cTn>
                                        <p:tgtEl>
                                          <p:spTgt spid="44"/>
                                        </p:tgtEl>
                                        <p:attrNameLst>
                                          <p:attrName>style.visibility</p:attrName>
                                        </p:attrNameLst>
                                      </p:cBhvr>
                                      <p:to>
                                        <p:strVal val="visible"/>
                                      </p:to>
                                    </p:set>
                                    <p:animEffect transition="in" filter="fade">
                                      <p:cBhvr>
                                        <p:cTn id="16" dur="500"/>
                                        <p:tgtEl>
                                          <p:spTgt spid="4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500"/>
                                        <p:tgtEl>
                                          <p:spTgt spid="3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fade">
                                      <p:cBhvr>
                                        <p:cTn id="24" dur="500"/>
                                        <p:tgtEl>
                                          <p:spTgt spid="33"/>
                                        </p:tgtEl>
                                      </p:cBhvr>
                                    </p:animEffect>
                                  </p:childTnLst>
                                </p:cTn>
                              </p:par>
                              <p:par>
                                <p:cTn id="25" presetID="10" presetClass="entr" presetSubtype="0"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500"/>
                                        <p:tgtEl>
                                          <p:spTgt spid="3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00"/>
                                        <p:tgtEl>
                                          <p:spTgt spid="2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6" grpId="0"/>
      <p:bldP spid="3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410759" y="774796"/>
            <a:ext cx="8091322" cy="725846"/>
            <a:chOff x="410759" y="774796"/>
            <a:chExt cx="8091322" cy="725846"/>
          </a:xfrm>
        </p:grpSpPr>
        <p:sp>
          <p:nvSpPr>
            <p:cNvPr id="17" name="Title 4 2 1 1"/>
            <p:cNvSpPr txBox="1">
              <a:spLocks/>
            </p:cNvSpPr>
            <p:nvPr/>
          </p:nvSpPr>
          <p:spPr>
            <a:xfrm>
              <a:off x="410759" y="774796"/>
              <a:ext cx="3429000" cy="725846"/>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500" b="1" dirty="0">
                  <a:solidFill>
                    <a:schemeClr val="tx1"/>
                  </a:solidFill>
                </a:rPr>
                <a:t>Frequentist Inference</a:t>
              </a:r>
            </a:p>
            <a:p>
              <a:pPr algn="ctr" fontAlgn="auto">
                <a:spcAft>
                  <a:spcPts val="0"/>
                </a:spcAft>
              </a:pPr>
              <a:endParaRPr lang="en-US" sz="500" b="1" dirty="0">
                <a:solidFill>
                  <a:schemeClr val="tx1"/>
                </a:solidFill>
              </a:endParaRPr>
            </a:p>
            <a:p>
              <a:pPr algn="ctr" fontAlgn="auto">
                <a:spcAft>
                  <a:spcPts val="0"/>
                </a:spcAft>
              </a:pPr>
              <a:r>
                <a:rPr lang="en-US" sz="1500" dirty="0">
                  <a:solidFill>
                    <a:schemeClr val="tx1"/>
                  </a:solidFill>
                </a:rPr>
                <a:t>Neyman–Pearson–Wald theory</a:t>
              </a:r>
            </a:p>
          </p:txBody>
        </p:sp>
        <p:sp>
          <p:nvSpPr>
            <p:cNvPr id="29" name="Title 4 2 1 1"/>
            <p:cNvSpPr txBox="1">
              <a:spLocks/>
            </p:cNvSpPr>
            <p:nvPr/>
          </p:nvSpPr>
          <p:spPr>
            <a:xfrm>
              <a:off x="5073081" y="774796"/>
              <a:ext cx="3429000" cy="725846"/>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500" b="1" dirty="0">
                  <a:solidFill>
                    <a:schemeClr val="tx1"/>
                  </a:solidFill>
                </a:rPr>
                <a:t>Bayesian Inference</a:t>
              </a:r>
            </a:p>
            <a:p>
              <a:pPr algn="ctr" fontAlgn="auto">
                <a:spcAft>
                  <a:spcPts val="0"/>
                </a:spcAft>
              </a:pPr>
              <a:endParaRPr lang="en-US" sz="500" b="1" dirty="0">
                <a:solidFill>
                  <a:schemeClr val="tx1"/>
                </a:solidFill>
              </a:endParaRPr>
            </a:p>
            <a:p>
              <a:pPr algn="ctr" fontAlgn="auto">
                <a:spcAft>
                  <a:spcPts val="0"/>
                </a:spcAft>
              </a:pPr>
              <a:r>
                <a:rPr lang="en-US" sz="1500" dirty="0">
                  <a:solidFill>
                    <a:schemeClr val="tx1"/>
                  </a:solidFill>
                </a:rPr>
                <a:t>Bayesian probability theory</a:t>
              </a:r>
            </a:p>
          </p:txBody>
        </p:sp>
      </p:grpSp>
      <p:grpSp>
        <p:nvGrpSpPr>
          <p:cNvPr id="26" name="Group 25"/>
          <p:cNvGrpSpPr/>
          <p:nvPr/>
        </p:nvGrpSpPr>
        <p:grpSpPr>
          <a:xfrm>
            <a:off x="446319" y="1665950"/>
            <a:ext cx="8239001" cy="3482856"/>
            <a:chOff x="490349" y="1758666"/>
            <a:chExt cx="8239001" cy="3482856"/>
          </a:xfrm>
        </p:grpSpPr>
        <p:grpSp>
          <p:nvGrpSpPr>
            <p:cNvPr id="13" name="Group 12"/>
            <p:cNvGrpSpPr/>
            <p:nvPr/>
          </p:nvGrpSpPr>
          <p:grpSpPr>
            <a:xfrm>
              <a:off x="4831449" y="1758668"/>
              <a:ext cx="3897901" cy="3431708"/>
              <a:chOff x="5019551" y="1758668"/>
              <a:chExt cx="3897901" cy="3431708"/>
            </a:xfrm>
          </p:grpSpPr>
          <p:grpSp>
            <p:nvGrpSpPr>
              <p:cNvPr id="11" name="Group 10"/>
              <p:cNvGrpSpPr/>
              <p:nvPr/>
            </p:nvGrpSpPr>
            <p:grpSpPr>
              <a:xfrm>
                <a:off x="6959326" y="3525242"/>
                <a:ext cx="1958126" cy="1665133"/>
                <a:chOff x="6786258" y="4988829"/>
                <a:chExt cx="1958126" cy="1665133"/>
              </a:xfrm>
            </p:grpSpPr>
            <p:pic>
              <p:nvPicPr>
                <p:cNvPr id="44" name="Picture 4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69735" y="4988829"/>
                  <a:ext cx="791172" cy="991382"/>
                </a:xfrm>
                <a:prstGeom prst="rect">
                  <a:avLst/>
                </a:prstGeom>
              </p:spPr>
            </p:pic>
            <p:sp>
              <p:nvSpPr>
                <p:cNvPr id="50" name="Title 4 2 1 1"/>
                <p:cNvSpPr txBox="1">
                  <a:spLocks/>
                </p:cNvSpPr>
                <p:nvPr/>
              </p:nvSpPr>
              <p:spPr>
                <a:xfrm>
                  <a:off x="6786258" y="6092543"/>
                  <a:ext cx="1958126" cy="561419"/>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100" b="1" dirty="0">
                      <a:solidFill>
                        <a:schemeClr val="tx1"/>
                      </a:solidFill>
                    </a:rPr>
                    <a:t>Edwin Jaynes</a:t>
                  </a:r>
                </a:p>
                <a:p>
                  <a:pPr algn="ctr" fontAlgn="auto">
                    <a:spcAft>
                      <a:spcPts val="0"/>
                    </a:spcAft>
                  </a:pPr>
                  <a:r>
                    <a:rPr lang="en-US" sz="1100" dirty="0">
                      <a:solidFill>
                        <a:schemeClr val="tx1"/>
                      </a:solidFill>
                    </a:rPr>
                    <a:t>(1922 – 1998)</a:t>
                  </a:r>
                </a:p>
                <a:p>
                  <a:pPr algn="ctr" fontAlgn="auto">
                    <a:spcAft>
                      <a:spcPts val="0"/>
                    </a:spcAft>
                  </a:pPr>
                  <a:r>
                    <a:rPr lang="en-US" sz="1100" dirty="0">
                      <a:solidFill>
                        <a:schemeClr val="tx1"/>
                      </a:solidFill>
                    </a:rPr>
                    <a:t>Physicist</a:t>
                  </a:r>
                </a:p>
              </p:txBody>
            </p:sp>
          </p:grpSp>
          <p:grpSp>
            <p:nvGrpSpPr>
              <p:cNvPr id="9" name="Group 8"/>
              <p:cNvGrpSpPr/>
              <p:nvPr/>
            </p:nvGrpSpPr>
            <p:grpSpPr>
              <a:xfrm>
                <a:off x="5019551" y="1758668"/>
                <a:ext cx="1949054" cy="1502301"/>
                <a:chOff x="6795330" y="1763223"/>
                <a:chExt cx="1949054" cy="1502301"/>
              </a:xfrm>
            </p:grpSpPr>
            <p:pic>
              <p:nvPicPr>
                <p:cNvPr id="34" name="Picture 3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91047" y="1763223"/>
                  <a:ext cx="757620" cy="925732"/>
                </a:xfrm>
                <a:prstGeom prst="rect">
                  <a:avLst/>
                </a:prstGeom>
              </p:spPr>
            </p:pic>
            <p:sp>
              <p:nvSpPr>
                <p:cNvPr id="51" name="Title 4 2 1 1"/>
                <p:cNvSpPr txBox="1">
                  <a:spLocks/>
                </p:cNvSpPr>
                <p:nvPr/>
              </p:nvSpPr>
              <p:spPr>
                <a:xfrm>
                  <a:off x="6795330" y="2789192"/>
                  <a:ext cx="1949054" cy="476332"/>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100" b="1" dirty="0">
                      <a:solidFill>
                        <a:schemeClr val="tx1"/>
                      </a:solidFill>
                    </a:rPr>
                    <a:t>Pierre Laplace</a:t>
                  </a:r>
                </a:p>
                <a:p>
                  <a:pPr algn="ctr" fontAlgn="auto">
                    <a:spcAft>
                      <a:spcPts val="0"/>
                    </a:spcAft>
                  </a:pPr>
                  <a:r>
                    <a:rPr lang="en-US" sz="1100" dirty="0">
                      <a:solidFill>
                        <a:schemeClr val="tx1"/>
                      </a:solidFill>
                    </a:rPr>
                    <a:t>(1749 – 1827)</a:t>
                  </a:r>
                </a:p>
                <a:p>
                  <a:pPr algn="ctr" fontAlgn="auto">
                    <a:spcAft>
                      <a:spcPts val="0"/>
                    </a:spcAft>
                  </a:pPr>
                  <a:r>
                    <a:rPr lang="en-US" sz="1100" dirty="0">
                      <a:solidFill>
                        <a:schemeClr val="tx1"/>
                      </a:solidFill>
                    </a:rPr>
                    <a:t>Astronomer / Mathematician</a:t>
                  </a:r>
                </a:p>
              </p:txBody>
            </p:sp>
          </p:grpSp>
          <p:grpSp>
            <p:nvGrpSpPr>
              <p:cNvPr id="10" name="Group 9"/>
              <p:cNvGrpSpPr/>
              <p:nvPr/>
            </p:nvGrpSpPr>
            <p:grpSpPr>
              <a:xfrm>
                <a:off x="6993710" y="1758668"/>
                <a:ext cx="1889358" cy="1544733"/>
                <a:chOff x="6841953" y="3392851"/>
                <a:chExt cx="1889358" cy="1544733"/>
              </a:xfrm>
            </p:grpSpPr>
            <p:pic>
              <p:nvPicPr>
                <p:cNvPr id="33" name="Picture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91046" y="3392851"/>
                  <a:ext cx="791172" cy="931222"/>
                </a:xfrm>
                <a:prstGeom prst="rect">
                  <a:avLst/>
                </a:prstGeom>
              </p:spPr>
            </p:pic>
            <p:sp>
              <p:nvSpPr>
                <p:cNvPr id="55" name="Title 4 2 1 1"/>
                <p:cNvSpPr txBox="1">
                  <a:spLocks/>
                </p:cNvSpPr>
                <p:nvPr/>
              </p:nvSpPr>
              <p:spPr>
                <a:xfrm>
                  <a:off x="6841953" y="4376165"/>
                  <a:ext cx="1889358" cy="561419"/>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100" b="1" dirty="0">
                      <a:solidFill>
                        <a:schemeClr val="tx1"/>
                      </a:solidFill>
                    </a:rPr>
                    <a:t>Harold </a:t>
                  </a:r>
                  <a:r>
                    <a:rPr lang="en-US" sz="1100" b="1" dirty="0" err="1">
                      <a:solidFill>
                        <a:schemeClr val="tx1"/>
                      </a:solidFill>
                    </a:rPr>
                    <a:t>Jeffreys</a:t>
                  </a:r>
                  <a:endParaRPr lang="en-US" sz="1100" b="1" dirty="0">
                    <a:solidFill>
                      <a:schemeClr val="tx1"/>
                    </a:solidFill>
                  </a:endParaRPr>
                </a:p>
                <a:p>
                  <a:pPr algn="ctr" fontAlgn="auto">
                    <a:spcAft>
                      <a:spcPts val="0"/>
                    </a:spcAft>
                  </a:pPr>
                  <a:r>
                    <a:rPr lang="en-US" sz="1100" dirty="0">
                      <a:solidFill>
                        <a:schemeClr val="tx1"/>
                      </a:solidFill>
                    </a:rPr>
                    <a:t>(1891 – 1989)</a:t>
                  </a:r>
                </a:p>
                <a:p>
                  <a:pPr algn="ctr" fontAlgn="auto">
                    <a:spcAft>
                      <a:spcPts val="0"/>
                    </a:spcAft>
                  </a:pPr>
                  <a:r>
                    <a:rPr lang="en-US" sz="1100" dirty="0">
                      <a:solidFill>
                        <a:schemeClr val="tx1"/>
                      </a:solidFill>
                    </a:rPr>
                    <a:t>Astronomer / Geophysicist</a:t>
                  </a:r>
                </a:p>
              </p:txBody>
            </p:sp>
          </p:grpSp>
          <p:grpSp>
            <p:nvGrpSpPr>
              <p:cNvPr id="12" name="Group 11"/>
              <p:cNvGrpSpPr/>
              <p:nvPr/>
            </p:nvGrpSpPr>
            <p:grpSpPr>
              <a:xfrm>
                <a:off x="5243649" y="3528421"/>
                <a:ext cx="1444417" cy="1661955"/>
                <a:chOff x="5400112" y="4984348"/>
                <a:chExt cx="1444417" cy="1661955"/>
              </a:xfrm>
            </p:grpSpPr>
            <p:sp>
              <p:nvSpPr>
                <p:cNvPr id="57" name="Title 4 2 1 1"/>
                <p:cNvSpPr txBox="1">
                  <a:spLocks/>
                </p:cNvSpPr>
                <p:nvPr/>
              </p:nvSpPr>
              <p:spPr>
                <a:xfrm>
                  <a:off x="5400112" y="6084884"/>
                  <a:ext cx="1444417" cy="561419"/>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100" b="1" dirty="0">
                      <a:solidFill>
                        <a:schemeClr val="tx1"/>
                      </a:solidFill>
                    </a:rPr>
                    <a:t>Richard Cox</a:t>
                  </a:r>
                </a:p>
                <a:p>
                  <a:pPr algn="ctr" fontAlgn="auto">
                    <a:spcAft>
                      <a:spcPts val="0"/>
                    </a:spcAft>
                  </a:pPr>
                  <a:r>
                    <a:rPr lang="en-US" sz="1100" dirty="0">
                      <a:solidFill>
                        <a:schemeClr val="tx1"/>
                      </a:solidFill>
                    </a:rPr>
                    <a:t>(1898 – 1991)</a:t>
                  </a:r>
                </a:p>
                <a:p>
                  <a:pPr algn="ctr" fontAlgn="auto">
                    <a:spcAft>
                      <a:spcPts val="0"/>
                    </a:spcAft>
                  </a:pPr>
                  <a:r>
                    <a:rPr lang="en-US" sz="1100" dirty="0">
                      <a:solidFill>
                        <a:schemeClr val="tx1"/>
                      </a:solidFill>
                    </a:rPr>
                    <a:t>Physicist</a:t>
                  </a:r>
                </a:p>
              </p:txBody>
            </p:sp>
            <p:pic>
              <p:nvPicPr>
                <p:cNvPr id="59" name="Picture 5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71731" y="4984348"/>
                  <a:ext cx="757620" cy="988203"/>
                </a:xfrm>
                <a:prstGeom prst="rect">
                  <a:avLst/>
                </a:prstGeom>
              </p:spPr>
            </p:pic>
          </p:grpSp>
        </p:grpSp>
        <p:grpSp>
          <p:nvGrpSpPr>
            <p:cNvPr id="20" name="Group 19"/>
            <p:cNvGrpSpPr/>
            <p:nvPr/>
          </p:nvGrpSpPr>
          <p:grpSpPr>
            <a:xfrm>
              <a:off x="490349" y="1758666"/>
              <a:ext cx="3322361" cy="3482856"/>
              <a:chOff x="382224" y="1758666"/>
              <a:chExt cx="3322361" cy="3482856"/>
            </a:xfrm>
          </p:grpSpPr>
          <p:grpSp>
            <p:nvGrpSpPr>
              <p:cNvPr id="15" name="Group 14"/>
              <p:cNvGrpSpPr/>
              <p:nvPr/>
            </p:nvGrpSpPr>
            <p:grpSpPr>
              <a:xfrm>
                <a:off x="1918944" y="1758666"/>
                <a:ext cx="1785641" cy="1551856"/>
                <a:chOff x="352386" y="1771602"/>
                <a:chExt cx="1785641" cy="1562833"/>
              </a:xfrm>
            </p:grpSpPr>
            <p:sp>
              <p:nvSpPr>
                <p:cNvPr id="21" name="Title 4 2 1 1"/>
                <p:cNvSpPr txBox="1">
                  <a:spLocks/>
                </p:cNvSpPr>
                <p:nvPr/>
              </p:nvSpPr>
              <p:spPr>
                <a:xfrm>
                  <a:off x="352386" y="2779017"/>
                  <a:ext cx="1785641" cy="555418"/>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100" b="1" dirty="0">
                      <a:solidFill>
                        <a:schemeClr val="tx1"/>
                      </a:solidFill>
                    </a:rPr>
                    <a:t>Jerzy Neyman</a:t>
                  </a:r>
                </a:p>
                <a:p>
                  <a:pPr algn="ctr" fontAlgn="auto">
                    <a:spcAft>
                      <a:spcPts val="0"/>
                    </a:spcAft>
                  </a:pPr>
                  <a:r>
                    <a:rPr lang="en-US" sz="1100" dirty="0">
                      <a:solidFill>
                        <a:schemeClr val="tx1"/>
                      </a:solidFill>
                    </a:rPr>
                    <a:t>(1894 – 1981)</a:t>
                  </a:r>
                </a:p>
                <a:p>
                  <a:pPr algn="ctr" fontAlgn="auto">
                    <a:spcAft>
                      <a:spcPts val="0"/>
                    </a:spcAft>
                  </a:pPr>
                  <a:r>
                    <a:rPr lang="en-US" sz="1100" dirty="0">
                      <a:solidFill>
                        <a:schemeClr val="tx1"/>
                      </a:solidFill>
                    </a:rPr>
                    <a:t>Statistician / Astronomer</a:t>
                  </a:r>
                </a:p>
              </p:txBody>
            </p:sp>
            <p:pic>
              <p:nvPicPr>
                <p:cNvPr id="19" name="Picture 1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54554" y="1771602"/>
                  <a:ext cx="781307" cy="932280"/>
                </a:xfrm>
                <a:prstGeom prst="rect">
                  <a:avLst/>
                </a:prstGeom>
              </p:spPr>
            </p:pic>
          </p:grpSp>
          <p:grpSp>
            <p:nvGrpSpPr>
              <p:cNvPr id="16" name="Group 15"/>
              <p:cNvGrpSpPr/>
              <p:nvPr/>
            </p:nvGrpSpPr>
            <p:grpSpPr>
              <a:xfrm>
                <a:off x="438209" y="3525242"/>
                <a:ext cx="1414529" cy="1716280"/>
                <a:chOff x="438209" y="3525242"/>
                <a:chExt cx="1414529" cy="1716280"/>
              </a:xfrm>
            </p:grpSpPr>
            <p:pic>
              <p:nvPicPr>
                <p:cNvPr id="23" name="Picture 2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15553" y="3525242"/>
                  <a:ext cx="736854" cy="991382"/>
                </a:xfrm>
                <a:prstGeom prst="rect">
                  <a:avLst/>
                </a:prstGeom>
              </p:spPr>
            </p:pic>
            <p:sp>
              <p:nvSpPr>
                <p:cNvPr id="27" name="Title 4 2 1 1"/>
                <p:cNvSpPr txBox="1">
                  <a:spLocks/>
                </p:cNvSpPr>
                <p:nvPr/>
              </p:nvSpPr>
              <p:spPr>
                <a:xfrm>
                  <a:off x="438209" y="4583678"/>
                  <a:ext cx="1414529" cy="657844"/>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100" b="1" dirty="0">
                      <a:solidFill>
                        <a:schemeClr val="tx1"/>
                      </a:solidFill>
                    </a:rPr>
                    <a:t>Egon Pearson</a:t>
                  </a:r>
                </a:p>
                <a:p>
                  <a:pPr algn="ctr" fontAlgn="auto">
                    <a:spcAft>
                      <a:spcPts val="0"/>
                    </a:spcAft>
                  </a:pPr>
                  <a:r>
                    <a:rPr lang="en-US" sz="1100" dirty="0">
                      <a:solidFill>
                        <a:schemeClr val="tx1"/>
                      </a:solidFill>
                    </a:rPr>
                    <a:t>(1895 – 1980)</a:t>
                  </a:r>
                </a:p>
                <a:p>
                  <a:pPr algn="ctr" fontAlgn="auto">
                    <a:spcAft>
                      <a:spcPts val="0"/>
                    </a:spcAft>
                  </a:pPr>
                  <a:r>
                    <a:rPr lang="en-US" sz="1100" dirty="0">
                      <a:solidFill>
                        <a:schemeClr val="tx1"/>
                      </a:solidFill>
                    </a:rPr>
                    <a:t>Statistician</a:t>
                  </a:r>
                </a:p>
              </p:txBody>
            </p:sp>
          </p:grpSp>
          <p:grpSp>
            <p:nvGrpSpPr>
              <p:cNvPr id="18" name="Group 17"/>
              <p:cNvGrpSpPr/>
              <p:nvPr/>
            </p:nvGrpSpPr>
            <p:grpSpPr>
              <a:xfrm>
                <a:off x="2104499" y="3525243"/>
                <a:ext cx="1414530" cy="1708726"/>
                <a:chOff x="2104499" y="3525243"/>
                <a:chExt cx="1414530" cy="1708726"/>
              </a:xfrm>
            </p:grpSpPr>
            <p:pic>
              <p:nvPicPr>
                <p:cNvPr id="24" name="Picture 23"/>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421111" y="3525243"/>
                  <a:ext cx="781308" cy="991382"/>
                </a:xfrm>
                <a:prstGeom prst="rect">
                  <a:avLst/>
                </a:prstGeom>
              </p:spPr>
            </p:pic>
            <p:sp>
              <p:nvSpPr>
                <p:cNvPr id="28" name="Title 4 2 1 1"/>
                <p:cNvSpPr txBox="1">
                  <a:spLocks/>
                </p:cNvSpPr>
                <p:nvPr/>
              </p:nvSpPr>
              <p:spPr>
                <a:xfrm>
                  <a:off x="2104499" y="4591230"/>
                  <a:ext cx="1414530" cy="642739"/>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100" b="1" dirty="0">
                      <a:solidFill>
                        <a:schemeClr val="tx1"/>
                      </a:solidFill>
                    </a:rPr>
                    <a:t>Abraham Wald</a:t>
                  </a:r>
                </a:p>
                <a:p>
                  <a:pPr algn="ctr" fontAlgn="auto">
                    <a:spcAft>
                      <a:spcPts val="0"/>
                    </a:spcAft>
                  </a:pPr>
                  <a:r>
                    <a:rPr lang="en-US" sz="1100" dirty="0">
                      <a:solidFill>
                        <a:schemeClr val="tx1"/>
                      </a:solidFill>
                    </a:rPr>
                    <a:t>(1902 – 1950)</a:t>
                  </a:r>
                </a:p>
                <a:p>
                  <a:pPr algn="ctr" fontAlgn="auto">
                    <a:spcAft>
                      <a:spcPts val="0"/>
                    </a:spcAft>
                  </a:pPr>
                  <a:r>
                    <a:rPr lang="en-US" sz="1100" dirty="0">
                      <a:solidFill>
                        <a:schemeClr val="tx1"/>
                      </a:solidFill>
                    </a:rPr>
                    <a:t>Statistician</a:t>
                  </a:r>
                </a:p>
              </p:txBody>
            </p:sp>
          </p:grpSp>
          <p:grpSp>
            <p:nvGrpSpPr>
              <p:cNvPr id="14" name="Group 13"/>
              <p:cNvGrpSpPr/>
              <p:nvPr/>
            </p:nvGrpSpPr>
            <p:grpSpPr>
              <a:xfrm>
                <a:off x="382224" y="1758668"/>
                <a:ext cx="1524168" cy="1575709"/>
                <a:chOff x="2049769" y="1758668"/>
                <a:chExt cx="1524168" cy="1575709"/>
              </a:xfrm>
            </p:grpSpPr>
            <p:pic>
              <p:nvPicPr>
                <p:cNvPr id="60" name="Picture 5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421112" y="1758668"/>
                  <a:ext cx="781307" cy="929755"/>
                </a:xfrm>
                <a:prstGeom prst="rect">
                  <a:avLst/>
                </a:prstGeom>
              </p:spPr>
            </p:pic>
            <p:sp>
              <p:nvSpPr>
                <p:cNvPr id="61" name="Title 4 2 1 1"/>
                <p:cNvSpPr txBox="1">
                  <a:spLocks/>
                </p:cNvSpPr>
                <p:nvPr/>
              </p:nvSpPr>
              <p:spPr>
                <a:xfrm>
                  <a:off x="2049769" y="2778959"/>
                  <a:ext cx="1524168" cy="555418"/>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100" b="1" dirty="0">
                      <a:solidFill>
                        <a:schemeClr val="tx1"/>
                      </a:solidFill>
                    </a:rPr>
                    <a:t>Ronald Fisher</a:t>
                  </a:r>
                </a:p>
                <a:p>
                  <a:pPr algn="ctr" fontAlgn="auto">
                    <a:spcAft>
                      <a:spcPts val="0"/>
                    </a:spcAft>
                  </a:pPr>
                  <a:r>
                    <a:rPr lang="en-US" sz="1100" dirty="0">
                      <a:solidFill>
                        <a:schemeClr val="tx1"/>
                      </a:solidFill>
                    </a:rPr>
                    <a:t>(1890 – 1962)</a:t>
                  </a:r>
                </a:p>
                <a:p>
                  <a:pPr algn="ctr" fontAlgn="auto">
                    <a:spcAft>
                      <a:spcPts val="0"/>
                    </a:spcAft>
                  </a:pPr>
                  <a:r>
                    <a:rPr lang="en-US" sz="1100" dirty="0">
                      <a:solidFill>
                        <a:schemeClr val="tx1"/>
                      </a:solidFill>
                    </a:rPr>
                    <a:t>Statistician / Biologist</a:t>
                  </a:r>
                </a:p>
              </p:txBody>
            </p:sp>
          </p:grpSp>
        </p:grpSp>
      </p:grpSp>
      <p:sp>
        <p:nvSpPr>
          <p:cNvPr id="88" name="Title 4 2 1 1 1 1"/>
          <p:cNvSpPr txBox="1">
            <a:spLocks/>
          </p:cNvSpPr>
          <p:nvPr/>
        </p:nvSpPr>
        <p:spPr>
          <a:xfrm>
            <a:off x="157480" y="5417823"/>
            <a:ext cx="3729000" cy="1192722"/>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500" dirty="0">
                <a:solidFill>
                  <a:schemeClr val="tx1"/>
                </a:solidFill>
              </a:rPr>
              <a:t>No prior knowledge allowed.</a:t>
            </a:r>
          </a:p>
          <a:p>
            <a:pPr algn="ctr" fontAlgn="auto">
              <a:spcAft>
                <a:spcPts val="0"/>
              </a:spcAft>
            </a:pPr>
            <a:r>
              <a:rPr lang="en-US" sz="1500" dirty="0">
                <a:solidFill>
                  <a:schemeClr val="tx1"/>
                </a:solidFill>
              </a:rPr>
              <a:t>Let the data speak for itself.</a:t>
            </a:r>
          </a:p>
          <a:p>
            <a:pPr algn="ctr" fontAlgn="auto">
              <a:spcAft>
                <a:spcPts val="0"/>
              </a:spcAft>
            </a:pPr>
            <a:r>
              <a:rPr lang="en-US" sz="1500" dirty="0">
                <a:solidFill>
                  <a:schemeClr val="tx1"/>
                </a:solidFill>
              </a:rPr>
              <a:t>- R. A. Fisher</a:t>
            </a:r>
          </a:p>
        </p:txBody>
      </p:sp>
      <p:sp>
        <p:nvSpPr>
          <p:cNvPr id="42" name="Title 4 2 1 1 1 1">
            <a:extLst>
              <a:ext uri="{FF2B5EF4-FFF2-40B4-BE49-F238E27FC236}">
                <a16:creationId xmlns:a16="http://schemas.microsoft.com/office/drawing/2014/main" id="{31DCC8DD-A68B-44E1-A97A-BAC0962D744C}"/>
              </a:ext>
            </a:extLst>
          </p:cNvPr>
          <p:cNvSpPr txBox="1">
            <a:spLocks/>
          </p:cNvSpPr>
          <p:nvPr/>
        </p:nvSpPr>
        <p:spPr>
          <a:xfrm>
            <a:off x="4931299" y="5417823"/>
            <a:ext cx="3729000" cy="1192722"/>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500" dirty="0">
                <a:solidFill>
                  <a:schemeClr val="tx1"/>
                </a:solidFill>
              </a:rPr>
              <a:t>Prior knowledge has a fundamental role in inference along with Data</a:t>
            </a:r>
          </a:p>
          <a:p>
            <a:pPr algn="ctr" fontAlgn="auto">
              <a:spcAft>
                <a:spcPts val="0"/>
              </a:spcAft>
            </a:pPr>
            <a:r>
              <a:rPr lang="en-US" sz="1500" dirty="0">
                <a:solidFill>
                  <a:schemeClr val="tx1"/>
                </a:solidFill>
              </a:rPr>
              <a:t>(via the Bayes’ Rule)</a:t>
            </a:r>
          </a:p>
        </p:txBody>
      </p:sp>
      <p:sp>
        <p:nvSpPr>
          <p:cNvPr id="45" name="Title 4 1">
            <a:extLst>
              <a:ext uri="{FF2B5EF4-FFF2-40B4-BE49-F238E27FC236}">
                <a16:creationId xmlns:a16="http://schemas.microsoft.com/office/drawing/2014/main" id="{3C79CF62-9EEF-47EA-9790-44A7B36DCEFF}"/>
              </a:ext>
            </a:extLst>
          </p:cNvPr>
          <p:cNvSpPr>
            <a:spLocks noGrp="1"/>
          </p:cNvSpPr>
          <p:nvPr>
            <p:ph type="title"/>
          </p:nvPr>
        </p:nvSpPr>
        <p:spPr>
          <a:xfrm>
            <a:off x="152400" y="152400"/>
            <a:ext cx="8839200" cy="304800"/>
          </a:xfrm>
        </p:spPr>
        <p:txBody>
          <a:bodyPr>
            <a:noAutofit/>
          </a:bodyPr>
          <a:lstStyle/>
          <a:p>
            <a:r>
              <a:rPr lang="en-US" sz="1800" b="1" dirty="0">
                <a:solidFill>
                  <a:schemeClr val="tx1"/>
                </a:solidFill>
              </a:rPr>
              <a:t>Two Philosophically distinct approaches to Scientific inference</a:t>
            </a:r>
            <a:endParaRPr lang="en-US" sz="1700" dirty="0">
              <a:solidFill>
                <a:schemeClr val="tx1"/>
              </a:solidFill>
            </a:endParaRPr>
          </a:p>
        </p:txBody>
      </p:sp>
    </p:spTree>
    <p:extLst>
      <p:ext uri="{BB962C8B-B14F-4D97-AF65-F5344CB8AC3E}">
        <p14:creationId xmlns:p14="http://schemas.microsoft.com/office/powerpoint/2010/main" val="3897442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8"/>
                                        </p:tgtEl>
                                        <p:attrNameLst>
                                          <p:attrName>style.visibility</p:attrName>
                                        </p:attrNameLst>
                                      </p:cBhvr>
                                      <p:to>
                                        <p:strVal val="visible"/>
                                      </p:to>
                                    </p:set>
                                    <p:animEffect transition="in" filter="fade">
                                      <p:cBhvr>
                                        <p:cTn id="13" dur="500"/>
                                        <p:tgtEl>
                                          <p:spTgt spid="8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fade">
                                      <p:cBhvr>
                                        <p:cTn id="16" dur="500"/>
                                        <p:tgtEl>
                                          <p:spTgt spid="4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fade">
                                      <p:cBhvr>
                                        <p:cTn id="19"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p:bldP spid="42" grpId="0"/>
      <p:bldP spid="4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410759" y="774796"/>
            <a:ext cx="8091322" cy="725846"/>
            <a:chOff x="410759" y="774796"/>
            <a:chExt cx="8091322" cy="725846"/>
          </a:xfrm>
        </p:grpSpPr>
        <p:sp>
          <p:nvSpPr>
            <p:cNvPr id="17" name="Title 4 2 1 1"/>
            <p:cNvSpPr txBox="1">
              <a:spLocks/>
            </p:cNvSpPr>
            <p:nvPr/>
          </p:nvSpPr>
          <p:spPr>
            <a:xfrm>
              <a:off x="410759" y="774796"/>
              <a:ext cx="3429000" cy="725846"/>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500" b="1" dirty="0">
                  <a:solidFill>
                    <a:schemeClr val="tx1"/>
                  </a:solidFill>
                </a:rPr>
                <a:t>Frequentist Inference</a:t>
              </a:r>
            </a:p>
            <a:p>
              <a:pPr algn="ctr" fontAlgn="auto">
                <a:spcAft>
                  <a:spcPts val="0"/>
                </a:spcAft>
              </a:pPr>
              <a:endParaRPr lang="en-US" sz="500" b="1" dirty="0">
                <a:solidFill>
                  <a:schemeClr val="tx1"/>
                </a:solidFill>
              </a:endParaRPr>
            </a:p>
            <a:p>
              <a:pPr algn="ctr" fontAlgn="auto">
                <a:spcAft>
                  <a:spcPts val="0"/>
                </a:spcAft>
              </a:pPr>
              <a:r>
                <a:rPr lang="en-US" sz="1500" dirty="0">
                  <a:solidFill>
                    <a:schemeClr val="tx1"/>
                  </a:solidFill>
                </a:rPr>
                <a:t>Neyman–Pearson–Wald theory</a:t>
              </a:r>
            </a:p>
          </p:txBody>
        </p:sp>
        <p:sp>
          <p:nvSpPr>
            <p:cNvPr id="29" name="Title 4 2 1 1"/>
            <p:cNvSpPr txBox="1">
              <a:spLocks/>
            </p:cNvSpPr>
            <p:nvPr/>
          </p:nvSpPr>
          <p:spPr>
            <a:xfrm>
              <a:off x="5073081" y="774796"/>
              <a:ext cx="3429000" cy="725846"/>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500" b="1" dirty="0">
                  <a:solidFill>
                    <a:schemeClr val="tx1"/>
                  </a:solidFill>
                </a:rPr>
                <a:t>Bayesian Inference</a:t>
              </a:r>
            </a:p>
            <a:p>
              <a:pPr algn="ctr" fontAlgn="auto">
                <a:spcAft>
                  <a:spcPts val="0"/>
                </a:spcAft>
              </a:pPr>
              <a:endParaRPr lang="en-US" sz="500" b="1" dirty="0">
                <a:solidFill>
                  <a:schemeClr val="tx1"/>
                </a:solidFill>
              </a:endParaRPr>
            </a:p>
            <a:p>
              <a:pPr algn="ctr" fontAlgn="auto">
                <a:spcAft>
                  <a:spcPts val="0"/>
                </a:spcAft>
              </a:pPr>
              <a:r>
                <a:rPr lang="en-US" sz="1500" dirty="0">
                  <a:solidFill>
                    <a:schemeClr val="tx1"/>
                  </a:solidFill>
                </a:rPr>
                <a:t>Bayesian probability theory</a:t>
              </a:r>
            </a:p>
          </p:txBody>
        </p:sp>
      </p:grpSp>
      <p:grpSp>
        <p:nvGrpSpPr>
          <p:cNvPr id="26" name="Group 25"/>
          <p:cNvGrpSpPr/>
          <p:nvPr/>
        </p:nvGrpSpPr>
        <p:grpSpPr>
          <a:xfrm>
            <a:off x="446319" y="1665950"/>
            <a:ext cx="8239001" cy="3482856"/>
            <a:chOff x="490349" y="1758666"/>
            <a:chExt cx="8239001" cy="3482856"/>
          </a:xfrm>
        </p:grpSpPr>
        <p:grpSp>
          <p:nvGrpSpPr>
            <p:cNvPr id="13" name="Group 12"/>
            <p:cNvGrpSpPr/>
            <p:nvPr/>
          </p:nvGrpSpPr>
          <p:grpSpPr>
            <a:xfrm>
              <a:off x="4831449" y="1758668"/>
              <a:ext cx="3897901" cy="3431708"/>
              <a:chOff x="5019551" y="1758668"/>
              <a:chExt cx="3897901" cy="3431708"/>
            </a:xfrm>
          </p:grpSpPr>
          <p:grpSp>
            <p:nvGrpSpPr>
              <p:cNvPr id="11" name="Group 10"/>
              <p:cNvGrpSpPr/>
              <p:nvPr/>
            </p:nvGrpSpPr>
            <p:grpSpPr>
              <a:xfrm>
                <a:off x="6959326" y="3525242"/>
                <a:ext cx="1958126" cy="1665133"/>
                <a:chOff x="6786258" y="4988829"/>
                <a:chExt cx="1958126" cy="1665133"/>
              </a:xfrm>
            </p:grpSpPr>
            <p:pic>
              <p:nvPicPr>
                <p:cNvPr id="44" name="Picture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69735" y="4988829"/>
                  <a:ext cx="791172" cy="991382"/>
                </a:xfrm>
                <a:prstGeom prst="rect">
                  <a:avLst/>
                </a:prstGeom>
              </p:spPr>
            </p:pic>
            <p:sp>
              <p:nvSpPr>
                <p:cNvPr id="50" name="Title 4 2 1 1"/>
                <p:cNvSpPr txBox="1">
                  <a:spLocks/>
                </p:cNvSpPr>
                <p:nvPr/>
              </p:nvSpPr>
              <p:spPr>
                <a:xfrm>
                  <a:off x="6786258" y="6092543"/>
                  <a:ext cx="1958126" cy="561419"/>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100" b="1" dirty="0">
                      <a:solidFill>
                        <a:schemeClr val="tx1"/>
                      </a:solidFill>
                    </a:rPr>
                    <a:t>Edwin Jaynes</a:t>
                  </a:r>
                </a:p>
                <a:p>
                  <a:pPr algn="ctr" fontAlgn="auto">
                    <a:spcAft>
                      <a:spcPts val="0"/>
                    </a:spcAft>
                  </a:pPr>
                  <a:r>
                    <a:rPr lang="en-US" sz="1100" dirty="0">
                      <a:solidFill>
                        <a:schemeClr val="tx1"/>
                      </a:solidFill>
                    </a:rPr>
                    <a:t>(1922 – 1998)</a:t>
                  </a:r>
                </a:p>
                <a:p>
                  <a:pPr algn="ctr" fontAlgn="auto">
                    <a:spcAft>
                      <a:spcPts val="0"/>
                    </a:spcAft>
                  </a:pPr>
                  <a:r>
                    <a:rPr lang="en-US" sz="1100" dirty="0">
                      <a:solidFill>
                        <a:schemeClr val="tx1"/>
                      </a:solidFill>
                    </a:rPr>
                    <a:t>Physicist</a:t>
                  </a:r>
                </a:p>
              </p:txBody>
            </p:sp>
          </p:grpSp>
          <p:grpSp>
            <p:nvGrpSpPr>
              <p:cNvPr id="9" name="Group 8"/>
              <p:cNvGrpSpPr/>
              <p:nvPr/>
            </p:nvGrpSpPr>
            <p:grpSpPr>
              <a:xfrm>
                <a:off x="5019551" y="1758668"/>
                <a:ext cx="1949054" cy="1502301"/>
                <a:chOff x="6795330" y="1763223"/>
                <a:chExt cx="1949054" cy="1502301"/>
              </a:xfrm>
            </p:grpSpPr>
            <p:pic>
              <p:nvPicPr>
                <p:cNvPr id="34" name="Picture 3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91047" y="1763223"/>
                  <a:ext cx="757620" cy="925732"/>
                </a:xfrm>
                <a:prstGeom prst="rect">
                  <a:avLst/>
                </a:prstGeom>
              </p:spPr>
            </p:pic>
            <p:sp>
              <p:nvSpPr>
                <p:cNvPr id="51" name="Title 4 2 1 1"/>
                <p:cNvSpPr txBox="1">
                  <a:spLocks/>
                </p:cNvSpPr>
                <p:nvPr/>
              </p:nvSpPr>
              <p:spPr>
                <a:xfrm>
                  <a:off x="6795330" y="2789192"/>
                  <a:ext cx="1949054" cy="476332"/>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100" b="1" dirty="0">
                      <a:solidFill>
                        <a:schemeClr val="tx1"/>
                      </a:solidFill>
                    </a:rPr>
                    <a:t>Pierre Laplace</a:t>
                  </a:r>
                </a:p>
                <a:p>
                  <a:pPr algn="ctr" fontAlgn="auto">
                    <a:spcAft>
                      <a:spcPts val="0"/>
                    </a:spcAft>
                  </a:pPr>
                  <a:r>
                    <a:rPr lang="en-US" sz="1100" dirty="0">
                      <a:solidFill>
                        <a:schemeClr val="tx1"/>
                      </a:solidFill>
                    </a:rPr>
                    <a:t>(1749 – 1827)</a:t>
                  </a:r>
                </a:p>
                <a:p>
                  <a:pPr algn="ctr" fontAlgn="auto">
                    <a:spcAft>
                      <a:spcPts val="0"/>
                    </a:spcAft>
                  </a:pPr>
                  <a:r>
                    <a:rPr lang="en-US" sz="1100" dirty="0">
                      <a:solidFill>
                        <a:schemeClr val="tx1"/>
                      </a:solidFill>
                    </a:rPr>
                    <a:t>Astronomer / Mathematician</a:t>
                  </a:r>
                </a:p>
              </p:txBody>
            </p:sp>
          </p:grpSp>
          <p:grpSp>
            <p:nvGrpSpPr>
              <p:cNvPr id="10" name="Group 9"/>
              <p:cNvGrpSpPr/>
              <p:nvPr/>
            </p:nvGrpSpPr>
            <p:grpSpPr>
              <a:xfrm>
                <a:off x="6993710" y="1758668"/>
                <a:ext cx="1889358" cy="1544733"/>
                <a:chOff x="6841953" y="3392851"/>
                <a:chExt cx="1889358" cy="1544733"/>
              </a:xfrm>
            </p:grpSpPr>
            <p:pic>
              <p:nvPicPr>
                <p:cNvPr id="33" name="Picture 3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91046" y="3392851"/>
                  <a:ext cx="791172" cy="931222"/>
                </a:xfrm>
                <a:prstGeom prst="rect">
                  <a:avLst/>
                </a:prstGeom>
              </p:spPr>
            </p:pic>
            <p:sp>
              <p:nvSpPr>
                <p:cNvPr id="55" name="Title 4 2 1 1"/>
                <p:cNvSpPr txBox="1">
                  <a:spLocks/>
                </p:cNvSpPr>
                <p:nvPr/>
              </p:nvSpPr>
              <p:spPr>
                <a:xfrm>
                  <a:off x="6841953" y="4376165"/>
                  <a:ext cx="1889358" cy="561419"/>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100" b="1" dirty="0">
                      <a:solidFill>
                        <a:schemeClr val="tx1"/>
                      </a:solidFill>
                    </a:rPr>
                    <a:t>Harold </a:t>
                  </a:r>
                  <a:r>
                    <a:rPr lang="en-US" sz="1100" b="1" dirty="0" err="1">
                      <a:solidFill>
                        <a:schemeClr val="tx1"/>
                      </a:solidFill>
                    </a:rPr>
                    <a:t>Jeffreys</a:t>
                  </a:r>
                  <a:endParaRPr lang="en-US" sz="1100" b="1" dirty="0">
                    <a:solidFill>
                      <a:schemeClr val="tx1"/>
                    </a:solidFill>
                  </a:endParaRPr>
                </a:p>
                <a:p>
                  <a:pPr algn="ctr" fontAlgn="auto">
                    <a:spcAft>
                      <a:spcPts val="0"/>
                    </a:spcAft>
                  </a:pPr>
                  <a:r>
                    <a:rPr lang="en-US" sz="1100" dirty="0">
                      <a:solidFill>
                        <a:schemeClr val="tx1"/>
                      </a:solidFill>
                    </a:rPr>
                    <a:t>(1891 – 1989)</a:t>
                  </a:r>
                </a:p>
                <a:p>
                  <a:pPr algn="ctr" fontAlgn="auto">
                    <a:spcAft>
                      <a:spcPts val="0"/>
                    </a:spcAft>
                  </a:pPr>
                  <a:r>
                    <a:rPr lang="en-US" sz="1100" dirty="0">
                      <a:solidFill>
                        <a:schemeClr val="tx1"/>
                      </a:solidFill>
                    </a:rPr>
                    <a:t>Astronomer / Geophysicist</a:t>
                  </a:r>
                </a:p>
              </p:txBody>
            </p:sp>
          </p:grpSp>
          <p:grpSp>
            <p:nvGrpSpPr>
              <p:cNvPr id="12" name="Group 11"/>
              <p:cNvGrpSpPr/>
              <p:nvPr/>
            </p:nvGrpSpPr>
            <p:grpSpPr>
              <a:xfrm>
                <a:off x="5243649" y="3528421"/>
                <a:ext cx="1444417" cy="1661955"/>
                <a:chOff x="5400112" y="4984348"/>
                <a:chExt cx="1444417" cy="1661955"/>
              </a:xfrm>
            </p:grpSpPr>
            <p:sp>
              <p:nvSpPr>
                <p:cNvPr id="57" name="Title 4 2 1 1"/>
                <p:cNvSpPr txBox="1">
                  <a:spLocks/>
                </p:cNvSpPr>
                <p:nvPr/>
              </p:nvSpPr>
              <p:spPr>
                <a:xfrm>
                  <a:off x="5400112" y="6084884"/>
                  <a:ext cx="1444417" cy="561419"/>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100" b="1" dirty="0">
                      <a:solidFill>
                        <a:schemeClr val="tx1"/>
                      </a:solidFill>
                    </a:rPr>
                    <a:t>Richard Cox</a:t>
                  </a:r>
                </a:p>
                <a:p>
                  <a:pPr algn="ctr" fontAlgn="auto">
                    <a:spcAft>
                      <a:spcPts val="0"/>
                    </a:spcAft>
                  </a:pPr>
                  <a:r>
                    <a:rPr lang="en-US" sz="1100" dirty="0">
                      <a:solidFill>
                        <a:schemeClr val="tx1"/>
                      </a:solidFill>
                    </a:rPr>
                    <a:t>(1898 – 1991)</a:t>
                  </a:r>
                </a:p>
                <a:p>
                  <a:pPr algn="ctr" fontAlgn="auto">
                    <a:spcAft>
                      <a:spcPts val="0"/>
                    </a:spcAft>
                  </a:pPr>
                  <a:r>
                    <a:rPr lang="en-US" sz="1100" dirty="0">
                      <a:solidFill>
                        <a:schemeClr val="tx1"/>
                      </a:solidFill>
                    </a:rPr>
                    <a:t>Physicist</a:t>
                  </a:r>
                </a:p>
              </p:txBody>
            </p:sp>
            <p:pic>
              <p:nvPicPr>
                <p:cNvPr id="59" name="Picture 5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771731" y="4984348"/>
                  <a:ext cx="757620" cy="988203"/>
                </a:xfrm>
                <a:prstGeom prst="rect">
                  <a:avLst/>
                </a:prstGeom>
              </p:spPr>
            </p:pic>
          </p:grpSp>
        </p:grpSp>
        <p:grpSp>
          <p:nvGrpSpPr>
            <p:cNvPr id="20" name="Group 19"/>
            <p:cNvGrpSpPr/>
            <p:nvPr/>
          </p:nvGrpSpPr>
          <p:grpSpPr>
            <a:xfrm>
              <a:off x="490349" y="1758666"/>
              <a:ext cx="3322361" cy="3482856"/>
              <a:chOff x="382224" y="1758666"/>
              <a:chExt cx="3322361" cy="3482856"/>
            </a:xfrm>
          </p:grpSpPr>
          <p:grpSp>
            <p:nvGrpSpPr>
              <p:cNvPr id="15" name="Group 14"/>
              <p:cNvGrpSpPr/>
              <p:nvPr/>
            </p:nvGrpSpPr>
            <p:grpSpPr>
              <a:xfrm>
                <a:off x="1918944" y="1758666"/>
                <a:ext cx="1785641" cy="1551856"/>
                <a:chOff x="352386" y="1771602"/>
                <a:chExt cx="1785641" cy="1562833"/>
              </a:xfrm>
            </p:grpSpPr>
            <p:sp>
              <p:nvSpPr>
                <p:cNvPr id="21" name="Title 4 2 1 1"/>
                <p:cNvSpPr txBox="1">
                  <a:spLocks/>
                </p:cNvSpPr>
                <p:nvPr/>
              </p:nvSpPr>
              <p:spPr>
                <a:xfrm>
                  <a:off x="352386" y="2779017"/>
                  <a:ext cx="1785641" cy="555418"/>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100" b="1" dirty="0">
                      <a:solidFill>
                        <a:schemeClr val="tx1"/>
                      </a:solidFill>
                    </a:rPr>
                    <a:t>Jerzy Neyman</a:t>
                  </a:r>
                </a:p>
                <a:p>
                  <a:pPr algn="ctr" fontAlgn="auto">
                    <a:spcAft>
                      <a:spcPts val="0"/>
                    </a:spcAft>
                  </a:pPr>
                  <a:r>
                    <a:rPr lang="en-US" sz="1100" dirty="0">
                      <a:solidFill>
                        <a:schemeClr val="tx1"/>
                      </a:solidFill>
                    </a:rPr>
                    <a:t>(1894 – 1981)</a:t>
                  </a:r>
                </a:p>
                <a:p>
                  <a:pPr algn="ctr" fontAlgn="auto">
                    <a:spcAft>
                      <a:spcPts val="0"/>
                    </a:spcAft>
                  </a:pPr>
                  <a:r>
                    <a:rPr lang="en-US" sz="1100" dirty="0">
                      <a:solidFill>
                        <a:schemeClr val="tx1"/>
                      </a:solidFill>
                    </a:rPr>
                    <a:t>Statistician / Astronomer</a:t>
                  </a:r>
                </a:p>
              </p:txBody>
            </p:sp>
            <p:pic>
              <p:nvPicPr>
                <p:cNvPr id="19" name="Picture 1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54554" y="1771602"/>
                  <a:ext cx="781307" cy="932280"/>
                </a:xfrm>
                <a:prstGeom prst="rect">
                  <a:avLst/>
                </a:prstGeom>
              </p:spPr>
            </p:pic>
          </p:grpSp>
          <p:grpSp>
            <p:nvGrpSpPr>
              <p:cNvPr id="16" name="Group 15"/>
              <p:cNvGrpSpPr/>
              <p:nvPr/>
            </p:nvGrpSpPr>
            <p:grpSpPr>
              <a:xfrm>
                <a:off x="438209" y="3525242"/>
                <a:ext cx="1414529" cy="1716280"/>
                <a:chOff x="438209" y="3525242"/>
                <a:chExt cx="1414529" cy="1716280"/>
              </a:xfrm>
            </p:grpSpPr>
            <p:pic>
              <p:nvPicPr>
                <p:cNvPr id="23" name="Picture 2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15553" y="3525242"/>
                  <a:ext cx="736854" cy="991382"/>
                </a:xfrm>
                <a:prstGeom prst="rect">
                  <a:avLst/>
                </a:prstGeom>
              </p:spPr>
            </p:pic>
            <p:sp>
              <p:nvSpPr>
                <p:cNvPr id="27" name="Title 4 2 1 1"/>
                <p:cNvSpPr txBox="1">
                  <a:spLocks/>
                </p:cNvSpPr>
                <p:nvPr/>
              </p:nvSpPr>
              <p:spPr>
                <a:xfrm>
                  <a:off x="438209" y="4583678"/>
                  <a:ext cx="1414529" cy="657844"/>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100" b="1" dirty="0">
                      <a:solidFill>
                        <a:schemeClr val="tx1"/>
                      </a:solidFill>
                    </a:rPr>
                    <a:t>Egon Pearson</a:t>
                  </a:r>
                </a:p>
                <a:p>
                  <a:pPr algn="ctr" fontAlgn="auto">
                    <a:spcAft>
                      <a:spcPts val="0"/>
                    </a:spcAft>
                  </a:pPr>
                  <a:r>
                    <a:rPr lang="en-US" sz="1100" dirty="0">
                      <a:solidFill>
                        <a:schemeClr val="tx1"/>
                      </a:solidFill>
                    </a:rPr>
                    <a:t>(1895 – 1980)</a:t>
                  </a:r>
                </a:p>
                <a:p>
                  <a:pPr algn="ctr" fontAlgn="auto">
                    <a:spcAft>
                      <a:spcPts val="0"/>
                    </a:spcAft>
                  </a:pPr>
                  <a:r>
                    <a:rPr lang="en-US" sz="1100" dirty="0">
                      <a:solidFill>
                        <a:schemeClr val="tx1"/>
                      </a:solidFill>
                    </a:rPr>
                    <a:t>Statistician</a:t>
                  </a:r>
                </a:p>
              </p:txBody>
            </p:sp>
          </p:grpSp>
          <p:grpSp>
            <p:nvGrpSpPr>
              <p:cNvPr id="18" name="Group 17"/>
              <p:cNvGrpSpPr/>
              <p:nvPr/>
            </p:nvGrpSpPr>
            <p:grpSpPr>
              <a:xfrm>
                <a:off x="2104499" y="3525243"/>
                <a:ext cx="1414530" cy="1708726"/>
                <a:chOff x="2104499" y="3525243"/>
                <a:chExt cx="1414530" cy="1708726"/>
              </a:xfrm>
            </p:grpSpPr>
            <p:pic>
              <p:nvPicPr>
                <p:cNvPr id="24" name="Picture 23"/>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421111" y="3525243"/>
                  <a:ext cx="781308" cy="991382"/>
                </a:xfrm>
                <a:prstGeom prst="rect">
                  <a:avLst/>
                </a:prstGeom>
              </p:spPr>
            </p:pic>
            <p:sp>
              <p:nvSpPr>
                <p:cNvPr id="28" name="Title 4 2 1 1"/>
                <p:cNvSpPr txBox="1">
                  <a:spLocks/>
                </p:cNvSpPr>
                <p:nvPr/>
              </p:nvSpPr>
              <p:spPr>
                <a:xfrm>
                  <a:off x="2104499" y="4591230"/>
                  <a:ext cx="1414530" cy="642739"/>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100" b="1" dirty="0">
                      <a:solidFill>
                        <a:schemeClr val="tx1"/>
                      </a:solidFill>
                    </a:rPr>
                    <a:t>Abraham Wald</a:t>
                  </a:r>
                </a:p>
                <a:p>
                  <a:pPr algn="ctr" fontAlgn="auto">
                    <a:spcAft>
                      <a:spcPts val="0"/>
                    </a:spcAft>
                  </a:pPr>
                  <a:r>
                    <a:rPr lang="en-US" sz="1100" dirty="0">
                      <a:solidFill>
                        <a:schemeClr val="tx1"/>
                      </a:solidFill>
                    </a:rPr>
                    <a:t>(1902 – 1950)</a:t>
                  </a:r>
                </a:p>
                <a:p>
                  <a:pPr algn="ctr" fontAlgn="auto">
                    <a:spcAft>
                      <a:spcPts val="0"/>
                    </a:spcAft>
                  </a:pPr>
                  <a:r>
                    <a:rPr lang="en-US" sz="1100" dirty="0">
                      <a:solidFill>
                        <a:schemeClr val="tx1"/>
                      </a:solidFill>
                    </a:rPr>
                    <a:t>Statistician</a:t>
                  </a:r>
                </a:p>
              </p:txBody>
            </p:sp>
          </p:grpSp>
          <p:grpSp>
            <p:nvGrpSpPr>
              <p:cNvPr id="14" name="Group 13"/>
              <p:cNvGrpSpPr/>
              <p:nvPr/>
            </p:nvGrpSpPr>
            <p:grpSpPr>
              <a:xfrm>
                <a:off x="382224" y="1758668"/>
                <a:ext cx="1524168" cy="1575709"/>
                <a:chOff x="2049769" y="1758668"/>
                <a:chExt cx="1524168" cy="1575709"/>
              </a:xfrm>
            </p:grpSpPr>
            <p:pic>
              <p:nvPicPr>
                <p:cNvPr id="60" name="Picture 59"/>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421112" y="1758668"/>
                  <a:ext cx="781307" cy="929755"/>
                </a:xfrm>
                <a:prstGeom prst="rect">
                  <a:avLst/>
                </a:prstGeom>
              </p:spPr>
            </p:pic>
            <p:sp>
              <p:nvSpPr>
                <p:cNvPr id="61" name="Title 4 2 1 1"/>
                <p:cNvSpPr txBox="1">
                  <a:spLocks/>
                </p:cNvSpPr>
                <p:nvPr/>
              </p:nvSpPr>
              <p:spPr>
                <a:xfrm>
                  <a:off x="2049769" y="2778959"/>
                  <a:ext cx="1524168" cy="555418"/>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100" b="1" dirty="0">
                      <a:solidFill>
                        <a:schemeClr val="tx1"/>
                      </a:solidFill>
                    </a:rPr>
                    <a:t>Ronald Fisher</a:t>
                  </a:r>
                </a:p>
                <a:p>
                  <a:pPr algn="ctr" fontAlgn="auto">
                    <a:spcAft>
                      <a:spcPts val="0"/>
                    </a:spcAft>
                  </a:pPr>
                  <a:r>
                    <a:rPr lang="en-US" sz="1100" dirty="0">
                      <a:solidFill>
                        <a:schemeClr val="tx1"/>
                      </a:solidFill>
                    </a:rPr>
                    <a:t>(1890 – 1962)</a:t>
                  </a:r>
                </a:p>
                <a:p>
                  <a:pPr algn="ctr" fontAlgn="auto">
                    <a:spcAft>
                      <a:spcPts val="0"/>
                    </a:spcAft>
                  </a:pPr>
                  <a:r>
                    <a:rPr lang="en-US" sz="1100" dirty="0">
                      <a:solidFill>
                        <a:schemeClr val="tx1"/>
                      </a:solidFill>
                    </a:rPr>
                    <a:t>Statistician / Biologist</a:t>
                  </a:r>
                </a:p>
              </p:txBody>
            </p:sp>
          </p:grpSp>
        </p:grpSp>
      </p:grpSp>
      <p:sp>
        <p:nvSpPr>
          <p:cNvPr id="88" name="Title 4 2 1 1 1 1"/>
          <p:cNvSpPr txBox="1">
            <a:spLocks/>
          </p:cNvSpPr>
          <p:nvPr/>
        </p:nvSpPr>
        <p:spPr>
          <a:xfrm>
            <a:off x="157480" y="5417823"/>
            <a:ext cx="3729000" cy="1192722"/>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500" dirty="0">
                <a:solidFill>
                  <a:schemeClr val="tx1"/>
                </a:solidFill>
              </a:rPr>
              <a:t>No prior knowledge allowed.</a:t>
            </a:r>
          </a:p>
          <a:p>
            <a:pPr algn="ctr" fontAlgn="auto">
              <a:spcAft>
                <a:spcPts val="0"/>
              </a:spcAft>
            </a:pPr>
            <a:r>
              <a:rPr lang="en-US" sz="1500" dirty="0">
                <a:solidFill>
                  <a:schemeClr val="tx1"/>
                </a:solidFill>
              </a:rPr>
              <a:t>Let the data speak for itself.</a:t>
            </a:r>
          </a:p>
          <a:p>
            <a:pPr algn="ctr" fontAlgn="auto">
              <a:spcAft>
                <a:spcPts val="0"/>
              </a:spcAft>
            </a:pPr>
            <a:r>
              <a:rPr lang="en-US" sz="1500" dirty="0">
                <a:solidFill>
                  <a:schemeClr val="tx1"/>
                </a:solidFill>
              </a:rPr>
              <a:t>- R. A. Fisher</a:t>
            </a:r>
          </a:p>
        </p:txBody>
      </p:sp>
      <p:sp>
        <p:nvSpPr>
          <p:cNvPr id="45" name="Title 4 1">
            <a:extLst>
              <a:ext uri="{FF2B5EF4-FFF2-40B4-BE49-F238E27FC236}">
                <a16:creationId xmlns:a16="http://schemas.microsoft.com/office/drawing/2014/main" id="{3C79CF62-9EEF-47EA-9790-44A7B36DCEFF}"/>
              </a:ext>
            </a:extLst>
          </p:cNvPr>
          <p:cNvSpPr>
            <a:spLocks noGrp="1"/>
          </p:cNvSpPr>
          <p:nvPr>
            <p:ph type="title"/>
          </p:nvPr>
        </p:nvSpPr>
        <p:spPr>
          <a:xfrm>
            <a:off x="152400" y="152400"/>
            <a:ext cx="8839200" cy="304800"/>
          </a:xfrm>
        </p:spPr>
        <p:txBody>
          <a:bodyPr>
            <a:noAutofit/>
          </a:bodyPr>
          <a:lstStyle/>
          <a:p>
            <a:r>
              <a:rPr lang="en-US" sz="1800" b="1" dirty="0">
                <a:solidFill>
                  <a:schemeClr val="tx1"/>
                </a:solidFill>
              </a:rPr>
              <a:t>Two Philosophically distinct approaches to Scientific inference</a:t>
            </a:r>
            <a:endParaRPr lang="en-US" sz="1700" dirty="0">
              <a:solidFill>
                <a:schemeClr val="tx1"/>
              </a:solidFill>
            </a:endParaRPr>
          </a:p>
        </p:txBody>
      </p:sp>
      <p:grpSp>
        <p:nvGrpSpPr>
          <p:cNvPr id="35" name="Group 34">
            <a:extLst>
              <a:ext uri="{FF2B5EF4-FFF2-40B4-BE49-F238E27FC236}">
                <a16:creationId xmlns:a16="http://schemas.microsoft.com/office/drawing/2014/main" id="{BDD2E2CB-9040-4709-AE62-0AF078CA9409}"/>
              </a:ext>
            </a:extLst>
          </p:cNvPr>
          <p:cNvGrpSpPr/>
          <p:nvPr/>
        </p:nvGrpSpPr>
        <p:grpSpPr>
          <a:xfrm>
            <a:off x="4839693" y="5179024"/>
            <a:ext cx="3847107" cy="1509485"/>
            <a:chOff x="4592744" y="539634"/>
            <a:chExt cx="3847107" cy="1509485"/>
          </a:xfrm>
        </p:grpSpPr>
        <p:pic>
          <p:nvPicPr>
            <p:cNvPr id="36" name="Picture 35">
              <a:extLst>
                <a:ext uri="{FF2B5EF4-FFF2-40B4-BE49-F238E27FC236}">
                  <a16:creationId xmlns:a16="http://schemas.microsoft.com/office/drawing/2014/main" id="{52D9E92E-B95B-46ED-BDF2-B0ABAA272DF3}"/>
                </a:ext>
              </a:extLst>
            </p:cNvPr>
            <p:cNvPicPr>
              <a:picLocks noChangeAspect="1"/>
            </p:cNvPicPr>
            <p:nvPr>
              <p:custDataLst>
                <p:tags r:id="rId1"/>
              </p:custDataLst>
            </p:nvPr>
          </p:nvPicPr>
          <p:blipFill>
            <a:blip r:embed="rId12" cstate="print">
              <a:extLst>
                <a:ext uri="{28A0092B-C50C-407E-A947-70E740481C1C}">
                  <a14:useLocalDpi xmlns:a14="http://schemas.microsoft.com/office/drawing/2010/main" val="0"/>
                </a:ext>
              </a:extLst>
            </a:blip>
            <a:stretch>
              <a:fillRect/>
            </a:stretch>
          </p:blipFill>
          <p:spPr>
            <a:xfrm>
              <a:off x="4791917" y="1069376"/>
              <a:ext cx="3450934" cy="571750"/>
            </a:xfrm>
            <a:prstGeom prst="rect">
              <a:avLst/>
            </a:prstGeom>
          </p:spPr>
        </p:pic>
        <p:sp>
          <p:nvSpPr>
            <p:cNvPr id="37" name="Title 4 2 1 1 1 2">
              <a:extLst>
                <a:ext uri="{FF2B5EF4-FFF2-40B4-BE49-F238E27FC236}">
                  <a16:creationId xmlns:a16="http://schemas.microsoft.com/office/drawing/2014/main" id="{1A8AF951-871C-4BBE-87E7-3B88F23321FC}"/>
                </a:ext>
              </a:extLst>
            </p:cNvPr>
            <p:cNvSpPr txBox="1">
              <a:spLocks/>
            </p:cNvSpPr>
            <p:nvPr/>
          </p:nvSpPr>
          <p:spPr>
            <a:xfrm>
              <a:off x="4706051" y="539634"/>
              <a:ext cx="3287120" cy="552010"/>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fontAlgn="auto">
                <a:spcAft>
                  <a:spcPts val="0"/>
                </a:spcAft>
              </a:pPr>
              <a:r>
                <a:rPr lang="en-US" sz="1500" b="1" dirty="0">
                  <a:solidFill>
                    <a:schemeClr val="tx1"/>
                  </a:solidFill>
                </a:rPr>
                <a:t>Bayes rule:</a:t>
              </a:r>
            </a:p>
          </p:txBody>
        </p:sp>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73887C75-CB4B-45B8-A0BE-2E019174BFDE}"/>
                    </a:ext>
                  </a:extLst>
                </p:cNvPr>
                <p:cNvSpPr/>
                <p:nvPr/>
              </p:nvSpPr>
              <p:spPr>
                <a:xfrm>
                  <a:off x="6687251" y="1380410"/>
                  <a:ext cx="1080314" cy="66870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limLow>
                          <m:limLowPr>
                            <m:ctrlPr>
                              <a:rPr lang="en-US" sz="2200" i="1" smtClean="0">
                                <a:solidFill>
                                  <a:schemeClr val="tx1"/>
                                </a:solidFill>
                                <a:latin typeface="Cambria Math" panose="02040503050406030204" pitchFamily="18" charset="0"/>
                              </a:rPr>
                            </m:ctrlPr>
                          </m:limLowPr>
                          <m:e>
                            <m:groupChr>
                              <m:groupChrPr>
                                <m:chr m:val="⏟"/>
                                <m:ctrlPr>
                                  <a:rPr lang="en-US" sz="2200" i="1" smtClean="0">
                                    <a:solidFill>
                                      <a:schemeClr val="tx1"/>
                                    </a:solidFill>
                                    <a:latin typeface="Cambria Math" panose="02040503050406030204" pitchFamily="18" charset="0"/>
                                  </a:rPr>
                                </m:ctrlPr>
                              </m:groupChrPr>
                              <m:e>
                                <m:r>
                                  <a:rPr lang="en-US" sz="2200" b="0" i="1" smtClean="0">
                                    <a:solidFill>
                                      <a:schemeClr val="tx1"/>
                                    </a:solidFill>
                                    <a:latin typeface="Cambria Math"/>
                                  </a:rPr>
                                  <m:t>    </m:t>
                                </m:r>
                                <m:r>
                                  <a:rPr lang="en-US" sz="2200" b="0" i="1" smtClean="0">
                                    <a:solidFill>
                                      <a:schemeClr val="tx1"/>
                                    </a:solidFill>
                                    <a:latin typeface="Cambria Math" panose="02040503050406030204" pitchFamily="18" charset="0"/>
                                  </a:rPr>
                                  <m:t>  </m:t>
                                </m:r>
                                <m:r>
                                  <a:rPr lang="en-US" sz="2200" b="0" i="1" smtClean="0">
                                    <a:solidFill>
                                      <a:schemeClr val="tx1"/>
                                    </a:solidFill>
                                    <a:latin typeface="Cambria Math"/>
                                  </a:rPr>
                                  <m:t>        </m:t>
                                </m:r>
                              </m:e>
                            </m:groupChr>
                          </m:e>
                          <m:lim>
                            <m:r>
                              <a:rPr lang="en-US" sz="2200" i="1" dirty="0" smtClean="0">
                                <a:solidFill>
                                  <a:schemeClr val="tx1"/>
                                </a:solidFill>
                                <a:latin typeface="Cambria Math" panose="02040503050406030204" pitchFamily="18" charset="0"/>
                              </a:rPr>
                              <m:t>𝑒</m:t>
                            </m:r>
                            <m:r>
                              <a:rPr lang="en-US" sz="2200" b="0" i="1" dirty="0" smtClean="0">
                                <a:solidFill>
                                  <a:schemeClr val="tx1"/>
                                </a:solidFill>
                                <a:latin typeface="Cambria Math" panose="02040503050406030204" pitchFamily="18" charset="0"/>
                              </a:rPr>
                              <m:t>𝑣𝑖𝑑𝑒𝑛𝑐𝑒</m:t>
                            </m:r>
                          </m:lim>
                        </m:limLow>
                      </m:oMath>
                    </m:oMathPara>
                  </a14:m>
                  <a:endParaRPr lang="en-US" sz="2200" dirty="0">
                    <a:solidFill>
                      <a:schemeClr val="tx1"/>
                    </a:solidFill>
                  </a:endParaRPr>
                </a:p>
              </p:txBody>
            </p:sp>
          </mc:Choice>
          <mc:Fallback xmlns="">
            <p:sp>
              <p:nvSpPr>
                <p:cNvPr id="38" name="Rectangle 37">
                  <a:extLst>
                    <a:ext uri="{FF2B5EF4-FFF2-40B4-BE49-F238E27FC236}">
                      <a16:creationId xmlns:a16="http://schemas.microsoft.com/office/drawing/2014/main" id="{73887C75-CB4B-45B8-A0BE-2E019174BFDE}"/>
                    </a:ext>
                  </a:extLst>
                </p:cNvPr>
                <p:cNvSpPr>
                  <a:spLocks noRot="1" noChangeAspect="1" noMove="1" noResize="1" noEditPoints="1" noAdjustHandles="1" noChangeArrowheads="1" noChangeShapeType="1" noTextEdit="1"/>
                </p:cNvSpPr>
                <p:nvPr/>
              </p:nvSpPr>
              <p:spPr>
                <a:xfrm>
                  <a:off x="6687251" y="1380410"/>
                  <a:ext cx="1080314" cy="668709"/>
                </a:xfrm>
                <a:prstGeom prst="rect">
                  <a:avLst/>
                </a:prstGeom>
                <a:blipFill>
                  <a:blip r:embed="rId13"/>
                  <a:stretch>
                    <a:fillRect b="-36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AB0C0AF7-C8B0-4CCA-A6FB-AE23B1B56281}"/>
                    </a:ext>
                  </a:extLst>
                </p:cNvPr>
                <p:cNvSpPr/>
                <p:nvPr/>
              </p:nvSpPr>
              <p:spPr>
                <a:xfrm>
                  <a:off x="4592744" y="1255104"/>
                  <a:ext cx="1451038" cy="7058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limLow>
                          <m:limLowPr>
                            <m:ctrlPr>
                              <a:rPr lang="en-US" sz="2200" i="1" smtClean="0">
                                <a:solidFill>
                                  <a:schemeClr val="tx1"/>
                                </a:solidFill>
                                <a:latin typeface="Cambria Math" panose="02040503050406030204" pitchFamily="18" charset="0"/>
                              </a:rPr>
                            </m:ctrlPr>
                          </m:limLowPr>
                          <m:e>
                            <m:groupChr>
                              <m:groupChrPr>
                                <m:chr m:val="⏟"/>
                                <m:ctrlPr>
                                  <a:rPr lang="en-US" sz="2200" i="1" smtClean="0">
                                    <a:solidFill>
                                      <a:schemeClr val="tx1"/>
                                    </a:solidFill>
                                    <a:latin typeface="Cambria Math" panose="02040503050406030204" pitchFamily="18" charset="0"/>
                                  </a:rPr>
                                </m:ctrlPr>
                              </m:groupChrPr>
                              <m:e>
                                <m:r>
                                  <a:rPr lang="en-US" sz="2200" b="0" i="1" smtClean="0">
                                    <a:solidFill>
                                      <a:schemeClr val="tx1"/>
                                    </a:solidFill>
                                    <a:latin typeface="Cambria Math"/>
                                  </a:rPr>
                                  <m:t>    </m:t>
                                </m:r>
                                <m:r>
                                  <a:rPr lang="en-US" sz="2200" b="0" i="1" smtClean="0">
                                    <a:solidFill>
                                      <a:schemeClr val="tx1"/>
                                    </a:solidFill>
                                    <a:latin typeface="Cambria Math" panose="02040503050406030204" pitchFamily="18" charset="0"/>
                                  </a:rPr>
                                  <m:t>     </m:t>
                                </m:r>
                                <m:r>
                                  <a:rPr lang="en-US" sz="2200" b="0" i="1" smtClean="0">
                                    <a:solidFill>
                                      <a:schemeClr val="tx1"/>
                                    </a:solidFill>
                                    <a:latin typeface="Cambria Math"/>
                                  </a:rPr>
                                  <m:t>          </m:t>
                                </m:r>
                              </m:e>
                            </m:groupChr>
                          </m:e>
                          <m:lim>
                            <m:r>
                              <a:rPr lang="en-US" sz="2200" i="1" dirty="0" smtClean="0">
                                <a:solidFill>
                                  <a:schemeClr val="tx1"/>
                                </a:solidFill>
                                <a:latin typeface="Cambria Math" panose="02040503050406030204" pitchFamily="18" charset="0"/>
                              </a:rPr>
                              <m:t>𝑝</m:t>
                            </m:r>
                            <m:r>
                              <a:rPr lang="en-US" sz="2200" b="0" i="1" dirty="0" smtClean="0">
                                <a:solidFill>
                                  <a:schemeClr val="tx1"/>
                                </a:solidFill>
                                <a:latin typeface="Cambria Math" panose="02040503050406030204" pitchFamily="18" charset="0"/>
                              </a:rPr>
                              <m:t>𝑜𝑠𝑡𝑒𝑟𝑖𝑜𝑟</m:t>
                            </m:r>
                          </m:lim>
                        </m:limLow>
                      </m:oMath>
                    </m:oMathPara>
                  </a14:m>
                  <a:endParaRPr lang="en-US" sz="2200" dirty="0">
                    <a:solidFill>
                      <a:schemeClr val="tx1"/>
                    </a:solidFill>
                  </a:endParaRPr>
                </a:p>
              </p:txBody>
            </p:sp>
          </mc:Choice>
          <mc:Fallback xmlns="">
            <p:sp>
              <p:nvSpPr>
                <p:cNvPr id="39" name="Rectangle 38">
                  <a:extLst>
                    <a:ext uri="{FF2B5EF4-FFF2-40B4-BE49-F238E27FC236}">
                      <a16:creationId xmlns:a16="http://schemas.microsoft.com/office/drawing/2014/main" id="{AB0C0AF7-C8B0-4CCA-A6FB-AE23B1B56281}"/>
                    </a:ext>
                  </a:extLst>
                </p:cNvPr>
                <p:cNvSpPr>
                  <a:spLocks noRot="1" noChangeAspect="1" noMove="1" noResize="1" noEditPoints="1" noAdjustHandles="1" noChangeArrowheads="1" noChangeShapeType="1" noTextEdit="1"/>
                </p:cNvSpPr>
                <p:nvPr/>
              </p:nvSpPr>
              <p:spPr>
                <a:xfrm>
                  <a:off x="4592744" y="1255104"/>
                  <a:ext cx="1451038" cy="705899"/>
                </a:xfrm>
                <a:prstGeom prst="rect">
                  <a:avLst/>
                </a:prstGeom>
                <a:blipFill>
                  <a:blip r:embed="rId14"/>
                  <a:stretch>
                    <a:fillRect b="-25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894BA375-7568-4031-9472-40D2B775376D}"/>
                    </a:ext>
                  </a:extLst>
                </p:cNvPr>
                <p:cNvSpPr/>
                <p:nvPr/>
              </p:nvSpPr>
              <p:spPr>
                <a:xfrm>
                  <a:off x="7301399" y="550902"/>
                  <a:ext cx="1138452" cy="67710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solidFill>
                              <a:srgbClr val="FF0000"/>
                            </a:solidFill>
                            <a:latin typeface="Cambria Math" panose="02040503050406030204" pitchFamily="18" charset="0"/>
                          </a:rPr>
                          <m:t>𝑝</m:t>
                        </m:r>
                        <m:r>
                          <a:rPr lang="en-US" sz="1600" i="1">
                            <a:solidFill>
                              <a:srgbClr val="FF0000"/>
                            </a:solidFill>
                            <a:latin typeface="Cambria Math" panose="02040503050406030204" pitchFamily="18" charset="0"/>
                          </a:rPr>
                          <m:t>𝑟𝑖𝑜𝑟</m:t>
                        </m:r>
                      </m:oMath>
                    </m:oMathPara>
                  </a14:m>
                  <a:endParaRPr lang="en-US" sz="1600" i="1" dirty="0">
                    <a:solidFill>
                      <a:srgbClr val="FF0000"/>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groupChr>
                          <m:groupChrPr>
                            <m:chr m:val="⏞"/>
                            <m:pos m:val="top"/>
                            <m:vertJc m:val="bot"/>
                            <m:ctrlPr>
                              <a:rPr lang="en-US" sz="2200" i="1" smtClean="0">
                                <a:solidFill>
                                  <a:srgbClr val="FF0000"/>
                                </a:solidFill>
                                <a:latin typeface="Cambria Math" panose="02040503050406030204" pitchFamily="18" charset="0"/>
                              </a:rPr>
                            </m:ctrlPr>
                          </m:groupChrPr>
                          <m:e>
                            <m:r>
                              <m:rPr>
                                <m:brk/>
                              </m:rPr>
                              <a:rPr lang="en-US" sz="2200" b="0" i="1" smtClean="0">
                                <a:solidFill>
                                  <a:srgbClr val="FF0000"/>
                                </a:solidFill>
                                <a:latin typeface="Cambria Math" panose="02040503050406030204" pitchFamily="18" charset="0"/>
                              </a:rPr>
                              <m:t> </m:t>
                            </m:r>
                            <m:r>
                              <a:rPr lang="en-US" sz="2200" b="0" i="1" smtClean="0">
                                <a:solidFill>
                                  <a:srgbClr val="FF0000"/>
                                </a:solidFill>
                                <a:latin typeface="Cambria Math" panose="02040503050406030204" pitchFamily="18" charset="0"/>
                              </a:rPr>
                              <m:t>             </m:t>
                            </m:r>
                          </m:e>
                        </m:groupChr>
                      </m:oMath>
                    </m:oMathPara>
                  </a14:m>
                  <a:endParaRPr lang="en-US" sz="2200" dirty="0">
                    <a:solidFill>
                      <a:srgbClr val="FF0000"/>
                    </a:solidFill>
                  </a:endParaRPr>
                </a:p>
              </p:txBody>
            </p:sp>
          </mc:Choice>
          <mc:Fallback xmlns="">
            <p:sp>
              <p:nvSpPr>
                <p:cNvPr id="40" name="Rectangle 39">
                  <a:extLst>
                    <a:ext uri="{FF2B5EF4-FFF2-40B4-BE49-F238E27FC236}">
                      <a16:creationId xmlns:a16="http://schemas.microsoft.com/office/drawing/2014/main" id="{894BA375-7568-4031-9472-40D2B775376D}"/>
                    </a:ext>
                  </a:extLst>
                </p:cNvPr>
                <p:cNvSpPr>
                  <a:spLocks noRot="1" noChangeAspect="1" noMove="1" noResize="1" noEditPoints="1" noAdjustHandles="1" noChangeArrowheads="1" noChangeShapeType="1" noTextEdit="1"/>
                </p:cNvSpPr>
                <p:nvPr/>
              </p:nvSpPr>
              <p:spPr>
                <a:xfrm>
                  <a:off x="7301399" y="550902"/>
                  <a:ext cx="1138452" cy="677108"/>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58627D82-003E-4E32-B4C4-033807262B71}"/>
                    </a:ext>
                  </a:extLst>
                </p:cNvPr>
                <p:cNvSpPr/>
                <p:nvPr/>
              </p:nvSpPr>
              <p:spPr>
                <a:xfrm>
                  <a:off x="6099662" y="550902"/>
                  <a:ext cx="1388522" cy="67710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solidFill>
                              <a:srgbClr val="0000FF"/>
                            </a:solidFill>
                            <a:latin typeface="Cambria Math" panose="02040503050406030204" pitchFamily="18" charset="0"/>
                          </a:rPr>
                          <m:t>𝑙𝑖𝑘𝑒𝑙𝑖h𝑜𝑜𝑑</m:t>
                        </m:r>
                      </m:oMath>
                    </m:oMathPara>
                  </a14:m>
                  <a:endParaRPr lang="en-US" sz="1600" i="1" dirty="0">
                    <a:solidFill>
                      <a:srgbClr val="0000FF"/>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groupChr>
                          <m:groupChrPr>
                            <m:chr m:val="⏞"/>
                            <m:pos m:val="top"/>
                            <m:vertJc m:val="bot"/>
                            <m:ctrlPr>
                              <a:rPr lang="en-US" sz="2200" i="1" smtClean="0">
                                <a:solidFill>
                                  <a:srgbClr val="0000FF"/>
                                </a:solidFill>
                                <a:latin typeface="Cambria Math" panose="02040503050406030204" pitchFamily="18" charset="0"/>
                              </a:rPr>
                            </m:ctrlPr>
                          </m:groupChrPr>
                          <m:e>
                            <m:r>
                              <m:rPr>
                                <m:brk/>
                              </m:rPr>
                              <a:rPr lang="en-US" sz="2200" b="0" i="1" smtClean="0">
                                <a:solidFill>
                                  <a:srgbClr val="0000FF"/>
                                </a:solidFill>
                                <a:latin typeface="Cambria Math" panose="02040503050406030204" pitchFamily="18" charset="0"/>
                              </a:rPr>
                              <m:t> </m:t>
                            </m:r>
                            <m:r>
                              <a:rPr lang="en-US" sz="2200" b="0" i="1" smtClean="0">
                                <a:solidFill>
                                  <a:srgbClr val="0000FF"/>
                                </a:solidFill>
                                <a:latin typeface="Cambria Math" panose="02040503050406030204" pitchFamily="18" charset="0"/>
                              </a:rPr>
                              <m:t>                 </m:t>
                            </m:r>
                          </m:e>
                        </m:groupChr>
                      </m:oMath>
                    </m:oMathPara>
                  </a14:m>
                  <a:endParaRPr lang="en-US" sz="2200" dirty="0">
                    <a:solidFill>
                      <a:srgbClr val="0000FF"/>
                    </a:solidFill>
                  </a:endParaRPr>
                </a:p>
              </p:txBody>
            </p:sp>
          </mc:Choice>
          <mc:Fallback xmlns="">
            <p:sp>
              <p:nvSpPr>
                <p:cNvPr id="41" name="Rectangle 40">
                  <a:extLst>
                    <a:ext uri="{FF2B5EF4-FFF2-40B4-BE49-F238E27FC236}">
                      <a16:creationId xmlns:a16="http://schemas.microsoft.com/office/drawing/2014/main" id="{58627D82-003E-4E32-B4C4-033807262B71}"/>
                    </a:ext>
                  </a:extLst>
                </p:cNvPr>
                <p:cNvSpPr>
                  <a:spLocks noRot="1" noChangeAspect="1" noMove="1" noResize="1" noEditPoints="1" noAdjustHandles="1" noChangeArrowheads="1" noChangeShapeType="1" noTextEdit="1"/>
                </p:cNvSpPr>
                <p:nvPr/>
              </p:nvSpPr>
              <p:spPr>
                <a:xfrm>
                  <a:off x="6099662" y="550902"/>
                  <a:ext cx="1388522" cy="677108"/>
                </a:xfrm>
                <a:prstGeom prst="rect">
                  <a:avLst/>
                </a:prstGeom>
                <a:blipFill>
                  <a:blip r:embed="rId16"/>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1782042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4 2 1 1 1"/>
          <p:cNvSpPr txBox="1">
            <a:spLocks/>
          </p:cNvSpPr>
          <p:nvPr/>
        </p:nvSpPr>
        <p:spPr>
          <a:xfrm>
            <a:off x="381000" y="838200"/>
            <a:ext cx="8382000" cy="685800"/>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600" dirty="0">
                <a:solidFill>
                  <a:schemeClr val="tx1"/>
                </a:solidFill>
              </a:rPr>
              <a:t>The Monty Hall Problem and Bayes Rule</a:t>
            </a:r>
          </a:p>
          <a:p>
            <a:pPr algn="ctr" fontAlgn="auto">
              <a:spcAft>
                <a:spcPts val="0"/>
              </a:spcAft>
            </a:pPr>
            <a:endParaRPr lang="en-US" sz="500" dirty="0">
              <a:solidFill>
                <a:schemeClr val="tx1"/>
              </a:solidFill>
            </a:endParaRPr>
          </a:p>
          <a:p>
            <a:pPr algn="ctr" fontAlgn="auto">
              <a:spcAft>
                <a:spcPts val="0"/>
              </a:spcAft>
            </a:pPr>
            <a:r>
              <a:rPr lang="en-US" sz="1600" dirty="0">
                <a:solidFill>
                  <a:schemeClr val="tx1"/>
                </a:solidFill>
              </a:rPr>
              <a:t>Steve </a:t>
            </a:r>
            <a:r>
              <a:rPr lang="en-US" sz="1600" dirty="0" err="1">
                <a:solidFill>
                  <a:schemeClr val="tx1"/>
                </a:solidFill>
              </a:rPr>
              <a:t>Selvin</a:t>
            </a:r>
            <a:r>
              <a:rPr lang="en-US" sz="1600" dirty="0">
                <a:solidFill>
                  <a:schemeClr val="tx1"/>
                </a:solidFill>
              </a:rPr>
              <a:t>, 1975, "A problem in probability (letter to the editor)". </a:t>
            </a:r>
            <a:r>
              <a:rPr lang="en-US" sz="1600" i="1" dirty="0">
                <a:solidFill>
                  <a:schemeClr val="tx1"/>
                </a:solidFill>
              </a:rPr>
              <a:t>American Statistician</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00400" y="1832501"/>
            <a:ext cx="2743200" cy="2244199"/>
          </a:xfrm>
          <a:prstGeom prst="rect">
            <a:avLst/>
          </a:prstGeom>
        </p:spPr>
      </p:pic>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7200" y="4648200"/>
            <a:ext cx="2878536" cy="1664476"/>
          </a:xfrm>
          <a:prstGeom prst="rect">
            <a:avLst/>
          </a:prstGeom>
        </p:spPr>
      </p:pic>
      <p:pic>
        <p:nvPicPr>
          <p:cNvPr id="16" name="Picture 1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34000" y="4724400"/>
            <a:ext cx="3352800" cy="1862376"/>
          </a:xfrm>
          <a:prstGeom prst="rect">
            <a:avLst/>
          </a:prstGeom>
        </p:spPr>
      </p:pic>
      <p:sp>
        <p:nvSpPr>
          <p:cNvPr id="19" name="Rectangle 18"/>
          <p:cNvSpPr/>
          <p:nvPr/>
        </p:nvSpPr>
        <p:spPr>
          <a:xfrm>
            <a:off x="152400" y="4246660"/>
            <a:ext cx="8984428" cy="307777"/>
          </a:xfrm>
          <a:prstGeom prst="rect">
            <a:avLst/>
          </a:prstGeom>
        </p:spPr>
        <p:txBody>
          <a:bodyPr wrap="square">
            <a:spAutoFit/>
          </a:bodyPr>
          <a:lstStyle/>
          <a:p>
            <a:r>
              <a:rPr lang="en-US" sz="1400" b="1" dirty="0"/>
              <a:t>Correct answer:</a:t>
            </a:r>
            <a:r>
              <a:rPr lang="en-US" sz="1400" dirty="0"/>
              <a:t> The advantage of switching door, depends on your knowledge about the host’s decision.</a:t>
            </a:r>
          </a:p>
        </p:txBody>
      </p:sp>
      <p:sp>
        <p:nvSpPr>
          <p:cNvPr id="11" name="Title 4 1">
            <a:extLst>
              <a:ext uri="{FF2B5EF4-FFF2-40B4-BE49-F238E27FC236}">
                <a16:creationId xmlns:a16="http://schemas.microsoft.com/office/drawing/2014/main" id="{3766C417-EBBE-471B-A59A-07B67885A35F}"/>
              </a:ext>
            </a:extLst>
          </p:cNvPr>
          <p:cNvSpPr>
            <a:spLocks noGrp="1"/>
          </p:cNvSpPr>
          <p:nvPr>
            <p:ph type="title"/>
          </p:nvPr>
        </p:nvSpPr>
        <p:spPr>
          <a:xfrm>
            <a:off x="152400" y="152400"/>
            <a:ext cx="8839200" cy="304800"/>
          </a:xfrm>
        </p:spPr>
        <p:txBody>
          <a:bodyPr>
            <a:noAutofit/>
          </a:bodyPr>
          <a:lstStyle/>
          <a:p>
            <a:r>
              <a:rPr lang="en-US" sz="1800" b="1" dirty="0">
                <a:solidFill>
                  <a:prstClr val="black"/>
                </a:solidFill>
              </a:rPr>
              <a:t>Digression: Bayes rule - The optimal method of inference</a:t>
            </a:r>
            <a:endParaRPr lang="en-US" sz="1700" dirty="0">
              <a:solidFill>
                <a:schemeClr val="tx1"/>
              </a:solidFill>
            </a:endParaRPr>
          </a:p>
        </p:txBody>
      </p:sp>
    </p:spTree>
    <p:extLst>
      <p:ext uri="{BB962C8B-B14F-4D97-AF65-F5344CB8AC3E}">
        <p14:creationId xmlns:p14="http://schemas.microsoft.com/office/powerpoint/2010/main" val="2893266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0 2.96296E-6 L 0.30833 0.00254 " pathEditMode="relative" rAng="0" ptsTypes="AA">
                                      <p:cBhvr>
                                        <p:cTn id="14" dur="1250" fill="hold"/>
                                        <p:tgtEl>
                                          <p:spTgt spid="7"/>
                                        </p:tgtEl>
                                        <p:attrNameLst>
                                          <p:attrName>ppt_x</p:attrName>
                                          <p:attrName>ppt_y</p:attrName>
                                        </p:attrNameLst>
                                      </p:cBhvr>
                                      <p:rCtr x="15417" y="116"/>
                                    </p:animMotion>
                                  </p:childTnLst>
                                </p:cTn>
                              </p:par>
                              <p:par>
                                <p:cTn id="15" presetID="10" presetClass="entr" presetSubtype="0" fill="hold" nodeType="withEffect">
                                  <p:stCondLst>
                                    <p:cond delay="75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par>
                                <p:cTn id="18" presetID="10" presetClass="entr" presetSubtype="0" fill="hold" nodeType="withEffect">
                                  <p:stCondLst>
                                    <p:cond delay="75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4 2 1 1 1"/>
          <p:cNvSpPr txBox="1">
            <a:spLocks/>
          </p:cNvSpPr>
          <p:nvPr/>
        </p:nvSpPr>
        <p:spPr>
          <a:xfrm>
            <a:off x="381000" y="838200"/>
            <a:ext cx="8382000" cy="685800"/>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600" dirty="0">
                <a:solidFill>
                  <a:schemeClr val="tx1"/>
                </a:solidFill>
              </a:rPr>
              <a:t>The Monty Hall Problem and Bayes Rule</a:t>
            </a:r>
          </a:p>
          <a:p>
            <a:pPr algn="ctr" fontAlgn="auto">
              <a:spcAft>
                <a:spcPts val="0"/>
              </a:spcAft>
            </a:pPr>
            <a:endParaRPr lang="en-US" sz="500" dirty="0">
              <a:solidFill>
                <a:schemeClr val="tx1"/>
              </a:solidFill>
            </a:endParaRPr>
          </a:p>
          <a:p>
            <a:pPr algn="ctr" fontAlgn="auto">
              <a:spcAft>
                <a:spcPts val="0"/>
              </a:spcAft>
            </a:pPr>
            <a:r>
              <a:rPr lang="en-US" sz="1600" dirty="0">
                <a:solidFill>
                  <a:schemeClr val="tx1"/>
                </a:solidFill>
              </a:rPr>
              <a:t>Steve </a:t>
            </a:r>
            <a:r>
              <a:rPr lang="en-US" sz="1600" dirty="0" err="1">
                <a:solidFill>
                  <a:schemeClr val="tx1"/>
                </a:solidFill>
              </a:rPr>
              <a:t>Selvin</a:t>
            </a:r>
            <a:r>
              <a:rPr lang="en-US" sz="1600" dirty="0">
                <a:solidFill>
                  <a:schemeClr val="tx1"/>
                </a:solidFill>
              </a:rPr>
              <a:t>, 1975, "A problem in probability (letter to the editor)". </a:t>
            </a:r>
            <a:r>
              <a:rPr lang="en-US" sz="1600" i="1" dirty="0">
                <a:solidFill>
                  <a:schemeClr val="tx1"/>
                </a:solidFill>
              </a:rPr>
              <a:t>American Statistician</a:t>
            </a:r>
          </a:p>
        </p:txBody>
      </p:sp>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 y="4648200"/>
            <a:ext cx="2878536" cy="1664476"/>
          </a:xfrm>
          <a:prstGeom prst="rect">
            <a:avLst/>
          </a:prstGeom>
        </p:spPr>
      </p:pic>
      <p:sp>
        <p:nvSpPr>
          <p:cNvPr id="32" name="Title 4 2 1 1 1"/>
          <p:cNvSpPr txBox="1">
            <a:spLocks/>
          </p:cNvSpPr>
          <p:nvPr/>
        </p:nvSpPr>
        <p:spPr>
          <a:xfrm>
            <a:off x="152400" y="1832500"/>
            <a:ext cx="5645972" cy="2244199"/>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just" fontAlgn="auto">
              <a:spcAft>
                <a:spcPts val="0"/>
              </a:spcAft>
            </a:pPr>
            <a:r>
              <a:rPr lang="en-US" sz="1500" dirty="0">
                <a:solidFill>
                  <a:schemeClr val="tx1"/>
                </a:solidFill>
              </a:rPr>
              <a:t>Suppose you're on a game show, and you're given the choice of three doors: Behind one door is a car; behind the two others, goats. </a:t>
            </a:r>
            <a:r>
              <a:rPr lang="en-US" sz="1500" b="1" dirty="0">
                <a:solidFill>
                  <a:schemeClr val="tx1"/>
                </a:solidFill>
              </a:rPr>
              <a:t>You pick a door, say No. 1</a:t>
            </a:r>
            <a:r>
              <a:rPr lang="en-US" sz="1500" dirty="0">
                <a:solidFill>
                  <a:schemeClr val="tx1"/>
                </a:solidFill>
              </a:rPr>
              <a:t>, and </a:t>
            </a:r>
            <a:r>
              <a:rPr lang="en-US" sz="1500" b="1" dirty="0">
                <a:solidFill>
                  <a:schemeClr val="tx1"/>
                </a:solidFill>
              </a:rPr>
              <a:t>the host opens another door, say No. 3, which has a goat</a:t>
            </a:r>
            <a:r>
              <a:rPr lang="en-US" sz="1500" dirty="0">
                <a:solidFill>
                  <a:schemeClr val="tx1"/>
                </a:solidFill>
              </a:rPr>
              <a:t>. He then says to you, "Do you want to pick door No. 2?" </a:t>
            </a:r>
          </a:p>
          <a:p>
            <a:pPr algn="just" fontAlgn="auto">
              <a:spcAft>
                <a:spcPts val="0"/>
              </a:spcAft>
            </a:pPr>
            <a:endParaRPr lang="en-US" sz="1500" i="1" dirty="0">
              <a:solidFill>
                <a:schemeClr val="tx1"/>
              </a:solidFill>
            </a:endParaRPr>
          </a:p>
          <a:p>
            <a:pPr algn="just" fontAlgn="auto">
              <a:spcAft>
                <a:spcPts val="0"/>
              </a:spcAft>
            </a:pPr>
            <a:endParaRPr lang="en-US" sz="1500" i="1" dirty="0">
              <a:solidFill>
                <a:schemeClr val="tx1"/>
              </a:solidFill>
            </a:endParaRPr>
          </a:p>
          <a:p>
            <a:pPr algn="just" fontAlgn="auto">
              <a:spcAft>
                <a:spcPts val="0"/>
              </a:spcAft>
            </a:pPr>
            <a:r>
              <a:rPr lang="en-US" sz="1500" b="1" i="1" dirty="0">
                <a:solidFill>
                  <a:schemeClr val="tx1"/>
                </a:solidFill>
              </a:rPr>
              <a:t>Question:</a:t>
            </a:r>
          </a:p>
          <a:p>
            <a:pPr algn="just" fontAlgn="auto">
              <a:spcAft>
                <a:spcPts val="0"/>
              </a:spcAft>
            </a:pPr>
            <a:r>
              <a:rPr lang="en-US" sz="1500" b="1" dirty="0">
                <a:solidFill>
                  <a:schemeClr val="tx1"/>
                </a:solidFill>
              </a:rPr>
              <a:t>Is it to your advantage to switch your choice from door 1 to door 2?</a:t>
            </a:r>
          </a:p>
        </p:txBody>
      </p:sp>
      <p:pic>
        <p:nvPicPr>
          <p:cNvPr id="16" name="Picture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34000" y="4724400"/>
            <a:ext cx="3352800" cy="1862376"/>
          </a:xfrm>
          <a:prstGeom prst="rect">
            <a:avLst/>
          </a:prstGeom>
        </p:spPr>
      </p:pic>
      <p:sp>
        <p:nvSpPr>
          <p:cNvPr id="19" name="Rectangle 18"/>
          <p:cNvSpPr/>
          <p:nvPr/>
        </p:nvSpPr>
        <p:spPr>
          <a:xfrm>
            <a:off x="152400" y="4246660"/>
            <a:ext cx="8984428" cy="307777"/>
          </a:xfrm>
          <a:prstGeom prst="rect">
            <a:avLst/>
          </a:prstGeom>
        </p:spPr>
        <p:txBody>
          <a:bodyPr wrap="square">
            <a:spAutoFit/>
          </a:bodyPr>
          <a:lstStyle/>
          <a:p>
            <a:r>
              <a:rPr lang="en-US" sz="1400" b="1" dirty="0"/>
              <a:t>Correct answer:</a:t>
            </a:r>
            <a:r>
              <a:rPr lang="en-US" sz="1400" dirty="0"/>
              <a:t> The advantage of switching door, depends on your knowledge about the host’s decision.</a:t>
            </a:r>
          </a:p>
        </p:txBody>
      </p:sp>
      <p:sp>
        <p:nvSpPr>
          <p:cNvPr id="11" name="Title 4 1">
            <a:extLst>
              <a:ext uri="{FF2B5EF4-FFF2-40B4-BE49-F238E27FC236}">
                <a16:creationId xmlns:a16="http://schemas.microsoft.com/office/drawing/2014/main" id="{3766C417-EBBE-471B-A59A-07B67885A35F}"/>
              </a:ext>
            </a:extLst>
          </p:cNvPr>
          <p:cNvSpPr>
            <a:spLocks noGrp="1"/>
          </p:cNvSpPr>
          <p:nvPr>
            <p:ph type="title"/>
          </p:nvPr>
        </p:nvSpPr>
        <p:spPr>
          <a:xfrm>
            <a:off x="152400" y="152400"/>
            <a:ext cx="8839200" cy="304800"/>
          </a:xfrm>
        </p:spPr>
        <p:txBody>
          <a:bodyPr>
            <a:noAutofit/>
          </a:bodyPr>
          <a:lstStyle/>
          <a:p>
            <a:r>
              <a:rPr lang="en-US" sz="1800" b="1" dirty="0">
                <a:solidFill>
                  <a:prstClr val="black"/>
                </a:solidFill>
              </a:rPr>
              <a:t>Digression: Bayes rule - The optimal method of inference</a:t>
            </a:r>
            <a:endParaRPr lang="en-US" sz="1700" dirty="0">
              <a:solidFill>
                <a:schemeClr val="tx1"/>
              </a:solidFill>
            </a:endParaRPr>
          </a:p>
        </p:txBody>
      </p:sp>
    </p:spTree>
    <p:extLst>
      <p:ext uri="{BB962C8B-B14F-4D97-AF65-F5344CB8AC3E}">
        <p14:creationId xmlns:p14="http://schemas.microsoft.com/office/powerpoint/2010/main" val="482751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10" presetClass="entr" presetSubtype="0" fill="hold" nodeType="withEffect">
                                  <p:stCondLst>
                                    <p:cond delay="75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par>
                                <p:cTn id="11" presetID="10" presetClass="entr" presetSubtype="0" fill="hold" grpId="0" nodeType="withEffect">
                                  <p:stCondLst>
                                    <p:cond delay="75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500"/>
                                        <p:tgtEl>
                                          <p:spTgt spid="32"/>
                                        </p:tgtEl>
                                      </p:cBhvr>
                                    </p:animEffect>
                                  </p:childTnLst>
                                </p:cTn>
                              </p:par>
                              <p:par>
                                <p:cTn id="14" presetID="10" presetClass="entr" presetSubtype="0" fill="hold" nodeType="withEffect">
                                  <p:stCondLst>
                                    <p:cond delay="75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nodeType="withEffect">
                                  <p:stCondLst>
                                    <p:cond delay="75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par>
                                <p:cTn id="20" presetID="10" presetClass="entr" presetSubtype="0" fill="hold" nodeType="withEffect">
                                  <p:stCondLst>
                                    <p:cond delay="750"/>
                                  </p:stCondLst>
                                  <p:childTnLst>
                                    <p:set>
                                      <p:cBhvr>
                                        <p:cTn id="21" dur="1" fill="hold">
                                          <p:stCondLst>
                                            <p:cond delay="0"/>
                                          </p:stCondLst>
                                        </p:cTn>
                                        <p:tgtEl>
                                          <p:spTgt spid="32">
                                            <p:txEl>
                                              <p:pRg st="3" end="3"/>
                                            </p:txEl>
                                          </p:spTgt>
                                        </p:tgtEl>
                                        <p:attrNameLst>
                                          <p:attrName>style.visibility</p:attrName>
                                        </p:attrNameLst>
                                      </p:cBhvr>
                                      <p:to>
                                        <p:strVal val="visible"/>
                                      </p:to>
                                    </p:set>
                                    <p:animEffect transition="in" filter="fade">
                                      <p:cBhvr>
                                        <p:cTn id="22" dur="500"/>
                                        <p:tgtEl>
                                          <p:spTgt spid="32">
                                            <p:txEl>
                                              <p:pRg st="3" end="3"/>
                                            </p:txEl>
                                          </p:spTgt>
                                        </p:tgtEl>
                                      </p:cBhvr>
                                    </p:animEffect>
                                  </p:childTnLst>
                                </p:cTn>
                              </p:par>
                              <p:par>
                                <p:cTn id="23" presetID="10" presetClass="entr" presetSubtype="0" fill="hold" nodeType="withEffect">
                                  <p:stCondLst>
                                    <p:cond delay="750"/>
                                  </p:stCondLst>
                                  <p:childTnLst>
                                    <p:set>
                                      <p:cBhvr>
                                        <p:cTn id="24" dur="1" fill="hold">
                                          <p:stCondLst>
                                            <p:cond delay="0"/>
                                          </p:stCondLst>
                                        </p:cTn>
                                        <p:tgtEl>
                                          <p:spTgt spid="32">
                                            <p:txEl>
                                              <p:pRg st="4" end="4"/>
                                            </p:txEl>
                                          </p:spTgt>
                                        </p:tgtEl>
                                        <p:attrNameLst>
                                          <p:attrName>style.visibility</p:attrName>
                                        </p:attrNameLst>
                                      </p:cBhvr>
                                      <p:to>
                                        <p:strVal val="visible"/>
                                      </p:to>
                                    </p:set>
                                    <p:animEffect transition="in" filter="fade">
                                      <p:cBhvr>
                                        <p:cTn id="25" dur="500"/>
                                        <p:tgtEl>
                                          <p:spTgt spid="32">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2" grpId="0"/>
      <p:bldP spid="1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2209800" y="2667000"/>
            <a:ext cx="4334262" cy="597407"/>
          </a:xfrm>
          <a:prstGeom prst="rect">
            <a:avLst/>
          </a:prstGeom>
        </p:spPr>
      </p:pic>
      <p:pic>
        <p:nvPicPr>
          <p:cNvPr id="17" name="Picture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7200" y="4648200"/>
            <a:ext cx="2878536" cy="1664476"/>
          </a:xfrm>
          <a:prstGeom prst="rect">
            <a:avLst/>
          </a:prstGeom>
        </p:spPr>
      </p:pic>
      <p:pic>
        <p:nvPicPr>
          <p:cNvPr id="18" name="Picture 1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334000" y="4724400"/>
            <a:ext cx="3352800" cy="1862376"/>
          </a:xfrm>
          <a:prstGeom prst="rect">
            <a:avLst/>
          </a:prstGeom>
        </p:spPr>
      </p:pic>
      <p:sp>
        <p:nvSpPr>
          <p:cNvPr id="20" name="Rectangle 19"/>
          <p:cNvSpPr/>
          <p:nvPr/>
        </p:nvSpPr>
        <p:spPr>
          <a:xfrm>
            <a:off x="152400" y="850500"/>
            <a:ext cx="8984428" cy="738664"/>
          </a:xfrm>
          <a:prstGeom prst="rect">
            <a:avLst/>
          </a:prstGeom>
        </p:spPr>
        <p:txBody>
          <a:bodyPr wrap="square">
            <a:spAutoFit/>
          </a:bodyPr>
          <a:lstStyle/>
          <a:p>
            <a:r>
              <a:rPr lang="en-US" sz="1400" b="1" dirty="0"/>
              <a:t>Case 1:   Informed Host: Knows where the car is and will not open the door that leads to car.</a:t>
            </a:r>
          </a:p>
          <a:p>
            <a:endParaRPr lang="en-US" sz="1400" b="1" dirty="0"/>
          </a:p>
          <a:p>
            <a:r>
              <a:rPr lang="en-US" sz="1400" dirty="0"/>
              <a:t>You, the guest, choose door 1.</a:t>
            </a:r>
            <a:r>
              <a:rPr lang="en-US" sz="1400" b="1" dirty="0"/>
              <a:t> </a:t>
            </a:r>
            <a:r>
              <a:rPr lang="en-US" sz="1400" dirty="0"/>
              <a:t>The </a:t>
            </a:r>
            <a:r>
              <a:rPr lang="en-US" sz="1400" b="1" dirty="0"/>
              <a:t>Informed</a:t>
            </a:r>
            <a:r>
              <a:rPr lang="en-US" sz="1400" dirty="0"/>
              <a:t> host </a:t>
            </a:r>
            <a:r>
              <a:rPr lang="en-US" sz="1400" b="1" dirty="0"/>
              <a:t>consciously </a:t>
            </a:r>
            <a:r>
              <a:rPr lang="en-US" sz="1400" dirty="0"/>
              <a:t>opens door 3.</a:t>
            </a:r>
          </a:p>
        </p:txBody>
      </p:sp>
      <p:sp>
        <p:nvSpPr>
          <p:cNvPr id="9" name="Title 4 1">
            <a:extLst>
              <a:ext uri="{FF2B5EF4-FFF2-40B4-BE49-F238E27FC236}">
                <a16:creationId xmlns:a16="http://schemas.microsoft.com/office/drawing/2014/main" id="{722C1363-06F4-4284-B7DF-8D6B0A854AAE}"/>
              </a:ext>
            </a:extLst>
          </p:cNvPr>
          <p:cNvSpPr txBox="1">
            <a:spLocks/>
          </p:cNvSpPr>
          <p:nvPr/>
        </p:nvSpPr>
        <p:spPr>
          <a:xfrm>
            <a:off x="152400" y="152400"/>
            <a:ext cx="8839200" cy="304800"/>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fontAlgn="auto">
              <a:spcAft>
                <a:spcPts val="0"/>
              </a:spcAft>
            </a:pPr>
            <a:r>
              <a:rPr lang="en-US" sz="1800" b="1" dirty="0">
                <a:solidFill>
                  <a:prstClr val="black"/>
                </a:solidFill>
              </a:rPr>
              <a:t>Digression: Bayes rule - The optimal method of inference</a:t>
            </a:r>
            <a:endParaRPr lang="en-US" sz="1700" dirty="0">
              <a:solidFill>
                <a:schemeClr val="tx1"/>
              </a:solidFill>
            </a:endParaRPr>
          </a:p>
        </p:txBody>
      </p:sp>
    </p:spTree>
    <p:extLst>
      <p:ext uri="{BB962C8B-B14F-4D97-AF65-F5344CB8AC3E}">
        <p14:creationId xmlns:p14="http://schemas.microsoft.com/office/powerpoint/2010/main" val="35970139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1573901" y="3952250"/>
            <a:ext cx="5996198" cy="597332"/>
          </a:xfrm>
          <a:prstGeom prst="rect">
            <a:avLst/>
          </a:prstGeom>
        </p:spPr>
      </p:pic>
      <p:pic>
        <p:nvPicPr>
          <p:cNvPr id="17" name="Picture 1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57200" y="4648200"/>
            <a:ext cx="2878536" cy="1664476"/>
          </a:xfrm>
          <a:prstGeom prst="rect">
            <a:avLst/>
          </a:prstGeom>
        </p:spPr>
      </p:pic>
      <p:pic>
        <p:nvPicPr>
          <p:cNvPr id="18" name="Picture 17"/>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34000" y="4724400"/>
            <a:ext cx="3352800" cy="1862376"/>
          </a:xfrm>
          <a:prstGeom prst="rect">
            <a:avLst/>
          </a:prstGeom>
        </p:spPr>
      </p:pic>
      <p:sp>
        <p:nvSpPr>
          <p:cNvPr id="20" name="Rectangle 19"/>
          <p:cNvSpPr/>
          <p:nvPr/>
        </p:nvSpPr>
        <p:spPr>
          <a:xfrm>
            <a:off x="152400" y="850500"/>
            <a:ext cx="8984428" cy="738664"/>
          </a:xfrm>
          <a:prstGeom prst="rect">
            <a:avLst/>
          </a:prstGeom>
        </p:spPr>
        <p:txBody>
          <a:bodyPr wrap="square">
            <a:spAutoFit/>
          </a:bodyPr>
          <a:lstStyle/>
          <a:p>
            <a:r>
              <a:rPr lang="en-US" sz="1400" b="1" dirty="0"/>
              <a:t>Case 1:   Informed Host: Knows where the car is and will not open the door that leads to car.</a:t>
            </a:r>
          </a:p>
          <a:p>
            <a:endParaRPr lang="en-US" sz="1400" b="1" dirty="0"/>
          </a:p>
          <a:p>
            <a:r>
              <a:rPr lang="en-US" sz="1400" dirty="0"/>
              <a:t>You, the guest, choose door 1.</a:t>
            </a:r>
            <a:r>
              <a:rPr lang="en-US" sz="1400" b="1" dirty="0"/>
              <a:t> </a:t>
            </a:r>
            <a:r>
              <a:rPr lang="en-US" sz="1400" dirty="0"/>
              <a:t>The </a:t>
            </a:r>
            <a:r>
              <a:rPr lang="en-US" sz="1400" b="1" dirty="0"/>
              <a:t>Informed</a:t>
            </a:r>
            <a:r>
              <a:rPr lang="en-US" sz="1400" dirty="0"/>
              <a:t> host </a:t>
            </a:r>
            <a:r>
              <a:rPr lang="en-US" sz="1400" b="1" dirty="0"/>
              <a:t>consciously </a:t>
            </a:r>
            <a:r>
              <a:rPr lang="en-US" sz="1400" dirty="0"/>
              <a:t>opens door 3.</a:t>
            </a:r>
          </a:p>
        </p:txBody>
      </p:sp>
      <p:sp>
        <p:nvSpPr>
          <p:cNvPr id="21" name="Rectangle 20"/>
          <p:cNvSpPr/>
          <p:nvPr/>
        </p:nvSpPr>
        <p:spPr>
          <a:xfrm>
            <a:off x="159572" y="1680820"/>
            <a:ext cx="8832028" cy="2379626"/>
          </a:xfrm>
          <a:prstGeom prst="rect">
            <a:avLst/>
          </a:prstGeom>
        </p:spPr>
        <p:txBody>
          <a:bodyPr wrap="square">
            <a:spAutoFit/>
          </a:bodyPr>
          <a:lstStyle/>
          <a:p>
            <a:r>
              <a:rPr lang="en-US" sz="1400" b="1" dirty="0"/>
              <a:t>Prior knowledge about the car being behind door 2 ( C2 ):</a:t>
            </a:r>
            <a:endParaRPr lang="en-US" sz="1400" dirty="0"/>
          </a:p>
          <a:p>
            <a:endParaRPr lang="en-US" sz="1400" dirty="0"/>
          </a:p>
          <a:p>
            <a:endParaRPr lang="en-US" sz="1400" b="1" dirty="0"/>
          </a:p>
          <a:p>
            <a:endParaRPr lang="en-US" sz="1400" b="1" dirty="0"/>
          </a:p>
          <a:p>
            <a:r>
              <a:rPr lang="en-US" sz="1400" b="1" dirty="0"/>
              <a:t>New knowledge:</a:t>
            </a:r>
            <a:r>
              <a:rPr lang="en-US" sz="1400" dirty="0"/>
              <a:t> The informed host chooses door 3 ( </a:t>
            </a:r>
            <a:r>
              <a:rPr lang="en-US" sz="1400" b="1" dirty="0"/>
              <a:t>H3</a:t>
            </a:r>
            <a:r>
              <a:rPr lang="en-US" sz="1400" dirty="0"/>
              <a:t> ) ( He knows that the car is behind door 2)</a:t>
            </a:r>
          </a:p>
          <a:p>
            <a:endParaRPr lang="en-US" sz="1400" dirty="0"/>
          </a:p>
          <a:p>
            <a:endParaRPr lang="en-US" sz="1400" dirty="0"/>
          </a:p>
          <a:p>
            <a:endParaRPr lang="en-US" sz="1400" dirty="0"/>
          </a:p>
          <a:p>
            <a:endParaRPr lang="en-US" sz="700" b="1" dirty="0"/>
          </a:p>
          <a:p>
            <a:r>
              <a:rPr lang="en-US" sz="1400" b="1" dirty="0"/>
              <a:t>Update your knowledge about door C2 using Bayes rule:</a:t>
            </a:r>
          </a:p>
          <a:p>
            <a:endParaRPr lang="en-US" sz="1400" dirty="0"/>
          </a:p>
        </p:txBody>
      </p:sp>
      <p:pic>
        <p:nvPicPr>
          <p:cNvPr id="48" name="Picture 47"/>
          <p:cNvPicPr>
            <a:picLocks noChangeAspect="1"/>
          </p:cNvPicPr>
          <p:nvPr>
            <p:custDataLst>
              <p:tags r:id="rId2"/>
            </p:custDataLst>
          </p:nvPr>
        </p:nvPicPr>
        <p:blipFill>
          <a:blip r:embed="rId10" cstate="print">
            <a:extLst>
              <a:ext uri="{28A0092B-C50C-407E-A947-70E740481C1C}">
                <a14:useLocalDpi xmlns:a14="http://schemas.microsoft.com/office/drawing/2010/main" val="0"/>
              </a:ext>
            </a:extLst>
          </a:blip>
          <a:stretch>
            <a:fillRect/>
          </a:stretch>
        </p:blipFill>
        <p:spPr>
          <a:xfrm>
            <a:off x="1391807" y="1985085"/>
            <a:ext cx="5583245" cy="515046"/>
          </a:xfrm>
          <a:prstGeom prst="rect">
            <a:avLst/>
          </a:prstGeom>
        </p:spPr>
      </p:pic>
      <p:pic>
        <p:nvPicPr>
          <p:cNvPr id="44" name="Picture 43"/>
          <p:cNvPicPr>
            <a:picLocks noChangeAspect="1"/>
          </p:cNvPicPr>
          <p:nvPr>
            <p:custDataLst>
              <p:tags r:id="rId3"/>
            </p:custDataLst>
          </p:nvPr>
        </p:nvPicPr>
        <p:blipFill>
          <a:blip r:embed="rId11" cstate="print">
            <a:extLst>
              <a:ext uri="{28A0092B-C50C-407E-A947-70E740481C1C}">
                <a14:useLocalDpi xmlns:a14="http://schemas.microsoft.com/office/drawing/2010/main" val="0"/>
              </a:ext>
            </a:extLst>
          </a:blip>
          <a:stretch>
            <a:fillRect/>
          </a:stretch>
        </p:blipFill>
        <p:spPr>
          <a:xfrm>
            <a:off x="1296878" y="3067881"/>
            <a:ext cx="2038858" cy="252952"/>
          </a:xfrm>
          <a:prstGeom prst="rect">
            <a:avLst/>
          </a:prstGeom>
        </p:spPr>
      </p:pic>
      <p:pic>
        <p:nvPicPr>
          <p:cNvPr id="45" name="Picture 44"/>
          <p:cNvPicPr>
            <a:picLocks noChangeAspect="1"/>
          </p:cNvPicPr>
          <p:nvPr>
            <p:custDataLst>
              <p:tags r:id="rId4"/>
            </p:custDataLst>
          </p:nvPr>
        </p:nvPicPr>
        <p:blipFill>
          <a:blip r:embed="rId12" cstate="print">
            <a:extLst>
              <a:ext uri="{28A0092B-C50C-407E-A947-70E740481C1C}">
                <a14:useLocalDpi xmlns:a14="http://schemas.microsoft.com/office/drawing/2010/main" val="0"/>
              </a:ext>
            </a:extLst>
          </a:blip>
          <a:stretch>
            <a:fillRect/>
          </a:stretch>
        </p:blipFill>
        <p:spPr>
          <a:xfrm>
            <a:off x="5334000" y="2938358"/>
            <a:ext cx="1651810" cy="511998"/>
          </a:xfrm>
          <a:prstGeom prst="rect">
            <a:avLst/>
          </a:prstGeom>
        </p:spPr>
      </p:pic>
      <p:sp>
        <p:nvSpPr>
          <p:cNvPr id="13" name="Title 4 1">
            <a:extLst>
              <a:ext uri="{FF2B5EF4-FFF2-40B4-BE49-F238E27FC236}">
                <a16:creationId xmlns:a16="http://schemas.microsoft.com/office/drawing/2014/main" id="{5998221F-0260-4589-A4C2-FE25D0C85D53}"/>
              </a:ext>
            </a:extLst>
          </p:cNvPr>
          <p:cNvSpPr>
            <a:spLocks noGrp="1"/>
          </p:cNvSpPr>
          <p:nvPr>
            <p:ph type="title"/>
          </p:nvPr>
        </p:nvSpPr>
        <p:spPr>
          <a:xfrm>
            <a:off x="152400" y="152400"/>
            <a:ext cx="8839200" cy="304800"/>
          </a:xfrm>
        </p:spPr>
        <p:txBody>
          <a:bodyPr>
            <a:noAutofit/>
          </a:bodyPr>
          <a:lstStyle/>
          <a:p>
            <a:r>
              <a:rPr lang="en-US" sz="1800" b="1" dirty="0">
                <a:solidFill>
                  <a:prstClr val="black"/>
                </a:solidFill>
              </a:rPr>
              <a:t>Digression: Bayes rule - The optimal method of inference</a:t>
            </a:r>
            <a:endParaRPr lang="en-US" sz="1700" dirty="0">
              <a:solidFill>
                <a:schemeClr val="tx1"/>
              </a:solidFill>
            </a:endParaRPr>
          </a:p>
        </p:txBody>
      </p:sp>
    </p:spTree>
    <p:extLst>
      <p:ext uri="{BB962C8B-B14F-4D97-AF65-F5344CB8AC3E}">
        <p14:creationId xmlns:p14="http://schemas.microsoft.com/office/powerpoint/2010/main" val="18979062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fade">
                                      <p:cBhvr>
                                        <p:cTn id="10" dur="500"/>
                                        <p:tgtEl>
                                          <p:spTgt spid="48"/>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xEl>
                                              <p:pRg st="4" end="4"/>
                                            </p:txEl>
                                          </p:spTgt>
                                        </p:tgtEl>
                                        <p:attrNameLst>
                                          <p:attrName>style.visibility</p:attrName>
                                        </p:attrNameLst>
                                      </p:cBhvr>
                                      <p:to>
                                        <p:strVal val="visible"/>
                                      </p:to>
                                    </p:set>
                                    <p:animEffect transition="in" filter="fade">
                                      <p:cBhvr>
                                        <p:cTn id="13" dur="500"/>
                                        <p:tgtEl>
                                          <p:spTgt spid="21">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4"/>
                                        </p:tgtEl>
                                        <p:attrNameLst>
                                          <p:attrName>style.visibility</p:attrName>
                                        </p:attrNameLst>
                                      </p:cBhvr>
                                      <p:to>
                                        <p:strVal val="visible"/>
                                      </p:to>
                                    </p:set>
                                    <p:animEffect transition="in" filter="fade">
                                      <p:cBhvr>
                                        <p:cTn id="16" dur="500"/>
                                        <p:tgtEl>
                                          <p:spTgt spid="44"/>
                                        </p:tgtEl>
                                      </p:cBhvr>
                                    </p:animEffect>
                                  </p:childTnLst>
                                </p:cTn>
                              </p:par>
                              <p:par>
                                <p:cTn id="17" presetID="10" presetClass="entr" presetSubtype="0" fill="hold" nodeType="with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fade">
                                      <p:cBhvr>
                                        <p:cTn id="19" dur="500"/>
                                        <p:tgtEl>
                                          <p:spTgt spid="45"/>
                                        </p:tgtEl>
                                      </p:cBhvr>
                                    </p:animEffect>
                                  </p:childTnLst>
                                </p:cTn>
                              </p:par>
                              <p:par>
                                <p:cTn id="20" presetID="10" presetClass="entr" presetSubtype="0" fill="hold" nodeType="withEffect">
                                  <p:stCondLst>
                                    <p:cond delay="0"/>
                                  </p:stCondLst>
                                  <p:childTnLst>
                                    <p:set>
                                      <p:cBhvr>
                                        <p:cTn id="21" dur="1" fill="hold">
                                          <p:stCondLst>
                                            <p:cond delay="0"/>
                                          </p:stCondLst>
                                        </p:cTn>
                                        <p:tgtEl>
                                          <p:spTgt spid="21">
                                            <p:txEl>
                                              <p:pRg st="9" end="9"/>
                                            </p:txEl>
                                          </p:spTgt>
                                        </p:tgtEl>
                                        <p:attrNameLst>
                                          <p:attrName>style.visibility</p:attrName>
                                        </p:attrNameLst>
                                      </p:cBhvr>
                                      <p:to>
                                        <p:strVal val="visible"/>
                                      </p:to>
                                    </p:set>
                                    <p:animEffect transition="in" filter="fade">
                                      <p:cBhvr>
                                        <p:cTn id="22" dur="500"/>
                                        <p:tgtEl>
                                          <p:spTgt spid="21">
                                            <p:txEl>
                                              <p:pRg st="9" end="9"/>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9"/>
          <p:cNvPicPr>
            <a:picLocks noChangeAspect="1"/>
          </p:cNvPicPr>
          <p:nvPr>
            <p:custDataLst>
              <p:tags r:id="rId1"/>
            </p:custDataLst>
          </p:nvPr>
        </p:nvPicPr>
        <p:blipFill>
          <a:blip r:embed="rId9" cstate="print">
            <a:extLst>
              <a:ext uri="{28A0092B-C50C-407E-A947-70E740481C1C}">
                <a14:useLocalDpi xmlns:a14="http://schemas.microsoft.com/office/drawing/2010/main" val="0"/>
              </a:ext>
            </a:extLst>
          </a:blip>
          <a:stretch>
            <a:fillRect/>
          </a:stretch>
        </p:blipFill>
        <p:spPr>
          <a:xfrm>
            <a:off x="1573901" y="3952250"/>
            <a:ext cx="5996198" cy="597332"/>
          </a:xfrm>
          <a:prstGeom prst="rect">
            <a:avLst/>
          </a:prstGeom>
        </p:spPr>
      </p:pic>
      <p:pic>
        <p:nvPicPr>
          <p:cNvPr id="17" name="Picture 16"/>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57200" y="4648200"/>
            <a:ext cx="2878536" cy="1664476"/>
          </a:xfrm>
          <a:prstGeom prst="rect">
            <a:avLst/>
          </a:prstGeom>
        </p:spPr>
      </p:pic>
      <p:pic>
        <p:nvPicPr>
          <p:cNvPr id="18" name="Picture 17"/>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334000" y="4724400"/>
            <a:ext cx="3352800" cy="1862376"/>
          </a:xfrm>
          <a:prstGeom prst="rect">
            <a:avLst/>
          </a:prstGeom>
        </p:spPr>
      </p:pic>
      <p:sp>
        <p:nvSpPr>
          <p:cNvPr id="20" name="Rectangle 19"/>
          <p:cNvSpPr/>
          <p:nvPr/>
        </p:nvSpPr>
        <p:spPr>
          <a:xfrm>
            <a:off x="152400" y="850500"/>
            <a:ext cx="8984428" cy="738664"/>
          </a:xfrm>
          <a:prstGeom prst="rect">
            <a:avLst/>
          </a:prstGeom>
        </p:spPr>
        <p:txBody>
          <a:bodyPr wrap="square">
            <a:spAutoFit/>
          </a:bodyPr>
          <a:lstStyle/>
          <a:p>
            <a:r>
              <a:rPr lang="en-US" sz="1400" b="1" dirty="0"/>
              <a:t>Case 1:   Informed Host: Knows where the car is and will not open the door that leads to car.</a:t>
            </a:r>
          </a:p>
          <a:p>
            <a:endParaRPr lang="en-US" sz="1400" b="1" dirty="0"/>
          </a:p>
          <a:p>
            <a:r>
              <a:rPr lang="en-US" sz="1400" dirty="0"/>
              <a:t>You, the guest, choose door 1.</a:t>
            </a:r>
            <a:r>
              <a:rPr lang="en-US" sz="1400" b="1" dirty="0"/>
              <a:t> </a:t>
            </a:r>
            <a:r>
              <a:rPr lang="en-US" sz="1400" dirty="0"/>
              <a:t>The </a:t>
            </a:r>
            <a:r>
              <a:rPr lang="en-US" sz="1400" b="1" dirty="0"/>
              <a:t>Informed</a:t>
            </a:r>
            <a:r>
              <a:rPr lang="en-US" sz="1400" dirty="0"/>
              <a:t> host </a:t>
            </a:r>
            <a:r>
              <a:rPr lang="en-US" sz="1400" b="1" dirty="0"/>
              <a:t>consciously </a:t>
            </a:r>
            <a:r>
              <a:rPr lang="en-US" sz="1400" dirty="0"/>
              <a:t>opens door 3 (knowing the car is behind #2).</a:t>
            </a:r>
          </a:p>
        </p:txBody>
      </p:sp>
      <p:sp>
        <p:nvSpPr>
          <p:cNvPr id="21" name="Rectangle 20"/>
          <p:cNvSpPr/>
          <p:nvPr/>
        </p:nvSpPr>
        <p:spPr>
          <a:xfrm>
            <a:off x="159572" y="1680820"/>
            <a:ext cx="8832028" cy="2379626"/>
          </a:xfrm>
          <a:prstGeom prst="rect">
            <a:avLst/>
          </a:prstGeom>
        </p:spPr>
        <p:txBody>
          <a:bodyPr wrap="square">
            <a:spAutoFit/>
          </a:bodyPr>
          <a:lstStyle/>
          <a:p>
            <a:r>
              <a:rPr lang="en-US" sz="1400" b="1" dirty="0"/>
              <a:t>Prior knowledge about the car being behind door 2 ( C2 ):</a:t>
            </a:r>
            <a:endParaRPr lang="en-US" sz="1400" dirty="0"/>
          </a:p>
          <a:p>
            <a:endParaRPr lang="en-US" sz="1400" dirty="0"/>
          </a:p>
          <a:p>
            <a:endParaRPr lang="en-US" sz="1400" b="1" dirty="0"/>
          </a:p>
          <a:p>
            <a:endParaRPr lang="en-US" sz="1400" b="1" dirty="0"/>
          </a:p>
          <a:p>
            <a:r>
              <a:rPr lang="en-US" sz="1400" b="1" dirty="0"/>
              <a:t>New knowledge:</a:t>
            </a:r>
            <a:r>
              <a:rPr lang="en-US" sz="1400" dirty="0"/>
              <a:t> The informed host chooses door 3 ( </a:t>
            </a:r>
            <a:r>
              <a:rPr lang="en-US" sz="1400" b="1" dirty="0"/>
              <a:t>H3</a:t>
            </a:r>
            <a:r>
              <a:rPr lang="en-US" sz="1400" dirty="0"/>
              <a:t> ) ( He knows that the car is behind door 2)</a:t>
            </a:r>
          </a:p>
          <a:p>
            <a:endParaRPr lang="en-US" sz="1400" dirty="0"/>
          </a:p>
          <a:p>
            <a:endParaRPr lang="en-US" sz="1400" dirty="0"/>
          </a:p>
          <a:p>
            <a:endParaRPr lang="en-US" sz="1400" dirty="0"/>
          </a:p>
          <a:p>
            <a:endParaRPr lang="en-US" sz="700" b="1" dirty="0"/>
          </a:p>
          <a:p>
            <a:r>
              <a:rPr lang="en-US" sz="1400" b="1" dirty="0"/>
              <a:t>Update your knowledge about door C2 using Bayes rule:</a:t>
            </a:r>
          </a:p>
          <a:p>
            <a:endParaRPr lang="en-US" sz="1400" dirty="0"/>
          </a:p>
        </p:txBody>
      </p:sp>
      <p:pic>
        <p:nvPicPr>
          <p:cNvPr id="48" name="Picture 47"/>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1391807" y="1985085"/>
            <a:ext cx="5583245" cy="515046"/>
          </a:xfrm>
          <a:prstGeom prst="rect">
            <a:avLst/>
          </a:prstGeom>
        </p:spPr>
      </p:pic>
      <p:pic>
        <p:nvPicPr>
          <p:cNvPr id="44" name="Picture 43"/>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1296878" y="3067881"/>
            <a:ext cx="2038858" cy="252952"/>
          </a:xfrm>
          <a:prstGeom prst="rect">
            <a:avLst/>
          </a:prstGeom>
        </p:spPr>
      </p:pic>
      <p:pic>
        <p:nvPicPr>
          <p:cNvPr id="45" name="Picture 44"/>
          <p:cNvPicPr>
            <a:picLocks noChangeAspect="1"/>
          </p:cNvPicPr>
          <p:nvPr>
            <p:custDataLst>
              <p:tags r:id="rId4"/>
            </p:custDataLst>
          </p:nvPr>
        </p:nvPicPr>
        <p:blipFill>
          <a:blip r:embed="rId14" cstate="print">
            <a:extLst>
              <a:ext uri="{28A0092B-C50C-407E-A947-70E740481C1C}">
                <a14:useLocalDpi xmlns:a14="http://schemas.microsoft.com/office/drawing/2010/main" val="0"/>
              </a:ext>
            </a:extLst>
          </a:blip>
          <a:stretch>
            <a:fillRect/>
          </a:stretch>
        </p:blipFill>
        <p:spPr>
          <a:xfrm>
            <a:off x="5334000" y="2938358"/>
            <a:ext cx="1651810" cy="511998"/>
          </a:xfrm>
          <a:prstGeom prst="rect">
            <a:avLst/>
          </a:prstGeom>
        </p:spPr>
      </p:pic>
      <p:grpSp>
        <p:nvGrpSpPr>
          <p:cNvPr id="11" name="Group 10"/>
          <p:cNvGrpSpPr/>
          <p:nvPr/>
        </p:nvGrpSpPr>
        <p:grpSpPr>
          <a:xfrm>
            <a:off x="685800" y="1566061"/>
            <a:ext cx="7814690" cy="3768590"/>
            <a:chOff x="645605" y="1905000"/>
            <a:chExt cx="7814690" cy="3768590"/>
          </a:xfrm>
        </p:grpSpPr>
        <p:grpSp>
          <p:nvGrpSpPr>
            <p:cNvPr id="12" name="Group 11"/>
            <p:cNvGrpSpPr/>
            <p:nvPr/>
          </p:nvGrpSpPr>
          <p:grpSpPr>
            <a:xfrm>
              <a:off x="645605" y="1905000"/>
              <a:ext cx="7814690" cy="3768590"/>
              <a:chOff x="645605" y="1905000"/>
              <a:chExt cx="7814690" cy="3768590"/>
            </a:xfrm>
          </p:grpSpPr>
          <p:sp>
            <p:nvSpPr>
              <p:cNvPr id="16" name="Rounded Rectangle 15"/>
              <p:cNvSpPr/>
              <p:nvPr/>
            </p:nvSpPr>
            <p:spPr>
              <a:xfrm>
                <a:off x="645605" y="1905000"/>
                <a:ext cx="7814690" cy="3768590"/>
              </a:xfrm>
              <a:prstGeom prst="roundRect">
                <a:avLst/>
              </a:prstGeom>
              <a:solidFill>
                <a:srgbClr val="FCE7E0">
                  <a:alpha val="93000"/>
                </a:srgbClr>
              </a:solidFill>
              <a:ln>
                <a:solidFill>
                  <a:schemeClr val="accent1">
                    <a:shade val="95000"/>
                    <a:satMod val="105000"/>
                    <a:alpha val="68000"/>
                  </a:schemeClr>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chemeClr val="tx1"/>
                  </a:solidFill>
                </a:endParaRPr>
              </a:p>
            </p:txBody>
          </p:sp>
          <p:pic>
            <p:nvPicPr>
              <p:cNvPr id="19" name="Picture 18"/>
              <p:cNvPicPr>
                <a:picLocks noChangeAspect="1"/>
              </p:cNvPicPr>
              <p:nvPr>
                <p:custDataLst>
                  <p:tags r:id="rId5"/>
                </p:custDataLst>
              </p:nvPr>
            </p:nvPicPr>
            <p:blipFill>
              <a:blip r:embed="rId15" cstate="print">
                <a:extLst>
                  <a:ext uri="{28A0092B-C50C-407E-A947-70E740481C1C}">
                    <a14:useLocalDpi xmlns:a14="http://schemas.microsoft.com/office/drawing/2010/main" val="0"/>
                  </a:ext>
                </a:extLst>
              </a:blip>
              <a:stretch>
                <a:fillRect/>
              </a:stretch>
            </p:blipFill>
            <p:spPr>
              <a:xfrm>
                <a:off x="6246421" y="3593582"/>
                <a:ext cx="1831620" cy="515046"/>
              </a:xfrm>
              <a:prstGeom prst="rect">
                <a:avLst/>
              </a:prstGeom>
            </p:spPr>
          </p:pic>
          <p:pic>
            <p:nvPicPr>
              <p:cNvPr id="22" name="Picture 21"/>
              <p:cNvPicPr>
                <a:picLocks noChangeAspect="1"/>
              </p:cNvPicPr>
              <p:nvPr>
                <p:custDataLst>
                  <p:tags r:id="rId6"/>
                </p:custDataLst>
              </p:nvPr>
            </p:nvPicPr>
            <p:blipFill>
              <a:blip r:embed="rId16" cstate="print">
                <a:extLst>
                  <a:ext uri="{28A0092B-C50C-407E-A947-70E740481C1C}">
                    <a14:useLocalDpi xmlns:a14="http://schemas.microsoft.com/office/drawing/2010/main" val="0"/>
                  </a:ext>
                </a:extLst>
              </a:blip>
              <a:stretch>
                <a:fillRect/>
              </a:stretch>
            </p:blipFill>
            <p:spPr>
              <a:xfrm>
                <a:off x="1524000" y="3607416"/>
                <a:ext cx="1225144" cy="515046"/>
              </a:xfrm>
              <a:prstGeom prst="rect">
                <a:avLst/>
              </a:prstGeom>
            </p:spPr>
          </p:pic>
        </p:grpSp>
        <p:pic>
          <p:nvPicPr>
            <p:cNvPr id="13" name="Picture 1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132732" y="2957057"/>
              <a:ext cx="2878536" cy="1664476"/>
            </a:xfrm>
            <a:prstGeom prst="rect">
              <a:avLst/>
            </a:prstGeom>
          </p:spPr>
        </p:pic>
        <p:sp>
          <p:nvSpPr>
            <p:cNvPr id="14" name="Rounded Rectangle 13"/>
            <p:cNvSpPr/>
            <p:nvPr/>
          </p:nvSpPr>
          <p:spPr>
            <a:xfrm>
              <a:off x="4064955" y="2819401"/>
              <a:ext cx="1946313" cy="1941680"/>
            </a:xfrm>
            <a:prstGeom prst="roundRect">
              <a:avLst/>
            </a:prstGeom>
            <a:noFill/>
            <a:ln w="28575"/>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a:p>
              <a:pPr algn="ctr"/>
              <a:endParaRPr lang="en-US" dirty="0"/>
            </a:p>
          </p:txBody>
        </p:sp>
        <p:sp>
          <p:nvSpPr>
            <p:cNvPr id="15" name="Rounded Rectangle 14"/>
            <p:cNvSpPr/>
            <p:nvPr/>
          </p:nvSpPr>
          <p:spPr>
            <a:xfrm>
              <a:off x="3021971" y="2818455"/>
              <a:ext cx="940430" cy="1941680"/>
            </a:xfrm>
            <a:prstGeom prst="roundRect">
              <a:avLst/>
            </a:prstGeom>
            <a:noFill/>
            <a:ln w="28575"/>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a:p>
              <a:pPr algn="ctr"/>
              <a:endParaRPr lang="en-US" dirty="0"/>
            </a:p>
          </p:txBody>
        </p:sp>
      </p:grpSp>
      <p:grpSp>
        <p:nvGrpSpPr>
          <p:cNvPr id="23" name="Group 22"/>
          <p:cNvGrpSpPr/>
          <p:nvPr/>
        </p:nvGrpSpPr>
        <p:grpSpPr>
          <a:xfrm>
            <a:off x="5112917" y="2618118"/>
            <a:ext cx="838200" cy="1664476"/>
            <a:chOff x="5029200" y="2957057"/>
            <a:chExt cx="838200" cy="1664476"/>
          </a:xfrm>
        </p:grpSpPr>
        <p:cxnSp>
          <p:nvCxnSpPr>
            <p:cNvPr id="24" name="Straight Connector 23"/>
            <p:cNvCxnSpPr/>
            <p:nvPr/>
          </p:nvCxnSpPr>
          <p:spPr>
            <a:xfrm>
              <a:off x="5029200" y="2957057"/>
              <a:ext cx="838200" cy="166447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5" name="Straight Connector 24"/>
            <p:cNvCxnSpPr/>
            <p:nvPr/>
          </p:nvCxnSpPr>
          <p:spPr>
            <a:xfrm flipH="1">
              <a:off x="5029201" y="2957057"/>
              <a:ext cx="833632" cy="166447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grpSp>
      <p:grpSp>
        <p:nvGrpSpPr>
          <p:cNvPr id="26" name="Group 25"/>
          <p:cNvGrpSpPr/>
          <p:nvPr/>
        </p:nvGrpSpPr>
        <p:grpSpPr>
          <a:xfrm>
            <a:off x="7159535" y="3273956"/>
            <a:ext cx="267372" cy="476420"/>
            <a:chOff x="5029200" y="2957057"/>
            <a:chExt cx="838200" cy="1664476"/>
          </a:xfrm>
        </p:grpSpPr>
        <p:cxnSp>
          <p:nvCxnSpPr>
            <p:cNvPr id="27" name="Straight Connector 26"/>
            <p:cNvCxnSpPr/>
            <p:nvPr/>
          </p:nvCxnSpPr>
          <p:spPr>
            <a:xfrm>
              <a:off x="5029200" y="2957057"/>
              <a:ext cx="838200" cy="166447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8" name="Straight Connector 27"/>
            <p:cNvCxnSpPr/>
            <p:nvPr/>
          </p:nvCxnSpPr>
          <p:spPr>
            <a:xfrm flipH="1">
              <a:off x="5029201" y="2957057"/>
              <a:ext cx="833632" cy="166447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grpSp>
      <p:sp>
        <p:nvSpPr>
          <p:cNvPr id="29" name="Title 4 1">
            <a:extLst>
              <a:ext uri="{FF2B5EF4-FFF2-40B4-BE49-F238E27FC236}">
                <a16:creationId xmlns:a16="http://schemas.microsoft.com/office/drawing/2014/main" id="{E8F0842C-40B1-4987-9626-9EE669285BED}"/>
              </a:ext>
            </a:extLst>
          </p:cNvPr>
          <p:cNvSpPr>
            <a:spLocks noGrp="1"/>
          </p:cNvSpPr>
          <p:nvPr>
            <p:ph type="title"/>
          </p:nvPr>
        </p:nvSpPr>
        <p:spPr>
          <a:xfrm>
            <a:off x="152400" y="152400"/>
            <a:ext cx="8839200" cy="304800"/>
          </a:xfrm>
        </p:spPr>
        <p:txBody>
          <a:bodyPr>
            <a:noAutofit/>
          </a:bodyPr>
          <a:lstStyle/>
          <a:p>
            <a:r>
              <a:rPr lang="en-US" sz="1800" b="1" dirty="0">
                <a:solidFill>
                  <a:prstClr val="black"/>
                </a:solidFill>
              </a:rPr>
              <a:t>Digression: Bayes rule - The optimal method of inference</a:t>
            </a:r>
            <a:endParaRPr lang="en-US" sz="1700" dirty="0">
              <a:solidFill>
                <a:schemeClr val="tx1"/>
              </a:solidFill>
            </a:endParaRPr>
          </a:p>
        </p:txBody>
      </p:sp>
    </p:spTree>
    <p:extLst>
      <p:ext uri="{BB962C8B-B14F-4D97-AF65-F5344CB8AC3E}">
        <p14:creationId xmlns:p14="http://schemas.microsoft.com/office/powerpoint/2010/main" val="20525139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par>
                                <p:cTn id="13" presetID="10" presetClass="entr" presetSubtype="0"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1493900" y="3968571"/>
            <a:ext cx="6156199" cy="597332"/>
          </a:xfrm>
          <a:prstGeom prst="rect">
            <a:avLst/>
          </a:prstGeom>
        </p:spPr>
      </p:pic>
      <p:pic>
        <p:nvPicPr>
          <p:cNvPr id="17" name="Picture 1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57200" y="4648200"/>
            <a:ext cx="2878536" cy="1664476"/>
          </a:xfrm>
          <a:prstGeom prst="rect">
            <a:avLst/>
          </a:prstGeom>
        </p:spPr>
      </p:pic>
      <p:pic>
        <p:nvPicPr>
          <p:cNvPr id="18" name="Picture 17"/>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34000" y="4724400"/>
            <a:ext cx="3352800" cy="1862376"/>
          </a:xfrm>
          <a:prstGeom prst="rect">
            <a:avLst/>
          </a:prstGeom>
        </p:spPr>
      </p:pic>
      <p:sp>
        <p:nvSpPr>
          <p:cNvPr id="20" name="Rectangle 19"/>
          <p:cNvSpPr/>
          <p:nvPr/>
        </p:nvSpPr>
        <p:spPr>
          <a:xfrm>
            <a:off x="152400" y="850500"/>
            <a:ext cx="8984428" cy="738664"/>
          </a:xfrm>
          <a:prstGeom prst="rect">
            <a:avLst/>
          </a:prstGeom>
        </p:spPr>
        <p:txBody>
          <a:bodyPr wrap="square">
            <a:spAutoFit/>
          </a:bodyPr>
          <a:lstStyle/>
          <a:p>
            <a:r>
              <a:rPr lang="en-US" sz="1400" b="1" dirty="0"/>
              <a:t>Case 1:   Uninformed Host</a:t>
            </a:r>
          </a:p>
          <a:p>
            <a:endParaRPr lang="en-US" sz="1400" b="1" dirty="0"/>
          </a:p>
          <a:p>
            <a:r>
              <a:rPr lang="en-US" sz="1400" dirty="0"/>
              <a:t>You, the guest, choose door 1.</a:t>
            </a:r>
            <a:r>
              <a:rPr lang="en-US" sz="1400" b="1" dirty="0"/>
              <a:t> </a:t>
            </a:r>
            <a:r>
              <a:rPr lang="en-US" sz="1400" dirty="0"/>
              <a:t>The </a:t>
            </a:r>
            <a:r>
              <a:rPr lang="en-US" sz="1400" b="1" dirty="0"/>
              <a:t>Uninformed</a:t>
            </a:r>
            <a:r>
              <a:rPr lang="en-US" sz="1400" dirty="0"/>
              <a:t> host </a:t>
            </a:r>
            <a:r>
              <a:rPr lang="en-US" sz="1400" b="1" dirty="0"/>
              <a:t>randomly </a:t>
            </a:r>
            <a:r>
              <a:rPr lang="en-US" sz="1400" dirty="0"/>
              <a:t>opens door 3 (knowing nothing a priori).</a:t>
            </a:r>
          </a:p>
        </p:txBody>
      </p:sp>
      <p:sp>
        <p:nvSpPr>
          <p:cNvPr id="21" name="Rectangle 20"/>
          <p:cNvSpPr/>
          <p:nvPr/>
        </p:nvSpPr>
        <p:spPr>
          <a:xfrm>
            <a:off x="159572" y="1680820"/>
            <a:ext cx="8832028" cy="2354491"/>
          </a:xfrm>
          <a:prstGeom prst="rect">
            <a:avLst/>
          </a:prstGeom>
        </p:spPr>
        <p:txBody>
          <a:bodyPr wrap="square">
            <a:spAutoFit/>
          </a:bodyPr>
          <a:lstStyle/>
          <a:p>
            <a:r>
              <a:rPr lang="en-US" sz="1400" b="1" dirty="0"/>
              <a:t>Prior knowledge about the car being behind door 2:</a:t>
            </a:r>
            <a:endParaRPr lang="en-US" sz="1400" dirty="0"/>
          </a:p>
          <a:p>
            <a:endParaRPr lang="en-US" sz="1400" dirty="0"/>
          </a:p>
          <a:p>
            <a:endParaRPr lang="en-US" sz="1400" b="1" dirty="0"/>
          </a:p>
          <a:p>
            <a:endParaRPr lang="en-US" sz="1400" b="1" dirty="0"/>
          </a:p>
          <a:p>
            <a:r>
              <a:rPr lang="en-US" sz="1400" b="1" dirty="0"/>
              <a:t>New knowledge:</a:t>
            </a:r>
            <a:r>
              <a:rPr lang="en-US" sz="1400" dirty="0"/>
              <a:t> The </a:t>
            </a:r>
            <a:r>
              <a:rPr lang="en-US" sz="1400" b="1" dirty="0"/>
              <a:t>Un</a:t>
            </a:r>
            <a:r>
              <a:rPr lang="en-US" sz="1400" dirty="0"/>
              <a:t>informed host chooses door 3 ( </a:t>
            </a:r>
            <a:r>
              <a:rPr lang="en-US" sz="1400" b="1" dirty="0"/>
              <a:t>H3</a:t>
            </a:r>
            <a:r>
              <a:rPr lang="en-US" sz="1400" dirty="0"/>
              <a:t> ) ( He does </a:t>
            </a:r>
            <a:r>
              <a:rPr lang="en-US" sz="1400" b="1" dirty="0"/>
              <a:t>not</a:t>
            </a:r>
            <a:r>
              <a:rPr lang="en-US" sz="1400" dirty="0"/>
              <a:t> know where the car is)</a:t>
            </a:r>
          </a:p>
          <a:p>
            <a:endParaRPr lang="en-US" sz="1400" dirty="0"/>
          </a:p>
          <a:p>
            <a:endParaRPr lang="en-US" sz="1400" dirty="0"/>
          </a:p>
          <a:p>
            <a:endParaRPr lang="en-US" sz="1400" dirty="0"/>
          </a:p>
          <a:p>
            <a:endParaRPr lang="en-US" sz="700" dirty="0"/>
          </a:p>
          <a:p>
            <a:r>
              <a:rPr lang="en-US" sz="1400" b="1" dirty="0"/>
              <a:t>Update your knowledge about door C2 using Bayes rule:</a:t>
            </a:r>
          </a:p>
          <a:p>
            <a:endParaRPr lang="en-US" sz="1400" dirty="0"/>
          </a:p>
        </p:txBody>
      </p:sp>
      <p:pic>
        <p:nvPicPr>
          <p:cNvPr id="6" name="Picture 5"/>
          <p:cNvPicPr>
            <a:picLocks noChangeAspect="1"/>
          </p:cNvPicPr>
          <p:nvPr>
            <p:custDataLst>
              <p:tags r:id="rId2"/>
            </p:custDataLst>
          </p:nvPr>
        </p:nvPicPr>
        <p:blipFill>
          <a:blip r:embed="rId10" cstate="print">
            <a:extLst>
              <a:ext uri="{28A0092B-C50C-407E-A947-70E740481C1C}">
                <a14:useLocalDpi xmlns:a14="http://schemas.microsoft.com/office/drawing/2010/main" val="0"/>
              </a:ext>
            </a:extLst>
          </a:blip>
          <a:stretch>
            <a:fillRect/>
          </a:stretch>
        </p:blipFill>
        <p:spPr>
          <a:xfrm>
            <a:off x="1391807" y="2938358"/>
            <a:ext cx="2090667" cy="511999"/>
          </a:xfrm>
          <a:prstGeom prst="rect">
            <a:avLst/>
          </a:prstGeom>
        </p:spPr>
      </p:pic>
      <p:pic>
        <p:nvPicPr>
          <p:cNvPr id="23" name="Picture 22"/>
          <p:cNvPicPr>
            <a:picLocks noChangeAspect="1"/>
          </p:cNvPicPr>
          <p:nvPr>
            <p:custDataLst>
              <p:tags r:id="rId3"/>
            </p:custDataLst>
          </p:nvPr>
        </p:nvPicPr>
        <p:blipFill>
          <a:blip r:embed="rId11" cstate="print">
            <a:extLst>
              <a:ext uri="{28A0092B-C50C-407E-A947-70E740481C1C}">
                <a14:useLocalDpi xmlns:a14="http://schemas.microsoft.com/office/drawing/2010/main" val="0"/>
              </a:ext>
            </a:extLst>
          </a:blip>
          <a:stretch>
            <a:fillRect/>
          </a:stretch>
        </p:blipFill>
        <p:spPr>
          <a:xfrm>
            <a:off x="1391807" y="1985085"/>
            <a:ext cx="5583245" cy="515046"/>
          </a:xfrm>
          <a:prstGeom prst="rect">
            <a:avLst/>
          </a:prstGeom>
        </p:spPr>
      </p:pic>
      <p:pic>
        <p:nvPicPr>
          <p:cNvPr id="24" name="Picture 23"/>
          <p:cNvPicPr>
            <a:picLocks noChangeAspect="1"/>
          </p:cNvPicPr>
          <p:nvPr>
            <p:custDataLst>
              <p:tags r:id="rId4"/>
            </p:custDataLst>
          </p:nvPr>
        </p:nvPicPr>
        <p:blipFill>
          <a:blip r:embed="rId12" cstate="print">
            <a:extLst>
              <a:ext uri="{28A0092B-C50C-407E-A947-70E740481C1C}">
                <a14:useLocalDpi xmlns:a14="http://schemas.microsoft.com/office/drawing/2010/main" val="0"/>
              </a:ext>
            </a:extLst>
          </a:blip>
          <a:stretch>
            <a:fillRect/>
          </a:stretch>
        </p:blipFill>
        <p:spPr>
          <a:xfrm>
            <a:off x="5334000" y="2938358"/>
            <a:ext cx="1651810" cy="511998"/>
          </a:xfrm>
          <a:prstGeom prst="rect">
            <a:avLst/>
          </a:prstGeom>
        </p:spPr>
      </p:pic>
      <p:sp>
        <p:nvSpPr>
          <p:cNvPr id="14" name="Title 4 1">
            <a:extLst>
              <a:ext uri="{FF2B5EF4-FFF2-40B4-BE49-F238E27FC236}">
                <a16:creationId xmlns:a16="http://schemas.microsoft.com/office/drawing/2014/main" id="{9B3BEB18-B019-46BC-B4E9-DC6FB2991D9A}"/>
              </a:ext>
            </a:extLst>
          </p:cNvPr>
          <p:cNvSpPr txBox="1">
            <a:spLocks/>
          </p:cNvSpPr>
          <p:nvPr/>
        </p:nvSpPr>
        <p:spPr>
          <a:xfrm>
            <a:off x="152400" y="152400"/>
            <a:ext cx="8839200" cy="304800"/>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fontAlgn="auto">
              <a:spcAft>
                <a:spcPts val="0"/>
              </a:spcAft>
            </a:pPr>
            <a:r>
              <a:rPr lang="en-US" sz="1800" b="1" dirty="0">
                <a:solidFill>
                  <a:prstClr val="black"/>
                </a:solidFill>
              </a:rPr>
              <a:t>Digression: Bayes rule - The optimal method of inference</a:t>
            </a:r>
            <a:endParaRPr lang="en-US" sz="1700" dirty="0">
              <a:solidFill>
                <a:schemeClr val="tx1"/>
              </a:solidFill>
            </a:endParaRPr>
          </a:p>
        </p:txBody>
      </p:sp>
    </p:spTree>
    <p:extLst>
      <p:ext uri="{BB962C8B-B14F-4D97-AF65-F5344CB8AC3E}">
        <p14:creationId xmlns:p14="http://schemas.microsoft.com/office/powerpoint/2010/main" val="32283791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xEl>
                                              <p:pRg st="0" end="0"/>
                                            </p:txEl>
                                          </p:spTgt>
                                        </p:tgtEl>
                                        <p:attrNameLst>
                                          <p:attrName>style.visibility</p:attrName>
                                        </p:attrNameLst>
                                      </p:cBhvr>
                                      <p:to>
                                        <p:strVal val="visible"/>
                                      </p:to>
                                    </p:set>
                                    <p:animEffect transition="in" filter="fade">
                                      <p:cBhvr>
                                        <p:cTn id="10" dur="500"/>
                                        <p:tgtEl>
                                          <p:spTgt spid="21">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xEl>
                                              <p:pRg st="4" end="4"/>
                                            </p:txEl>
                                          </p:spTgt>
                                        </p:tgtEl>
                                        <p:attrNameLst>
                                          <p:attrName>style.visibility</p:attrName>
                                        </p:attrNameLst>
                                      </p:cBhvr>
                                      <p:to>
                                        <p:strVal val="visible"/>
                                      </p:to>
                                    </p:set>
                                    <p:animEffect transition="in" filter="fade">
                                      <p:cBhvr>
                                        <p:cTn id="16" dur="500"/>
                                        <p:tgtEl>
                                          <p:spTgt spid="21">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par>
                                <p:cTn id="23" presetID="10" presetClass="entr" presetSubtype="0" fill="hold" nodeType="withEffect">
                                  <p:stCondLst>
                                    <p:cond delay="0"/>
                                  </p:stCondLst>
                                  <p:childTnLst>
                                    <p:set>
                                      <p:cBhvr>
                                        <p:cTn id="24" dur="1" fill="hold">
                                          <p:stCondLst>
                                            <p:cond delay="0"/>
                                          </p:stCondLst>
                                        </p:cTn>
                                        <p:tgtEl>
                                          <p:spTgt spid="21">
                                            <p:txEl>
                                              <p:pRg st="9" end="9"/>
                                            </p:txEl>
                                          </p:spTgt>
                                        </p:tgtEl>
                                        <p:attrNameLst>
                                          <p:attrName>style.visibility</p:attrName>
                                        </p:attrNameLst>
                                      </p:cBhvr>
                                      <p:to>
                                        <p:strVal val="visible"/>
                                      </p:to>
                                    </p:set>
                                    <p:animEffect transition="in" filter="fade">
                                      <p:cBhvr>
                                        <p:cTn id="25" dur="500"/>
                                        <p:tgtEl>
                                          <p:spTgt spid="21">
                                            <p:txEl>
                                              <p:pRg st="9" end="9"/>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000" y="990600"/>
            <a:ext cx="6858000" cy="5597390"/>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29200" y="987802"/>
            <a:ext cx="3432429" cy="2801493"/>
          </a:xfrm>
          <a:prstGeom prst="rect">
            <a:avLst/>
          </a:prstGeom>
        </p:spPr>
      </p:pic>
      <p:grpSp>
        <p:nvGrpSpPr>
          <p:cNvPr id="9" name="Group 8"/>
          <p:cNvGrpSpPr/>
          <p:nvPr/>
        </p:nvGrpSpPr>
        <p:grpSpPr>
          <a:xfrm>
            <a:off x="7010399" y="2388548"/>
            <a:ext cx="700514" cy="1841851"/>
            <a:chOff x="7010399" y="2388548"/>
            <a:chExt cx="700514" cy="1841851"/>
          </a:xfrm>
        </p:grpSpPr>
        <mc:AlternateContent xmlns:mc="http://schemas.openxmlformats.org/markup-compatibility/2006" xmlns:a14="http://schemas.microsoft.com/office/drawing/2010/main">
          <mc:Choice Requires="a14">
            <p:sp>
              <p:nvSpPr>
                <p:cNvPr id="8" name="TextBox 7"/>
                <p:cNvSpPr txBox="1"/>
                <p:nvPr/>
              </p:nvSpPr>
              <p:spPr>
                <a:xfrm>
                  <a:off x="7010399" y="2388548"/>
                  <a:ext cx="700513" cy="3015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500" b="0" i="1" smtClean="0">
                            <a:latin typeface="Cambria Math" panose="02040503050406030204" pitchFamily="18" charset="0"/>
                          </a:rPr>
                          <m:t>𝑝</m:t>
                        </m:r>
                        <m:r>
                          <a:rPr lang="en-US" sz="1500" b="0" i="1" smtClean="0">
                            <a:latin typeface="Cambria Math" panose="02040503050406030204" pitchFamily="18" charset="0"/>
                          </a:rPr>
                          <m:t>=</m:t>
                        </m:r>
                        <m:f>
                          <m:fPr>
                            <m:type m:val="skw"/>
                            <m:ctrlPr>
                              <a:rPr lang="en-US" sz="1500" i="1" smtClean="0">
                                <a:latin typeface="Cambria Math" panose="02040503050406030204" pitchFamily="18" charset="0"/>
                              </a:rPr>
                            </m:ctrlPr>
                          </m:fPr>
                          <m:num>
                            <m:r>
                              <a:rPr lang="en-US" sz="1500" b="0" i="1" smtClean="0">
                                <a:latin typeface="Cambria Math" panose="02040503050406030204" pitchFamily="18" charset="0"/>
                              </a:rPr>
                              <m:t>2</m:t>
                            </m:r>
                          </m:num>
                          <m:den>
                            <m:r>
                              <a:rPr lang="en-US" sz="1500" b="0" i="1" smtClean="0">
                                <a:latin typeface="Cambria Math" panose="02040503050406030204" pitchFamily="18" charset="0"/>
                              </a:rPr>
                              <m:t>3</m:t>
                            </m:r>
                          </m:den>
                        </m:f>
                      </m:oMath>
                    </m:oMathPara>
                  </a14:m>
                  <a:endParaRPr lang="en-US" sz="1500" dirty="0"/>
                </a:p>
              </p:txBody>
            </p:sp>
          </mc:Choice>
          <mc:Fallback xmlns="">
            <p:sp>
              <p:nvSpPr>
                <p:cNvPr id="8" name="TextBox 7"/>
                <p:cNvSpPr txBox="1">
                  <a:spLocks noRot="1" noChangeAspect="1" noMove="1" noResize="1" noEditPoints="1" noAdjustHandles="1" noChangeArrowheads="1" noChangeShapeType="1" noTextEdit="1"/>
                </p:cNvSpPr>
                <p:nvPr/>
              </p:nvSpPr>
              <p:spPr>
                <a:xfrm>
                  <a:off x="7010399" y="2388548"/>
                  <a:ext cx="700513" cy="301557"/>
                </a:xfrm>
                <a:prstGeom prst="rect">
                  <a:avLst/>
                </a:prstGeom>
                <a:blipFill>
                  <a:blip r:embed="rId5"/>
                  <a:stretch>
                    <a:fillRect l="-5217" t="-159184" r="-84348" b="-24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7010400" y="3928842"/>
                  <a:ext cx="700513" cy="3015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500" b="0" i="1" smtClean="0">
                            <a:latin typeface="Cambria Math" panose="02040503050406030204" pitchFamily="18" charset="0"/>
                          </a:rPr>
                          <m:t>𝑝</m:t>
                        </m:r>
                        <m:r>
                          <a:rPr lang="en-US" sz="1500" b="0" i="1" smtClean="0">
                            <a:latin typeface="Cambria Math" panose="02040503050406030204" pitchFamily="18" charset="0"/>
                          </a:rPr>
                          <m:t>=</m:t>
                        </m:r>
                        <m:f>
                          <m:fPr>
                            <m:type m:val="skw"/>
                            <m:ctrlPr>
                              <a:rPr lang="en-US" sz="1500" i="1" smtClean="0">
                                <a:latin typeface="Cambria Math" panose="02040503050406030204" pitchFamily="18" charset="0"/>
                              </a:rPr>
                            </m:ctrlPr>
                          </m:fPr>
                          <m:num>
                            <m:r>
                              <a:rPr lang="en-US" sz="1500" b="0" i="1" smtClean="0">
                                <a:latin typeface="Cambria Math" panose="02040503050406030204" pitchFamily="18" charset="0"/>
                              </a:rPr>
                              <m:t>1</m:t>
                            </m:r>
                          </m:num>
                          <m:den>
                            <m:r>
                              <a:rPr lang="en-US" sz="1500" b="0" i="1" smtClean="0">
                                <a:latin typeface="Cambria Math" panose="02040503050406030204" pitchFamily="18" charset="0"/>
                              </a:rPr>
                              <m:t>3</m:t>
                            </m:r>
                          </m:den>
                        </m:f>
                      </m:oMath>
                    </m:oMathPara>
                  </a14:m>
                  <a:endParaRPr lang="en-US" sz="1500" dirty="0"/>
                </a:p>
              </p:txBody>
            </p:sp>
          </mc:Choice>
          <mc:Fallback xmlns="">
            <p:sp>
              <p:nvSpPr>
                <p:cNvPr id="16" name="TextBox 15"/>
                <p:cNvSpPr txBox="1">
                  <a:spLocks noRot="1" noChangeAspect="1" noMove="1" noResize="1" noEditPoints="1" noAdjustHandles="1" noChangeArrowheads="1" noChangeShapeType="1" noTextEdit="1"/>
                </p:cNvSpPr>
                <p:nvPr/>
              </p:nvSpPr>
              <p:spPr>
                <a:xfrm>
                  <a:off x="7010400" y="3928842"/>
                  <a:ext cx="700513" cy="301557"/>
                </a:xfrm>
                <a:prstGeom prst="rect">
                  <a:avLst/>
                </a:prstGeom>
                <a:blipFill>
                  <a:blip r:embed="rId6"/>
                  <a:stretch>
                    <a:fillRect l="-5217" t="-154000" r="-84348" b="-238000"/>
                  </a:stretch>
                </a:blipFill>
              </p:spPr>
              <p:txBody>
                <a:bodyPr/>
                <a:lstStyle/>
                <a:p>
                  <a:r>
                    <a:rPr lang="en-US">
                      <a:noFill/>
                    </a:rPr>
                    <a:t> </a:t>
                  </a:r>
                </a:p>
              </p:txBody>
            </p:sp>
          </mc:Fallback>
        </mc:AlternateContent>
      </p:grpSp>
      <p:pic>
        <p:nvPicPr>
          <p:cNvPr id="10" name="Picture 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029200" y="3928842"/>
            <a:ext cx="3432429" cy="2801493"/>
          </a:xfrm>
          <a:prstGeom prst="rect">
            <a:avLst/>
          </a:prstGeom>
        </p:spPr>
      </p:pic>
      <p:pic>
        <p:nvPicPr>
          <p:cNvPr id="11" name="Picture 1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45605" y="3928842"/>
            <a:ext cx="3432429" cy="2801493"/>
          </a:xfrm>
          <a:prstGeom prst="rect">
            <a:avLst/>
          </a:prstGeom>
        </p:spPr>
      </p:pic>
      <p:sp>
        <p:nvSpPr>
          <p:cNvPr id="13" name="Title 4 1">
            <a:extLst>
              <a:ext uri="{FF2B5EF4-FFF2-40B4-BE49-F238E27FC236}">
                <a16:creationId xmlns:a16="http://schemas.microsoft.com/office/drawing/2014/main" id="{795D8991-5FE1-479F-85E9-FCA0FEAAD509}"/>
              </a:ext>
            </a:extLst>
          </p:cNvPr>
          <p:cNvSpPr txBox="1">
            <a:spLocks/>
          </p:cNvSpPr>
          <p:nvPr/>
        </p:nvSpPr>
        <p:spPr>
          <a:xfrm>
            <a:off x="152400" y="152400"/>
            <a:ext cx="8839200" cy="304800"/>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fontAlgn="auto">
              <a:spcAft>
                <a:spcPts val="0"/>
              </a:spcAft>
            </a:pPr>
            <a:r>
              <a:rPr lang="en-US" sz="1800" b="1" dirty="0">
                <a:solidFill>
                  <a:prstClr val="black"/>
                </a:solidFill>
              </a:rPr>
              <a:t>Digression: Bayes rule - The optimal method of inference</a:t>
            </a:r>
            <a:endParaRPr lang="en-US" sz="1700" dirty="0">
              <a:solidFill>
                <a:schemeClr val="tx1"/>
              </a:solidFill>
            </a:endParaRPr>
          </a:p>
        </p:txBody>
      </p:sp>
    </p:spTree>
    <p:extLst>
      <p:ext uri="{BB962C8B-B14F-4D97-AF65-F5344CB8AC3E}">
        <p14:creationId xmlns:p14="http://schemas.microsoft.com/office/powerpoint/2010/main" val="35015722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6" presetClass="emph" presetSubtype="0" fill="hold" nodeType="clickEffect">
                                  <p:stCondLst>
                                    <p:cond delay="0"/>
                                  </p:stCondLst>
                                  <p:childTnLst>
                                    <p:animScale>
                                      <p:cBhvr>
                                        <p:cTn id="13" dur="650" fill="hold"/>
                                        <p:tgtEl>
                                          <p:spTgt spid="6"/>
                                        </p:tgtEl>
                                      </p:cBhvr>
                                      <p:by x="50000" y="50000"/>
                                    </p:animScale>
                                  </p:childTnLst>
                                </p:cTn>
                              </p:par>
                              <p:par>
                                <p:cTn id="14" presetID="42" presetClass="path" presetSubtype="0" fill="hold" nodeType="withEffect">
                                  <p:stCondLst>
                                    <p:cond delay="0"/>
                                  </p:stCondLst>
                                  <p:childTnLst>
                                    <p:animMotion origin="layout" path="M 0 3.7037E-6 L -0.24167 -0.20811 " pathEditMode="relative" rAng="0" ptsTypes="AA">
                                      <p:cBhvr>
                                        <p:cTn id="15" dur="650" fill="hold"/>
                                        <p:tgtEl>
                                          <p:spTgt spid="6"/>
                                        </p:tgtEl>
                                        <p:attrNameLst>
                                          <p:attrName>ppt_x</p:attrName>
                                          <p:attrName>ppt_y</p:attrName>
                                        </p:attrNameLst>
                                      </p:cBhvr>
                                      <p:rCtr x="-12083" y="-10417"/>
                                    </p:animMotion>
                                  </p:childTnLst>
                                </p:cTn>
                              </p:par>
                              <p:par>
                                <p:cTn id="16" presetID="10" presetClass="exit" presetSubtype="0" fill="hold" nodeType="withEffect">
                                  <p:stCondLst>
                                    <p:cond delay="0"/>
                                  </p:stCondLst>
                                  <p:childTnLst>
                                    <p:animEffect transition="out" filter="fade">
                                      <p:cBhvr>
                                        <p:cTn id="17" dur="100"/>
                                        <p:tgtEl>
                                          <p:spTgt spid="9"/>
                                        </p:tgtEl>
                                      </p:cBhvr>
                                    </p:animEffect>
                                    <p:set>
                                      <p:cBhvr>
                                        <p:cTn id="18" dur="1" fill="hold">
                                          <p:stCondLst>
                                            <p:cond delay="99"/>
                                          </p:stCondLst>
                                        </p:cTn>
                                        <p:tgtEl>
                                          <p:spTgt spid="9"/>
                                        </p:tgtEl>
                                        <p:attrNameLst>
                                          <p:attrName>style.visibility</p:attrName>
                                        </p:attrNameLst>
                                      </p:cBhvr>
                                      <p:to>
                                        <p:strVal val="hidden"/>
                                      </p:to>
                                    </p:set>
                                  </p:childTnLst>
                                </p:cTn>
                              </p:par>
                              <p:par>
                                <p:cTn id="19" presetID="10" presetClass="entr" presetSubtype="0" fill="hold" nodeType="withEffect">
                                  <p:stCondLst>
                                    <p:cond delay="5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nodeType="withEffect">
                                  <p:stCondLst>
                                    <p:cond delay="50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nodeType="withEffect">
                                  <p:stCondLst>
                                    <p:cond delay="50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1"/>
          <p:cNvSpPr>
            <a:spLocks noGrp="1"/>
          </p:cNvSpPr>
          <p:nvPr>
            <p:ph type="title"/>
          </p:nvPr>
        </p:nvSpPr>
        <p:spPr>
          <a:xfrm>
            <a:off x="152400" y="152400"/>
            <a:ext cx="8839200" cy="304800"/>
          </a:xfrm>
        </p:spPr>
        <p:txBody>
          <a:bodyPr>
            <a:noAutofit/>
          </a:bodyPr>
          <a:lstStyle/>
          <a:p>
            <a:r>
              <a:rPr lang="en-US" sz="1800" b="1" dirty="0">
                <a:solidFill>
                  <a:prstClr val="black"/>
                </a:solidFill>
              </a:rPr>
              <a:t>There is only one type of uncertainty in the world – epistemic</a:t>
            </a:r>
            <a:endParaRPr lang="en-US" sz="1700" dirty="0">
              <a:solidFill>
                <a:schemeClr val="tx1"/>
              </a:solidFill>
            </a:endParaRPr>
          </a:p>
        </p:txBody>
      </p:sp>
      <p:sp>
        <p:nvSpPr>
          <p:cNvPr id="34" name="Title 4 2 1 1 1 2">
            <a:extLst>
              <a:ext uri="{FF2B5EF4-FFF2-40B4-BE49-F238E27FC236}">
                <a16:creationId xmlns:a16="http://schemas.microsoft.com/office/drawing/2014/main" id="{A05C122D-4AA6-4180-B549-205E42D6154A}"/>
              </a:ext>
            </a:extLst>
          </p:cNvPr>
          <p:cNvSpPr txBox="1">
            <a:spLocks/>
          </p:cNvSpPr>
          <p:nvPr/>
        </p:nvSpPr>
        <p:spPr>
          <a:xfrm>
            <a:off x="152686" y="914400"/>
            <a:ext cx="8838914" cy="838200"/>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500" dirty="0">
                <a:solidFill>
                  <a:schemeClr val="tx1"/>
                </a:solidFill>
              </a:rPr>
              <a:t>Suppose you have </a:t>
            </a:r>
            <a:r>
              <a:rPr lang="en-US" sz="1500" b="1" dirty="0">
                <a:solidFill>
                  <a:schemeClr val="tx1"/>
                </a:solidFill>
              </a:rPr>
              <a:t>blurred</a:t>
            </a:r>
            <a:r>
              <a:rPr lang="en-US" sz="1500" dirty="0">
                <a:solidFill>
                  <a:schemeClr val="tx1"/>
                </a:solidFill>
              </a:rPr>
              <a:t> vision.</a:t>
            </a:r>
          </a:p>
          <a:p>
            <a:pPr algn="ctr" fontAlgn="auto">
              <a:spcAft>
                <a:spcPts val="0"/>
              </a:spcAft>
            </a:pPr>
            <a:r>
              <a:rPr lang="en-US" sz="1500" dirty="0">
                <a:solidFill>
                  <a:schemeClr val="tx1"/>
                </a:solidFill>
              </a:rPr>
              <a:t>You throw a die </a:t>
            </a:r>
            <a:r>
              <a:rPr lang="en-US" sz="1500" b="1" dirty="0">
                <a:solidFill>
                  <a:schemeClr val="tx1"/>
                </a:solidFill>
              </a:rPr>
              <a:t>once and</a:t>
            </a:r>
            <a:r>
              <a:rPr lang="en-US" sz="1500" dirty="0">
                <a:solidFill>
                  <a:schemeClr val="tx1"/>
                </a:solidFill>
              </a:rPr>
              <a:t> read your observation (possibly wrong reading). </a:t>
            </a:r>
          </a:p>
          <a:p>
            <a:pPr algn="ctr" fontAlgn="auto">
              <a:spcAft>
                <a:spcPts val="0"/>
              </a:spcAft>
            </a:pPr>
            <a:r>
              <a:rPr lang="en-US" sz="1500" dirty="0">
                <a:solidFill>
                  <a:schemeClr val="tx1"/>
                </a:solidFill>
              </a:rPr>
              <a:t>What is the </a:t>
            </a:r>
            <a:r>
              <a:rPr lang="en-US" sz="1500" b="1" dirty="0">
                <a:solidFill>
                  <a:schemeClr val="tx1"/>
                </a:solidFill>
              </a:rPr>
              <a:t>type of uncertainty</a:t>
            </a:r>
            <a:r>
              <a:rPr lang="en-US" sz="1500" dirty="0">
                <a:solidFill>
                  <a:schemeClr val="tx1"/>
                </a:solidFill>
              </a:rPr>
              <a:t> in your observation? </a:t>
            </a:r>
          </a:p>
        </p:txBody>
      </p:sp>
      <p:grpSp>
        <p:nvGrpSpPr>
          <p:cNvPr id="7" name="Group 6">
            <a:extLst>
              <a:ext uri="{FF2B5EF4-FFF2-40B4-BE49-F238E27FC236}">
                <a16:creationId xmlns:a16="http://schemas.microsoft.com/office/drawing/2014/main" id="{43A2C34E-F52F-4DF7-9BFC-100DABFE931D}"/>
              </a:ext>
            </a:extLst>
          </p:cNvPr>
          <p:cNvGrpSpPr/>
          <p:nvPr/>
        </p:nvGrpSpPr>
        <p:grpSpPr>
          <a:xfrm>
            <a:off x="-76200" y="1981200"/>
            <a:ext cx="9192403" cy="1600200"/>
            <a:chOff x="-149071" y="1752601"/>
            <a:chExt cx="9192403" cy="1600200"/>
          </a:xfrm>
        </p:grpSpPr>
        <p:grpSp>
          <p:nvGrpSpPr>
            <p:cNvPr id="36" name="Group 35">
              <a:extLst>
                <a:ext uri="{FF2B5EF4-FFF2-40B4-BE49-F238E27FC236}">
                  <a16:creationId xmlns:a16="http://schemas.microsoft.com/office/drawing/2014/main" id="{20E4A4DB-7297-4C80-83B0-495B87DE154C}"/>
                </a:ext>
              </a:extLst>
            </p:cNvPr>
            <p:cNvGrpSpPr/>
            <p:nvPr/>
          </p:nvGrpSpPr>
          <p:grpSpPr>
            <a:xfrm>
              <a:off x="460529" y="1752601"/>
              <a:ext cx="8222941" cy="381000"/>
              <a:chOff x="502802" y="774643"/>
              <a:chExt cx="8222941" cy="730467"/>
            </a:xfrm>
          </p:grpSpPr>
          <p:sp>
            <p:nvSpPr>
              <p:cNvPr id="37" name="Title 4 2 1 1">
                <a:extLst>
                  <a:ext uri="{FF2B5EF4-FFF2-40B4-BE49-F238E27FC236}">
                    <a16:creationId xmlns:a16="http://schemas.microsoft.com/office/drawing/2014/main" id="{2BDB9615-7C87-416A-A4A7-FE320213E12F}"/>
                  </a:ext>
                </a:extLst>
              </p:cNvPr>
              <p:cNvSpPr txBox="1">
                <a:spLocks/>
              </p:cNvSpPr>
              <p:nvPr/>
            </p:nvSpPr>
            <p:spPr>
              <a:xfrm>
                <a:off x="502802" y="774643"/>
                <a:ext cx="3429000" cy="725846"/>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500" b="1" dirty="0">
                    <a:solidFill>
                      <a:schemeClr val="tx1"/>
                    </a:solidFill>
                  </a:rPr>
                  <a:t>Frequentist Inference</a:t>
                </a:r>
              </a:p>
            </p:txBody>
          </p:sp>
          <p:sp>
            <p:nvSpPr>
              <p:cNvPr id="38" name="Title 4 2 1 1">
                <a:extLst>
                  <a:ext uri="{FF2B5EF4-FFF2-40B4-BE49-F238E27FC236}">
                    <a16:creationId xmlns:a16="http://schemas.microsoft.com/office/drawing/2014/main" id="{5FA9B36E-EDCE-4E16-8A3A-C44E89C99A23}"/>
                  </a:ext>
                </a:extLst>
              </p:cNvPr>
              <p:cNvSpPr txBox="1">
                <a:spLocks/>
              </p:cNvSpPr>
              <p:nvPr/>
            </p:nvSpPr>
            <p:spPr>
              <a:xfrm>
                <a:off x="5296743" y="779264"/>
                <a:ext cx="3429000" cy="725846"/>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500" b="1" dirty="0">
                    <a:solidFill>
                      <a:schemeClr val="tx1"/>
                    </a:solidFill>
                  </a:rPr>
                  <a:t>Bayesian Inference</a:t>
                </a:r>
              </a:p>
            </p:txBody>
          </p:sp>
        </p:grpSp>
        <p:sp>
          <p:nvSpPr>
            <p:cNvPr id="41" name="Title 4 2 1 1 1">
              <a:extLst>
                <a:ext uri="{FF2B5EF4-FFF2-40B4-BE49-F238E27FC236}">
                  <a16:creationId xmlns:a16="http://schemas.microsoft.com/office/drawing/2014/main" id="{49858545-B32B-4EA7-8DCB-87B83E334D34}"/>
                </a:ext>
              </a:extLst>
            </p:cNvPr>
            <p:cNvSpPr txBox="1">
              <a:spLocks/>
            </p:cNvSpPr>
            <p:nvPr/>
          </p:nvSpPr>
          <p:spPr>
            <a:xfrm>
              <a:off x="-149071" y="2458719"/>
              <a:ext cx="4648200" cy="894082"/>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400" dirty="0">
                  <a:solidFill>
                    <a:schemeClr val="tx1"/>
                  </a:solidFill>
                </a:rPr>
                <a:t>The uncertainty is due to my </a:t>
              </a:r>
              <a:r>
                <a:rPr lang="en-US" sz="1400" b="1" dirty="0">
                  <a:solidFill>
                    <a:schemeClr val="tx1"/>
                  </a:solidFill>
                </a:rPr>
                <a:t>lack of knowledge. </a:t>
              </a:r>
            </a:p>
            <a:p>
              <a:pPr algn="ctr" fontAlgn="auto">
                <a:spcAft>
                  <a:spcPts val="0"/>
                </a:spcAft>
              </a:pPr>
              <a:r>
                <a:rPr lang="en-US" sz="1400" dirty="0">
                  <a:solidFill>
                    <a:schemeClr val="tx1"/>
                  </a:solidFill>
                </a:rPr>
                <a:t>I </a:t>
              </a:r>
              <a:r>
                <a:rPr lang="en-US" sz="1400" b="1" dirty="0">
                  <a:solidFill>
                    <a:schemeClr val="tx1"/>
                  </a:solidFill>
                </a:rPr>
                <a:t>can</a:t>
              </a:r>
              <a:r>
                <a:rPr lang="en-US" sz="1400" dirty="0">
                  <a:solidFill>
                    <a:schemeClr val="tx1"/>
                  </a:solidFill>
                </a:rPr>
                <a:t> </a:t>
              </a:r>
              <a:r>
                <a:rPr lang="en-US" sz="1400" b="1" dirty="0">
                  <a:solidFill>
                    <a:schemeClr val="tx1"/>
                  </a:solidFill>
                </a:rPr>
                <a:t>reduce</a:t>
              </a:r>
              <a:r>
                <a:rPr lang="en-US" sz="1400" dirty="0">
                  <a:solidFill>
                    <a:schemeClr val="tx1"/>
                  </a:solidFill>
                </a:rPr>
                <a:t> </a:t>
              </a:r>
              <a:r>
                <a:rPr lang="en-US" sz="1400" b="1" dirty="0">
                  <a:solidFill>
                    <a:schemeClr val="tx1"/>
                  </a:solidFill>
                </a:rPr>
                <a:t>uncertainty</a:t>
              </a:r>
              <a:r>
                <a:rPr lang="en-US" sz="1400" dirty="0">
                  <a:solidFill>
                    <a:schemeClr val="tx1"/>
                  </a:solidFill>
                </a:rPr>
                <a:t> with better vision</a:t>
              </a:r>
              <a:r>
                <a:rPr lang="en-US" sz="1400" b="1" dirty="0">
                  <a:solidFill>
                    <a:schemeClr val="tx1"/>
                  </a:solidFill>
                </a:rPr>
                <a:t>.</a:t>
              </a:r>
            </a:p>
            <a:p>
              <a:pPr algn="ctr" fontAlgn="auto">
                <a:spcAft>
                  <a:spcPts val="0"/>
                </a:spcAft>
              </a:pPr>
              <a:r>
                <a:rPr lang="en-US" sz="1400" dirty="0">
                  <a:solidFill>
                    <a:schemeClr val="tx1"/>
                  </a:solidFill>
                </a:rPr>
                <a:t> Therefore,</a:t>
              </a:r>
              <a:r>
                <a:rPr lang="en-US" sz="1400" b="1" dirty="0">
                  <a:solidFill>
                    <a:schemeClr val="tx1"/>
                  </a:solidFill>
                </a:rPr>
                <a:t> </a:t>
              </a:r>
              <a:r>
                <a:rPr lang="en-US" sz="1400" dirty="0">
                  <a:solidFill>
                    <a:schemeClr val="tx1"/>
                  </a:solidFill>
                </a:rPr>
                <a:t>the </a:t>
              </a:r>
              <a:r>
                <a:rPr lang="en-US" sz="1400" b="1" dirty="0">
                  <a:solidFill>
                    <a:schemeClr val="tx1"/>
                  </a:solidFill>
                </a:rPr>
                <a:t>uncertainty </a:t>
              </a:r>
              <a:r>
                <a:rPr lang="en-US" sz="1400" dirty="0">
                  <a:solidFill>
                    <a:schemeClr val="tx1"/>
                  </a:solidFill>
                </a:rPr>
                <a:t>is </a:t>
              </a:r>
              <a:r>
                <a:rPr lang="en-US" sz="1400" b="1" dirty="0">
                  <a:solidFill>
                    <a:schemeClr val="tx1"/>
                  </a:solidFill>
                </a:rPr>
                <a:t>epistemic</a:t>
              </a:r>
              <a:r>
                <a:rPr lang="en-US" sz="1400" dirty="0">
                  <a:solidFill>
                    <a:schemeClr val="tx1"/>
                  </a:solidFill>
                </a:rPr>
                <a:t>.</a:t>
              </a:r>
            </a:p>
          </p:txBody>
        </p:sp>
        <p:sp>
          <p:nvSpPr>
            <p:cNvPr id="11" name="Title 4 2 1 1 1">
              <a:extLst>
                <a:ext uri="{FF2B5EF4-FFF2-40B4-BE49-F238E27FC236}">
                  <a16:creationId xmlns:a16="http://schemas.microsoft.com/office/drawing/2014/main" id="{B84CD759-A30E-4E64-8180-78D3DDD7D224}"/>
                </a:ext>
              </a:extLst>
            </p:cNvPr>
            <p:cNvSpPr txBox="1">
              <a:spLocks/>
            </p:cNvSpPr>
            <p:nvPr/>
          </p:nvSpPr>
          <p:spPr>
            <a:xfrm>
              <a:off x="4395132" y="2458719"/>
              <a:ext cx="4648200" cy="894082"/>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400" dirty="0">
                  <a:solidFill>
                    <a:schemeClr val="tx1"/>
                  </a:solidFill>
                </a:rPr>
                <a:t>The uncertainty is due to my </a:t>
              </a:r>
              <a:r>
                <a:rPr lang="en-US" sz="1400" b="1" dirty="0">
                  <a:solidFill>
                    <a:schemeClr val="tx1"/>
                  </a:solidFill>
                </a:rPr>
                <a:t>lack of knowledge. </a:t>
              </a:r>
            </a:p>
            <a:p>
              <a:pPr algn="ctr" fontAlgn="auto">
                <a:spcAft>
                  <a:spcPts val="0"/>
                </a:spcAft>
              </a:pPr>
              <a:r>
                <a:rPr lang="en-US" sz="1400" dirty="0">
                  <a:solidFill>
                    <a:schemeClr val="tx1"/>
                  </a:solidFill>
                </a:rPr>
                <a:t>I </a:t>
              </a:r>
              <a:r>
                <a:rPr lang="en-US" sz="1400" b="1" dirty="0">
                  <a:solidFill>
                    <a:schemeClr val="tx1"/>
                  </a:solidFill>
                </a:rPr>
                <a:t>can</a:t>
              </a:r>
              <a:r>
                <a:rPr lang="en-US" sz="1400" dirty="0">
                  <a:solidFill>
                    <a:schemeClr val="tx1"/>
                  </a:solidFill>
                </a:rPr>
                <a:t> </a:t>
              </a:r>
              <a:r>
                <a:rPr lang="en-US" sz="1400" b="1" dirty="0">
                  <a:solidFill>
                    <a:schemeClr val="tx1"/>
                  </a:solidFill>
                </a:rPr>
                <a:t>reduce</a:t>
              </a:r>
              <a:r>
                <a:rPr lang="en-US" sz="1400" dirty="0">
                  <a:solidFill>
                    <a:schemeClr val="tx1"/>
                  </a:solidFill>
                </a:rPr>
                <a:t> </a:t>
              </a:r>
              <a:r>
                <a:rPr lang="en-US" sz="1400" b="1" dirty="0">
                  <a:solidFill>
                    <a:schemeClr val="tx1"/>
                  </a:solidFill>
                </a:rPr>
                <a:t>uncertainty</a:t>
              </a:r>
              <a:r>
                <a:rPr lang="en-US" sz="1400" dirty="0">
                  <a:solidFill>
                    <a:schemeClr val="tx1"/>
                  </a:solidFill>
                </a:rPr>
                <a:t> with better vision</a:t>
              </a:r>
              <a:r>
                <a:rPr lang="en-US" sz="1400" b="1" dirty="0">
                  <a:solidFill>
                    <a:schemeClr val="tx1"/>
                  </a:solidFill>
                </a:rPr>
                <a:t>.</a:t>
              </a:r>
            </a:p>
            <a:p>
              <a:pPr algn="ctr" fontAlgn="auto">
                <a:spcAft>
                  <a:spcPts val="0"/>
                </a:spcAft>
              </a:pPr>
              <a:r>
                <a:rPr lang="en-US" sz="1400" dirty="0">
                  <a:solidFill>
                    <a:schemeClr val="tx1"/>
                  </a:solidFill>
                </a:rPr>
                <a:t> Therefore,</a:t>
              </a:r>
              <a:r>
                <a:rPr lang="en-US" sz="1400" b="1" dirty="0">
                  <a:solidFill>
                    <a:schemeClr val="tx1"/>
                  </a:solidFill>
                </a:rPr>
                <a:t> </a:t>
              </a:r>
              <a:r>
                <a:rPr lang="en-US" sz="1400" dirty="0">
                  <a:solidFill>
                    <a:schemeClr val="tx1"/>
                  </a:solidFill>
                </a:rPr>
                <a:t>the </a:t>
              </a:r>
              <a:r>
                <a:rPr lang="en-US" sz="1400" b="1" dirty="0">
                  <a:solidFill>
                    <a:schemeClr val="tx1"/>
                  </a:solidFill>
                </a:rPr>
                <a:t>uncertainty </a:t>
              </a:r>
              <a:r>
                <a:rPr lang="en-US" sz="1400" dirty="0">
                  <a:solidFill>
                    <a:schemeClr val="tx1"/>
                  </a:solidFill>
                </a:rPr>
                <a:t>is </a:t>
              </a:r>
              <a:r>
                <a:rPr lang="en-US" sz="1400" b="1" dirty="0">
                  <a:solidFill>
                    <a:schemeClr val="tx1"/>
                  </a:solidFill>
                </a:rPr>
                <a:t>epistemic</a:t>
              </a:r>
              <a:r>
                <a:rPr lang="en-US" sz="1400" dirty="0">
                  <a:solidFill>
                    <a:schemeClr val="tx1"/>
                  </a:solidFill>
                </a:rPr>
                <a:t>.</a:t>
              </a:r>
            </a:p>
          </p:txBody>
        </p:sp>
      </p:grpSp>
      <p:pic>
        <p:nvPicPr>
          <p:cNvPr id="12" name="Picture 11">
            <a:extLst>
              <a:ext uri="{FF2B5EF4-FFF2-40B4-BE49-F238E27FC236}">
                <a16:creationId xmlns:a16="http://schemas.microsoft.com/office/drawing/2014/main" id="{5C698C20-BA06-4C84-87DD-2E1BF9DD30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43156" y="4325142"/>
            <a:ext cx="2057687" cy="2095792"/>
          </a:xfrm>
          <a:prstGeom prst="rect">
            <a:avLst/>
          </a:prstGeom>
        </p:spPr>
      </p:pic>
    </p:spTree>
    <p:extLst>
      <p:ext uri="{BB962C8B-B14F-4D97-AF65-F5344CB8AC3E}">
        <p14:creationId xmlns:p14="http://schemas.microsoft.com/office/powerpoint/2010/main" val="1196328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1"/>
          <p:cNvSpPr>
            <a:spLocks noGrp="1"/>
          </p:cNvSpPr>
          <p:nvPr>
            <p:ph type="title"/>
          </p:nvPr>
        </p:nvSpPr>
        <p:spPr>
          <a:xfrm>
            <a:off x="152400" y="152400"/>
            <a:ext cx="8839200" cy="304800"/>
          </a:xfrm>
        </p:spPr>
        <p:txBody>
          <a:bodyPr>
            <a:noAutofit/>
          </a:bodyPr>
          <a:lstStyle/>
          <a:p>
            <a:r>
              <a:rPr lang="en-US" sz="1800" b="1" dirty="0">
                <a:solidFill>
                  <a:prstClr val="black"/>
                </a:solidFill>
              </a:rPr>
              <a:t>There is only one type of uncertainty in the world – epistemic</a:t>
            </a:r>
            <a:endParaRPr lang="en-US" sz="1700" dirty="0">
              <a:solidFill>
                <a:schemeClr val="tx1"/>
              </a:solidFill>
            </a:endParaRPr>
          </a:p>
        </p:txBody>
      </p:sp>
      <p:pic>
        <p:nvPicPr>
          <p:cNvPr id="6" name="Picture 5">
            <a:extLst>
              <a:ext uri="{FF2B5EF4-FFF2-40B4-BE49-F238E27FC236}">
                <a16:creationId xmlns:a16="http://schemas.microsoft.com/office/drawing/2014/main" id="{072CF64C-2AA3-4B11-806B-DC4E5AB287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43156" y="4325142"/>
            <a:ext cx="2057687" cy="2095792"/>
          </a:xfrm>
          <a:prstGeom prst="rect">
            <a:avLst/>
          </a:prstGeom>
        </p:spPr>
      </p:pic>
      <p:sp>
        <p:nvSpPr>
          <p:cNvPr id="34" name="Title 4 2 1 1 1 2">
            <a:extLst>
              <a:ext uri="{FF2B5EF4-FFF2-40B4-BE49-F238E27FC236}">
                <a16:creationId xmlns:a16="http://schemas.microsoft.com/office/drawing/2014/main" id="{A05C122D-4AA6-4180-B549-205E42D6154A}"/>
              </a:ext>
            </a:extLst>
          </p:cNvPr>
          <p:cNvSpPr txBox="1">
            <a:spLocks/>
          </p:cNvSpPr>
          <p:nvPr/>
        </p:nvSpPr>
        <p:spPr>
          <a:xfrm>
            <a:off x="152686" y="914400"/>
            <a:ext cx="8838914" cy="838200"/>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500" dirty="0">
                <a:solidFill>
                  <a:schemeClr val="tx1"/>
                </a:solidFill>
              </a:rPr>
              <a:t>Suppose you have </a:t>
            </a:r>
            <a:r>
              <a:rPr lang="en-US" sz="1500" b="1" dirty="0">
                <a:solidFill>
                  <a:schemeClr val="tx1"/>
                </a:solidFill>
              </a:rPr>
              <a:t>perfect</a:t>
            </a:r>
            <a:r>
              <a:rPr lang="en-US" sz="1500" dirty="0">
                <a:solidFill>
                  <a:schemeClr val="tx1"/>
                </a:solidFill>
              </a:rPr>
              <a:t> vision.</a:t>
            </a:r>
          </a:p>
          <a:p>
            <a:pPr algn="ctr" fontAlgn="auto">
              <a:spcAft>
                <a:spcPts val="0"/>
              </a:spcAft>
            </a:pPr>
            <a:r>
              <a:rPr lang="en-US" sz="1500" dirty="0">
                <a:solidFill>
                  <a:schemeClr val="tx1"/>
                </a:solidFill>
              </a:rPr>
              <a:t>You throw a die </a:t>
            </a:r>
            <a:r>
              <a:rPr lang="en-US" sz="1500" b="1" dirty="0">
                <a:solidFill>
                  <a:schemeClr val="tx1"/>
                </a:solidFill>
              </a:rPr>
              <a:t>multiple times and</a:t>
            </a:r>
            <a:r>
              <a:rPr lang="en-US" sz="1500" dirty="0">
                <a:solidFill>
                  <a:schemeClr val="tx1"/>
                </a:solidFill>
              </a:rPr>
              <a:t> read your observations. </a:t>
            </a:r>
          </a:p>
          <a:p>
            <a:pPr algn="ctr" fontAlgn="auto">
              <a:spcAft>
                <a:spcPts val="0"/>
              </a:spcAft>
            </a:pPr>
            <a:r>
              <a:rPr lang="en-US" sz="1500" dirty="0">
                <a:solidFill>
                  <a:schemeClr val="tx1"/>
                </a:solidFill>
              </a:rPr>
              <a:t>What is the </a:t>
            </a:r>
            <a:r>
              <a:rPr lang="en-US" sz="1500" b="1" dirty="0">
                <a:solidFill>
                  <a:schemeClr val="tx1"/>
                </a:solidFill>
              </a:rPr>
              <a:t>type of uncertainty (source of variability)</a:t>
            </a:r>
            <a:r>
              <a:rPr lang="en-US" sz="1500" dirty="0">
                <a:solidFill>
                  <a:schemeClr val="tx1"/>
                </a:solidFill>
              </a:rPr>
              <a:t> in your observations?</a:t>
            </a:r>
          </a:p>
        </p:txBody>
      </p:sp>
      <p:grpSp>
        <p:nvGrpSpPr>
          <p:cNvPr id="3" name="Group 2">
            <a:extLst>
              <a:ext uri="{FF2B5EF4-FFF2-40B4-BE49-F238E27FC236}">
                <a16:creationId xmlns:a16="http://schemas.microsoft.com/office/drawing/2014/main" id="{39BF619F-01CA-4985-BEC0-BE3FEC599F37}"/>
              </a:ext>
            </a:extLst>
          </p:cNvPr>
          <p:cNvGrpSpPr/>
          <p:nvPr/>
        </p:nvGrpSpPr>
        <p:grpSpPr>
          <a:xfrm>
            <a:off x="-76200" y="1981200"/>
            <a:ext cx="4648200" cy="1600200"/>
            <a:chOff x="-76200" y="1981200"/>
            <a:chExt cx="4648200" cy="1600200"/>
          </a:xfrm>
        </p:grpSpPr>
        <p:sp>
          <p:nvSpPr>
            <p:cNvPr id="37" name="Title 4 2 1 1">
              <a:extLst>
                <a:ext uri="{FF2B5EF4-FFF2-40B4-BE49-F238E27FC236}">
                  <a16:creationId xmlns:a16="http://schemas.microsoft.com/office/drawing/2014/main" id="{2BDB9615-7C87-416A-A4A7-FE320213E12F}"/>
                </a:ext>
              </a:extLst>
            </p:cNvPr>
            <p:cNvSpPr txBox="1">
              <a:spLocks/>
            </p:cNvSpPr>
            <p:nvPr/>
          </p:nvSpPr>
          <p:spPr>
            <a:xfrm>
              <a:off x="533400" y="1981200"/>
              <a:ext cx="3429000" cy="378590"/>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500" b="1" dirty="0">
                  <a:solidFill>
                    <a:schemeClr val="tx1"/>
                  </a:solidFill>
                </a:rPr>
                <a:t>Frequentist Inference</a:t>
              </a:r>
            </a:p>
          </p:txBody>
        </p:sp>
        <p:sp>
          <p:nvSpPr>
            <p:cNvPr id="41" name="Title 4 2 1 1 1">
              <a:extLst>
                <a:ext uri="{FF2B5EF4-FFF2-40B4-BE49-F238E27FC236}">
                  <a16:creationId xmlns:a16="http://schemas.microsoft.com/office/drawing/2014/main" id="{49858545-B32B-4EA7-8DCB-87B83E334D34}"/>
                </a:ext>
              </a:extLst>
            </p:cNvPr>
            <p:cNvSpPr txBox="1">
              <a:spLocks/>
            </p:cNvSpPr>
            <p:nvPr/>
          </p:nvSpPr>
          <p:spPr>
            <a:xfrm>
              <a:off x="-76200" y="2687318"/>
              <a:ext cx="4648200" cy="894082"/>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400" dirty="0">
                  <a:solidFill>
                    <a:schemeClr val="tx1"/>
                  </a:solidFill>
                </a:rPr>
                <a:t>The uncertainty is </a:t>
              </a:r>
              <a:r>
                <a:rPr lang="en-US" sz="1400" b="1" dirty="0">
                  <a:solidFill>
                    <a:schemeClr val="tx1"/>
                  </a:solidFill>
                </a:rPr>
                <a:t>inherent in the experiment. </a:t>
              </a:r>
            </a:p>
            <a:p>
              <a:pPr algn="ctr" fontAlgn="auto">
                <a:spcAft>
                  <a:spcPts val="0"/>
                </a:spcAft>
              </a:pPr>
              <a:r>
                <a:rPr lang="en-US" sz="1400" dirty="0">
                  <a:solidFill>
                    <a:schemeClr val="tx1"/>
                  </a:solidFill>
                </a:rPr>
                <a:t>I </a:t>
              </a:r>
              <a:r>
                <a:rPr lang="en-US" sz="1400" b="1" dirty="0">
                  <a:solidFill>
                    <a:schemeClr val="tx1"/>
                  </a:solidFill>
                </a:rPr>
                <a:t>cannot</a:t>
              </a:r>
              <a:r>
                <a:rPr lang="en-US" sz="1400" dirty="0">
                  <a:solidFill>
                    <a:schemeClr val="tx1"/>
                  </a:solidFill>
                </a:rPr>
                <a:t> </a:t>
              </a:r>
              <a:r>
                <a:rPr lang="en-US" sz="1400" b="1" dirty="0">
                  <a:solidFill>
                    <a:schemeClr val="tx1"/>
                  </a:solidFill>
                </a:rPr>
                <a:t>reduce</a:t>
              </a:r>
              <a:r>
                <a:rPr lang="en-US" sz="1400" dirty="0">
                  <a:solidFill>
                    <a:schemeClr val="tx1"/>
                  </a:solidFill>
                </a:rPr>
                <a:t> uncertainty any further</a:t>
              </a:r>
              <a:r>
                <a:rPr lang="en-US" sz="1400" b="1" dirty="0">
                  <a:solidFill>
                    <a:schemeClr val="tx1"/>
                  </a:solidFill>
                </a:rPr>
                <a:t>.</a:t>
              </a:r>
            </a:p>
            <a:p>
              <a:pPr algn="ctr" fontAlgn="auto">
                <a:spcAft>
                  <a:spcPts val="0"/>
                </a:spcAft>
              </a:pPr>
              <a:r>
                <a:rPr lang="en-US" sz="1400" dirty="0">
                  <a:solidFill>
                    <a:schemeClr val="tx1"/>
                  </a:solidFill>
                </a:rPr>
                <a:t> Therefore,</a:t>
              </a:r>
              <a:r>
                <a:rPr lang="en-US" sz="1400" b="1" dirty="0">
                  <a:solidFill>
                    <a:schemeClr val="tx1"/>
                  </a:solidFill>
                </a:rPr>
                <a:t> </a:t>
              </a:r>
              <a:r>
                <a:rPr lang="en-US" sz="1400" dirty="0">
                  <a:solidFill>
                    <a:schemeClr val="tx1"/>
                  </a:solidFill>
                </a:rPr>
                <a:t>the </a:t>
              </a:r>
              <a:r>
                <a:rPr lang="en-US" sz="1400" b="1" dirty="0">
                  <a:solidFill>
                    <a:schemeClr val="tx1"/>
                  </a:solidFill>
                </a:rPr>
                <a:t>uncertainty </a:t>
              </a:r>
              <a:r>
                <a:rPr lang="en-US" sz="1400" dirty="0">
                  <a:solidFill>
                    <a:schemeClr val="tx1"/>
                  </a:solidFill>
                </a:rPr>
                <a:t>is </a:t>
              </a:r>
              <a:r>
                <a:rPr lang="en-US" sz="1400" b="1" dirty="0">
                  <a:solidFill>
                    <a:schemeClr val="tx1"/>
                  </a:solidFill>
                </a:rPr>
                <a:t>aleatoric</a:t>
              </a:r>
              <a:r>
                <a:rPr lang="en-US" sz="1400" dirty="0">
                  <a:solidFill>
                    <a:schemeClr val="tx1"/>
                  </a:solidFill>
                </a:rPr>
                <a:t>.</a:t>
              </a:r>
            </a:p>
          </p:txBody>
        </p:sp>
      </p:grpSp>
      <p:grpSp>
        <p:nvGrpSpPr>
          <p:cNvPr id="4" name="Group 3">
            <a:extLst>
              <a:ext uri="{FF2B5EF4-FFF2-40B4-BE49-F238E27FC236}">
                <a16:creationId xmlns:a16="http://schemas.microsoft.com/office/drawing/2014/main" id="{0663A78B-80FC-48C0-90DB-3BA13CE70F29}"/>
              </a:ext>
            </a:extLst>
          </p:cNvPr>
          <p:cNvGrpSpPr/>
          <p:nvPr/>
        </p:nvGrpSpPr>
        <p:grpSpPr>
          <a:xfrm>
            <a:off x="4468003" y="1983610"/>
            <a:ext cx="4648200" cy="2207390"/>
            <a:chOff x="4468003" y="1983610"/>
            <a:chExt cx="4648200" cy="2145984"/>
          </a:xfrm>
        </p:grpSpPr>
        <p:sp>
          <p:nvSpPr>
            <p:cNvPr id="38" name="Title 4 2 1 1">
              <a:extLst>
                <a:ext uri="{FF2B5EF4-FFF2-40B4-BE49-F238E27FC236}">
                  <a16:creationId xmlns:a16="http://schemas.microsoft.com/office/drawing/2014/main" id="{5FA9B36E-EDCE-4E16-8A3A-C44E89C99A23}"/>
                </a:ext>
              </a:extLst>
            </p:cNvPr>
            <p:cNvSpPr txBox="1">
              <a:spLocks/>
            </p:cNvSpPr>
            <p:nvPr/>
          </p:nvSpPr>
          <p:spPr>
            <a:xfrm>
              <a:off x="5327341" y="1983610"/>
              <a:ext cx="3429000" cy="378590"/>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500" b="1" dirty="0">
                  <a:solidFill>
                    <a:schemeClr val="tx1"/>
                  </a:solidFill>
                </a:rPr>
                <a:t>Bayesian Inference</a:t>
              </a:r>
            </a:p>
          </p:txBody>
        </p:sp>
        <p:sp>
          <p:nvSpPr>
            <p:cNvPr id="11" name="Title 4 2 1 1 1">
              <a:extLst>
                <a:ext uri="{FF2B5EF4-FFF2-40B4-BE49-F238E27FC236}">
                  <a16:creationId xmlns:a16="http://schemas.microsoft.com/office/drawing/2014/main" id="{B84CD759-A30E-4E64-8180-78D3DDD7D224}"/>
                </a:ext>
              </a:extLst>
            </p:cNvPr>
            <p:cNvSpPr txBox="1">
              <a:spLocks/>
            </p:cNvSpPr>
            <p:nvPr/>
          </p:nvSpPr>
          <p:spPr>
            <a:xfrm>
              <a:off x="4468003" y="2687318"/>
              <a:ext cx="4648200" cy="1442276"/>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400" dirty="0">
                  <a:solidFill>
                    <a:schemeClr val="tx1"/>
                  </a:solidFill>
                </a:rPr>
                <a:t>The uncertainty is due to my </a:t>
              </a:r>
              <a:r>
                <a:rPr lang="en-US" sz="1400" b="1" dirty="0">
                  <a:solidFill>
                    <a:schemeClr val="tx1"/>
                  </a:solidFill>
                </a:rPr>
                <a:t>lack of knowledge:</a:t>
              </a:r>
            </a:p>
            <a:p>
              <a:pPr marL="342900" indent="-342900" algn="ctr" fontAlgn="auto">
                <a:spcAft>
                  <a:spcPts val="0"/>
                </a:spcAft>
                <a:buAutoNum type="arabicPeriod"/>
              </a:pPr>
              <a:r>
                <a:rPr lang="en-US" sz="1400" dirty="0">
                  <a:solidFill>
                    <a:schemeClr val="tx1"/>
                  </a:solidFill>
                </a:rPr>
                <a:t>Wrong / </a:t>
              </a:r>
              <a:r>
                <a:rPr lang="en-US" sz="1400" b="1" dirty="0">
                  <a:solidFill>
                    <a:schemeClr val="tx1"/>
                  </a:solidFill>
                </a:rPr>
                <a:t>inadequate</a:t>
              </a:r>
              <a:r>
                <a:rPr lang="en-US" sz="1400" dirty="0">
                  <a:solidFill>
                    <a:schemeClr val="tx1"/>
                  </a:solidFill>
                </a:rPr>
                <a:t> model.</a:t>
              </a:r>
            </a:p>
            <a:p>
              <a:pPr marL="342900" indent="-342900" algn="ctr" fontAlgn="auto">
                <a:spcAft>
                  <a:spcPts val="0"/>
                </a:spcAft>
                <a:buAutoNum type="arabicPeriod"/>
              </a:pPr>
              <a:r>
                <a:rPr lang="en-US" sz="1400" dirty="0">
                  <a:solidFill>
                    <a:schemeClr val="tx1"/>
                  </a:solidFill>
                </a:rPr>
                <a:t>Lack of sufficiently-detailed data</a:t>
              </a:r>
            </a:p>
            <a:p>
              <a:pPr algn="ctr" fontAlgn="auto">
                <a:spcAft>
                  <a:spcPts val="0"/>
                </a:spcAft>
              </a:pPr>
              <a:r>
                <a:rPr lang="en-US" sz="1400" dirty="0">
                  <a:solidFill>
                    <a:schemeClr val="tx1"/>
                  </a:solidFill>
                </a:rPr>
                <a:t>	which leads to inadequate model.</a:t>
              </a:r>
            </a:p>
            <a:p>
              <a:pPr algn="ctr" fontAlgn="auto">
                <a:spcAft>
                  <a:spcPts val="0"/>
                </a:spcAft>
              </a:pPr>
              <a:endParaRPr lang="en-US" sz="1400" b="1" dirty="0">
                <a:solidFill>
                  <a:schemeClr val="tx1"/>
                </a:solidFill>
              </a:endParaRPr>
            </a:p>
            <a:p>
              <a:pPr algn="ctr" fontAlgn="auto">
                <a:spcAft>
                  <a:spcPts val="0"/>
                </a:spcAft>
              </a:pPr>
              <a:r>
                <a:rPr lang="en-US" sz="1400" dirty="0">
                  <a:solidFill>
                    <a:schemeClr val="tx1"/>
                  </a:solidFill>
                </a:rPr>
                <a:t>I </a:t>
              </a:r>
              <a:r>
                <a:rPr lang="en-US" sz="1400" b="1" dirty="0">
                  <a:solidFill>
                    <a:schemeClr val="tx1"/>
                  </a:solidFill>
                </a:rPr>
                <a:t>can</a:t>
              </a:r>
              <a:r>
                <a:rPr lang="en-US" sz="1400" dirty="0">
                  <a:solidFill>
                    <a:schemeClr val="tx1"/>
                  </a:solidFill>
                </a:rPr>
                <a:t> </a:t>
              </a:r>
              <a:r>
                <a:rPr lang="en-US" sz="1400" b="1" dirty="0">
                  <a:solidFill>
                    <a:schemeClr val="tx1"/>
                  </a:solidFill>
                </a:rPr>
                <a:t>reduce</a:t>
              </a:r>
              <a:r>
                <a:rPr lang="en-US" sz="1400" dirty="0">
                  <a:solidFill>
                    <a:schemeClr val="tx1"/>
                  </a:solidFill>
                </a:rPr>
                <a:t> </a:t>
              </a:r>
              <a:r>
                <a:rPr lang="en-US" sz="1400" b="1" dirty="0">
                  <a:solidFill>
                    <a:schemeClr val="tx1"/>
                  </a:solidFill>
                </a:rPr>
                <a:t>uncertainty</a:t>
              </a:r>
              <a:r>
                <a:rPr lang="en-US" sz="1400" dirty="0">
                  <a:solidFill>
                    <a:schemeClr val="tx1"/>
                  </a:solidFill>
                </a:rPr>
                <a:t> with better data / model</a:t>
              </a:r>
              <a:r>
                <a:rPr lang="en-US" sz="1400" b="1" dirty="0">
                  <a:solidFill>
                    <a:schemeClr val="tx1"/>
                  </a:solidFill>
                </a:rPr>
                <a:t>.</a:t>
              </a:r>
            </a:p>
            <a:p>
              <a:pPr algn="ctr" fontAlgn="auto">
                <a:spcAft>
                  <a:spcPts val="0"/>
                </a:spcAft>
              </a:pPr>
              <a:r>
                <a:rPr lang="en-US" sz="1400" dirty="0">
                  <a:solidFill>
                    <a:schemeClr val="tx1"/>
                  </a:solidFill>
                </a:rPr>
                <a:t> Therefore,</a:t>
              </a:r>
              <a:r>
                <a:rPr lang="en-US" sz="1400" b="1" dirty="0">
                  <a:solidFill>
                    <a:schemeClr val="tx1"/>
                  </a:solidFill>
                </a:rPr>
                <a:t> </a:t>
              </a:r>
              <a:r>
                <a:rPr lang="en-US" sz="1400" dirty="0">
                  <a:solidFill>
                    <a:schemeClr val="tx1"/>
                  </a:solidFill>
                </a:rPr>
                <a:t>the </a:t>
              </a:r>
              <a:r>
                <a:rPr lang="en-US" sz="1400" b="1" dirty="0">
                  <a:solidFill>
                    <a:schemeClr val="tx1"/>
                  </a:solidFill>
                </a:rPr>
                <a:t>uncertainty </a:t>
              </a:r>
              <a:r>
                <a:rPr lang="en-US" sz="1400" dirty="0">
                  <a:solidFill>
                    <a:schemeClr val="tx1"/>
                  </a:solidFill>
                </a:rPr>
                <a:t>is </a:t>
              </a:r>
              <a:r>
                <a:rPr lang="en-US" sz="1400" b="1" dirty="0">
                  <a:solidFill>
                    <a:schemeClr val="tx1"/>
                  </a:solidFill>
                </a:rPr>
                <a:t>epistemic</a:t>
              </a:r>
              <a:r>
                <a:rPr lang="en-US" sz="1400" dirty="0">
                  <a:solidFill>
                    <a:schemeClr val="tx1"/>
                  </a:solidFill>
                </a:rPr>
                <a:t>.</a:t>
              </a:r>
            </a:p>
          </p:txBody>
        </p:sp>
      </p:grpSp>
    </p:spTree>
    <p:extLst>
      <p:ext uri="{BB962C8B-B14F-4D97-AF65-F5344CB8AC3E}">
        <p14:creationId xmlns:p14="http://schemas.microsoft.com/office/powerpoint/2010/main" val="1379778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1"/>
          <p:cNvSpPr>
            <a:spLocks noGrp="1"/>
          </p:cNvSpPr>
          <p:nvPr>
            <p:ph type="title"/>
          </p:nvPr>
        </p:nvSpPr>
        <p:spPr>
          <a:xfrm>
            <a:off x="152400" y="152400"/>
            <a:ext cx="8839200" cy="304800"/>
          </a:xfrm>
        </p:spPr>
        <p:txBody>
          <a:bodyPr>
            <a:noAutofit/>
          </a:bodyPr>
          <a:lstStyle/>
          <a:p>
            <a:r>
              <a:rPr lang="en-US" sz="1800" b="1" dirty="0">
                <a:solidFill>
                  <a:prstClr val="black"/>
                </a:solidFill>
              </a:rPr>
              <a:t>There is only one type of uncertainty in the world – epistemic</a:t>
            </a:r>
            <a:endParaRPr lang="en-US" sz="1700" dirty="0">
              <a:solidFill>
                <a:schemeClr val="tx1"/>
              </a:solidFill>
            </a:endParaRPr>
          </a:p>
        </p:txBody>
      </p:sp>
      <p:sp>
        <p:nvSpPr>
          <p:cNvPr id="34" name="Title 4 2 1 1 1 2">
            <a:extLst>
              <a:ext uri="{FF2B5EF4-FFF2-40B4-BE49-F238E27FC236}">
                <a16:creationId xmlns:a16="http://schemas.microsoft.com/office/drawing/2014/main" id="{A05C122D-4AA6-4180-B549-205E42D6154A}"/>
              </a:ext>
            </a:extLst>
          </p:cNvPr>
          <p:cNvSpPr txBox="1">
            <a:spLocks/>
          </p:cNvSpPr>
          <p:nvPr/>
        </p:nvSpPr>
        <p:spPr>
          <a:xfrm>
            <a:off x="152686" y="914400"/>
            <a:ext cx="8838914" cy="838200"/>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500" dirty="0">
                <a:solidFill>
                  <a:schemeClr val="tx1"/>
                </a:solidFill>
              </a:rPr>
              <a:t>Suppose you have </a:t>
            </a:r>
            <a:r>
              <a:rPr lang="en-US" sz="1500" b="1" dirty="0">
                <a:solidFill>
                  <a:schemeClr val="tx1"/>
                </a:solidFill>
              </a:rPr>
              <a:t>perfect</a:t>
            </a:r>
            <a:r>
              <a:rPr lang="en-US" sz="1500" dirty="0">
                <a:solidFill>
                  <a:schemeClr val="tx1"/>
                </a:solidFill>
              </a:rPr>
              <a:t> vision.</a:t>
            </a:r>
          </a:p>
          <a:p>
            <a:pPr algn="ctr" fontAlgn="auto">
              <a:spcAft>
                <a:spcPts val="0"/>
              </a:spcAft>
            </a:pPr>
            <a:r>
              <a:rPr lang="en-US" sz="1500" dirty="0">
                <a:solidFill>
                  <a:schemeClr val="tx1"/>
                </a:solidFill>
              </a:rPr>
              <a:t>You throw a die </a:t>
            </a:r>
            <a:r>
              <a:rPr lang="en-US" sz="1500" b="1" dirty="0">
                <a:solidFill>
                  <a:schemeClr val="tx1"/>
                </a:solidFill>
              </a:rPr>
              <a:t>multiple times and</a:t>
            </a:r>
            <a:r>
              <a:rPr lang="en-US" sz="1500" dirty="0">
                <a:solidFill>
                  <a:schemeClr val="tx1"/>
                </a:solidFill>
              </a:rPr>
              <a:t> read your observations. </a:t>
            </a:r>
          </a:p>
          <a:p>
            <a:pPr algn="ctr" fontAlgn="auto">
              <a:spcAft>
                <a:spcPts val="0"/>
              </a:spcAft>
            </a:pPr>
            <a:r>
              <a:rPr lang="en-US" sz="1500" dirty="0">
                <a:solidFill>
                  <a:schemeClr val="tx1"/>
                </a:solidFill>
              </a:rPr>
              <a:t>What is the </a:t>
            </a:r>
            <a:r>
              <a:rPr lang="en-US" sz="1500" b="1" dirty="0">
                <a:solidFill>
                  <a:schemeClr val="tx1"/>
                </a:solidFill>
              </a:rPr>
              <a:t>type of uncertainty (source of variability)</a:t>
            </a:r>
            <a:r>
              <a:rPr lang="en-US" sz="1500" dirty="0">
                <a:solidFill>
                  <a:schemeClr val="tx1"/>
                </a:solidFill>
              </a:rPr>
              <a:t> in your observations?</a:t>
            </a:r>
          </a:p>
        </p:txBody>
      </p:sp>
      <p:grpSp>
        <p:nvGrpSpPr>
          <p:cNvPr id="3" name="Group 2">
            <a:extLst>
              <a:ext uri="{FF2B5EF4-FFF2-40B4-BE49-F238E27FC236}">
                <a16:creationId xmlns:a16="http://schemas.microsoft.com/office/drawing/2014/main" id="{39BF619F-01CA-4985-BEC0-BE3FEC599F37}"/>
              </a:ext>
            </a:extLst>
          </p:cNvPr>
          <p:cNvGrpSpPr/>
          <p:nvPr/>
        </p:nvGrpSpPr>
        <p:grpSpPr>
          <a:xfrm>
            <a:off x="-76200" y="1981200"/>
            <a:ext cx="4648200" cy="1600200"/>
            <a:chOff x="-76200" y="1981200"/>
            <a:chExt cx="4648200" cy="1600200"/>
          </a:xfrm>
        </p:grpSpPr>
        <p:sp>
          <p:nvSpPr>
            <p:cNvPr id="37" name="Title 4 2 1 1">
              <a:extLst>
                <a:ext uri="{FF2B5EF4-FFF2-40B4-BE49-F238E27FC236}">
                  <a16:creationId xmlns:a16="http://schemas.microsoft.com/office/drawing/2014/main" id="{2BDB9615-7C87-416A-A4A7-FE320213E12F}"/>
                </a:ext>
              </a:extLst>
            </p:cNvPr>
            <p:cNvSpPr txBox="1">
              <a:spLocks/>
            </p:cNvSpPr>
            <p:nvPr/>
          </p:nvSpPr>
          <p:spPr>
            <a:xfrm>
              <a:off x="533400" y="1981200"/>
              <a:ext cx="3429000" cy="378590"/>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500" b="1" dirty="0">
                  <a:solidFill>
                    <a:schemeClr val="tx1"/>
                  </a:solidFill>
                </a:rPr>
                <a:t>Frequentist Inference</a:t>
              </a:r>
            </a:p>
          </p:txBody>
        </p:sp>
        <p:sp>
          <p:nvSpPr>
            <p:cNvPr id="41" name="Title 4 2 1 1 1">
              <a:extLst>
                <a:ext uri="{FF2B5EF4-FFF2-40B4-BE49-F238E27FC236}">
                  <a16:creationId xmlns:a16="http://schemas.microsoft.com/office/drawing/2014/main" id="{49858545-B32B-4EA7-8DCB-87B83E334D34}"/>
                </a:ext>
              </a:extLst>
            </p:cNvPr>
            <p:cNvSpPr txBox="1">
              <a:spLocks/>
            </p:cNvSpPr>
            <p:nvPr/>
          </p:nvSpPr>
          <p:spPr>
            <a:xfrm>
              <a:off x="-76200" y="2687318"/>
              <a:ext cx="4648200" cy="894082"/>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400" dirty="0">
                  <a:solidFill>
                    <a:schemeClr val="tx1"/>
                  </a:solidFill>
                </a:rPr>
                <a:t>The uncertainty is </a:t>
              </a:r>
              <a:r>
                <a:rPr lang="en-US" sz="1400" b="1" dirty="0">
                  <a:solidFill>
                    <a:schemeClr val="tx1"/>
                  </a:solidFill>
                </a:rPr>
                <a:t>inherent in the experiment. </a:t>
              </a:r>
            </a:p>
            <a:p>
              <a:pPr algn="ctr" fontAlgn="auto">
                <a:spcAft>
                  <a:spcPts val="0"/>
                </a:spcAft>
              </a:pPr>
              <a:r>
                <a:rPr lang="en-US" sz="1400" dirty="0">
                  <a:solidFill>
                    <a:schemeClr val="tx1"/>
                  </a:solidFill>
                </a:rPr>
                <a:t>I </a:t>
              </a:r>
              <a:r>
                <a:rPr lang="en-US" sz="1400" b="1" dirty="0">
                  <a:solidFill>
                    <a:schemeClr val="tx1"/>
                  </a:solidFill>
                </a:rPr>
                <a:t>cannot</a:t>
              </a:r>
              <a:r>
                <a:rPr lang="en-US" sz="1400" dirty="0">
                  <a:solidFill>
                    <a:schemeClr val="tx1"/>
                  </a:solidFill>
                </a:rPr>
                <a:t> </a:t>
              </a:r>
              <a:r>
                <a:rPr lang="en-US" sz="1400" b="1" dirty="0">
                  <a:solidFill>
                    <a:schemeClr val="tx1"/>
                  </a:solidFill>
                </a:rPr>
                <a:t>reduce</a:t>
              </a:r>
              <a:r>
                <a:rPr lang="en-US" sz="1400" dirty="0">
                  <a:solidFill>
                    <a:schemeClr val="tx1"/>
                  </a:solidFill>
                </a:rPr>
                <a:t> uncertainty any further</a:t>
              </a:r>
              <a:r>
                <a:rPr lang="en-US" sz="1400" b="1" dirty="0">
                  <a:solidFill>
                    <a:schemeClr val="tx1"/>
                  </a:solidFill>
                </a:rPr>
                <a:t>.</a:t>
              </a:r>
            </a:p>
            <a:p>
              <a:pPr algn="ctr" fontAlgn="auto">
                <a:spcAft>
                  <a:spcPts val="0"/>
                </a:spcAft>
              </a:pPr>
              <a:r>
                <a:rPr lang="en-US" sz="1400" dirty="0">
                  <a:solidFill>
                    <a:schemeClr val="tx1"/>
                  </a:solidFill>
                </a:rPr>
                <a:t> Therefore,</a:t>
              </a:r>
              <a:r>
                <a:rPr lang="en-US" sz="1400" b="1" dirty="0">
                  <a:solidFill>
                    <a:schemeClr val="tx1"/>
                  </a:solidFill>
                </a:rPr>
                <a:t> </a:t>
              </a:r>
              <a:r>
                <a:rPr lang="en-US" sz="1400" dirty="0">
                  <a:solidFill>
                    <a:schemeClr val="tx1"/>
                  </a:solidFill>
                </a:rPr>
                <a:t>the </a:t>
              </a:r>
              <a:r>
                <a:rPr lang="en-US" sz="1400" b="1" dirty="0">
                  <a:solidFill>
                    <a:schemeClr val="tx1"/>
                  </a:solidFill>
                </a:rPr>
                <a:t>uncertainty </a:t>
              </a:r>
              <a:r>
                <a:rPr lang="en-US" sz="1400" dirty="0">
                  <a:solidFill>
                    <a:schemeClr val="tx1"/>
                  </a:solidFill>
                </a:rPr>
                <a:t>is </a:t>
              </a:r>
              <a:r>
                <a:rPr lang="en-US" sz="1400" b="1" dirty="0">
                  <a:solidFill>
                    <a:schemeClr val="tx1"/>
                  </a:solidFill>
                </a:rPr>
                <a:t>aleatoric</a:t>
              </a:r>
              <a:r>
                <a:rPr lang="en-US" sz="1400" dirty="0">
                  <a:solidFill>
                    <a:schemeClr val="tx1"/>
                  </a:solidFill>
                </a:rPr>
                <a:t>.</a:t>
              </a:r>
            </a:p>
          </p:txBody>
        </p:sp>
      </p:grpSp>
      <p:grpSp>
        <p:nvGrpSpPr>
          <p:cNvPr id="4" name="Group 3">
            <a:extLst>
              <a:ext uri="{FF2B5EF4-FFF2-40B4-BE49-F238E27FC236}">
                <a16:creationId xmlns:a16="http://schemas.microsoft.com/office/drawing/2014/main" id="{0663A78B-80FC-48C0-90DB-3BA13CE70F29}"/>
              </a:ext>
            </a:extLst>
          </p:cNvPr>
          <p:cNvGrpSpPr/>
          <p:nvPr/>
        </p:nvGrpSpPr>
        <p:grpSpPr>
          <a:xfrm>
            <a:off x="4468003" y="1983610"/>
            <a:ext cx="4648200" cy="2207390"/>
            <a:chOff x="4468003" y="1983610"/>
            <a:chExt cx="4648200" cy="2145984"/>
          </a:xfrm>
        </p:grpSpPr>
        <p:sp>
          <p:nvSpPr>
            <p:cNvPr id="38" name="Title 4 2 1 1">
              <a:extLst>
                <a:ext uri="{FF2B5EF4-FFF2-40B4-BE49-F238E27FC236}">
                  <a16:creationId xmlns:a16="http://schemas.microsoft.com/office/drawing/2014/main" id="{5FA9B36E-EDCE-4E16-8A3A-C44E89C99A23}"/>
                </a:ext>
              </a:extLst>
            </p:cNvPr>
            <p:cNvSpPr txBox="1">
              <a:spLocks/>
            </p:cNvSpPr>
            <p:nvPr/>
          </p:nvSpPr>
          <p:spPr>
            <a:xfrm>
              <a:off x="5327341" y="1983610"/>
              <a:ext cx="3429000" cy="378590"/>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500" b="1" dirty="0">
                  <a:solidFill>
                    <a:schemeClr val="tx1"/>
                  </a:solidFill>
                </a:rPr>
                <a:t>Bayesian Inference</a:t>
              </a:r>
            </a:p>
          </p:txBody>
        </p:sp>
        <p:sp>
          <p:nvSpPr>
            <p:cNvPr id="11" name="Title 4 2 1 1 1">
              <a:extLst>
                <a:ext uri="{FF2B5EF4-FFF2-40B4-BE49-F238E27FC236}">
                  <a16:creationId xmlns:a16="http://schemas.microsoft.com/office/drawing/2014/main" id="{B84CD759-A30E-4E64-8180-78D3DDD7D224}"/>
                </a:ext>
              </a:extLst>
            </p:cNvPr>
            <p:cNvSpPr txBox="1">
              <a:spLocks/>
            </p:cNvSpPr>
            <p:nvPr/>
          </p:nvSpPr>
          <p:spPr>
            <a:xfrm>
              <a:off x="4468003" y="2687318"/>
              <a:ext cx="4648200" cy="1442276"/>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algn="ctr" fontAlgn="auto">
                <a:spcAft>
                  <a:spcPts val="0"/>
                </a:spcAft>
              </a:pPr>
              <a:r>
                <a:rPr lang="en-US" sz="1400" dirty="0">
                  <a:solidFill>
                    <a:schemeClr val="tx1"/>
                  </a:solidFill>
                </a:rPr>
                <a:t>The uncertainty is due to my </a:t>
              </a:r>
              <a:r>
                <a:rPr lang="en-US" sz="1400" b="1" dirty="0">
                  <a:solidFill>
                    <a:schemeClr val="tx1"/>
                  </a:solidFill>
                </a:rPr>
                <a:t>lack of knowledge:</a:t>
              </a:r>
            </a:p>
            <a:p>
              <a:pPr marL="342900" indent="-342900" algn="ctr" fontAlgn="auto">
                <a:spcAft>
                  <a:spcPts val="0"/>
                </a:spcAft>
                <a:buAutoNum type="arabicPeriod"/>
              </a:pPr>
              <a:r>
                <a:rPr lang="en-US" sz="1400" dirty="0">
                  <a:solidFill>
                    <a:schemeClr val="tx1"/>
                  </a:solidFill>
                </a:rPr>
                <a:t>Wrong / </a:t>
              </a:r>
              <a:r>
                <a:rPr lang="en-US" sz="1400" b="1" dirty="0">
                  <a:solidFill>
                    <a:schemeClr val="tx1"/>
                  </a:solidFill>
                </a:rPr>
                <a:t>inadequate</a:t>
              </a:r>
              <a:r>
                <a:rPr lang="en-US" sz="1400" dirty="0">
                  <a:solidFill>
                    <a:schemeClr val="tx1"/>
                  </a:solidFill>
                </a:rPr>
                <a:t> model.</a:t>
              </a:r>
            </a:p>
            <a:p>
              <a:pPr marL="342900" indent="-342900" algn="ctr" fontAlgn="auto">
                <a:spcAft>
                  <a:spcPts val="0"/>
                </a:spcAft>
                <a:buAutoNum type="arabicPeriod"/>
              </a:pPr>
              <a:r>
                <a:rPr lang="en-US" sz="1400" dirty="0">
                  <a:solidFill>
                    <a:schemeClr val="tx1"/>
                  </a:solidFill>
                </a:rPr>
                <a:t>Lack of sufficiently-detailed data</a:t>
              </a:r>
            </a:p>
            <a:p>
              <a:pPr algn="ctr" fontAlgn="auto">
                <a:spcAft>
                  <a:spcPts val="0"/>
                </a:spcAft>
              </a:pPr>
              <a:r>
                <a:rPr lang="en-US" sz="1400" dirty="0">
                  <a:solidFill>
                    <a:schemeClr val="tx1"/>
                  </a:solidFill>
                </a:rPr>
                <a:t>	which leads to inadequate model.</a:t>
              </a:r>
            </a:p>
            <a:p>
              <a:pPr algn="ctr" fontAlgn="auto">
                <a:spcAft>
                  <a:spcPts val="0"/>
                </a:spcAft>
              </a:pPr>
              <a:endParaRPr lang="en-US" sz="1400" b="1" dirty="0">
                <a:solidFill>
                  <a:schemeClr val="tx1"/>
                </a:solidFill>
              </a:endParaRPr>
            </a:p>
            <a:p>
              <a:pPr algn="ctr" fontAlgn="auto">
                <a:spcAft>
                  <a:spcPts val="0"/>
                </a:spcAft>
              </a:pPr>
              <a:r>
                <a:rPr lang="en-US" sz="1400" dirty="0">
                  <a:solidFill>
                    <a:schemeClr val="tx1"/>
                  </a:solidFill>
                </a:rPr>
                <a:t>I </a:t>
              </a:r>
              <a:r>
                <a:rPr lang="en-US" sz="1400" b="1" dirty="0">
                  <a:solidFill>
                    <a:schemeClr val="tx1"/>
                  </a:solidFill>
                </a:rPr>
                <a:t>can</a:t>
              </a:r>
              <a:r>
                <a:rPr lang="en-US" sz="1400" dirty="0">
                  <a:solidFill>
                    <a:schemeClr val="tx1"/>
                  </a:solidFill>
                </a:rPr>
                <a:t> </a:t>
              </a:r>
              <a:r>
                <a:rPr lang="en-US" sz="1400" b="1" dirty="0">
                  <a:solidFill>
                    <a:schemeClr val="tx1"/>
                  </a:solidFill>
                </a:rPr>
                <a:t>reduce</a:t>
              </a:r>
              <a:r>
                <a:rPr lang="en-US" sz="1400" dirty="0">
                  <a:solidFill>
                    <a:schemeClr val="tx1"/>
                  </a:solidFill>
                </a:rPr>
                <a:t> </a:t>
              </a:r>
              <a:r>
                <a:rPr lang="en-US" sz="1400" b="1" dirty="0">
                  <a:solidFill>
                    <a:schemeClr val="tx1"/>
                  </a:solidFill>
                </a:rPr>
                <a:t>uncertainty</a:t>
              </a:r>
              <a:r>
                <a:rPr lang="en-US" sz="1400" dirty="0">
                  <a:solidFill>
                    <a:schemeClr val="tx1"/>
                  </a:solidFill>
                </a:rPr>
                <a:t> with better data / model</a:t>
              </a:r>
              <a:r>
                <a:rPr lang="en-US" sz="1400" b="1" dirty="0">
                  <a:solidFill>
                    <a:schemeClr val="tx1"/>
                  </a:solidFill>
                </a:rPr>
                <a:t>.</a:t>
              </a:r>
            </a:p>
            <a:p>
              <a:pPr algn="ctr" fontAlgn="auto">
                <a:spcAft>
                  <a:spcPts val="0"/>
                </a:spcAft>
              </a:pPr>
              <a:r>
                <a:rPr lang="en-US" sz="1400" dirty="0">
                  <a:solidFill>
                    <a:schemeClr val="tx1"/>
                  </a:solidFill>
                </a:rPr>
                <a:t> Therefore,</a:t>
              </a:r>
              <a:r>
                <a:rPr lang="en-US" sz="1400" b="1" dirty="0">
                  <a:solidFill>
                    <a:schemeClr val="tx1"/>
                  </a:solidFill>
                </a:rPr>
                <a:t> </a:t>
              </a:r>
              <a:r>
                <a:rPr lang="en-US" sz="1400" dirty="0">
                  <a:solidFill>
                    <a:schemeClr val="tx1"/>
                  </a:solidFill>
                </a:rPr>
                <a:t>the </a:t>
              </a:r>
              <a:r>
                <a:rPr lang="en-US" sz="1400" b="1" dirty="0">
                  <a:solidFill>
                    <a:schemeClr val="tx1"/>
                  </a:solidFill>
                </a:rPr>
                <a:t>uncertainty </a:t>
              </a:r>
              <a:r>
                <a:rPr lang="en-US" sz="1400" dirty="0">
                  <a:solidFill>
                    <a:schemeClr val="tx1"/>
                  </a:solidFill>
                </a:rPr>
                <a:t>is </a:t>
              </a:r>
              <a:r>
                <a:rPr lang="en-US" sz="1400" b="1" dirty="0">
                  <a:solidFill>
                    <a:schemeClr val="tx1"/>
                  </a:solidFill>
                </a:rPr>
                <a:t>epistemic</a:t>
              </a:r>
              <a:r>
                <a:rPr lang="en-US" sz="1400" dirty="0">
                  <a:solidFill>
                    <a:schemeClr val="tx1"/>
                  </a:solidFill>
                </a:rPr>
                <a:t>.</a:t>
              </a:r>
            </a:p>
          </p:txBody>
        </p:sp>
      </p:grpSp>
      <p:graphicFrame>
        <p:nvGraphicFramePr>
          <p:cNvPr id="12" name="Diagram 11">
            <a:extLst>
              <a:ext uri="{FF2B5EF4-FFF2-40B4-BE49-F238E27FC236}">
                <a16:creationId xmlns:a16="http://schemas.microsoft.com/office/drawing/2014/main" id="{783A200A-32E9-43DE-A33F-DED251412333}"/>
              </a:ext>
            </a:extLst>
          </p:cNvPr>
          <p:cNvGraphicFramePr>
            <a:graphicFrameLocks noChangeAspect="1"/>
          </p:cNvGraphicFramePr>
          <p:nvPr/>
        </p:nvGraphicFramePr>
        <p:xfrm>
          <a:off x="-4267200" y="3810607"/>
          <a:ext cx="13927092" cy="28949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3" name="Diagram 12">
            <a:extLst>
              <a:ext uri="{FF2B5EF4-FFF2-40B4-BE49-F238E27FC236}">
                <a16:creationId xmlns:a16="http://schemas.microsoft.com/office/drawing/2014/main" id="{E3CF1E0A-30A5-4290-BD92-B11DADDF6CA5}"/>
              </a:ext>
            </a:extLst>
          </p:cNvPr>
          <p:cNvGraphicFramePr>
            <a:graphicFrameLocks noChangeAspect="1"/>
          </p:cNvGraphicFramePr>
          <p:nvPr/>
        </p:nvGraphicFramePr>
        <p:xfrm>
          <a:off x="6689240" y="4419391"/>
          <a:ext cx="2489396" cy="202186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4" name="Diagram 13">
            <a:extLst>
              <a:ext uri="{FF2B5EF4-FFF2-40B4-BE49-F238E27FC236}">
                <a16:creationId xmlns:a16="http://schemas.microsoft.com/office/drawing/2014/main" id="{1F264DBD-110C-4DB7-AD78-616513281F57}"/>
              </a:ext>
            </a:extLst>
          </p:cNvPr>
          <p:cNvGraphicFramePr>
            <a:graphicFrameLocks noChangeAspect="1"/>
          </p:cNvGraphicFramePr>
          <p:nvPr/>
        </p:nvGraphicFramePr>
        <p:xfrm>
          <a:off x="4402462" y="4419391"/>
          <a:ext cx="2489396" cy="2021863"/>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15" name="Diagram 14">
            <a:extLst>
              <a:ext uri="{FF2B5EF4-FFF2-40B4-BE49-F238E27FC236}">
                <a16:creationId xmlns:a16="http://schemas.microsoft.com/office/drawing/2014/main" id="{56C20950-D3A5-4EA5-97EC-6DE1EE40DDC5}"/>
              </a:ext>
            </a:extLst>
          </p:cNvPr>
          <p:cNvGraphicFramePr>
            <a:graphicFrameLocks noChangeAspect="1"/>
          </p:cNvGraphicFramePr>
          <p:nvPr/>
        </p:nvGraphicFramePr>
        <p:xfrm>
          <a:off x="34724" y="3588877"/>
          <a:ext cx="1482713" cy="1204245"/>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Tree>
    <p:extLst>
      <p:ext uri="{BB962C8B-B14F-4D97-AF65-F5344CB8AC3E}">
        <p14:creationId xmlns:p14="http://schemas.microsoft.com/office/powerpoint/2010/main" val="2020232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p:bldAsOne/>
      </p:bldGraphic>
      <p:bldGraphic spid="13" grpId="0">
        <p:bldAsOne/>
      </p:bldGraphic>
      <p:bldGraphic spid="14" grpId="0">
        <p:bldAsOne/>
      </p:bldGraphic>
      <p:bldGraphic spid="15" grpId="0">
        <p:bldAsOne/>
      </p:bldGraphic>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5" name="Table 14"/>
              <p:cNvGraphicFramePr>
                <a:graphicFrameLocks noGrp="1"/>
              </p:cNvGraphicFramePr>
              <p:nvPr/>
            </p:nvGraphicFramePr>
            <p:xfrm>
              <a:off x="1524000" y="2276797"/>
              <a:ext cx="6096000" cy="185420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1487370783"/>
                        </a:ext>
                      </a:extLst>
                    </a:gridCol>
                    <a:gridCol w="1016000">
                      <a:extLst>
                        <a:ext uri="{9D8B030D-6E8A-4147-A177-3AD203B41FA5}">
                          <a16:colId xmlns:a16="http://schemas.microsoft.com/office/drawing/2014/main" val="809618420"/>
                        </a:ext>
                      </a:extLst>
                    </a:gridCol>
                    <a:gridCol w="1016000">
                      <a:extLst>
                        <a:ext uri="{9D8B030D-6E8A-4147-A177-3AD203B41FA5}">
                          <a16:colId xmlns:a16="http://schemas.microsoft.com/office/drawing/2014/main" val="3098290038"/>
                        </a:ext>
                      </a:extLst>
                    </a:gridCol>
                    <a:gridCol w="1016000">
                      <a:extLst>
                        <a:ext uri="{9D8B030D-6E8A-4147-A177-3AD203B41FA5}">
                          <a16:colId xmlns:a16="http://schemas.microsoft.com/office/drawing/2014/main" val="2127371794"/>
                        </a:ext>
                      </a:extLst>
                    </a:gridCol>
                    <a:gridCol w="1016000">
                      <a:extLst>
                        <a:ext uri="{9D8B030D-6E8A-4147-A177-3AD203B41FA5}">
                          <a16:colId xmlns:a16="http://schemas.microsoft.com/office/drawing/2014/main" val="3561738494"/>
                        </a:ext>
                      </a:extLst>
                    </a:gridCol>
                    <a:gridCol w="1016000">
                      <a:extLst>
                        <a:ext uri="{9D8B030D-6E8A-4147-A177-3AD203B41FA5}">
                          <a16:colId xmlns:a16="http://schemas.microsoft.com/office/drawing/2014/main" val="3030355027"/>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𝐷𝐴𝑇𝐴</m:t>
                                </m:r>
                              </m:oMath>
                            </m:oMathPara>
                          </a14:m>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1" i="1" dirty="0" smtClean="0">
                                    <a:latin typeface="Cambria Math" panose="02040503050406030204" pitchFamily="18" charset="0"/>
                                  </a:rPr>
                                  <m:t>𝑿</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dirty="0" smtClean="0">
                                    <a:latin typeface="Cambria Math" panose="02040503050406030204" pitchFamily="18" charset="0"/>
                                  </a:rPr>
                                  <m:t>𝒀</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dirty="0" smtClean="0">
                                    <a:latin typeface="Cambria Math" panose="02040503050406030204" pitchFamily="18" charset="0"/>
                                  </a:rPr>
                                  <m:t>𝒁</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dirty="0" smtClean="0">
                                    <a:latin typeface="Cambria Math" panose="02040503050406030204" pitchFamily="18" charset="0"/>
                                  </a:rPr>
                                  <m:t>𝒕</m:t>
                                </m:r>
                              </m:oMath>
                            </m:oMathPara>
                          </a14:m>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𝜙</m:t>
                                </m:r>
                              </m:oMath>
                            </m:oMathPara>
                          </a14:m>
                          <a:endParaRPr lang="en-US" dirty="0"/>
                        </a:p>
                      </a:txBody>
                      <a:tcPr/>
                    </a:tc>
                    <a:extLst>
                      <a:ext uri="{0D108BD9-81ED-4DB2-BD59-A6C34878D82A}">
                        <a16:rowId xmlns:a16="http://schemas.microsoft.com/office/drawing/2014/main" val="2994161241"/>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𝑫</m:t>
                                    </m:r>
                                  </m:e>
                                  <m:sub>
                                    <m:r>
                                      <a:rPr lang="en-US" b="1" i="1" dirty="0" smtClean="0">
                                        <a:latin typeface="Cambria Math" panose="02040503050406030204" pitchFamily="18" charset="0"/>
                                      </a:rPr>
                                      <m:t>𝟏</m:t>
                                    </m:r>
                                  </m:sub>
                                </m:sSub>
                              </m:oMath>
                            </m:oMathPara>
                          </a14:m>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𝑦</m:t>
                                    </m:r>
                                  </m:e>
                                  <m:sub>
                                    <m:r>
                                      <a:rPr lang="en-US" b="0" i="1" dirty="0" smtClean="0">
                                        <a:latin typeface="Cambria Math" panose="02040503050406030204" pitchFamily="18" charset="0"/>
                                      </a:rPr>
                                      <m:t>1</m:t>
                                    </m:r>
                                  </m:sub>
                                </m:sSub>
                              </m:oMath>
                            </m:oMathPara>
                          </a14:m>
                          <a:endParaRPr lang="en-US" b="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𝑧</m:t>
                                    </m:r>
                                  </m:e>
                                  <m:sub>
                                    <m:r>
                                      <a:rPr lang="en-US" b="0" i="1" dirty="0" smtClean="0">
                                        <a:latin typeface="Cambria Math" panose="02040503050406030204" pitchFamily="18" charset="0"/>
                                      </a:rPr>
                                      <m:t>1</m:t>
                                    </m:r>
                                  </m:sub>
                                </m:sSub>
                              </m:oMath>
                            </m:oMathPara>
                          </a14:m>
                          <a:endParaRPr lang="en-US" b="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𝑡</m:t>
                                    </m:r>
                                  </m:e>
                                  <m:sub>
                                    <m:r>
                                      <a:rPr lang="en-US" b="0" i="1" dirty="0" smtClean="0">
                                        <a:latin typeface="Cambria Math" panose="02040503050406030204" pitchFamily="18" charset="0"/>
                                      </a:rPr>
                                      <m:t>1</m:t>
                                    </m:r>
                                  </m:sub>
                                </m:sSub>
                              </m:oMath>
                            </m:oMathPara>
                          </a14:m>
                          <a:endParaRPr lang="en-US" b="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𝜙</m:t>
                                    </m:r>
                                  </m:e>
                                  <m:sub>
                                    <m:r>
                                      <a:rPr lang="en-US" b="0" i="1" dirty="0" smtClean="0">
                                        <a:latin typeface="Cambria Math" panose="02040503050406030204" pitchFamily="18" charset="0"/>
                                      </a:rPr>
                                      <m:t>1</m:t>
                                    </m:r>
                                  </m:sub>
                                </m:sSub>
                              </m:oMath>
                            </m:oMathPara>
                          </a14:m>
                          <a:endParaRPr lang="en-US" b="0" dirty="0"/>
                        </a:p>
                      </a:txBody>
                      <a:tcPr/>
                    </a:tc>
                    <a:extLst>
                      <a:ext uri="{0D108BD9-81ED-4DB2-BD59-A6C34878D82A}">
                        <a16:rowId xmlns:a16="http://schemas.microsoft.com/office/drawing/2014/main" val="2692342949"/>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𝑫</m:t>
                                    </m:r>
                                  </m:e>
                                  <m:sub>
                                    <m:r>
                                      <a:rPr lang="en-US" b="1" i="1" dirty="0" smtClean="0">
                                        <a:latin typeface="Cambria Math" panose="02040503050406030204" pitchFamily="18" charset="0"/>
                                      </a:rPr>
                                      <m:t>𝟐</m:t>
                                    </m:r>
                                  </m:sub>
                                </m:sSub>
                              </m:oMath>
                            </m:oMathPara>
                          </a14:m>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𝑦</m:t>
                                    </m:r>
                                  </m:e>
                                  <m:sub>
                                    <m:r>
                                      <a:rPr lang="en-US" b="0" i="1" dirty="0" smtClean="0">
                                        <a:latin typeface="Cambria Math" panose="02040503050406030204" pitchFamily="18" charset="0"/>
                                      </a:rPr>
                                      <m:t>2</m:t>
                                    </m:r>
                                  </m:sub>
                                </m:sSub>
                              </m:oMath>
                            </m:oMathPara>
                          </a14:m>
                          <a:endParaRPr lang="en-US" b="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𝑧</m:t>
                                    </m:r>
                                  </m:e>
                                  <m:sub>
                                    <m:r>
                                      <a:rPr lang="en-US" b="0" i="1" dirty="0" smtClean="0">
                                        <a:latin typeface="Cambria Math" panose="02040503050406030204" pitchFamily="18" charset="0"/>
                                      </a:rPr>
                                      <m:t>2</m:t>
                                    </m:r>
                                  </m:sub>
                                </m:sSub>
                              </m:oMath>
                            </m:oMathPara>
                          </a14:m>
                          <a:endParaRPr lang="en-US" b="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𝑡</m:t>
                                    </m:r>
                                  </m:e>
                                  <m:sub>
                                    <m:r>
                                      <a:rPr lang="en-US" b="0" i="1" dirty="0" smtClean="0">
                                        <a:latin typeface="Cambria Math" panose="02040503050406030204" pitchFamily="18" charset="0"/>
                                      </a:rPr>
                                      <m:t>2</m:t>
                                    </m:r>
                                  </m:sub>
                                </m:sSub>
                              </m:oMath>
                            </m:oMathPara>
                          </a14:m>
                          <a:endParaRPr lang="en-US" b="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𝜙</m:t>
                                    </m:r>
                                  </m:e>
                                  <m:sub>
                                    <m:r>
                                      <a:rPr lang="en-US" b="0" i="1" dirty="0" smtClean="0">
                                        <a:latin typeface="Cambria Math" panose="02040503050406030204" pitchFamily="18" charset="0"/>
                                      </a:rPr>
                                      <m:t>2</m:t>
                                    </m:r>
                                  </m:sub>
                                </m:sSub>
                              </m:oMath>
                            </m:oMathPara>
                          </a14:m>
                          <a:endParaRPr lang="en-US" b="0" dirty="0"/>
                        </a:p>
                      </a:txBody>
                      <a:tcPr/>
                    </a:tc>
                    <a:extLst>
                      <a:ext uri="{0D108BD9-81ED-4DB2-BD59-A6C34878D82A}">
                        <a16:rowId xmlns:a16="http://schemas.microsoft.com/office/drawing/2014/main" val="3964471546"/>
                      </a:ext>
                    </a:extLst>
                  </a:tr>
                  <a:tr h="370840">
                    <a:tc>
                      <a:txBody>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3898468473"/>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𝑫</m:t>
                                    </m:r>
                                  </m:e>
                                  <m:sub>
                                    <m:r>
                                      <a:rPr lang="en-US" b="1" i="1" dirty="0" smtClean="0">
                                        <a:latin typeface="Cambria Math" panose="02040503050406030204" pitchFamily="18" charset="0"/>
                                      </a:rPr>
                                      <m:t>𝒏</m:t>
                                    </m:r>
                                  </m:sub>
                                </m:sSub>
                              </m:oMath>
                            </m:oMathPara>
                          </a14:m>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𝑦</m:t>
                                    </m:r>
                                  </m:e>
                                  <m:sub>
                                    <m:r>
                                      <a:rPr lang="en-US" b="0" i="1" dirty="0" smtClean="0">
                                        <a:latin typeface="Cambria Math" panose="02040503050406030204" pitchFamily="18" charset="0"/>
                                      </a:rPr>
                                      <m:t>𝑛</m:t>
                                    </m:r>
                                  </m:sub>
                                </m:sSub>
                              </m:oMath>
                            </m:oMathPara>
                          </a14:m>
                          <a:endParaRPr lang="en-US" b="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𝑧</m:t>
                                    </m:r>
                                  </m:e>
                                  <m:sub>
                                    <m:r>
                                      <a:rPr lang="en-US" b="0" i="1" dirty="0" smtClean="0">
                                        <a:latin typeface="Cambria Math" panose="02040503050406030204" pitchFamily="18" charset="0"/>
                                      </a:rPr>
                                      <m:t>𝑛</m:t>
                                    </m:r>
                                  </m:sub>
                                </m:sSub>
                              </m:oMath>
                            </m:oMathPara>
                          </a14:m>
                          <a:endParaRPr lang="en-US" b="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𝑡</m:t>
                                    </m:r>
                                  </m:e>
                                  <m:sub>
                                    <m:r>
                                      <a:rPr lang="en-US" b="0" i="1" dirty="0" smtClean="0">
                                        <a:latin typeface="Cambria Math" panose="02040503050406030204" pitchFamily="18" charset="0"/>
                                      </a:rPr>
                                      <m:t>𝑛</m:t>
                                    </m:r>
                                  </m:sub>
                                </m:sSub>
                              </m:oMath>
                            </m:oMathPara>
                          </a14:m>
                          <a:endParaRPr lang="en-US" b="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𝜙</m:t>
                                    </m:r>
                                  </m:e>
                                  <m:sub>
                                    <m:r>
                                      <a:rPr lang="en-US" b="0" i="1" dirty="0" smtClean="0">
                                        <a:latin typeface="Cambria Math" panose="02040503050406030204" pitchFamily="18" charset="0"/>
                                      </a:rPr>
                                      <m:t>𝑛</m:t>
                                    </m:r>
                                  </m:sub>
                                </m:sSub>
                              </m:oMath>
                            </m:oMathPara>
                          </a14:m>
                          <a:endParaRPr lang="en-US" b="0" dirty="0"/>
                        </a:p>
                      </a:txBody>
                      <a:tcPr/>
                    </a:tc>
                    <a:extLst>
                      <a:ext uri="{0D108BD9-81ED-4DB2-BD59-A6C34878D82A}">
                        <a16:rowId xmlns:a16="http://schemas.microsoft.com/office/drawing/2014/main" val="2814626172"/>
                      </a:ext>
                    </a:extLst>
                  </a:tr>
                </a:tbl>
              </a:graphicData>
            </a:graphic>
          </p:graphicFrame>
        </mc:Choice>
        <mc:Fallback xmlns="">
          <p:graphicFrame>
            <p:nvGraphicFramePr>
              <p:cNvPr id="15" name="Table 14"/>
              <p:cNvGraphicFramePr>
                <a:graphicFrameLocks noGrp="1"/>
              </p:cNvGraphicFramePr>
              <p:nvPr>
                <p:extLst>
                  <p:ext uri="{D42A27DB-BD31-4B8C-83A1-F6EECF244321}">
                    <p14:modId xmlns:p14="http://schemas.microsoft.com/office/powerpoint/2010/main" val="4127929005"/>
                  </p:ext>
                </p:extLst>
              </p:nvPr>
            </p:nvGraphicFramePr>
            <p:xfrm>
              <a:off x="1524000" y="2276797"/>
              <a:ext cx="6096000" cy="185420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1487370783"/>
                        </a:ext>
                      </a:extLst>
                    </a:gridCol>
                    <a:gridCol w="1016000">
                      <a:extLst>
                        <a:ext uri="{9D8B030D-6E8A-4147-A177-3AD203B41FA5}">
                          <a16:colId xmlns:a16="http://schemas.microsoft.com/office/drawing/2014/main" val="809618420"/>
                        </a:ext>
                      </a:extLst>
                    </a:gridCol>
                    <a:gridCol w="1016000">
                      <a:extLst>
                        <a:ext uri="{9D8B030D-6E8A-4147-A177-3AD203B41FA5}">
                          <a16:colId xmlns:a16="http://schemas.microsoft.com/office/drawing/2014/main" val="3098290038"/>
                        </a:ext>
                      </a:extLst>
                    </a:gridCol>
                    <a:gridCol w="1016000">
                      <a:extLst>
                        <a:ext uri="{9D8B030D-6E8A-4147-A177-3AD203B41FA5}">
                          <a16:colId xmlns:a16="http://schemas.microsoft.com/office/drawing/2014/main" val="2127371794"/>
                        </a:ext>
                      </a:extLst>
                    </a:gridCol>
                    <a:gridCol w="1016000">
                      <a:extLst>
                        <a:ext uri="{9D8B030D-6E8A-4147-A177-3AD203B41FA5}">
                          <a16:colId xmlns:a16="http://schemas.microsoft.com/office/drawing/2014/main" val="3561738494"/>
                        </a:ext>
                      </a:extLst>
                    </a:gridCol>
                    <a:gridCol w="1016000">
                      <a:extLst>
                        <a:ext uri="{9D8B030D-6E8A-4147-A177-3AD203B41FA5}">
                          <a16:colId xmlns:a16="http://schemas.microsoft.com/office/drawing/2014/main" val="3030355027"/>
                        </a:ext>
                      </a:extLst>
                    </a:gridCol>
                  </a:tblGrid>
                  <a:tr h="370840">
                    <a:tc>
                      <a:txBody>
                        <a:bodyPr/>
                        <a:lstStyle/>
                        <a:p>
                          <a:endParaRPr lang="en-US"/>
                        </a:p>
                      </a:txBody>
                      <a:tcPr>
                        <a:blipFill>
                          <a:blip r:embed="rId6"/>
                          <a:stretch>
                            <a:fillRect l="-1198" t="-1639" r="-501796" b="-411475"/>
                          </a:stretch>
                        </a:blipFill>
                      </a:tcPr>
                    </a:tc>
                    <a:tc>
                      <a:txBody>
                        <a:bodyPr/>
                        <a:lstStyle/>
                        <a:p>
                          <a:endParaRPr lang="en-US"/>
                        </a:p>
                      </a:txBody>
                      <a:tcPr>
                        <a:blipFill>
                          <a:blip r:embed="rId6"/>
                          <a:stretch>
                            <a:fillRect l="-101807" t="-1639" r="-404819" b="-411475"/>
                          </a:stretch>
                        </a:blipFill>
                      </a:tcPr>
                    </a:tc>
                    <a:tc>
                      <a:txBody>
                        <a:bodyPr/>
                        <a:lstStyle/>
                        <a:p>
                          <a:endParaRPr lang="en-US"/>
                        </a:p>
                      </a:txBody>
                      <a:tcPr>
                        <a:blipFill>
                          <a:blip r:embed="rId6"/>
                          <a:stretch>
                            <a:fillRect l="-200599" t="-1639" r="-302395" b="-411475"/>
                          </a:stretch>
                        </a:blipFill>
                      </a:tcPr>
                    </a:tc>
                    <a:tc>
                      <a:txBody>
                        <a:bodyPr/>
                        <a:lstStyle/>
                        <a:p>
                          <a:endParaRPr lang="en-US"/>
                        </a:p>
                      </a:txBody>
                      <a:tcPr>
                        <a:blipFill>
                          <a:blip r:embed="rId6"/>
                          <a:stretch>
                            <a:fillRect l="-300599" t="-1639" r="-202395" b="-411475"/>
                          </a:stretch>
                        </a:blipFill>
                      </a:tcPr>
                    </a:tc>
                    <a:tc>
                      <a:txBody>
                        <a:bodyPr/>
                        <a:lstStyle/>
                        <a:p>
                          <a:endParaRPr lang="en-US"/>
                        </a:p>
                      </a:txBody>
                      <a:tcPr>
                        <a:blipFill>
                          <a:blip r:embed="rId6"/>
                          <a:stretch>
                            <a:fillRect l="-403012" t="-1639" r="-103614" b="-411475"/>
                          </a:stretch>
                        </a:blipFill>
                      </a:tcPr>
                    </a:tc>
                    <a:tc>
                      <a:txBody>
                        <a:bodyPr/>
                        <a:lstStyle/>
                        <a:p>
                          <a:endParaRPr lang="en-US"/>
                        </a:p>
                      </a:txBody>
                      <a:tcPr>
                        <a:blipFill>
                          <a:blip r:embed="rId6"/>
                          <a:stretch>
                            <a:fillRect l="-500000" t="-1639" r="-2994" b="-411475"/>
                          </a:stretch>
                        </a:blipFill>
                      </a:tcPr>
                    </a:tc>
                    <a:extLst>
                      <a:ext uri="{0D108BD9-81ED-4DB2-BD59-A6C34878D82A}">
                        <a16:rowId xmlns:a16="http://schemas.microsoft.com/office/drawing/2014/main" val="2994161241"/>
                      </a:ext>
                    </a:extLst>
                  </a:tr>
                  <a:tr h="370840">
                    <a:tc>
                      <a:txBody>
                        <a:bodyPr/>
                        <a:lstStyle/>
                        <a:p>
                          <a:endParaRPr lang="en-US"/>
                        </a:p>
                      </a:txBody>
                      <a:tcPr>
                        <a:blipFill>
                          <a:blip r:embed="rId6"/>
                          <a:stretch>
                            <a:fillRect l="-1198" t="-101639" r="-501796" b="-311475"/>
                          </a:stretch>
                        </a:blipFill>
                      </a:tcPr>
                    </a:tc>
                    <a:tc>
                      <a:txBody>
                        <a:bodyPr/>
                        <a:lstStyle/>
                        <a:p>
                          <a:endParaRPr lang="en-US"/>
                        </a:p>
                      </a:txBody>
                      <a:tcPr>
                        <a:blipFill>
                          <a:blip r:embed="rId6"/>
                          <a:stretch>
                            <a:fillRect l="-101807" t="-101639" r="-404819" b="-311475"/>
                          </a:stretch>
                        </a:blipFill>
                      </a:tcPr>
                    </a:tc>
                    <a:tc>
                      <a:txBody>
                        <a:bodyPr/>
                        <a:lstStyle/>
                        <a:p>
                          <a:endParaRPr lang="en-US"/>
                        </a:p>
                      </a:txBody>
                      <a:tcPr>
                        <a:blipFill>
                          <a:blip r:embed="rId6"/>
                          <a:stretch>
                            <a:fillRect l="-200599" t="-101639" r="-302395" b="-311475"/>
                          </a:stretch>
                        </a:blipFill>
                      </a:tcPr>
                    </a:tc>
                    <a:tc>
                      <a:txBody>
                        <a:bodyPr/>
                        <a:lstStyle/>
                        <a:p>
                          <a:endParaRPr lang="en-US"/>
                        </a:p>
                      </a:txBody>
                      <a:tcPr>
                        <a:blipFill>
                          <a:blip r:embed="rId6"/>
                          <a:stretch>
                            <a:fillRect l="-300599" t="-101639" r="-202395" b="-311475"/>
                          </a:stretch>
                        </a:blipFill>
                      </a:tcPr>
                    </a:tc>
                    <a:tc>
                      <a:txBody>
                        <a:bodyPr/>
                        <a:lstStyle/>
                        <a:p>
                          <a:endParaRPr lang="en-US"/>
                        </a:p>
                      </a:txBody>
                      <a:tcPr>
                        <a:blipFill>
                          <a:blip r:embed="rId6"/>
                          <a:stretch>
                            <a:fillRect l="-403012" t="-101639" r="-103614" b="-311475"/>
                          </a:stretch>
                        </a:blipFill>
                      </a:tcPr>
                    </a:tc>
                    <a:tc>
                      <a:txBody>
                        <a:bodyPr/>
                        <a:lstStyle/>
                        <a:p>
                          <a:endParaRPr lang="en-US"/>
                        </a:p>
                      </a:txBody>
                      <a:tcPr>
                        <a:blipFill>
                          <a:blip r:embed="rId6"/>
                          <a:stretch>
                            <a:fillRect l="-500000" t="-101639" r="-2994" b="-311475"/>
                          </a:stretch>
                        </a:blipFill>
                      </a:tcPr>
                    </a:tc>
                    <a:extLst>
                      <a:ext uri="{0D108BD9-81ED-4DB2-BD59-A6C34878D82A}">
                        <a16:rowId xmlns:a16="http://schemas.microsoft.com/office/drawing/2014/main" val="2692342949"/>
                      </a:ext>
                    </a:extLst>
                  </a:tr>
                  <a:tr h="370840">
                    <a:tc>
                      <a:txBody>
                        <a:bodyPr/>
                        <a:lstStyle/>
                        <a:p>
                          <a:endParaRPr lang="en-US"/>
                        </a:p>
                      </a:txBody>
                      <a:tcPr>
                        <a:blipFill>
                          <a:blip r:embed="rId6"/>
                          <a:stretch>
                            <a:fillRect l="-1198" t="-201639" r="-501796" b="-211475"/>
                          </a:stretch>
                        </a:blipFill>
                      </a:tcPr>
                    </a:tc>
                    <a:tc>
                      <a:txBody>
                        <a:bodyPr/>
                        <a:lstStyle/>
                        <a:p>
                          <a:endParaRPr lang="en-US"/>
                        </a:p>
                      </a:txBody>
                      <a:tcPr>
                        <a:blipFill>
                          <a:blip r:embed="rId6"/>
                          <a:stretch>
                            <a:fillRect l="-101807" t="-201639" r="-404819" b="-211475"/>
                          </a:stretch>
                        </a:blipFill>
                      </a:tcPr>
                    </a:tc>
                    <a:tc>
                      <a:txBody>
                        <a:bodyPr/>
                        <a:lstStyle/>
                        <a:p>
                          <a:endParaRPr lang="en-US"/>
                        </a:p>
                      </a:txBody>
                      <a:tcPr>
                        <a:blipFill>
                          <a:blip r:embed="rId6"/>
                          <a:stretch>
                            <a:fillRect l="-200599" t="-201639" r="-302395" b="-211475"/>
                          </a:stretch>
                        </a:blipFill>
                      </a:tcPr>
                    </a:tc>
                    <a:tc>
                      <a:txBody>
                        <a:bodyPr/>
                        <a:lstStyle/>
                        <a:p>
                          <a:endParaRPr lang="en-US"/>
                        </a:p>
                      </a:txBody>
                      <a:tcPr>
                        <a:blipFill>
                          <a:blip r:embed="rId6"/>
                          <a:stretch>
                            <a:fillRect l="-300599" t="-201639" r="-202395" b="-211475"/>
                          </a:stretch>
                        </a:blipFill>
                      </a:tcPr>
                    </a:tc>
                    <a:tc>
                      <a:txBody>
                        <a:bodyPr/>
                        <a:lstStyle/>
                        <a:p>
                          <a:endParaRPr lang="en-US"/>
                        </a:p>
                      </a:txBody>
                      <a:tcPr>
                        <a:blipFill>
                          <a:blip r:embed="rId6"/>
                          <a:stretch>
                            <a:fillRect l="-403012" t="-201639" r="-103614" b="-211475"/>
                          </a:stretch>
                        </a:blipFill>
                      </a:tcPr>
                    </a:tc>
                    <a:tc>
                      <a:txBody>
                        <a:bodyPr/>
                        <a:lstStyle/>
                        <a:p>
                          <a:endParaRPr lang="en-US"/>
                        </a:p>
                      </a:txBody>
                      <a:tcPr>
                        <a:blipFill>
                          <a:blip r:embed="rId6"/>
                          <a:stretch>
                            <a:fillRect l="-500000" t="-201639" r="-2994" b="-211475"/>
                          </a:stretch>
                        </a:blipFill>
                      </a:tcPr>
                    </a:tc>
                    <a:extLst>
                      <a:ext uri="{0D108BD9-81ED-4DB2-BD59-A6C34878D82A}">
                        <a16:rowId xmlns:a16="http://schemas.microsoft.com/office/drawing/2014/main" val="3964471546"/>
                      </a:ext>
                    </a:extLst>
                  </a:tr>
                  <a:tr h="370840">
                    <a:tc>
                      <a:txBody>
                        <a:bodyPr/>
                        <a:lstStyle/>
                        <a:p>
                          <a:endParaRPr lang="en-US"/>
                        </a:p>
                      </a:txBody>
                      <a:tcPr>
                        <a:blipFill>
                          <a:blip r:embed="rId6"/>
                          <a:stretch>
                            <a:fillRect l="-1198" t="-301639" r="-501796" b="-111475"/>
                          </a:stretch>
                        </a:blipFill>
                      </a:tcPr>
                    </a:tc>
                    <a:tc>
                      <a:txBody>
                        <a:bodyPr/>
                        <a:lstStyle/>
                        <a:p>
                          <a:endParaRPr lang="en-US"/>
                        </a:p>
                      </a:txBody>
                      <a:tcPr>
                        <a:blipFill>
                          <a:blip r:embed="rId6"/>
                          <a:stretch>
                            <a:fillRect l="-101807" t="-301639" r="-404819" b="-111475"/>
                          </a:stretch>
                        </a:blipFill>
                      </a:tcPr>
                    </a:tc>
                    <a:tc>
                      <a:txBody>
                        <a:bodyPr/>
                        <a:lstStyle/>
                        <a:p>
                          <a:endParaRPr lang="en-US"/>
                        </a:p>
                      </a:txBody>
                      <a:tcPr>
                        <a:blipFill>
                          <a:blip r:embed="rId6"/>
                          <a:stretch>
                            <a:fillRect l="-200599" t="-301639" r="-302395" b="-111475"/>
                          </a:stretch>
                        </a:blipFill>
                      </a:tcPr>
                    </a:tc>
                    <a:tc>
                      <a:txBody>
                        <a:bodyPr/>
                        <a:lstStyle/>
                        <a:p>
                          <a:endParaRPr lang="en-US"/>
                        </a:p>
                      </a:txBody>
                      <a:tcPr>
                        <a:blipFill>
                          <a:blip r:embed="rId6"/>
                          <a:stretch>
                            <a:fillRect l="-300599" t="-301639" r="-202395" b="-111475"/>
                          </a:stretch>
                        </a:blipFill>
                      </a:tcPr>
                    </a:tc>
                    <a:tc>
                      <a:txBody>
                        <a:bodyPr/>
                        <a:lstStyle/>
                        <a:p>
                          <a:endParaRPr lang="en-US"/>
                        </a:p>
                      </a:txBody>
                      <a:tcPr>
                        <a:blipFill>
                          <a:blip r:embed="rId6"/>
                          <a:stretch>
                            <a:fillRect l="-403012" t="-301639" r="-103614" b="-111475"/>
                          </a:stretch>
                        </a:blipFill>
                      </a:tcPr>
                    </a:tc>
                    <a:tc>
                      <a:txBody>
                        <a:bodyPr/>
                        <a:lstStyle/>
                        <a:p>
                          <a:endParaRPr lang="en-US"/>
                        </a:p>
                      </a:txBody>
                      <a:tcPr>
                        <a:blipFill>
                          <a:blip r:embed="rId6"/>
                          <a:stretch>
                            <a:fillRect l="-500000" t="-301639" r="-2994" b="-111475"/>
                          </a:stretch>
                        </a:blipFill>
                      </a:tcPr>
                    </a:tc>
                    <a:extLst>
                      <a:ext uri="{0D108BD9-81ED-4DB2-BD59-A6C34878D82A}">
                        <a16:rowId xmlns:a16="http://schemas.microsoft.com/office/drawing/2014/main" val="3898468473"/>
                      </a:ext>
                    </a:extLst>
                  </a:tr>
                  <a:tr h="370840">
                    <a:tc>
                      <a:txBody>
                        <a:bodyPr/>
                        <a:lstStyle/>
                        <a:p>
                          <a:endParaRPr lang="en-US"/>
                        </a:p>
                      </a:txBody>
                      <a:tcPr>
                        <a:blipFill>
                          <a:blip r:embed="rId6"/>
                          <a:stretch>
                            <a:fillRect l="-1198" t="-401639" r="-501796" b="-11475"/>
                          </a:stretch>
                        </a:blipFill>
                      </a:tcPr>
                    </a:tc>
                    <a:tc>
                      <a:txBody>
                        <a:bodyPr/>
                        <a:lstStyle/>
                        <a:p>
                          <a:endParaRPr lang="en-US"/>
                        </a:p>
                      </a:txBody>
                      <a:tcPr>
                        <a:blipFill>
                          <a:blip r:embed="rId6"/>
                          <a:stretch>
                            <a:fillRect l="-101807" t="-401639" r="-404819" b="-11475"/>
                          </a:stretch>
                        </a:blipFill>
                      </a:tcPr>
                    </a:tc>
                    <a:tc>
                      <a:txBody>
                        <a:bodyPr/>
                        <a:lstStyle/>
                        <a:p>
                          <a:endParaRPr lang="en-US"/>
                        </a:p>
                      </a:txBody>
                      <a:tcPr>
                        <a:blipFill>
                          <a:blip r:embed="rId6"/>
                          <a:stretch>
                            <a:fillRect l="-200599" t="-401639" r="-302395" b="-11475"/>
                          </a:stretch>
                        </a:blipFill>
                      </a:tcPr>
                    </a:tc>
                    <a:tc>
                      <a:txBody>
                        <a:bodyPr/>
                        <a:lstStyle/>
                        <a:p>
                          <a:endParaRPr lang="en-US"/>
                        </a:p>
                      </a:txBody>
                      <a:tcPr>
                        <a:blipFill>
                          <a:blip r:embed="rId6"/>
                          <a:stretch>
                            <a:fillRect l="-300599" t="-401639" r="-202395" b="-11475"/>
                          </a:stretch>
                        </a:blipFill>
                      </a:tcPr>
                    </a:tc>
                    <a:tc>
                      <a:txBody>
                        <a:bodyPr/>
                        <a:lstStyle/>
                        <a:p>
                          <a:endParaRPr lang="en-US"/>
                        </a:p>
                      </a:txBody>
                      <a:tcPr>
                        <a:blipFill>
                          <a:blip r:embed="rId6"/>
                          <a:stretch>
                            <a:fillRect l="-403012" t="-401639" r="-103614" b="-11475"/>
                          </a:stretch>
                        </a:blipFill>
                      </a:tcPr>
                    </a:tc>
                    <a:tc>
                      <a:txBody>
                        <a:bodyPr/>
                        <a:lstStyle/>
                        <a:p>
                          <a:endParaRPr lang="en-US"/>
                        </a:p>
                      </a:txBody>
                      <a:tcPr>
                        <a:blipFill>
                          <a:blip r:embed="rId6"/>
                          <a:stretch>
                            <a:fillRect l="-500000" t="-401639" r="-2994" b="-11475"/>
                          </a:stretch>
                        </a:blipFill>
                      </a:tcPr>
                    </a:tc>
                    <a:extLst>
                      <a:ext uri="{0D108BD9-81ED-4DB2-BD59-A6C34878D82A}">
                        <a16:rowId xmlns:a16="http://schemas.microsoft.com/office/drawing/2014/main" val="2814626172"/>
                      </a:ext>
                    </a:extLst>
                  </a:tr>
                </a:tbl>
              </a:graphicData>
            </a:graphic>
          </p:graphicFrame>
        </mc:Fallback>
      </mc:AlternateContent>
      <p:grpSp>
        <p:nvGrpSpPr>
          <p:cNvPr id="16" name="Group 15"/>
          <p:cNvGrpSpPr/>
          <p:nvPr/>
        </p:nvGrpSpPr>
        <p:grpSpPr>
          <a:xfrm>
            <a:off x="781086" y="2657797"/>
            <a:ext cx="590514" cy="1473200"/>
            <a:chOff x="781086" y="2362200"/>
            <a:chExt cx="590514" cy="1473200"/>
          </a:xfrm>
        </p:grpSpPr>
        <p:sp>
          <p:nvSpPr>
            <p:cNvPr id="17" name="Left Brace 16"/>
            <p:cNvSpPr/>
            <p:nvPr/>
          </p:nvSpPr>
          <p:spPr>
            <a:xfrm>
              <a:off x="1143000" y="2362200"/>
              <a:ext cx="228600" cy="147320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18" name="Picture 17"/>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781086" y="3011943"/>
              <a:ext cx="190476" cy="173714"/>
            </a:xfrm>
            <a:prstGeom prst="rect">
              <a:avLst/>
            </a:prstGeom>
          </p:spPr>
        </p:pic>
      </p:grpSp>
      <p:sp>
        <p:nvSpPr>
          <p:cNvPr id="5" name="Title 4 1"/>
          <p:cNvSpPr>
            <a:spLocks noGrp="1"/>
          </p:cNvSpPr>
          <p:nvPr>
            <p:ph type="title"/>
          </p:nvPr>
        </p:nvSpPr>
        <p:spPr>
          <a:xfrm>
            <a:off x="152400" y="228601"/>
            <a:ext cx="8839200" cy="468875"/>
          </a:xfrm>
        </p:spPr>
        <p:txBody>
          <a:bodyPr>
            <a:normAutofit/>
          </a:bodyPr>
          <a:lstStyle/>
          <a:p>
            <a:r>
              <a:rPr lang="en-US" sz="2000" b="1" dirty="0">
                <a:solidFill>
                  <a:schemeClr val="tx1"/>
                </a:solidFill>
              </a:rPr>
              <a:t>Observations, random variables, and the likelihood principle</a:t>
            </a:r>
          </a:p>
        </p:txBody>
      </p:sp>
      <p:grpSp>
        <p:nvGrpSpPr>
          <p:cNvPr id="8" name="Group 7"/>
          <p:cNvGrpSpPr/>
          <p:nvPr/>
        </p:nvGrpSpPr>
        <p:grpSpPr>
          <a:xfrm>
            <a:off x="152400" y="832660"/>
            <a:ext cx="8839200" cy="857830"/>
            <a:chOff x="152400" y="832660"/>
            <a:chExt cx="8839200" cy="857830"/>
          </a:xfrm>
        </p:grpSpPr>
        <mc:AlternateContent xmlns:mc="http://schemas.openxmlformats.org/markup-compatibility/2006" xmlns:a14="http://schemas.microsoft.com/office/drawing/2010/main">
          <mc:Choice Requires="a14">
            <p:sp>
              <p:nvSpPr>
                <p:cNvPr id="22" name="Title 4 2 1 1 1"/>
                <p:cNvSpPr txBox="1">
                  <a:spLocks/>
                </p:cNvSpPr>
                <p:nvPr/>
              </p:nvSpPr>
              <p:spPr>
                <a:xfrm>
                  <a:off x="152400" y="832660"/>
                  <a:ext cx="8839200" cy="458219"/>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kern="1200">
                      <a:solidFill>
                        <a:schemeClr val="accent1">
                          <a:lumMod val="50000"/>
                        </a:schemeClr>
                      </a:solidFill>
                      <a:latin typeface="Arial"/>
                      <a:ea typeface="+mj-ea"/>
                      <a:cs typeface="+mj-cs"/>
                    </a:defRPr>
                  </a:lvl1pPr>
                </a:lstStyle>
                <a:p>
                  <a:pPr fontAlgn="auto">
                    <a:spcAft>
                      <a:spcPts val="0"/>
                    </a:spcAft>
                  </a:pPr>
                  <a:r>
                    <a:rPr lang="en-US" sz="1500" dirty="0">
                      <a:solidFill>
                        <a:schemeClr val="tx1"/>
                      </a:solidFill>
                    </a:rPr>
                    <a:t>Suppose we observe the following data of </a:t>
                  </a:r>
                  <a14:m>
                    <m:oMath xmlns:m="http://schemas.openxmlformats.org/officeDocument/2006/math">
                      <m:r>
                        <a:rPr lang="en-US" sz="1500" b="0" i="1" smtClean="0">
                          <a:solidFill>
                            <a:schemeClr val="tx1"/>
                          </a:solidFill>
                          <a:latin typeface="Cambria Math" panose="02040503050406030204" pitchFamily="18" charset="0"/>
                        </a:rPr>
                        <m:t>𝑛</m:t>
                      </m:r>
                    </m:oMath>
                  </a14:m>
                  <a:r>
                    <a:rPr lang="en-US" sz="1500" dirty="0">
                      <a:solidFill>
                        <a:schemeClr val="tx1"/>
                      </a:solidFill>
                    </a:rPr>
                    <a:t> events, each described by </a:t>
                  </a:r>
                  <a14:m>
                    <m:oMath xmlns:m="http://schemas.openxmlformats.org/officeDocument/2006/math">
                      <m:r>
                        <a:rPr lang="en-US" sz="1500" i="1" dirty="0" smtClean="0">
                          <a:solidFill>
                            <a:schemeClr val="tx1"/>
                          </a:solidFill>
                          <a:latin typeface="Cambria Math" panose="02040503050406030204" pitchFamily="18" charset="0"/>
                        </a:rPr>
                        <m:t>𝑚</m:t>
                      </m:r>
                    </m:oMath>
                  </a14:m>
                  <a:r>
                    <a:rPr lang="en-US" sz="1500" dirty="0">
                      <a:solidFill>
                        <a:schemeClr val="tx1"/>
                      </a:solidFill>
                    </a:rPr>
                    <a:t> variables,</a:t>
                  </a:r>
                </a:p>
              </p:txBody>
            </p:sp>
          </mc:Choice>
          <mc:Fallback xmlns="">
            <p:sp>
              <p:nvSpPr>
                <p:cNvPr id="22" name="Title 4 2 1 1 1"/>
                <p:cNvSpPr txBox="1">
                  <a:spLocks noRot="1" noChangeAspect="1" noMove="1" noResize="1" noEditPoints="1" noAdjustHandles="1" noChangeArrowheads="1" noChangeShapeType="1" noTextEdit="1"/>
                </p:cNvSpPr>
                <p:nvPr/>
              </p:nvSpPr>
              <p:spPr>
                <a:xfrm>
                  <a:off x="152400" y="832660"/>
                  <a:ext cx="8839200" cy="458219"/>
                </a:xfrm>
                <a:prstGeom prst="rect">
                  <a:avLst/>
                </a:prstGeom>
                <a:blipFill>
                  <a:blip r:embed="rId8"/>
                  <a:stretch>
                    <a:fillRect l="-276"/>
                  </a:stretch>
                </a:blipFill>
              </p:spPr>
              <p:txBody>
                <a:bodyPr/>
                <a:lstStyle/>
                <a:p>
                  <a:r>
                    <a:rPr lang="en-US">
                      <a:noFill/>
                    </a:rPr>
                    <a:t> </a:t>
                  </a:r>
                </a:p>
              </p:txBody>
            </p:sp>
          </mc:Fallback>
        </mc:AlternateContent>
        <p:pic>
          <p:nvPicPr>
            <p:cNvPr id="4" name="Picture 3"/>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3362857" y="1437538"/>
              <a:ext cx="2418286" cy="252952"/>
            </a:xfrm>
            <a:prstGeom prst="rect">
              <a:avLst/>
            </a:prstGeom>
          </p:spPr>
        </p:pic>
      </p:grpSp>
      <mc:AlternateContent xmlns:mc="http://schemas.openxmlformats.org/markup-compatibility/2006" xmlns:a14="http://schemas.microsoft.com/office/drawing/2010/main">
        <mc:Choice Requires="a14">
          <p:sp>
            <p:nvSpPr>
              <p:cNvPr id="7" name="Rounded Rectangle 6"/>
              <p:cNvSpPr/>
              <p:nvPr/>
            </p:nvSpPr>
            <p:spPr>
              <a:xfrm>
                <a:off x="309623" y="4724400"/>
                <a:ext cx="8524754" cy="1447800"/>
              </a:xfrm>
              <a:prstGeom prst="round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b="1" dirty="0">
                    <a:solidFill>
                      <a:schemeClr val="tx1"/>
                    </a:solidFill>
                  </a:rPr>
                  <a:t>Philosophical counterfactual assumption in statistical modeling</a:t>
                </a:r>
                <a:endParaRPr lang="en-US" sz="1800" dirty="0">
                  <a:solidFill>
                    <a:schemeClr val="tx1"/>
                  </a:solidFill>
                </a:endParaRPr>
              </a:p>
              <a:p>
                <a:pPr algn="ctr"/>
                <a:r>
                  <a:rPr lang="en-US" sz="1600" dirty="0">
                    <a:solidFill>
                      <a:schemeClr val="tx1"/>
                    </a:solidFill>
                  </a:rPr>
                  <a:t>(John Stuart Mill, A system of Logic, Ratiocinative and Inductive, 1843)</a:t>
                </a:r>
              </a:p>
              <a:p>
                <a:pPr algn="ctr"/>
                <a:endParaRPr lang="en-US" sz="500" dirty="0">
                  <a:solidFill>
                    <a:schemeClr val="tx1"/>
                  </a:solidFill>
                </a:endParaRPr>
              </a:p>
              <a:p>
                <a:pPr algn="ctr"/>
                <a:r>
                  <a:rPr lang="en-US" sz="1600" dirty="0">
                    <a:solidFill>
                      <a:schemeClr val="tx1"/>
                    </a:solidFill>
                  </a:rPr>
                  <a:t>Even though we have observed dataset </a:t>
                </a:r>
                <a14:m>
                  <m:oMath xmlns:m="http://schemas.openxmlformats.org/officeDocument/2006/math">
                    <m:r>
                      <a:rPr lang="en-US" sz="1600" b="0" i="1" smtClean="0">
                        <a:solidFill>
                          <a:schemeClr val="tx1"/>
                        </a:solidFill>
                        <a:latin typeface="Cambria Math" panose="02040503050406030204" pitchFamily="18" charset="0"/>
                      </a:rPr>
                      <m:t>𝒟</m:t>
                    </m:r>
                  </m:oMath>
                </a14:m>
                <a:r>
                  <a:rPr lang="en-US" sz="1600" dirty="0">
                    <a:solidFill>
                      <a:schemeClr val="tx1"/>
                    </a:solidFill>
                  </a:rPr>
                  <a:t>, the experiment outcome could be different if repeated.</a:t>
                </a:r>
              </a:p>
              <a:p>
                <a:pPr algn="ctr"/>
                <a:r>
                  <a:rPr lang="en-US" sz="1600" dirty="0">
                    <a:solidFill>
                      <a:schemeClr val="tx1"/>
                    </a:solidFill>
                  </a:rPr>
                  <a:t>In other words, </a:t>
                </a:r>
                <a14:m>
                  <m:oMath xmlns:m="http://schemas.openxmlformats.org/officeDocument/2006/math">
                    <m:r>
                      <a:rPr lang="en-US" sz="1600" b="1" i="1" dirty="0" smtClean="0">
                        <a:solidFill>
                          <a:schemeClr val="tx1"/>
                        </a:solidFill>
                        <a:latin typeface="Cambria Math" panose="02040503050406030204" pitchFamily="18" charset="0"/>
                      </a:rPr>
                      <m:t>𝑫</m:t>
                    </m:r>
                  </m:oMath>
                </a14:m>
                <a:r>
                  <a:rPr lang="en-US" sz="1600" dirty="0">
                    <a:solidFill>
                      <a:schemeClr val="tx1"/>
                    </a:solidFill>
                  </a:rPr>
                  <a:t> is a </a:t>
                </a:r>
                <a:r>
                  <a:rPr lang="en-US" sz="1600" b="1" dirty="0">
                    <a:solidFill>
                      <a:schemeClr val="tx1"/>
                    </a:solidFill>
                  </a:rPr>
                  <a:t>random variable</a:t>
                </a:r>
                <a:r>
                  <a:rPr lang="en-US" sz="1600" dirty="0">
                    <a:solidFill>
                      <a:schemeClr val="tx1"/>
                    </a:solidFill>
                  </a:rPr>
                  <a:t>; a real-valued function with a </a:t>
                </a:r>
                <a:r>
                  <a:rPr lang="en-US" sz="1600" b="1" dirty="0">
                    <a:solidFill>
                      <a:schemeClr val="tx1"/>
                    </a:solidFill>
                  </a:rPr>
                  <a:t>sample space</a:t>
                </a:r>
                <a:r>
                  <a:rPr lang="en-US" sz="1600" dirty="0">
                    <a:solidFill>
                      <a:schemeClr val="tx1"/>
                    </a:solidFill>
                  </a:rPr>
                  <a:t> as its domain.</a:t>
                </a:r>
                <a:endParaRPr lang="en-US" sz="1600" b="1" dirty="0">
                  <a:solidFill>
                    <a:schemeClr val="tx1"/>
                  </a:solidFill>
                </a:endParaRPr>
              </a:p>
            </p:txBody>
          </p:sp>
        </mc:Choice>
        <mc:Fallback xmlns="">
          <p:sp>
            <p:nvSpPr>
              <p:cNvPr id="7" name="Rounded Rectangle 6"/>
              <p:cNvSpPr>
                <a:spLocks noRot="1" noChangeAspect="1" noMove="1" noResize="1" noEditPoints="1" noAdjustHandles="1" noChangeArrowheads="1" noChangeShapeType="1" noTextEdit="1"/>
              </p:cNvSpPr>
              <p:nvPr/>
            </p:nvSpPr>
            <p:spPr>
              <a:xfrm>
                <a:off x="309623" y="4724400"/>
                <a:ext cx="8524754" cy="1447800"/>
              </a:xfrm>
              <a:prstGeom prst="roundRect">
                <a:avLst/>
              </a:prstGeom>
              <a:blipFill>
                <a:blip r:embed="rId10"/>
                <a:stretch>
                  <a:fillRect/>
                </a:stretch>
              </a:blipFill>
            </p:spPr>
            <p:txBody>
              <a:bodyPr/>
              <a:lstStyle/>
              <a:p>
                <a:r>
                  <a:rPr lang="en-US">
                    <a:noFill/>
                  </a:rPr>
                  <a:t> </a:t>
                </a:r>
              </a:p>
            </p:txBody>
          </p:sp>
        </mc:Fallback>
      </mc:AlternateContent>
      <p:sp>
        <p:nvSpPr>
          <p:cNvPr id="12" name="Left Brace 11"/>
          <p:cNvSpPr/>
          <p:nvPr/>
        </p:nvSpPr>
        <p:spPr>
          <a:xfrm rot="5400000">
            <a:off x="4965021" y="-155490"/>
            <a:ext cx="128358" cy="457200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2" name="Picture 1"/>
          <p:cNvPicPr>
            <a:picLocks noChangeAspect="1"/>
          </p:cNvPicPr>
          <p:nvPr>
            <p:custDataLst>
              <p:tags r:id="rId1"/>
            </p:custDataLst>
          </p:nvPr>
        </p:nvPicPr>
        <p:blipFill>
          <a:blip r:embed="rId11" cstate="print">
            <a:extLst>
              <a:ext uri="{28A0092B-C50C-407E-A947-70E740481C1C}">
                <a14:useLocalDpi xmlns:a14="http://schemas.microsoft.com/office/drawing/2010/main" val="0"/>
              </a:ext>
            </a:extLst>
          </a:blip>
          <a:stretch>
            <a:fillRect/>
          </a:stretch>
        </p:blipFill>
        <p:spPr>
          <a:xfrm>
            <a:off x="4168902" y="1792982"/>
            <a:ext cx="1720596" cy="181356"/>
          </a:xfrm>
          <a:prstGeom prst="rect">
            <a:avLst/>
          </a:prstGeom>
        </p:spPr>
      </p:pic>
      <p:sp>
        <p:nvSpPr>
          <p:cNvPr id="3" name="Rectangle 2">
            <a:extLst>
              <a:ext uri="{FF2B5EF4-FFF2-40B4-BE49-F238E27FC236}">
                <a16:creationId xmlns:a16="http://schemas.microsoft.com/office/drawing/2014/main" id="{FC753FF0-46EA-47AA-9C90-6EB1037FC8B9}"/>
              </a:ext>
            </a:extLst>
          </p:cNvPr>
          <p:cNvSpPr/>
          <p:nvPr/>
        </p:nvSpPr>
        <p:spPr>
          <a:xfrm>
            <a:off x="5889498" y="1706747"/>
            <a:ext cx="2600840" cy="369332"/>
          </a:xfrm>
          <a:prstGeom prst="rect">
            <a:avLst/>
          </a:prstGeom>
        </p:spPr>
        <p:txBody>
          <a:bodyPr wrap="none">
            <a:spAutoFit/>
          </a:bodyPr>
          <a:lstStyle/>
          <a:p>
            <a:r>
              <a:rPr lang="en-US" dirty="0"/>
              <a:t>, or attributes, </a:t>
            </a:r>
            <a:r>
              <a:rPr lang="en-US"/>
              <a:t>or features</a:t>
            </a:r>
            <a:endParaRPr lang="en-US" dirty="0"/>
          </a:p>
        </p:txBody>
      </p:sp>
    </p:spTree>
    <p:extLst>
      <p:ext uri="{BB962C8B-B14F-4D97-AF65-F5344CB8AC3E}">
        <p14:creationId xmlns:p14="http://schemas.microsoft.com/office/powerpoint/2010/main" val="56666203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674.9156"/>
  <p:tag name="ORIGINALWIDTH" val="3178.853"/>
  <p:tag name="LATEXADDIN" val="\documentclass{article}&#10;\usepackage{amsfonts,amssymb,amsbsy,amsmath}&#10;\pagestyle{empty}&#10;\begin{document}&#10;&#10;\begin{eqnarray}&#10;A  &amp;\equiv&amp; {\text{The probability that I will go to school today}} \nonumber \\&#10;B  &amp;\equiv&amp; {\text{The probability that it will rain today}} \nonumber \\&#10;C  &amp;\equiv&amp; {\text{The probability that the sky will be sunny today}} \nonumber \\&#10;C'  &amp;\equiv&amp; {\text{The probability that the sky will be cloudy today}} \nonumber&#10;\end{eqnarray}&#10;&#10;\end{document}"/>
  <p:tag name="IGUANATEXSIZE" val="20"/>
  <p:tag name="IGUANATEXCURSOR" val="441"/>
  <p:tag name="TRANSPARENCY" val="True"/>
  <p:tag name="FILENAME" val=""/>
  <p:tag name="LATEXENGINEID" val="0"/>
  <p:tag name="TEMPFOLDER" val="c:\temp\"/>
  <p:tag name="LATEXFORMHEIGHT" val="486.75"/>
  <p:tag name="LATEXFORMWIDTH" val="885.75"/>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674.9156"/>
  <p:tag name="ORIGINALWIDTH" val="3178.853"/>
  <p:tag name="LATEXADDIN" val="\documentclass{article}&#10;\usepackage{amsfonts,amssymb,amsbsy,amsmath}&#10;\pagestyle{empty}&#10;\begin{document}&#10;&#10;\begin{eqnarray}&#10;A  &amp;\equiv&amp; {\text{The probability that I will go to school today}} \nonumber \\&#10;B  &amp;\equiv&amp; {\text{The probability that it will rain today}} \nonumber \\&#10;C  &amp;\equiv&amp; {\text{The probability that the sky will be sunny today}} \nonumber \\&#10;C'  &amp;\equiv&amp; {\text{The probability that the sky will be cloudy today}} \nonumber&#10;\end{eqnarray}&#10;&#10;\end{document}"/>
  <p:tag name="IGUANATEXSIZE" val="20"/>
  <p:tag name="IGUANATEXCURSOR" val="441"/>
  <p:tag name="TRANSPARENCY" val="True"/>
  <p:tag name="FILENAME" val=""/>
  <p:tag name="LATEXENGINEID" val="0"/>
  <p:tag name="TEMPFOLDER" val="c:\temp\"/>
  <p:tag name="LATEXFORMHEIGHT" val="486.75"/>
  <p:tag name="LATEXFORMWIDTH" val="885.75"/>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RIGINALHEIGHT" val="341.9572"/>
  <p:tag name="ORIGINALWIDTH" val="1757.78"/>
  <p:tag name="OUTPUTDPI" val="1200"/>
  <p:tag name="LATEXADDIN" val="\documentclass{article}&#10;\usepackage{amsmath}&#10;\pagestyle{empty}&#10;&#10;\newcommand{\diff}{\operatorname{d}}&#10;\newcommand{\sline}{\rule{\textwidth}{1pt}}&#10;\newcommand{\bs}{\boldsymbol}&#10;&#10;\begin{document}&#10;&#10;\begin{equation}&#10;P(A|B) = \frac{AB}{B} = \frac{\frac{AB}{U}}{\frac{B}{U}} = \frac{P(AB)}{P(B)} \nonumber&#10;\end{equation}&#10;&#10;\end{document}"/>
  <p:tag name="IGUANATEXSIZE" val="20"/>
  <p:tag name="IGUANATEXCURSOR" val="287"/>
  <p:tag name="TRANSPARENCY" val="True"/>
  <p:tag name="FILENAME" val=""/>
  <p:tag name="INPUTTYPE" val="0"/>
  <p:tag name="LATEXENGINEID" val="0"/>
  <p:tag name="TEMPFOLDER" val="c:\temp\"/>
</p:tagLst>
</file>

<file path=ppt/tags/tag4.xml><?xml version="1.0" encoding="utf-8"?>
<p:tagLst xmlns:a="http://schemas.openxmlformats.org/drawingml/2006/main" xmlns:r="http://schemas.openxmlformats.org/officeDocument/2006/relationships" xmlns:p="http://schemas.openxmlformats.org/presentationml/2006/main">
  <p:tag name="ORIGINALHEIGHT" val="341.9572"/>
  <p:tag name="ORIGINALWIDTH" val="1757.78"/>
  <p:tag name="OUTPUTDPI" val="1200"/>
  <p:tag name="LATEXADDIN" val="\documentclass{article}&#10;\usepackage{amsmath}&#10;\pagestyle{empty}&#10;&#10;\newcommand{\diff}{\operatorname{d}}&#10;\newcommand{\sline}{\rule{\textwidth}{1pt}}&#10;\newcommand{\bs}{\boldsymbol}&#10;&#10;\begin{document}&#10;&#10;\begin{equation}&#10;P(B|A) = \frac{AB}{A} = \frac{\frac{AB}{U}}{\frac{A}{U}} = \frac{P(AB)}{P(A)} \nonumber&#10;\end{equation}&#10;&#10;\end{document}"/>
  <p:tag name="IGUANATEXSIZE" val="20"/>
  <p:tag name="IGUANATEXCURSOR" val="231"/>
  <p:tag name="TRANSPARENCY" val="True"/>
  <p:tag name="FILENAME" val=""/>
  <p:tag name="INPUTTYPE" val="0"/>
  <p:tag name="LATEXENGINEID" val="0"/>
  <p:tag name="TEMPFOLDER" val="c:\temp\"/>
</p:tagLst>
</file>

<file path=ppt/tags/tag5.xml><?xml version="1.0" encoding="utf-8"?>
<p:tagLst xmlns:a="http://schemas.openxmlformats.org/drawingml/2006/main" xmlns:r="http://schemas.openxmlformats.org/officeDocument/2006/relationships" xmlns:p="http://schemas.openxmlformats.org/presentationml/2006/main">
  <p:tag name="ORIGINALHEIGHT" val="293.9632"/>
  <p:tag name="ORIGINALWIDTH" val="1316.835"/>
  <p:tag name="OUTPUTDPI" val="1200"/>
  <p:tag name="LATEXADDIN" val="\documentclass{article}&#10;\usepackage{amsmath}&#10;\pagestyle{empty}&#10;&#10;\newcommand{\diff}{\operatorname{d}}&#10;\newcommand{\sline}{\rule{\textwidth}{1pt}}&#10;\newcommand{\bs}{\boldsymbol}&#10;&#10;\begin{document}&#10;&#10;\begin{equation}&#10;P(B|A) = \frac{P(A|B)P(B)}{P(A)} \nonumber&#10;\end{equation}&#10;&#10;\end{document}"/>
  <p:tag name="IGUANATEXSIZE" val="20"/>
  <p:tag name="IGUANATEXCURSOR" val="242"/>
  <p:tag name="TRANSPARENCY" val="True"/>
  <p:tag name="FILENAME" val=""/>
  <p:tag name="INPUTTYPE" val="0"/>
  <p:tag name="LATEXENGINEID" val="0"/>
  <p:tag name="TEMPFOLDER" val="c:\temp\"/>
</p:tagLst>
</file>

<file path=ppt/tags/tag6.xml><?xml version="1.0" encoding="utf-8"?>
<p:tagLst xmlns:a="http://schemas.openxmlformats.org/drawingml/2006/main" xmlns:r="http://schemas.openxmlformats.org/officeDocument/2006/relationships" xmlns:p="http://schemas.openxmlformats.org/presentationml/2006/main">
  <p:tag name="ORIGINALHEIGHT" val="261.75"/>
  <p:tag name="ORIGINALWIDTH" val="759"/>
  <p:tag name="OUTPUTDPI" val="1200"/>
  <p:tag name="LATEXADDIN" val="\documentclass{article}&#10;\usepackage{amsmath}&#10;\pagestyle{empty}&#10;&#10;\newcommand{\diff}{\operatorname{d}}&#10;\newcommand{\sline}{\rule{\textwidth}{1pt}}&#10;\newcommand{\bs}{\boldsymbol}&#10;&#10;\begin{document}&#10;&#10;\begin{equation}&#10;P(AB)=\frac{AB}{U} \nonumber&#10;\end{equation}&#10;&#10;\end{document}"/>
  <p:tag name="IGUANATEXSIZE" val="20"/>
  <p:tag name="IGUANATEXCURSOR" val="214"/>
  <p:tag name="TRANSPARENCY" val="True"/>
  <p:tag name="FILENAME" val=""/>
  <p:tag name="INPUTTYPE" val="0"/>
  <p:tag name="LATEXENGINEID" val="0"/>
  <p:tag name="TEMPFOLDER" val="c:\temp\"/>
</p:tagLst>
</file>

<file path=ppt/tags/tag7.xml><?xml version="1.0" encoding="utf-8"?>
<p:tagLst xmlns:a="http://schemas.openxmlformats.org/drawingml/2006/main" xmlns:r="http://schemas.openxmlformats.org/officeDocument/2006/relationships" xmlns:p="http://schemas.openxmlformats.org/presentationml/2006/main">
  <p:tag name="ORIGINALHEIGHT" val="257.2179"/>
  <p:tag name="ORIGINALWIDTH" val="572.9283"/>
  <p:tag name="OUTPUTDPI" val="1200"/>
  <p:tag name="LATEXADDIN" val="\documentclass{article}&#10;\usepackage{amsmath}&#10;\pagestyle{empty}&#10;&#10;\newcommand{\diff}{\operatorname{d}}&#10;\newcommand{\sline}{\rule{\textwidth}{1pt}}&#10;\newcommand{\bs}{\boldsymbol}&#10;&#10;\begin{document}&#10;&#10;\begin{equation}&#10;P(B)=\frac{B}{U} \nonumber&#10;\end{equation}&#10;&#10;\end{document}"/>
  <p:tag name="IGUANATEXSIZE" val="20"/>
  <p:tag name="IGUANATEXCURSOR" val="223"/>
  <p:tag name="TRANSPARENCY" val="True"/>
  <p:tag name="FILENAME" val=""/>
  <p:tag name="INPUTTYPE" val="0"/>
  <p:tag name="LATEXENGINEID" val="0"/>
  <p:tag name="TEMPFOLDER" val="c:\temp\"/>
</p:tagLst>
</file>

<file path=ppt/tags/tag8.xml><?xml version="1.0" encoding="utf-8"?>
<p:tagLst xmlns:a="http://schemas.openxmlformats.org/drawingml/2006/main" xmlns:r="http://schemas.openxmlformats.org/officeDocument/2006/relationships" xmlns:p="http://schemas.openxmlformats.org/presentationml/2006/main">
  <p:tag name="ORIGINALHEIGHT" val="261.7173"/>
  <p:tag name="ORIGINALWIDTH" val="562.4297"/>
  <p:tag name="OUTPUTDPI" val="1200"/>
  <p:tag name="LATEXADDIN" val="\documentclass{article}&#10;\usepackage{amsmath}&#10;\pagestyle{empty}&#10;&#10;\newcommand{\diff}{\operatorname{d}}&#10;\newcommand{\sline}{\rule{\textwidth}{1pt}}&#10;\newcommand{\bs}{\boldsymbol}&#10;&#10;\begin{document}&#10;&#10;\begin{equation}&#10;P(A)=\frac{A}{U} \nonumber&#10;\end{equation}&#10;&#10;\end{document}"/>
  <p:tag name="IGUANATEXSIZE" val="20"/>
  <p:tag name="IGUANATEXCURSOR" val="237"/>
  <p:tag name="TRANSPARENCY" val="True"/>
  <p:tag name="FILENAME" val=""/>
  <p:tag name="INPUTTYPE" val="0"/>
  <p:tag name="LATEXENGINEID" val="0"/>
  <p:tag name="TEMPFOLDER" val="c:\temp\"/>
</p:tagLst>
</file>

<file path=ppt/tags/tag9.xml><?xml version="1.0" encoding="utf-8"?>
<p:tagLst xmlns:a="http://schemas.openxmlformats.org/drawingml/2006/main" xmlns:r="http://schemas.openxmlformats.org/officeDocument/2006/relationships" xmlns:p="http://schemas.openxmlformats.org/presentationml/2006/main">
  <p:tag name="ORIGINALHEIGHT" val="293.9632"/>
  <p:tag name="ORIGINALWIDTH" val="1774.278"/>
  <p:tag name="OUTPUTDPI" val="1200"/>
  <p:tag name="LATEXADDIN" val="\documentclass{article}&#10;\usepackage{amsmath}&#10;\usepackage{xcolor}&#10;\pagestyle{empty}&#10;&#10;\newcommand{\diff}{\operatorname{d}}&#10;\newcommand{\sline}{\rule{\textwidth}{1pt}}&#10;\newcommand{\bs}{\boldsymbol}&#10;&#10;\begin{document}&#10;&#10;\begin{equation}&#10;\pi(\bs\theta|\mathcal{D},M) = \frac&#10;{ \textcolor{blue}{\pi(\mathcal{D}|\bs\theta,M)} ~ \textcolor{red}{\pi(\bs\theta|M)} }&#10;{ \pi(\mathcal{D}|M)}&#10;\nonumber&#10;\end{equation}&#10;&#10;\end{document}"/>
  <p:tag name="IGUANATEXSIZE" val="20"/>
  <p:tag name="IGUANATEXCURSOR" val="352"/>
  <p:tag name="TRANSPARENCY" val="True"/>
  <p:tag name="FILENAME" val=""/>
  <p:tag name="INPUTTYPE" val="0"/>
  <p:tag name="LATEXENGINEID" val="0"/>
  <p:tag name="TEMPFOLDER" val="c:\temp\"/>
</p:tagLst>
</file>

<file path=ppt/tags/tag10.xml><?xml version="1.0" encoding="utf-8"?>
<p:tagLst xmlns:a="http://schemas.openxmlformats.org/drawingml/2006/main" xmlns:r="http://schemas.openxmlformats.org/officeDocument/2006/relationships" xmlns:p="http://schemas.openxmlformats.org/presentationml/2006/main">
  <p:tag name="ORIGINALHEIGHT" val="294"/>
  <p:tag name="ORIGINALWIDTH" val="2133"/>
  <p:tag name="OUTPUTDPI" val="1200"/>
  <p:tag name="LATEXADDIN" val="\documentclass{article}&#10;\usepackage{amsmath}&#10;\usepackage{nicefrac}&#10;\pagestyle{empty}&#10;&#10;\newcommand{\diff}{\operatorname{d}}&#10;\newcommand{\sline}{\rule{\textwidth}{1pt}}&#10;\newcommand{\bs}{\boldsymbol}&#10;&#10;\begin{document}&#10;&#10;\begin{equation}&#10;P(C2|H3,G1)&#10;= \frac{P(H3|C2,G1)~P(C2)}{P(H3|G1)}&#10;\nonumber&#10;\end{equation}&#10;&#10;\end{document}"/>
  <p:tag name="IGUANATEXSIZE" val="20"/>
  <p:tag name="IGUANATEXCURSOR" val="282"/>
  <p:tag name="TRANSPARENCY" val="True"/>
  <p:tag name="FILENAME" val=""/>
  <p:tag name="INPUTTYPE" val="0"/>
  <p:tag name="LATEXENGINEID" val="0"/>
  <p:tag name="TEMPFOLDER" val="c:\temp\"/>
</p:tagLst>
</file>

<file path=ppt/tags/tag11.xml><?xml version="1.0" encoding="utf-8"?>
<p:tagLst xmlns:a="http://schemas.openxmlformats.org/drawingml/2006/main" xmlns:r="http://schemas.openxmlformats.org/officeDocument/2006/relationships" xmlns:p="http://schemas.openxmlformats.org/presentationml/2006/main">
  <p:tag name="ORIGINALHEIGHT" val="293.9632"/>
  <p:tag name="ORIGINALWIDTH" val="2950.881"/>
  <p:tag name="OUTPUTDPI" val="1200"/>
  <p:tag name="LATEXADDIN" val="\documentclass{article}&#10;\usepackage{amsmath}&#10;\usepackage{nicefrac}&#10;\pagestyle{empty}&#10;&#10;\newcommand{\diff}{\operatorname{d}}&#10;\newcommand{\sline}{\rule{\textwidth}{1pt}}&#10;\newcommand{\bs}{\boldsymbol}&#10;&#10;\begin{document}&#10;&#10;\begin{equation}&#10;P(C2|H3,G1)&#10;= \frac{P(H3|C2,G1)~P(C2)}{P(H3|G1)}&#10;= \frac{1\times \nicefrac{1}{3}}{\nicefrac{1}{2}}&#10;=\mathbf{\dfrac{2}{3}}&#10;\nonumber&#10;\end{equation}&#10;&#10;\end{document}"/>
  <p:tag name="IGUANATEXSIZE" val="20"/>
  <p:tag name="IGUANATEXCURSOR" val="265"/>
  <p:tag name="TRANSPARENCY" val="True"/>
  <p:tag name="FILENAME" val=""/>
  <p:tag name="INPUTTYPE" val="0"/>
  <p:tag name="LATEXENGINEID" val="0"/>
  <p:tag name="TEMPFOLDER" val="c:\temp\"/>
</p:tagLst>
</file>

<file path=ppt/tags/tag12.xml><?xml version="1.0" encoding="utf-8"?>
<p:tagLst xmlns:a="http://schemas.openxmlformats.org/drawingml/2006/main" xmlns:r="http://schemas.openxmlformats.org/officeDocument/2006/relationships" xmlns:p="http://schemas.openxmlformats.org/presentationml/2006/main">
  <p:tag name="ORIGINALHEIGHT" val="253.4684"/>
  <p:tag name="ORIGINALWIDTH" val="2747.657"/>
  <p:tag name="OUTPUTDPI" val="1200"/>
  <p:tag name="LATEXADDIN" val="\documentclass{article}&#10;\usepackage{amsmath}&#10;\usepackage{nicefrac}&#10;\pagestyle{empty}&#10;&#10;\newcommand{\diff}{\operatorname{d}}&#10;\newcommand{\sline}{\rule{\textwidth}{1pt}}&#10;\newcommand{\bs}{\boldsymbol}&#10;&#10;\begin{document}&#10;&#10;\begin{equation}&#10;P(C2|G1) = P(C1|G1)= P(C3|G1) = P(C2) = \mathbf{\frac{1}{3}}&#10;\nonumber&#10;\end{equation}&#10;&#10;\end{document}"/>
  <p:tag name="IGUANATEXSIZE" val="20"/>
  <p:tag name="IGUANATEXCURSOR" val="273"/>
  <p:tag name="TRANSPARENCY" val="True"/>
  <p:tag name="FILENAME" val=""/>
  <p:tag name="INPUTTYPE" val="0"/>
  <p:tag name="LATEXENGINEID" val="0"/>
  <p:tag name="TEMPFOLDER" val="c:\temp\"/>
</p:tagLst>
</file>

<file path=ppt/tags/tag13.xml><?xml version="1.0" encoding="utf-8"?>
<p:tagLst xmlns:a="http://schemas.openxmlformats.org/drawingml/2006/main" xmlns:r="http://schemas.openxmlformats.org/officeDocument/2006/relationships" xmlns:p="http://schemas.openxmlformats.org/presentationml/2006/main">
  <p:tag name="ORIGINALHEIGHT" val="124.4844"/>
  <p:tag name="ORIGINALWIDTH" val="1003.375"/>
  <p:tag name="OUTPUTDPI" val="1200"/>
  <p:tag name="LATEXADDIN" val="\documentclass{article}&#10;\usepackage{amsmath}&#10;\usepackage{nicefrac}&#10;\pagestyle{empty}&#10;&#10;\newcommand{\diff}{\operatorname{d}}&#10;\newcommand{\sline}{\rule{\textwidth}{1pt}}&#10;\newcommand{\bs}{\boldsymbol}&#10;&#10;\begin{document}&#10;&#10;\begin{equation}&#10;P(H3|C2,G1) = \mathbf{1}&#10;\nonumber&#10;\end{equation}&#10;&#10;\end{document}"/>
  <p:tag name="IGUANATEXSIZE" val="20"/>
  <p:tag name="IGUANATEXCURSOR" val="243"/>
  <p:tag name="TRANSPARENCY" val="True"/>
  <p:tag name="FILENAME" val=""/>
  <p:tag name="INPUTTYPE" val="0"/>
  <p:tag name="LATEXENGINEID" val="0"/>
  <p:tag name="TEMPFOLDER" val="c:\temp\"/>
</p:tagLst>
</file>

<file path=ppt/tags/tag14.xml><?xml version="1.0" encoding="utf-8"?>
<p:tagLst xmlns:a="http://schemas.openxmlformats.org/drawingml/2006/main" xmlns:r="http://schemas.openxmlformats.org/officeDocument/2006/relationships" xmlns:p="http://schemas.openxmlformats.org/presentationml/2006/main">
  <p:tag name="ORIGINALHEIGHT" val="251.9685"/>
  <p:tag name="ORIGINALWIDTH" val="812.8984"/>
  <p:tag name="OUTPUTDPI" val="1200"/>
  <p:tag name="LATEXADDIN" val="\documentclass{article}&#10;\usepackage{amsmath}&#10;\usepackage{nicefrac}&#10;\pagestyle{empty}&#10;&#10;\newcommand{\diff}{\operatorname{d}}&#10;\newcommand{\sline}{\rule{\textwidth}{1pt}}&#10;\newcommand{\bs}{\boldsymbol}&#10;&#10;\begin{document}&#10;&#10;\begin{equation}&#10;P(H3|G1) = \mathbf{\frac{1}{2}}&#10;\nonumber&#10;\end{equation}&#10;&#10;\end{document}"/>
  <p:tag name="IGUANATEXSIZE" val="20"/>
  <p:tag name="IGUANATEXCURSOR" val="240"/>
  <p:tag name="TRANSPARENCY" val="True"/>
  <p:tag name="FILENAME" val=""/>
  <p:tag name="INPUTTYPE" val="0"/>
  <p:tag name="LATEXENGINEID" val="0"/>
  <p:tag name="TEMPFOLDER" val="c:\temp\"/>
</p:tagLst>
</file>

<file path=ppt/tags/tag15.xml><?xml version="1.0" encoding="utf-8"?>
<p:tagLst xmlns:a="http://schemas.openxmlformats.org/drawingml/2006/main" xmlns:r="http://schemas.openxmlformats.org/officeDocument/2006/relationships" xmlns:p="http://schemas.openxmlformats.org/presentationml/2006/main">
  <p:tag name="ORIGINALHEIGHT" val="293.9632"/>
  <p:tag name="ORIGINALWIDTH" val="2950.881"/>
  <p:tag name="OUTPUTDPI" val="1200"/>
  <p:tag name="LATEXADDIN" val="\documentclass{article}&#10;\usepackage{amsmath}&#10;\usepackage{nicefrac}&#10;\pagestyle{empty}&#10;&#10;\newcommand{\diff}{\operatorname{d}}&#10;\newcommand{\sline}{\rule{\textwidth}{1pt}}&#10;\newcommand{\bs}{\boldsymbol}&#10;&#10;\begin{document}&#10;&#10;\begin{equation}&#10;P(C2|H3,G1)&#10;= \frac{P(H3|C2,G1)~P(C2)}{P(H3|G1)}&#10;= \frac{1\times \nicefrac{1}{3}}{\nicefrac{1}{2}}&#10;=\mathbf{\dfrac{2}{3}}&#10;\nonumber&#10;\end{equation}&#10;&#10;\end{document}"/>
  <p:tag name="IGUANATEXSIZE" val="20"/>
  <p:tag name="IGUANATEXCURSOR" val="265"/>
  <p:tag name="TRANSPARENCY" val="True"/>
  <p:tag name="FILENAME" val=""/>
  <p:tag name="INPUTTYPE" val="0"/>
  <p:tag name="LATEXENGINEID" val="0"/>
  <p:tag name="TEMPFOLDER" val="c:\temp\"/>
</p:tagLst>
</file>

<file path=ppt/tags/tag16.xml><?xml version="1.0" encoding="utf-8"?>
<p:tagLst xmlns:a="http://schemas.openxmlformats.org/drawingml/2006/main" xmlns:r="http://schemas.openxmlformats.org/officeDocument/2006/relationships" xmlns:p="http://schemas.openxmlformats.org/presentationml/2006/main">
  <p:tag name="ORIGINALHEIGHT" val="253.4684"/>
  <p:tag name="ORIGINALWIDTH" val="2747.657"/>
  <p:tag name="OUTPUTDPI" val="1200"/>
  <p:tag name="LATEXADDIN" val="\documentclass{article}&#10;\usepackage{amsmath}&#10;\usepackage{nicefrac}&#10;\pagestyle{empty}&#10;&#10;\newcommand{\diff}{\operatorname{d}}&#10;\newcommand{\sline}{\rule{\textwidth}{1pt}}&#10;\newcommand{\bs}{\boldsymbol}&#10;&#10;\begin{document}&#10;&#10;\begin{equation}&#10;P(C2|G1) = P(C1|G1)= P(C3|G1) = P(C2) = \mathbf{\frac{1}{3}}&#10;\nonumber&#10;\end{equation}&#10;&#10;\end{document}"/>
  <p:tag name="IGUANATEXSIZE" val="20"/>
  <p:tag name="IGUANATEXCURSOR" val="273"/>
  <p:tag name="TRANSPARENCY" val="True"/>
  <p:tag name="FILENAME" val=""/>
  <p:tag name="INPUTTYPE" val="0"/>
  <p:tag name="LATEXENGINEID" val="0"/>
  <p:tag name="TEMPFOLDER" val="c:\temp\"/>
</p:tagLst>
</file>

<file path=ppt/tags/tag17.xml><?xml version="1.0" encoding="utf-8"?>
<p:tagLst xmlns:a="http://schemas.openxmlformats.org/drawingml/2006/main" xmlns:r="http://schemas.openxmlformats.org/officeDocument/2006/relationships" xmlns:p="http://schemas.openxmlformats.org/presentationml/2006/main">
  <p:tag name="ORIGINALHEIGHT" val="124.4844"/>
  <p:tag name="ORIGINALWIDTH" val="1003.375"/>
  <p:tag name="OUTPUTDPI" val="1200"/>
  <p:tag name="LATEXADDIN" val="\documentclass{article}&#10;\usepackage{amsmath}&#10;\usepackage{nicefrac}&#10;\pagestyle{empty}&#10;&#10;\newcommand{\diff}{\operatorname{d}}&#10;\newcommand{\sline}{\rule{\textwidth}{1pt}}&#10;\newcommand{\bs}{\boldsymbol}&#10;&#10;\begin{document}&#10;&#10;\begin{equation}&#10;P(H3|C2,G1) = \mathbf{1}&#10;\nonumber&#10;\end{equation}&#10;&#10;\end{document}"/>
  <p:tag name="IGUANATEXSIZE" val="20"/>
  <p:tag name="IGUANATEXCURSOR" val="243"/>
  <p:tag name="TRANSPARENCY" val="True"/>
  <p:tag name="FILENAME" val=""/>
  <p:tag name="INPUTTYPE" val="0"/>
  <p:tag name="LATEXENGINEID" val="0"/>
  <p:tag name="TEMPFOLDER" val="c:\temp\"/>
</p:tagLst>
</file>

<file path=ppt/tags/tag18.xml><?xml version="1.0" encoding="utf-8"?>
<p:tagLst xmlns:a="http://schemas.openxmlformats.org/drawingml/2006/main" xmlns:r="http://schemas.openxmlformats.org/officeDocument/2006/relationships" xmlns:p="http://schemas.openxmlformats.org/presentationml/2006/main">
  <p:tag name="ORIGINALHEIGHT" val="251.9685"/>
  <p:tag name="ORIGINALWIDTH" val="812.8984"/>
  <p:tag name="OUTPUTDPI" val="1200"/>
  <p:tag name="LATEXADDIN" val="\documentclass{article}&#10;\usepackage{amsmath}&#10;\usepackage{nicefrac}&#10;\pagestyle{empty}&#10;&#10;\newcommand{\diff}{\operatorname{d}}&#10;\newcommand{\sline}{\rule{\textwidth}{1pt}}&#10;\newcommand{\bs}{\boldsymbol}&#10;&#10;\begin{document}&#10;&#10;\begin{equation}&#10;P(H3|G1) = \mathbf{\frac{1}{2}}&#10;\nonumber&#10;\end{equation}&#10;&#10;\end{document}"/>
  <p:tag name="IGUANATEXSIZE" val="20"/>
  <p:tag name="IGUANATEXCURSOR" val="240"/>
  <p:tag name="TRANSPARENCY" val="True"/>
  <p:tag name="FILENAME" val=""/>
  <p:tag name="INPUTTYPE" val="0"/>
  <p:tag name="LATEXENGINEID" val="0"/>
  <p:tag name="TEMPFOLDER" val="c:\temp\"/>
</p:tagLst>
</file>

<file path=ppt/tags/tag19.xml><?xml version="1.0" encoding="utf-8"?>
<p:tagLst xmlns:a="http://schemas.openxmlformats.org/drawingml/2006/main" xmlns:r="http://schemas.openxmlformats.org/officeDocument/2006/relationships" xmlns:p="http://schemas.openxmlformats.org/presentationml/2006/main">
  <p:tag name="ORIGINALHEIGHT" val="253.4684"/>
  <p:tag name="ORIGINALWIDTH" val="901.3873"/>
  <p:tag name="OUTPUTDPI" val="1200"/>
  <p:tag name="LATEXADDIN" val="\documentclass{article}&#10;\usepackage{amsmath}&#10;\usepackage{nicefrac}&#10;\pagestyle{empty}&#10;&#10;\newcommand{\diff}{\operatorname{d}}&#10;\newcommand{\sline}{\rule{\textwidth}{1pt}}&#10;\newcommand{\bs}{\boldsymbol}&#10;&#10;\begin{document}&#10;&#10;\begin{equation}&#10;P(C2\cup C3) = \mathbf{\dfrac{2}{3}}&#10;\nonumber&#10;\end{equation}&#10;&#10;\end{document}"/>
  <p:tag name="IGUANATEXSIZE" val="20"/>
  <p:tag name="IGUANATEXCURSOR" val="258"/>
  <p:tag name="TRANSPARENCY" val="True"/>
  <p:tag name="FILENAME" val=""/>
  <p:tag name="INPUTTYPE" val="0"/>
  <p:tag name="LATEXENGINEID" val="0"/>
  <p:tag name="TEMPFOLDER" val="c:\temp\"/>
</p:tagLst>
</file>

<file path=ppt/tags/tag20.xml><?xml version="1.0" encoding="utf-8"?>
<p:tagLst xmlns:a="http://schemas.openxmlformats.org/drawingml/2006/main" xmlns:r="http://schemas.openxmlformats.org/officeDocument/2006/relationships" xmlns:p="http://schemas.openxmlformats.org/presentationml/2006/main">
  <p:tag name="ORIGINALHEIGHT" val="253.4684"/>
  <p:tag name="ORIGINALWIDTH" val="602.9246"/>
  <p:tag name="OUTPUTDPI" val="1200"/>
  <p:tag name="LATEXADDIN" val="\documentclass{article}&#10;\usepackage{amsmath}&#10;\usepackage{nicefrac}&#10;\pagestyle{empty}&#10;&#10;\newcommand{\diff}{\operatorname{d}}&#10;\newcommand{\sline}{\rule{\textwidth}{1pt}}&#10;\newcommand{\bs}{\boldsymbol}&#10;&#10;\begin{document}&#10;&#10;\begin{equation}&#10;P(C1) = \mathbf{\dfrac{1}{3}}&#10;\nonumber&#10;\end{equation}&#10;&#10;\end{document}"/>
  <p:tag name="IGUANATEXSIZE" val="20"/>
  <p:tag name="IGUANATEXCURSOR" val="251"/>
  <p:tag name="TRANSPARENCY" val="True"/>
  <p:tag name="FILENAME" val=""/>
  <p:tag name="INPUTTYPE" val="0"/>
  <p:tag name="LATEXENGINEID" val="0"/>
  <p:tag name="TEMPFOLDER" val="c:\temp\"/>
</p:tagLst>
</file>

<file path=ppt/tags/tag21.xml><?xml version="1.0" encoding="utf-8"?>
<p:tagLst xmlns:a="http://schemas.openxmlformats.org/drawingml/2006/main" xmlns:r="http://schemas.openxmlformats.org/officeDocument/2006/relationships" xmlns:p="http://schemas.openxmlformats.org/presentationml/2006/main">
  <p:tag name="ORIGINALHEIGHT" val="293.9632"/>
  <p:tag name="ORIGINALWIDTH" val="3029.621"/>
  <p:tag name="OUTPUTDPI" val="1200"/>
  <p:tag name="LATEXADDIN" val="\documentclass{article}&#10;\usepackage{amsmath}&#10;\usepackage{nicefrac}&#10;\pagestyle{empty}&#10;&#10;\newcommand{\diff}{\operatorname{d}}&#10;\newcommand{\sline}{\rule{\textwidth}{1pt}}&#10;\newcommand{\bs}{\boldsymbol}&#10;&#10;\begin{document}&#10;&#10;\begin{equation}&#10;P(C2|H3,G1)&#10;= \frac{P(H3|C2,G1)~P(C2)}{P(H3|G1)}&#10;= \frac{\nicefrac{1}{2} \times \nicefrac{1}{3}}{\nicefrac{1}{2}}&#10;=\mathbf{\dfrac{1}{3}}&#10;\nonumber&#10;\end{equation}&#10;&#10;\end{document}"/>
  <p:tag name="IGUANATEXSIZE" val="20"/>
  <p:tag name="IGUANATEXCURSOR" val="265"/>
  <p:tag name="TRANSPARENCY" val="True"/>
  <p:tag name="FILENAME" val=""/>
  <p:tag name="INPUTTYPE" val="0"/>
  <p:tag name="LATEXENGINEID" val="0"/>
  <p:tag name="TEMPFOLDER" val="c:\temp\"/>
</p:tagLst>
</file>

<file path=ppt/tags/tag22.xml><?xml version="1.0" encoding="utf-8"?>
<p:tagLst xmlns:a="http://schemas.openxmlformats.org/drawingml/2006/main" xmlns:r="http://schemas.openxmlformats.org/officeDocument/2006/relationships" xmlns:p="http://schemas.openxmlformats.org/presentationml/2006/main">
  <p:tag name="ORIGINALHEIGHT" val="251.9685"/>
  <p:tag name="ORIGINALWIDTH" val="1028.871"/>
  <p:tag name="OUTPUTDPI" val="1200"/>
  <p:tag name="LATEXADDIN" val="\documentclass{article}&#10;\usepackage{amsmath}&#10;\usepackage{nicefrac}&#10;\pagestyle{empty}&#10;&#10;\newcommand{\diff}{\operatorname{d}}&#10;\newcommand{\sline}{\rule{\textwidth}{1pt}}&#10;\newcommand{\bs}{\boldsymbol}&#10;&#10;\begin{document}&#10;&#10;\begin{equation}&#10;P(H3|C2,G1) = \mathbf{\frac{1}{2}}&#10;\nonumber&#10;\end{equation}&#10;&#10;\end{document}"/>
  <p:tag name="IGUANATEXSIZE" val="20"/>
  <p:tag name="IGUANATEXCURSOR" val="266"/>
  <p:tag name="TRANSPARENCY" val="True"/>
  <p:tag name="FILENAME" val=""/>
  <p:tag name="INPUTTYPE" val="0"/>
  <p:tag name="LATEXENGINEID" val="0"/>
  <p:tag name="TEMPFOLDER" val="c:\temp\"/>
</p:tagLst>
</file>

<file path=ppt/tags/tag23.xml><?xml version="1.0" encoding="utf-8"?>
<p:tagLst xmlns:a="http://schemas.openxmlformats.org/drawingml/2006/main" xmlns:r="http://schemas.openxmlformats.org/officeDocument/2006/relationships" xmlns:p="http://schemas.openxmlformats.org/presentationml/2006/main">
  <p:tag name="ORIGINALHEIGHT" val="253.4684"/>
  <p:tag name="ORIGINALWIDTH" val="2747.657"/>
  <p:tag name="OUTPUTDPI" val="1200"/>
  <p:tag name="LATEXADDIN" val="\documentclass{article}&#10;\usepackage{amsmath}&#10;\usepackage{nicefrac}&#10;\pagestyle{empty}&#10;&#10;\newcommand{\diff}{\operatorname{d}}&#10;\newcommand{\sline}{\rule{\textwidth}{1pt}}&#10;\newcommand{\bs}{\boldsymbol}&#10;&#10;\begin{document}&#10;&#10;\begin{equation}&#10;P(C2|G1) = P(C1|G1)= P(C3|G1) = P(C2) = \mathbf{\frac{1}{3}}&#10;\nonumber&#10;\end{equation}&#10;&#10;\end{document}"/>
  <p:tag name="IGUANATEXSIZE" val="20"/>
  <p:tag name="IGUANATEXCURSOR" val="273"/>
  <p:tag name="TRANSPARENCY" val="True"/>
  <p:tag name="FILENAME" val=""/>
  <p:tag name="INPUTTYPE" val="0"/>
  <p:tag name="LATEXENGINEID" val="0"/>
  <p:tag name="TEMPFOLDER" val="c:\temp\"/>
</p:tagLst>
</file>

<file path=ppt/tags/tag24.xml><?xml version="1.0" encoding="utf-8"?>
<p:tagLst xmlns:a="http://schemas.openxmlformats.org/drawingml/2006/main" xmlns:r="http://schemas.openxmlformats.org/officeDocument/2006/relationships" xmlns:p="http://schemas.openxmlformats.org/presentationml/2006/main">
  <p:tag name="ORIGINALHEIGHT" val="251.9685"/>
  <p:tag name="ORIGINALWIDTH" val="812.8984"/>
  <p:tag name="OUTPUTDPI" val="1200"/>
  <p:tag name="LATEXADDIN" val="\documentclass{article}&#10;\usepackage{amsmath}&#10;\usepackage{nicefrac}&#10;\pagestyle{empty}&#10;&#10;\newcommand{\diff}{\operatorname{d}}&#10;\newcommand{\sline}{\rule{\textwidth}{1pt}}&#10;\newcommand{\bs}{\boldsymbol}&#10;&#10;\begin{document}&#10;&#10;\begin{equation}&#10;P(H3|G1) = \mathbf{\frac{1}{2}}&#10;\nonumber&#10;\end{equation}&#10;&#10;\end{document}"/>
  <p:tag name="IGUANATEXSIZE" val="20"/>
  <p:tag name="IGUANATEXCURSOR" val="240"/>
  <p:tag name="TRANSPARENCY" val="True"/>
  <p:tag name="FILENAME" val=""/>
  <p:tag name="INPUTTYPE" val="0"/>
  <p:tag name="LATEXENGINEID" val="0"/>
  <p:tag name="TEMPFOLDER" val="c:\temp\"/>
</p:tagLst>
</file>

<file path=ppt/tags/tag25.xml><?xml version="1.0" encoding="utf-8"?>
<p:tagLst xmlns:a="http://schemas.openxmlformats.org/drawingml/2006/main" xmlns:r="http://schemas.openxmlformats.org/officeDocument/2006/relationships" xmlns:p="http://schemas.openxmlformats.org/presentationml/2006/main">
  <p:tag name="ORIGINALHEIGHT" val="89.25"/>
  <p:tag name="ORIGINALWIDTH" val="846.75"/>
  <p:tag name="OUTPUTDPI" val="1200"/>
  <p:tag name="LATEXADDIN" val="\documentclass{article}&#10;\usepackage{amsmath}&#10;\pagestyle{empty}&#10;&#10;\newcommand{\diff}{\operatorname{d}}&#10;\newcommand{\sline}{\rule{\textwidth}{1pt}}&#10;\newcommand{\bs}{\boldsymbol}&#10;&#10;\begin{document}&#10;&#10;$m=5 \text{~variables}$&#10;&#10;\end{document}"/>
  <p:tag name="IGUANATEXSIZE" val="20"/>
  <p:tag name="IGUANATEXCURSOR" val="206"/>
  <p:tag name="TRANSPARENCY" val="True"/>
  <p:tag name="FILENAME" val=""/>
  <p:tag name="INPUTTYPE" val="0"/>
  <p:tag name="LATEXENGINEID" val="0"/>
  <p:tag name="TEMPFOLDER" val="c:\temp\"/>
</p:tagLst>
</file>

<file path=ppt/tags/tag26.xml><?xml version="1.0" encoding="utf-8"?>
<p:tagLst xmlns:a="http://schemas.openxmlformats.org/drawingml/2006/main" xmlns:r="http://schemas.openxmlformats.org/officeDocument/2006/relationships" xmlns:p="http://schemas.openxmlformats.org/presentationml/2006/main">
  <p:tag name="ORIGINALHEIGHT" val="124.4844"/>
  <p:tag name="ORIGINALWIDTH" val="1190.101"/>
  <p:tag name="OUTPUTDPI" val="1200"/>
  <p:tag name="LATEXADDIN" val="\documentclass{article}&#10;\usepackage{amsmath}&#10;\pagestyle{empty}&#10;&#10;\newcommand{\diff}{\operatorname{d}}&#10;\newcommand{\sline}{\rule{\textwidth}{1pt}}&#10;\newcommand{\bs}{\boldsymbol}&#10;&#10;\begin{document}&#10;&#10;$\mathcal{D}=\{\bs{D}_1,\bs{D}_2,...,\bs{D}_n\}$&#10;&#10;\end{document}"/>
  <p:tag name="IGUANATEXSIZE" val="20"/>
  <p:tag name="IGUANATEXCURSOR" val="242"/>
  <p:tag name="TRANSPARENCY" val="True"/>
  <p:tag name="FILENAME" val=""/>
  <p:tag name="INPUTTYPE" val="0"/>
  <p:tag name="LATEXENGINEID" val="0"/>
  <p:tag name="TEMPFOLDER" val="c:\temp\"/>
</p:tagLst>
</file>

<file path=ppt/tags/tag27.xml><?xml version="1.0" encoding="utf-8"?>
<p:tagLst xmlns:a="http://schemas.openxmlformats.org/drawingml/2006/main" xmlns:r="http://schemas.openxmlformats.org/officeDocument/2006/relationships" xmlns:p="http://schemas.openxmlformats.org/presentationml/2006/main">
  <p:tag name="ORIGINALHEIGHT" val="85.48929"/>
  <p:tag name="ORIGINALWIDTH" val="93.73827"/>
  <p:tag name="OUTPUTDPI" val="1200"/>
  <p:tag name="LATEXADDIN" val="\documentclass{article}&#10;\usepackage{amsmath}&#10;\pagestyle{empty}&#10;&#10;\newcommand{\diff}{\operatorname{d}}&#10;\newcommand{\sline}{\rule{\textwidth}{1pt}}&#10;\newcommand{\bs}{\boldsymbol}&#10;&#10;\begin{document}&#10;&#10;$\mathcal{D}$&#10;&#10;\end{document}"/>
  <p:tag name="IGUANATEXSIZE" val="20"/>
  <p:tag name="IGUANATEXCURSOR" val="206"/>
  <p:tag name="TRANSPARENCY" val="True"/>
  <p:tag name="FILENAME" val=""/>
  <p:tag name="INPUTTYPE" val="0"/>
  <p:tag name="LATEXENGINEID" val="0"/>
  <p:tag name="TEMPFOLDER" val="c:\temp\"/>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New_Wordmark">
  <a:themeElements>
    <a:clrScheme name="Custom 11">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0403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816</TotalTime>
  <Words>2651</Words>
  <Application>Microsoft Office PowerPoint</Application>
  <PresentationFormat>On-screen Show (4:3)</PresentationFormat>
  <Paragraphs>349</Paragraphs>
  <Slides>23</Slides>
  <Notes>23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23</vt:i4>
      </vt:variant>
    </vt:vector>
  </HeadingPairs>
  <TitlesOfParts>
    <vt:vector size="31" baseType="lpstr">
      <vt:lpstr>Arial</vt:lpstr>
      <vt:lpstr>Calibri</vt:lpstr>
      <vt:lpstr>Calibri Light</vt:lpstr>
      <vt:lpstr>Cambria Math</vt:lpstr>
      <vt:lpstr>Times New Roman</vt:lpstr>
      <vt:lpstr>Times-Roman</vt:lpstr>
      <vt:lpstr>Office Theme</vt:lpstr>
      <vt:lpstr>New_Wordmark</vt:lpstr>
      <vt:lpstr>PowerPoint Presentation</vt:lpstr>
      <vt:lpstr>The two classical pillars of science: Experiment and Theory</vt:lpstr>
      <vt:lpstr>The two classical pillars of science: Experiment and Theory</vt:lpstr>
      <vt:lpstr>The desiderata of Probability Theory</vt:lpstr>
      <vt:lpstr>An example of correspondence with common sense</vt:lpstr>
      <vt:lpstr>An example of correspondence with common sense</vt:lpstr>
      <vt:lpstr>An example of correspondence with common sense</vt:lpstr>
      <vt:lpstr>Probability is real number whose range must be either [0,1] or [1,+infinity]</vt:lpstr>
      <vt:lpstr>The product Rule (A prelude to the Bayesian Probability Theory)</vt:lpstr>
      <vt:lpstr>A Tug-of-War in the History of Probability Theory</vt:lpstr>
      <vt:lpstr>Two Philosophically distinct approaches to Scientific inference</vt:lpstr>
      <vt:lpstr>Two Philosophically distinct approaches to Scientific inference</vt:lpstr>
      <vt:lpstr>Digression: Bayes rule - The optimal method of inference</vt:lpstr>
      <vt:lpstr>Digression: Bayes rule - The optimal method of inference</vt:lpstr>
      <vt:lpstr>PowerPoint Presentation</vt:lpstr>
      <vt:lpstr>Digression: Bayes rule - The optimal method of inference</vt:lpstr>
      <vt:lpstr>Digression: Bayes rule - The optimal method of inference</vt:lpstr>
      <vt:lpstr>PowerPoint Presentation</vt:lpstr>
      <vt:lpstr>PowerPoint Presentation</vt:lpstr>
      <vt:lpstr>There is only one type of uncertainty in the world – epistemic</vt:lpstr>
      <vt:lpstr>There is only one type of uncertainty in the world – epistemic</vt:lpstr>
      <vt:lpstr>There is only one type of uncertainty in the world – epistemic</vt:lpstr>
      <vt:lpstr>Observations, random variables, and the likelihood principle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Shahmoradi, Amir</dc:creator>
  <cp:lastModifiedBy>Shahmoradi, Amir</cp:lastModifiedBy>
  <cp:revision>120</cp:revision>
  <dcterms:created xsi:type="dcterms:W3CDTF">2020-09-30T17:58:36Z</dcterms:created>
  <dcterms:modified xsi:type="dcterms:W3CDTF">2024-04-01T20:48:05Z</dcterms:modified>
</cp:coreProperties>
</file>