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tags/tag1.xml" ContentType="application/vnd.openxmlformats-officedocument.presentationml.tags+xml"/>
  <Override PartName="/ppt/notesSlides/notesSlide7.xml" ContentType="application/vnd.openxmlformats-officedocument.presentationml.notesSlide+xml"/>
  <Override PartName="/ppt/tags/tag2.xml" ContentType="application/vnd.openxmlformats-officedocument.presentationml.tags+xml"/>
  <Override PartName="/ppt/notesSlides/notesSlide8.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ags/tag9.xml" ContentType="application/vnd.openxmlformats-officedocument.presentationml.tag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0.xml" ContentType="application/vnd.openxmlformats-officedocument.presentationml.tags+xml"/>
  <Override PartName="/ppt/notesSlides/notesSlide15.xml" ContentType="application/vnd.openxmlformats-officedocument.presentationml.notesSlide+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notesSlides/notesSlide16.xml" ContentType="application/vnd.openxmlformats-officedocument.presentationml.notesSlide+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notesSlides/notesSlide17.xml" ContentType="application/vnd.openxmlformats-officedocument.presentationml.notesSlide+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48"/>
  </p:notesMasterIdLst>
  <p:sldIdLst>
    <p:sldId id="961" r:id="rId3"/>
    <p:sldId id="1355" r:id="rId4"/>
    <p:sldId id="1403" r:id="rId5"/>
    <p:sldId id="1426" r:id="rId6"/>
    <p:sldId id="1427" r:id="rId7"/>
    <p:sldId id="1428" r:id="rId8"/>
    <p:sldId id="1429" r:id="rId9"/>
    <p:sldId id="1430" r:id="rId10"/>
    <p:sldId id="1221" r:id="rId11"/>
    <p:sldId id="1453" r:id="rId12"/>
    <p:sldId id="1454" r:id="rId13"/>
    <p:sldId id="1455" r:id="rId14"/>
    <p:sldId id="1459" r:id="rId15"/>
    <p:sldId id="1468" r:id="rId16"/>
    <p:sldId id="1460" r:id="rId17"/>
    <p:sldId id="1461" r:id="rId18"/>
    <p:sldId id="1462" r:id="rId19"/>
    <p:sldId id="1463" r:id="rId20"/>
    <p:sldId id="1464" r:id="rId21"/>
    <p:sldId id="1465" r:id="rId22"/>
    <p:sldId id="1466" r:id="rId23"/>
    <p:sldId id="1467" r:id="rId24"/>
    <p:sldId id="962" r:id="rId25"/>
    <p:sldId id="1421" r:id="rId26"/>
    <p:sldId id="1420" r:id="rId27"/>
    <p:sldId id="1423" r:id="rId28"/>
    <p:sldId id="1424" r:id="rId29"/>
    <p:sldId id="1425" r:id="rId30"/>
    <p:sldId id="1486" r:id="rId31"/>
    <p:sldId id="1487" r:id="rId32"/>
    <p:sldId id="1488" r:id="rId33"/>
    <p:sldId id="1489" r:id="rId34"/>
    <p:sldId id="1490" r:id="rId35"/>
    <p:sldId id="1431" r:id="rId36"/>
    <p:sldId id="1433" r:id="rId37"/>
    <p:sldId id="1432" r:id="rId38"/>
    <p:sldId id="1485" r:id="rId39"/>
    <p:sldId id="1479" r:id="rId40"/>
    <p:sldId id="1478" r:id="rId41"/>
    <p:sldId id="1491" r:id="rId42"/>
    <p:sldId id="1492" r:id="rId43"/>
    <p:sldId id="1481" r:id="rId44"/>
    <p:sldId id="1482" r:id="rId45"/>
    <p:sldId id="1483" r:id="rId46"/>
    <p:sldId id="1484" r:id="rId4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EA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85445" autoAdjust="0"/>
  </p:normalViewPr>
  <p:slideViewPr>
    <p:cSldViewPr snapToGrid="0">
      <p:cViewPr varScale="1">
        <p:scale>
          <a:sx n="171" d="100"/>
          <a:sy n="171" d="100"/>
        </p:scale>
        <p:origin x="2933" y="1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E44C7FD-46B9-404C-9767-5E96954E74E7}" type="doc">
      <dgm:prSet loTypeId="urn:microsoft.com/office/officeart/2005/8/layout/venn2" loCatId="relationship" qsTypeId="urn:microsoft.com/office/officeart/2005/8/quickstyle/simple1" qsCatId="simple" csTypeId="urn:microsoft.com/office/officeart/2005/8/colors/accent1_2" csCatId="accent1" phldr="1"/>
      <dgm:spPr/>
      <dgm:t>
        <a:bodyPr/>
        <a:lstStyle/>
        <a:p>
          <a:endParaRPr lang="en-US"/>
        </a:p>
      </dgm:t>
    </dgm:pt>
    <dgm:pt modelId="{328A25BF-AD81-4718-8D31-56023ED8CA04}">
      <dgm:prSet phldrT="[Text]" custT="1"/>
      <dgm:spPr>
        <a:solidFill>
          <a:schemeClr val="accent1">
            <a:hueOff val="0"/>
            <a:satOff val="0"/>
            <a:lumOff val="0"/>
            <a:alpha val="60000"/>
          </a:schemeClr>
        </a:solidFill>
      </dgm:spPr>
      <dgm:t>
        <a:bodyPr/>
        <a:lstStyle/>
        <a:p>
          <a:r>
            <a:rPr lang="en-US" sz="1300" dirty="0"/>
            <a:t>Aleatoric</a:t>
          </a:r>
        </a:p>
        <a:p>
          <a:r>
            <a:rPr lang="en-US" sz="1300" dirty="0"/>
            <a:t>Variability</a:t>
          </a:r>
        </a:p>
      </dgm:t>
    </dgm:pt>
    <dgm:pt modelId="{F03F5302-88E0-4A89-A147-6A817FEC3BF9}" type="parTrans" cxnId="{8CFAEDE8-CC38-4AE7-8890-8B60324AF249}">
      <dgm:prSet/>
      <dgm:spPr/>
      <dgm:t>
        <a:bodyPr/>
        <a:lstStyle/>
        <a:p>
          <a:endParaRPr lang="en-US"/>
        </a:p>
      </dgm:t>
    </dgm:pt>
    <dgm:pt modelId="{3FF4E84C-BD6B-414E-8E73-17F5D8CE9855}" type="sibTrans" cxnId="{8CFAEDE8-CC38-4AE7-8890-8B60324AF249}">
      <dgm:prSet/>
      <dgm:spPr/>
      <dgm:t>
        <a:bodyPr/>
        <a:lstStyle/>
        <a:p>
          <a:endParaRPr lang="en-US"/>
        </a:p>
      </dgm:t>
    </dgm:pt>
    <dgm:pt modelId="{EA2AEBD1-1E0C-4619-A9AE-C96A5CAA52FD}">
      <dgm:prSet phldrT="[Text]" custT="1"/>
      <dgm:spPr/>
      <dgm:t>
        <a:bodyPr/>
        <a:lstStyle/>
        <a:p>
          <a:r>
            <a:rPr lang="en-US" sz="1900" dirty="0"/>
            <a:t>Reality</a:t>
          </a:r>
        </a:p>
      </dgm:t>
    </dgm:pt>
    <dgm:pt modelId="{F1A4E7E7-C614-4BDB-BA9A-D0A7453AAA40}" type="sibTrans" cxnId="{B5DF8083-128A-4A50-8687-7D7FA6C67D36}">
      <dgm:prSet/>
      <dgm:spPr/>
      <dgm:t>
        <a:bodyPr/>
        <a:lstStyle/>
        <a:p>
          <a:endParaRPr lang="en-US"/>
        </a:p>
      </dgm:t>
    </dgm:pt>
    <dgm:pt modelId="{59ECE446-76E6-47E6-B14A-AC9969F44887}" type="parTrans" cxnId="{B5DF8083-128A-4A50-8687-7D7FA6C67D36}">
      <dgm:prSet/>
      <dgm:spPr/>
      <dgm:t>
        <a:bodyPr/>
        <a:lstStyle/>
        <a:p>
          <a:endParaRPr lang="en-US"/>
        </a:p>
      </dgm:t>
    </dgm:pt>
    <dgm:pt modelId="{1C63989B-5D9A-4F57-B970-CF8553D802A5}">
      <dgm:prSet phldrT="[Text]" custT="1"/>
      <dgm:spPr>
        <a:solidFill>
          <a:schemeClr val="accent1">
            <a:hueOff val="0"/>
            <a:satOff val="0"/>
            <a:lumOff val="0"/>
            <a:alpha val="60000"/>
          </a:schemeClr>
        </a:solidFill>
      </dgm:spPr>
      <dgm:t>
        <a:bodyPr/>
        <a:lstStyle/>
        <a:p>
          <a:r>
            <a:rPr lang="en-US" sz="1300" dirty="0"/>
            <a:t>Noise</a:t>
          </a:r>
          <a:r>
            <a:rPr lang="en-US" sz="1300" baseline="0" dirty="0"/>
            <a:t> Uncertainty</a:t>
          </a:r>
          <a:endParaRPr lang="en-US" sz="1300" dirty="0"/>
        </a:p>
      </dgm:t>
    </dgm:pt>
    <dgm:pt modelId="{813DAC94-229F-48D6-95B8-A126994A3203}" type="sibTrans" cxnId="{C50C52D4-2AD5-4165-A148-D88AFC387E68}">
      <dgm:prSet/>
      <dgm:spPr/>
      <dgm:t>
        <a:bodyPr/>
        <a:lstStyle/>
        <a:p>
          <a:endParaRPr lang="en-US"/>
        </a:p>
      </dgm:t>
    </dgm:pt>
    <dgm:pt modelId="{123A52C9-177D-49E7-AFDC-09BC284EB110}" type="parTrans" cxnId="{C50C52D4-2AD5-4165-A148-D88AFC387E68}">
      <dgm:prSet/>
      <dgm:spPr/>
      <dgm:t>
        <a:bodyPr/>
        <a:lstStyle/>
        <a:p>
          <a:endParaRPr lang="en-US"/>
        </a:p>
      </dgm:t>
    </dgm:pt>
    <dgm:pt modelId="{985757C2-3092-4EC9-8AA9-2A2EAE09B84F}" type="pres">
      <dgm:prSet presAssocID="{2E44C7FD-46B9-404C-9767-5E96954E74E7}" presName="Name0" presStyleCnt="0">
        <dgm:presLayoutVars>
          <dgm:chMax val="7"/>
          <dgm:resizeHandles val="exact"/>
        </dgm:presLayoutVars>
      </dgm:prSet>
      <dgm:spPr/>
    </dgm:pt>
    <dgm:pt modelId="{5A270A1E-6415-4859-A2E5-8EC35AED88F3}" type="pres">
      <dgm:prSet presAssocID="{2E44C7FD-46B9-404C-9767-5E96954E74E7}" presName="comp1" presStyleCnt="0"/>
      <dgm:spPr/>
    </dgm:pt>
    <dgm:pt modelId="{AE09059A-C5B5-4F54-889E-E0940DBD5535}" type="pres">
      <dgm:prSet presAssocID="{2E44C7FD-46B9-404C-9767-5E96954E74E7}" presName="circle1" presStyleLbl="node1" presStyleIdx="0" presStyleCnt="3"/>
      <dgm:spPr/>
    </dgm:pt>
    <dgm:pt modelId="{4389E4F9-EA46-404E-840C-470D57D6B4A7}" type="pres">
      <dgm:prSet presAssocID="{2E44C7FD-46B9-404C-9767-5E96954E74E7}" presName="c1text" presStyleLbl="node1" presStyleIdx="0" presStyleCnt="3">
        <dgm:presLayoutVars>
          <dgm:bulletEnabled val="1"/>
        </dgm:presLayoutVars>
      </dgm:prSet>
      <dgm:spPr/>
    </dgm:pt>
    <dgm:pt modelId="{E4BEF01C-BF64-46E8-9E73-26A9CE8F742C}" type="pres">
      <dgm:prSet presAssocID="{2E44C7FD-46B9-404C-9767-5E96954E74E7}" presName="comp2" presStyleCnt="0"/>
      <dgm:spPr/>
    </dgm:pt>
    <dgm:pt modelId="{886D0D3A-00EA-44EA-83C6-25815EADC376}" type="pres">
      <dgm:prSet presAssocID="{2E44C7FD-46B9-404C-9767-5E96954E74E7}" presName="circle2" presStyleLbl="node1" presStyleIdx="1" presStyleCnt="3"/>
      <dgm:spPr/>
    </dgm:pt>
    <dgm:pt modelId="{68680E29-9F23-4D63-9528-840A52B8ED6C}" type="pres">
      <dgm:prSet presAssocID="{2E44C7FD-46B9-404C-9767-5E96954E74E7}" presName="c2text" presStyleLbl="node1" presStyleIdx="1" presStyleCnt="3">
        <dgm:presLayoutVars>
          <dgm:bulletEnabled val="1"/>
        </dgm:presLayoutVars>
      </dgm:prSet>
      <dgm:spPr/>
    </dgm:pt>
    <dgm:pt modelId="{62B8FA44-5094-499B-AE9A-A3D6AB4AB469}" type="pres">
      <dgm:prSet presAssocID="{2E44C7FD-46B9-404C-9767-5E96954E74E7}" presName="comp3" presStyleCnt="0"/>
      <dgm:spPr/>
    </dgm:pt>
    <dgm:pt modelId="{260BD720-D2E3-4846-9883-A08B066BBAB5}" type="pres">
      <dgm:prSet presAssocID="{2E44C7FD-46B9-404C-9767-5E96954E74E7}" presName="circle3" presStyleLbl="node1" presStyleIdx="2" presStyleCnt="3" custLinFactNeighborY="749"/>
      <dgm:spPr/>
    </dgm:pt>
    <dgm:pt modelId="{848D74BB-45E3-463D-B7E0-CB1B3DCA6ED3}" type="pres">
      <dgm:prSet presAssocID="{2E44C7FD-46B9-404C-9767-5E96954E74E7}" presName="c3text" presStyleLbl="node1" presStyleIdx="2" presStyleCnt="3">
        <dgm:presLayoutVars>
          <dgm:bulletEnabled val="1"/>
        </dgm:presLayoutVars>
      </dgm:prSet>
      <dgm:spPr/>
    </dgm:pt>
  </dgm:ptLst>
  <dgm:cxnLst>
    <dgm:cxn modelId="{497B2D21-EF24-4E78-9D87-88FD7B176008}" type="presOf" srcId="{2E44C7FD-46B9-404C-9767-5E96954E74E7}" destId="{985757C2-3092-4EC9-8AA9-2A2EAE09B84F}" srcOrd="0" destOrd="0" presId="urn:microsoft.com/office/officeart/2005/8/layout/venn2"/>
    <dgm:cxn modelId="{27450433-E6FF-471E-B0A6-0548C28DD452}" type="presOf" srcId="{1C63989B-5D9A-4F57-B970-CF8553D802A5}" destId="{AE09059A-C5B5-4F54-889E-E0940DBD5535}" srcOrd="0" destOrd="0" presId="urn:microsoft.com/office/officeart/2005/8/layout/venn2"/>
    <dgm:cxn modelId="{16ACA864-406E-4E41-989D-5E29456AD503}" type="presOf" srcId="{1C63989B-5D9A-4F57-B970-CF8553D802A5}" destId="{4389E4F9-EA46-404E-840C-470D57D6B4A7}" srcOrd="1" destOrd="0" presId="urn:microsoft.com/office/officeart/2005/8/layout/venn2"/>
    <dgm:cxn modelId="{BC05A64F-31C9-4C3B-A9CC-639F217AF2C9}" type="presOf" srcId="{EA2AEBD1-1E0C-4619-A9AE-C96A5CAA52FD}" destId="{848D74BB-45E3-463D-B7E0-CB1B3DCA6ED3}" srcOrd="1" destOrd="0" presId="urn:microsoft.com/office/officeart/2005/8/layout/venn2"/>
    <dgm:cxn modelId="{B5DF8083-128A-4A50-8687-7D7FA6C67D36}" srcId="{2E44C7FD-46B9-404C-9767-5E96954E74E7}" destId="{EA2AEBD1-1E0C-4619-A9AE-C96A5CAA52FD}" srcOrd="2" destOrd="0" parTransId="{59ECE446-76E6-47E6-B14A-AC9969F44887}" sibTransId="{F1A4E7E7-C614-4BDB-BA9A-D0A7453AAA40}"/>
    <dgm:cxn modelId="{701FCA8B-F49A-4057-8FB6-9CE0FB430643}" type="presOf" srcId="{328A25BF-AD81-4718-8D31-56023ED8CA04}" destId="{886D0D3A-00EA-44EA-83C6-25815EADC376}" srcOrd="0" destOrd="0" presId="urn:microsoft.com/office/officeart/2005/8/layout/venn2"/>
    <dgm:cxn modelId="{C50C52D4-2AD5-4165-A148-D88AFC387E68}" srcId="{2E44C7FD-46B9-404C-9767-5E96954E74E7}" destId="{1C63989B-5D9A-4F57-B970-CF8553D802A5}" srcOrd="0" destOrd="0" parTransId="{123A52C9-177D-49E7-AFDC-09BC284EB110}" sibTransId="{813DAC94-229F-48D6-95B8-A126994A3203}"/>
    <dgm:cxn modelId="{8CFAEDE8-CC38-4AE7-8890-8B60324AF249}" srcId="{2E44C7FD-46B9-404C-9767-5E96954E74E7}" destId="{328A25BF-AD81-4718-8D31-56023ED8CA04}" srcOrd="1" destOrd="0" parTransId="{F03F5302-88E0-4A89-A147-6A817FEC3BF9}" sibTransId="{3FF4E84C-BD6B-414E-8E73-17F5D8CE9855}"/>
    <dgm:cxn modelId="{A3D903ED-C341-4F9F-9506-F88C093A5206}" type="presOf" srcId="{328A25BF-AD81-4718-8D31-56023ED8CA04}" destId="{68680E29-9F23-4D63-9528-840A52B8ED6C}" srcOrd="1" destOrd="0" presId="urn:microsoft.com/office/officeart/2005/8/layout/venn2"/>
    <dgm:cxn modelId="{3C8062F3-FE62-465C-ADBC-39917A76F0AD}" type="presOf" srcId="{EA2AEBD1-1E0C-4619-A9AE-C96A5CAA52FD}" destId="{260BD720-D2E3-4846-9883-A08B066BBAB5}" srcOrd="0" destOrd="0" presId="urn:microsoft.com/office/officeart/2005/8/layout/venn2"/>
    <dgm:cxn modelId="{B38A88AC-0801-49F0-9F77-B03A473A8ECE}" type="presParOf" srcId="{985757C2-3092-4EC9-8AA9-2A2EAE09B84F}" destId="{5A270A1E-6415-4859-A2E5-8EC35AED88F3}" srcOrd="0" destOrd="0" presId="urn:microsoft.com/office/officeart/2005/8/layout/venn2"/>
    <dgm:cxn modelId="{C2FD6242-8801-4C5D-B46E-0B85053D8154}" type="presParOf" srcId="{5A270A1E-6415-4859-A2E5-8EC35AED88F3}" destId="{AE09059A-C5B5-4F54-889E-E0940DBD5535}" srcOrd="0" destOrd="0" presId="urn:microsoft.com/office/officeart/2005/8/layout/venn2"/>
    <dgm:cxn modelId="{C90A7CBC-6D07-4484-B913-503D9D4FF77A}" type="presParOf" srcId="{5A270A1E-6415-4859-A2E5-8EC35AED88F3}" destId="{4389E4F9-EA46-404E-840C-470D57D6B4A7}" srcOrd="1" destOrd="0" presId="urn:microsoft.com/office/officeart/2005/8/layout/venn2"/>
    <dgm:cxn modelId="{8421D5B9-A391-4894-8956-E852A34C057A}" type="presParOf" srcId="{985757C2-3092-4EC9-8AA9-2A2EAE09B84F}" destId="{E4BEF01C-BF64-46E8-9E73-26A9CE8F742C}" srcOrd="1" destOrd="0" presId="urn:microsoft.com/office/officeart/2005/8/layout/venn2"/>
    <dgm:cxn modelId="{ED8164BE-D1D3-42FC-A5B0-91BC90D68EDF}" type="presParOf" srcId="{E4BEF01C-BF64-46E8-9E73-26A9CE8F742C}" destId="{886D0D3A-00EA-44EA-83C6-25815EADC376}" srcOrd="0" destOrd="0" presId="urn:microsoft.com/office/officeart/2005/8/layout/venn2"/>
    <dgm:cxn modelId="{FF02BDC6-C97E-4EB2-907E-FC728F2FB289}" type="presParOf" srcId="{E4BEF01C-BF64-46E8-9E73-26A9CE8F742C}" destId="{68680E29-9F23-4D63-9528-840A52B8ED6C}" srcOrd="1" destOrd="0" presId="urn:microsoft.com/office/officeart/2005/8/layout/venn2"/>
    <dgm:cxn modelId="{CAA2474C-6EE6-470E-A074-5693991F91E2}" type="presParOf" srcId="{985757C2-3092-4EC9-8AA9-2A2EAE09B84F}" destId="{62B8FA44-5094-499B-AE9A-A3D6AB4AB469}" srcOrd="2" destOrd="0" presId="urn:microsoft.com/office/officeart/2005/8/layout/venn2"/>
    <dgm:cxn modelId="{C88EA3B7-1F70-4068-A5E3-7FB346559006}" type="presParOf" srcId="{62B8FA44-5094-499B-AE9A-A3D6AB4AB469}" destId="{260BD720-D2E3-4846-9883-A08B066BBAB5}" srcOrd="0" destOrd="0" presId="urn:microsoft.com/office/officeart/2005/8/layout/venn2"/>
    <dgm:cxn modelId="{6384DC75-14FD-4AA6-B6B7-B9CDD25E41AF}" type="presParOf" srcId="{62B8FA44-5094-499B-AE9A-A3D6AB4AB469}" destId="{848D74BB-45E3-463D-B7E0-CB1B3DCA6ED3}" srcOrd="1" destOrd="0" presId="urn:microsoft.com/office/officeart/2005/8/layout/ven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E44C7FD-46B9-404C-9767-5E96954E74E7}" type="doc">
      <dgm:prSet loTypeId="urn:microsoft.com/office/officeart/2005/8/layout/venn2" loCatId="relationship" qsTypeId="urn:microsoft.com/office/officeart/2005/8/quickstyle/simple1" qsCatId="simple" csTypeId="urn:microsoft.com/office/officeart/2005/8/colors/accent1_2" csCatId="accent1" phldr="1"/>
      <dgm:spPr/>
      <dgm:t>
        <a:bodyPr/>
        <a:lstStyle/>
        <a:p>
          <a:endParaRPr lang="en-US"/>
        </a:p>
      </dgm:t>
    </dgm:pt>
    <dgm:pt modelId="{328A25BF-AD81-4718-8D31-56023ED8CA04}">
      <dgm:prSet phldrT="[Text]" custT="1"/>
      <dgm:spPr>
        <a:solidFill>
          <a:schemeClr val="accent1">
            <a:hueOff val="0"/>
            <a:satOff val="0"/>
            <a:lumOff val="0"/>
            <a:alpha val="60000"/>
          </a:schemeClr>
        </a:solidFill>
      </dgm:spPr>
      <dgm:t>
        <a:bodyPr/>
        <a:lstStyle/>
        <a:p>
          <a:r>
            <a:rPr lang="en-US" sz="1300" dirty="0"/>
            <a:t>Noise Model</a:t>
          </a:r>
        </a:p>
      </dgm:t>
    </dgm:pt>
    <dgm:pt modelId="{F03F5302-88E0-4A89-A147-6A817FEC3BF9}" type="parTrans" cxnId="{8CFAEDE8-CC38-4AE7-8890-8B60324AF249}">
      <dgm:prSet/>
      <dgm:spPr/>
      <dgm:t>
        <a:bodyPr/>
        <a:lstStyle/>
        <a:p>
          <a:endParaRPr lang="en-US"/>
        </a:p>
      </dgm:t>
    </dgm:pt>
    <dgm:pt modelId="{3FF4E84C-BD6B-414E-8E73-17F5D8CE9855}" type="sibTrans" cxnId="{8CFAEDE8-CC38-4AE7-8890-8B60324AF249}">
      <dgm:prSet/>
      <dgm:spPr/>
      <dgm:t>
        <a:bodyPr/>
        <a:lstStyle/>
        <a:p>
          <a:endParaRPr lang="en-US"/>
        </a:p>
      </dgm:t>
    </dgm:pt>
    <dgm:pt modelId="{EA2AEBD1-1E0C-4619-A9AE-C96A5CAA52FD}">
      <dgm:prSet phldrT="[Text]" custT="1"/>
      <dgm:spPr/>
      <dgm:t>
        <a:bodyPr/>
        <a:lstStyle/>
        <a:p>
          <a:r>
            <a:rPr lang="en-US" sz="1900" dirty="0"/>
            <a:t>Reality</a:t>
          </a:r>
        </a:p>
      </dgm:t>
    </dgm:pt>
    <dgm:pt modelId="{F1A4E7E7-C614-4BDB-BA9A-D0A7453AAA40}" type="sibTrans" cxnId="{B5DF8083-128A-4A50-8687-7D7FA6C67D36}">
      <dgm:prSet/>
      <dgm:spPr/>
      <dgm:t>
        <a:bodyPr/>
        <a:lstStyle/>
        <a:p>
          <a:endParaRPr lang="en-US"/>
        </a:p>
      </dgm:t>
    </dgm:pt>
    <dgm:pt modelId="{59ECE446-76E6-47E6-B14A-AC9969F44887}" type="parTrans" cxnId="{B5DF8083-128A-4A50-8687-7D7FA6C67D36}">
      <dgm:prSet/>
      <dgm:spPr/>
      <dgm:t>
        <a:bodyPr/>
        <a:lstStyle/>
        <a:p>
          <a:endParaRPr lang="en-US"/>
        </a:p>
      </dgm:t>
    </dgm:pt>
    <dgm:pt modelId="{985757C2-3092-4EC9-8AA9-2A2EAE09B84F}" type="pres">
      <dgm:prSet presAssocID="{2E44C7FD-46B9-404C-9767-5E96954E74E7}" presName="Name0" presStyleCnt="0">
        <dgm:presLayoutVars>
          <dgm:chMax val="7"/>
          <dgm:resizeHandles val="exact"/>
        </dgm:presLayoutVars>
      </dgm:prSet>
      <dgm:spPr/>
    </dgm:pt>
    <dgm:pt modelId="{5A270A1E-6415-4859-A2E5-8EC35AED88F3}" type="pres">
      <dgm:prSet presAssocID="{2E44C7FD-46B9-404C-9767-5E96954E74E7}" presName="comp1" presStyleCnt="0"/>
      <dgm:spPr/>
    </dgm:pt>
    <dgm:pt modelId="{AE09059A-C5B5-4F54-889E-E0940DBD5535}" type="pres">
      <dgm:prSet presAssocID="{2E44C7FD-46B9-404C-9767-5E96954E74E7}" presName="circle1" presStyleLbl="node1" presStyleIdx="0" presStyleCnt="2"/>
      <dgm:spPr/>
    </dgm:pt>
    <dgm:pt modelId="{4389E4F9-EA46-404E-840C-470D57D6B4A7}" type="pres">
      <dgm:prSet presAssocID="{2E44C7FD-46B9-404C-9767-5E96954E74E7}" presName="c1text" presStyleLbl="node1" presStyleIdx="0" presStyleCnt="2">
        <dgm:presLayoutVars>
          <dgm:bulletEnabled val="1"/>
        </dgm:presLayoutVars>
      </dgm:prSet>
      <dgm:spPr/>
    </dgm:pt>
    <dgm:pt modelId="{E4BEF01C-BF64-46E8-9E73-26A9CE8F742C}" type="pres">
      <dgm:prSet presAssocID="{2E44C7FD-46B9-404C-9767-5E96954E74E7}" presName="comp2" presStyleCnt="0"/>
      <dgm:spPr/>
    </dgm:pt>
    <dgm:pt modelId="{886D0D3A-00EA-44EA-83C6-25815EADC376}" type="pres">
      <dgm:prSet presAssocID="{2E44C7FD-46B9-404C-9767-5E96954E74E7}" presName="circle2" presStyleLbl="node1" presStyleIdx="1" presStyleCnt="2"/>
      <dgm:spPr/>
    </dgm:pt>
    <dgm:pt modelId="{68680E29-9F23-4D63-9528-840A52B8ED6C}" type="pres">
      <dgm:prSet presAssocID="{2E44C7FD-46B9-404C-9767-5E96954E74E7}" presName="c2text" presStyleLbl="node1" presStyleIdx="1" presStyleCnt="2">
        <dgm:presLayoutVars>
          <dgm:bulletEnabled val="1"/>
        </dgm:presLayoutVars>
      </dgm:prSet>
      <dgm:spPr/>
    </dgm:pt>
  </dgm:ptLst>
  <dgm:cxnLst>
    <dgm:cxn modelId="{E6114E00-68EB-40FE-B378-E4FA57DAAA58}" type="presOf" srcId="{EA2AEBD1-1E0C-4619-A9AE-C96A5CAA52FD}" destId="{886D0D3A-00EA-44EA-83C6-25815EADC376}" srcOrd="0" destOrd="0" presId="urn:microsoft.com/office/officeart/2005/8/layout/venn2"/>
    <dgm:cxn modelId="{D033F80D-DC92-436F-8785-D13140DBADE3}" type="presOf" srcId="{328A25BF-AD81-4718-8D31-56023ED8CA04}" destId="{AE09059A-C5B5-4F54-889E-E0940DBD5535}" srcOrd="0" destOrd="0" presId="urn:microsoft.com/office/officeart/2005/8/layout/venn2"/>
    <dgm:cxn modelId="{497B2D21-EF24-4E78-9D87-88FD7B176008}" type="presOf" srcId="{2E44C7FD-46B9-404C-9767-5E96954E74E7}" destId="{985757C2-3092-4EC9-8AA9-2A2EAE09B84F}" srcOrd="0" destOrd="0" presId="urn:microsoft.com/office/officeart/2005/8/layout/venn2"/>
    <dgm:cxn modelId="{3DCF624E-1731-4613-B4AE-3A2433F39B2A}" type="presOf" srcId="{EA2AEBD1-1E0C-4619-A9AE-C96A5CAA52FD}" destId="{68680E29-9F23-4D63-9528-840A52B8ED6C}" srcOrd="1" destOrd="0" presId="urn:microsoft.com/office/officeart/2005/8/layout/venn2"/>
    <dgm:cxn modelId="{ADD09478-75E0-4660-8BCB-ECAAEA738FAD}" type="presOf" srcId="{328A25BF-AD81-4718-8D31-56023ED8CA04}" destId="{4389E4F9-EA46-404E-840C-470D57D6B4A7}" srcOrd="1" destOrd="0" presId="urn:microsoft.com/office/officeart/2005/8/layout/venn2"/>
    <dgm:cxn modelId="{B5DF8083-128A-4A50-8687-7D7FA6C67D36}" srcId="{2E44C7FD-46B9-404C-9767-5E96954E74E7}" destId="{EA2AEBD1-1E0C-4619-A9AE-C96A5CAA52FD}" srcOrd="1" destOrd="0" parTransId="{59ECE446-76E6-47E6-B14A-AC9969F44887}" sibTransId="{F1A4E7E7-C614-4BDB-BA9A-D0A7453AAA40}"/>
    <dgm:cxn modelId="{8CFAEDE8-CC38-4AE7-8890-8B60324AF249}" srcId="{2E44C7FD-46B9-404C-9767-5E96954E74E7}" destId="{328A25BF-AD81-4718-8D31-56023ED8CA04}" srcOrd="0" destOrd="0" parTransId="{F03F5302-88E0-4A89-A147-6A817FEC3BF9}" sibTransId="{3FF4E84C-BD6B-414E-8E73-17F5D8CE9855}"/>
    <dgm:cxn modelId="{B38A88AC-0801-49F0-9F77-B03A473A8ECE}" type="presParOf" srcId="{985757C2-3092-4EC9-8AA9-2A2EAE09B84F}" destId="{5A270A1E-6415-4859-A2E5-8EC35AED88F3}" srcOrd="0" destOrd="0" presId="urn:microsoft.com/office/officeart/2005/8/layout/venn2"/>
    <dgm:cxn modelId="{C2FD6242-8801-4C5D-B46E-0B85053D8154}" type="presParOf" srcId="{5A270A1E-6415-4859-A2E5-8EC35AED88F3}" destId="{AE09059A-C5B5-4F54-889E-E0940DBD5535}" srcOrd="0" destOrd="0" presId="urn:microsoft.com/office/officeart/2005/8/layout/venn2"/>
    <dgm:cxn modelId="{C90A7CBC-6D07-4484-B913-503D9D4FF77A}" type="presParOf" srcId="{5A270A1E-6415-4859-A2E5-8EC35AED88F3}" destId="{4389E4F9-EA46-404E-840C-470D57D6B4A7}" srcOrd="1" destOrd="0" presId="urn:microsoft.com/office/officeart/2005/8/layout/venn2"/>
    <dgm:cxn modelId="{8421D5B9-A391-4894-8956-E852A34C057A}" type="presParOf" srcId="{985757C2-3092-4EC9-8AA9-2A2EAE09B84F}" destId="{E4BEF01C-BF64-46E8-9E73-26A9CE8F742C}" srcOrd="1" destOrd="0" presId="urn:microsoft.com/office/officeart/2005/8/layout/venn2"/>
    <dgm:cxn modelId="{ED8164BE-D1D3-42FC-A5B0-91BC90D68EDF}" type="presParOf" srcId="{E4BEF01C-BF64-46E8-9E73-26A9CE8F742C}" destId="{886D0D3A-00EA-44EA-83C6-25815EADC376}" srcOrd="0" destOrd="0" presId="urn:microsoft.com/office/officeart/2005/8/layout/venn2"/>
    <dgm:cxn modelId="{FF02BDC6-C97E-4EB2-907E-FC728F2FB289}" type="presParOf" srcId="{E4BEF01C-BF64-46E8-9E73-26A9CE8F742C}" destId="{68680E29-9F23-4D63-9528-840A52B8ED6C}" srcOrd="1" destOrd="0" presId="urn:microsoft.com/office/officeart/2005/8/layout/venn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E44C7FD-46B9-404C-9767-5E96954E74E7}" type="doc">
      <dgm:prSet loTypeId="urn:microsoft.com/office/officeart/2005/8/layout/venn2" loCatId="relationship" qsTypeId="urn:microsoft.com/office/officeart/2005/8/quickstyle/simple1" qsCatId="simple" csTypeId="urn:microsoft.com/office/officeart/2005/8/colors/accent1_2" csCatId="accent1" phldr="1"/>
      <dgm:spPr/>
      <dgm:t>
        <a:bodyPr/>
        <a:lstStyle/>
        <a:p>
          <a:endParaRPr lang="en-US"/>
        </a:p>
      </dgm:t>
    </dgm:pt>
    <dgm:pt modelId="{328A25BF-AD81-4718-8D31-56023ED8CA04}">
      <dgm:prSet phldrT="[Text]" custT="1"/>
      <dgm:spPr>
        <a:solidFill>
          <a:schemeClr val="accent1">
            <a:hueOff val="0"/>
            <a:satOff val="0"/>
            <a:lumOff val="0"/>
            <a:alpha val="60000"/>
          </a:schemeClr>
        </a:solidFill>
      </dgm:spPr>
      <dgm:t>
        <a:bodyPr/>
        <a:lstStyle/>
        <a:p>
          <a:r>
            <a:rPr lang="en-US" sz="1300" dirty="0"/>
            <a:t>Inadequacy Model</a:t>
          </a:r>
        </a:p>
      </dgm:t>
    </dgm:pt>
    <dgm:pt modelId="{F03F5302-88E0-4A89-A147-6A817FEC3BF9}" type="parTrans" cxnId="{8CFAEDE8-CC38-4AE7-8890-8B60324AF249}">
      <dgm:prSet/>
      <dgm:spPr/>
      <dgm:t>
        <a:bodyPr/>
        <a:lstStyle/>
        <a:p>
          <a:endParaRPr lang="en-US"/>
        </a:p>
      </dgm:t>
    </dgm:pt>
    <dgm:pt modelId="{3FF4E84C-BD6B-414E-8E73-17F5D8CE9855}" type="sibTrans" cxnId="{8CFAEDE8-CC38-4AE7-8890-8B60324AF249}">
      <dgm:prSet/>
      <dgm:spPr/>
      <dgm:t>
        <a:bodyPr/>
        <a:lstStyle/>
        <a:p>
          <a:endParaRPr lang="en-US"/>
        </a:p>
      </dgm:t>
    </dgm:pt>
    <dgm:pt modelId="{EA2AEBD1-1E0C-4619-A9AE-C96A5CAA52FD}">
      <dgm:prSet phldrT="[Text]" custT="1"/>
      <dgm:spPr/>
      <dgm:t>
        <a:bodyPr/>
        <a:lstStyle/>
        <a:p>
          <a:r>
            <a:rPr lang="en-US" sz="1900" dirty="0"/>
            <a:t>Physical Model</a:t>
          </a:r>
        </a:p>
      </dgm:t>
    </dgm:pt>
    <dgm:pt modelId="{F1A4E7E7-C614-4BDB-BA9A-D0A7453AAA40}" type="sibTrans" cxnId="{B5DF8083-128A-4A50-8687-7D7FA6C67D36}">
      <dgm:prSet/>
      <dgm:spPr/>
      <dgm:t>
        <a:bodyPr/>
        <a:lstStyle/>
        <a:p>
          <a:endParaRPr lang="en-US"/>
        </a:p>
      </dgm:t>
    </dgm:pt>
    <dgm:pt modelId="{59ECE446-76E6-47E6-B14A-AC9969F44887}" type="parTrans" cxnId="{B5DF8083-128A-4A50-8687-7D7FA6C67D36}">
      <dgm:prSet/>
      <dgm:spPr/>
      <dgm:t>
        <a:bodyPr/>
        <a:lstStyle/>
        <a:p>
          <a:endParaRPr lang="en-US"/>
        </a:p>
      </dgm:t>
    </dgm:pt>
    <dgm:pt modelId="{985757C2-3092-4EC9-8AA9-2A2EAE09B84F}" type="pres">
      <dgm:prSet presAssocID="{2E44C7FD-46B9-404C-9767-5E96954E74E7}" presName="Name0" presStyleCnt="0">
        <dgm:presLayoutVars>
          <dgm:chMax val="7"/>
          <dgm:resizeHandles val="exact"/>
        </dgm:presLayoutVars>
      </dgm:prSet>
      <dgm:spPr/>
    </dgm:pt>
    <dgm:pt modelId="{5A270A1E-6415-4859-A2E5-8EC35AED88F3}" type="pres">
      <dgm:prSet presAssocID="{2E44C7FD-46B9-404C-9767-5E96954E74E7}" presName="comp1" presStyleCnt="0"/>
      <dgm:spPr/>
    </dgm:pt>
    <dgm:pt modelId="{AE09059A-C5B5-4F54-889E-E0940DBD5535}" type="pres">
      <dgm:prSet presAssocID="{2E44C7FD-46B9-404C-9767-5E96954E74E7}" presName="circle1" presStyleLbl="node1" presStyleIdx="0" presStyleCnt="2"/>
      <dgm:spPr/>
    </dgm:pt>
    <dgm:pt modelId="{4389E4F9-EA46-404E-840C-470D57D6B4A7}" type="pres">
      <dgm:prSet presAssocID="{2E44C7FD-46B9-404C-9767-5E96954E74E7}" presName="c1text" presStyleLbl="node1" presStyleIdx="0" presStyleCnt="2">
        <dgm:presLayoutVars>
          <dgm:bulletEnabled val="1"/>
        </dgm:presLayoutVars>
      </dgm:prSet>
      <dgm:spPr/>
    </dgm:pt>
    <dgm:pt modelId="{E4BEF01C-BF64-46E8-9E73-26A9CE8F742C}" type="pres">
      <dgm:prSet presAssocID="{2E44C7FD-46B9-404C-9767-5E96954E74E7}" presName="comp2" presStyleCnt="0"/>
      <dgm:spPr/>
    </dgm:pt>
    <dgm:pt modelId="{886D0D3A-00EA-44EA-83C6-25815EADC376}" type="pres">
      <dgm:prSet presAssocID="{2E44C7FD-46B9-404C-9767-5E96954E74E7}" presName="circle2" presStyleLbl="node1" presStyleIdx="1" presStyleCnt="2"/>
      <dgm:spPr/>
    </dgm:pt>
    <dgm:pt modelId="{68680E29-9F23-4D63-9528-840A52B8ED6C}" type="pres">
      <dgm:prSet presAssocID="{2E44C7FD-46B9-404C-9767-5E96954E74E7}" presName="c2text" presStyleLbl="node1" presStyleIdx="1" presStyleCnt="2">
        <dgm:presLayoutVars>
          <dgm:bulletEnabled val="1"/>
        </dgm:presLayoutVars>
      </dgm:prSet>
      <dgm:spPr/>
    </dgm:pt>
  </dgm:ptLst>
  <dgm:cxnLst>
    <dgm:cxn modelId="{E6114E00-68EB-40FE-B378-E4FA57DAAA58}" type="presOf" srcId="{EA2AEBD1-1E0C-4619-A9AE-C96A5CAA52FD}" destId="{886D0D3A-00EA-44EA-83C6-25815EADC376}" srcOrd="0" destOrd="0" presId="urn:microsoft.com/office/officeart/2005/8/layout/venn2"/>
    <dgm:cxn modelId="{D033F80D-DC92-436F-8785-D13140DBADE3}" type="presOf" srcId="{328A25BF-AD81-4718-8D31-56023ED8CA04}" destId="{AE09059A-C5B5-4F54-889E-E0940DBD5535}" srcOrd="0" destOrd="0" presId="urn:microsoft.com/office/officeart/2005/8/layout/venn2"/>
    <dgm:cxn modelId="{497B2D21-EF24-4E78-9D87-88FD7B176008}" type="presOf" srcId="{2E44C7FD-46B9-404C-9767-5E96954E74E7}" destId="{985757C2-3092-4EC9-8AA9-2A2EAE09B84F}" srcOrd="0" destOrd="0" presId="urn:microsoft.com/office/officeart/2005/8/layout/venn2"/>
    <dgm:cxn modelId="{3DCF624E-1731-4613-B4AE-3A2433F39B2A}" type="presOf" srcId="{EA2AEBD1-1E0C-4619-A9AE-C96A5CAA52FD}" destId="{68680E29-9F23-4D63-9528-840A52B8ED6C}" srcOrd="1" destOrd="0" presId="urn:microsoft.com/office/officeart/2005/8/layout/venn2"/>
    <dgm:cxn modelId="{ADD09478-75E0-4660-8BCB-ECAAEA738FAD}" type="presOf" srcId="{328A25BF-AD81-4718-8D31-56023ED8CA04}" destId="{4389E4F9-EA46-404E-840C-470D57D6B4A7}" srcOrd="1" destOrd="0" presId="urn:microsoft.com/office/officeart/2005/8/layout/venn2"/>
    <dgm:cxn modelId="{B5DF8083-128A-4A50-8687-7D7FA6C67D36}" srcId="{2E44C7FD-46B9-404C-9767-5E96954E74E7}" destId="{EA2AEBD1-1E0C-4619-A9AE-C96A5CAA52FD}" srcOrd="1" destOrd="0" parTransId="{59ECE446-76E6-47E6-B14A-AC9969F44887}" sibTransId="{F1A4E7E7-C614-4BDB-BA9A-D0A7453AAA40}"/>
    <dgm:cxn modelId="{8CFAEDE8-CC38-4AE7-8890-8B60324AF249}" srcId="{2E44C7FD-46B9-404C-9767-5E96954E74E7}" destId="{328A25BF-AD81-4718-8D31-56023ED8CA04}" srcOrd="0" destOrd="0" parTransId="{F03F5302-88E0-4A89-A147-6A817FEC3BF9}" sibTransId="{3FF4E84C-BD6B-414E-8E73-17F5D8CE9855}"/>
    <dgm:cxn modelId="{B38A88AC-0801-49F0-9F77-B03A473A8ECE}" type="presParOf" srcId="{985757C2-3092-4EC9-8AA9-2A2EAE09B84F}" destId="{5A270A1E-6415-4859-A2E5-8EC35AED88F3}" srcOrd="0" destOrd="0" presId="urn:microsoft.com/office/officeart/2005/8/layout/venn2"/>
    <dgm:cxn modelId="{C2FD6242-8801-4C5D-B46E-0B85053D8154}" type="presParOf" srcId="{5A270A1E-6415-4859-A2E5-8EC35AED88F3}" destId="{AE09059A-C5B5-4F54-889E-E0940DBD5535}" srcOrd="0" destOrd="0" presId="urn:microsoft.com/office/officeart/2005/8/layout/venn2"/>
    <dgm:cxn modelId="{C90A7CBC-6D07-4484-B913-503D9D4FF77A}" type="presParOf" srcId="{5A270A1E-6415-4859-A2E5-8EC35AED88F3}" destId="{4389E4F9-EA46-404E-840C-470D57D6B4A7}" srcOrd="1" destOrd="0" presId="urn:microsoft.com/office/officeart/2005/8/layout/venn2"/>
    <dgm:cxn modelId="{8421D5B9-A391-4894-8956-E852A34C057A}" type="presParOf" srcId="{985757C2-3092-4EC9-8AA9-2A2EAE09B84F}" destId="{E4BEF01C-BF64-46E8-9E73-26A9CE8F742C}" srcOrd="1" destOrd="0" presId="urn:microsoft.com/office/officeart/2005/8/layout/venn2"/>
    <dgm:cxn modelId="{ED8164BE-D1D3-42FC-A5B0-91BC90D68EDF}" type="presParOf" srcId="{E4BEF01C-BF64-46E8-9E73-26A9CE8F742C}" destId="{886D0D3A-00EA-44EA-83C6-25815EADC376}" srcOrd="0" destOrd="0" presId="urn:microsoft.com/office/officeart/2005/8/layout/venn2"/>
    <dgm:cxn modelId="{FF02BDC6-C97E-4EB2-907E-FC728F2FB289}" type="presParOf" srcId="{E4BEF01C-BF64-46E8-9E73-26A9CE8F742C}" destId="{68680E29-9F23-4D63-9528-840A52B8ED6C}" srcOrd="1" destOrd="0" presId="urn:microsoft.com/office/officeart/2005/8/layout/venn2"/>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E44C7FD-46B9-404C-9767-5E96954E74E7}" type="doc">
      <dgm:prSet loTypeId="urn:microsoft.com/office/officeart/2005/8/layout/venn2" loCatId="relationship" qsTypeId="urn:microsoft.com/office/officeart/2005/8/quickstyle/simple1" qsCatId="simple" csTypeId="urn:microsoft.com/office/officeart/2005/8/colors/accent1_2" csCatId="accent1" phldr="1"/>
      <dgm:spPr/>
      <dgm:t>
        <a:bodyPr/>
        <a:lstStyle/>
        <a:p>
          <a:endParaRPr lang="en-US"/>
        </a:p>
      </dgm:t>
    </dgm:pt>
    <dgm:pt modelId="{EA2AEBD1-1E0C-4619-A9AE-C96A5CAA52FD}">
      <dgm:prSet phldrT="[Text]" custT="1"/>
      <dgm:spPr/>
      <dgm:t>
        <a:bodyPr/>
        <a:lstStyle/>
        <a:p>
          <a:r>
            <a:rPr lang="en-US" sz="1500" dirty="0"/>
            <a:t>Physical Model</a:t>
          </a:r>
        </a:p>
      </dgm:t>
    </dgm:pt>
    <dgm:pt modelId="{F1A4E7E7-C614-4BDB-BA9A-D0A7453AAA40}" type="sibTrans" cxnId="{B5DF8083-128A-4A50-8687-7D7FA6C67D36}">
      <dgm:prSet/>
      <dgm:spPr/>
      <dgm:t>
        <a:bodyPr/>
        <a:lstStyle/>
        <a:p>
          <a:endParaRPr lang="en-US"/>
        </a:p>
      </dgm:t>
    </dgm:pt>
    <dgm:pt modelId="{59ECE446-76E6-47E6-B14A-AC9969F44887}" type="parTrans" cxnId="{B5DF8083-128A-4A50-8687-7D7FA6C67D36}">
      <dgm:prSet/>
      <dgm:spPr/>
      <dgm:t>
        <a:bodyPr/>
        <a:lstStyle/>
        <a:p>
          <a:endParaRPr lang="en-US"/>
        </a:p>
      </dgm:t>
    </dgm:pt>
    <dgm:pt modelId="{985757C2-3092-4EC9-8AA9-2A2EAE09B84F}" type="pres">
      <dgm:prSet presAssocID="{2E44C7FD-46B9-404C-9767-5E96954E74E7}" presName="Name0" presStyleCnt="0">
        <dgm:presLayoutVars>
          <dgm:chMax val="7"/>
          <dgm:resizeHandles val="exact"/>
        </dgm:presLayoutVars>
      </dgm:prSet>
      <dgm:spPr/>
    </dgm:pt>
    <dgm:pt modelId="{5A270A1E-6415-4859-A2E5-8EC35AED88F3}" type="pres">
      <dgm:prSet presAssocID="{2E44C7FD-46B9-404C-9767-5E96954E74E7}" presName="comp1" presStyleCnt="0"/>
      <dgm:spPr/>
    </dgm:pt>
    <dgm:pt modelId="{AE09059A-C5B5-4F54-889E-E0940DBD5535}" type="pres">
      <dgm:prSet presAssocID="{2E44C7FD-46B9-404C-9767-5E96954E74E7}" presName="circle1" presStyleLbl="node1" presStyleIdx="0" presStyleCnt="1"/>
      <dgm:spPr/>
    </dgm:pt>
    <dgm:pt modelId="{4389E4F9-EA46-404E-840C-470D57D6B4A7}" type="pres">
      <dgm:prSet presAssocID="{2E44C7FD-46B9-404C-9767-5E96954E74E7}" presName="c1text" presStyleLbl="node1" presStyleIdx="0" presStyleCnt="1">
        <dgm:presLayoutVars>
          <dgm:bulletEnabled val="1"/>
        </dgm:presLayoutVars>
      </dgm:prSet>
      <dgm:spPr/>
    </dgm:pt>
  </dgm:ptLst>
  <dgm:cxnLst>
    <dgm:cxn modelId="{497B2D21-EF24-4E78-9D87-88FD7B176008}" type="presOf" srcId="{2E44C7FD-46B9-404C-9767-5E96954E74E7}" destId="{985757C2-3092-4EC9-8AA9-2A2EAE09B84F}" srcOrd="0" destOrd="0" presId="urn:microsoft.com/office/officeart/2005/8/layout/venn2"/>
    <dgm:cxn modelId="{E595F033-A746-4918-A1E4-E2FB41F320E9}" type="presOf" srcId="{EA2AEBD1-1E0C-4619-A9AE-C96A5CAA52FD}" destId="{AE09059A-C5B5-4F54-889E-E0940DBD5535}" srcOrd="0" destOrd="0" presId="urn:microsoft.com/office/officeart/2005/8/layout/venn2"/>
    <dgm:cxn modelId="{17475D48-C520-48F5-83F7-B215E59F84B2}" type="presOf" srcId="{EA2AEBD1-1E0C-4619-A9AE-C96A5CAA52FD}" destId="{4389E4F9-EA46-404E-840C-470D57D6B4A7}" srcOrd="1" destOrd="0" presId="urn:microsoft.com/office/officeart/2005/8/layout/venn2"/>
    <dgm:cxn modelId="{B5DF8083-128A-4A50-8687-7D7FA6C67D36}" srcId="{2E44C7FD-46B9-404C-9767-5E96954E74E7}" destId="{EA2AEBD1-1E0C-4619-A9AE-C96A5CAA52FD}" srcOrd="0" destOrd="0" parTransId="{59ECE446-76E6-47E6-B14A-AC9969F44887}" sibTransId="{F1A4E7E7-C614-4BDB-BA9A-D0A7453AAA40}"/>
    <dgm:cxn modelId="{B38A88AC-0801-49F0-9F77-B03A473A8ECE}" type="presParOf" srcId="{985757C2-3092-4EC9-8AA9-2A2EAE09B84F}" destId="{5A270A1E-6415-4859-A2E5-8EC35AED88F3}" srcOrd="0" destOrd="0" presId="urn:microsoft.com/office/officeart/2005/8/layout/venn2"/>
    <dgm:cxn modelId="{C2FD6242-8801-4C5D-B46E-0B85053D8154}" type="presParOf" srcId="{5A270A1E-6415-4859-A2E5-8EC35AED88F3}" destId="{AE09059A-C5B5-4F54-889E-E0940DBD5535}" srcOrd="0" destOrd="0" presId="urn:microsoft.com/office/officeart/2005/8/layout/venn2"/>
    <dgm:cxn modelId="{C90A7CBC-6D07-4484-B913-503D9D4FF77A}" type="presParOf" srcId="{5A270A1E-6415-4859-A2E5-8EC35AED88F3}" destId="{4389E4F9-EA46-404E-840C-470D57D6B4A7}" srcOrd="1" destOrd="0" presId="urn:microsoft.com/office/officeart/2005/8/layout/venn2"/>
  </dgm:cxnLst>
  <dgm:bg/>
  <dgm:whole/>
  <dgm:extLst>
    <a:ext uri="http://schemas.microsoft.com/office/drawing/2008/diagram">
      <dsp:dataModelExt xmlns:dsp="http://schemas.microsoft.com/office/drawing/2008/diagram" relId="rId2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09059A-C5B5-4F54-889E-E0940DBD5535}">
      <dsp:nvSpPr>
        <dsp:cNvPr id="0" name=""/>
        <dsp:cNvSpPr/>
      </dsp:nvSpPr>
      <dsp:spPr>
        <a:xfrm>
          <a:off x="5516049" y="0"/>
          <a:ext cx="2894993" cy="2894993"/>
        </a:xfrm>
        <a:prstGeom prst="ellipse">
          <a:avLst/>
        </a:prstGeom>
        <a:solidFill>
          <a:schemeClr val="accent1">
            <a:hueOff val="0"/>
            <a:satOff val="0"/>
            <a:lumOff val="0"/>
            <a:alpha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2456" tIns="92456" rIns="92456" bIns="92456" numCol="1" spcCol="1270" anchor="ctr" anchorCtr="0">
          <a:noAutofit/>
        </a:bodyPr>
        <a:lstStyle/>
        <a:p>
          <a:pPr marL="0" lvl="0" indent="0" algn="ctr" defTabSz="577850">
            <a:lnSpc>
              <a:spcPct val="90000"/>
            </a:lnSpc>
            <a:spcBef>
              <a:spcPct val="0"/>
            </a:spcBef>
            <a:spcAft>
              <a:spcPct val="35000"/>
            </a:spcAft>
            <a:buNone/>
          </a:pPr>
          <a:r>
            <a:rPr lang="en-US" sz="1300" kern="1200" dirty="0"/>
            <a:t>Noise</a:t>
          </a:r>
          <a:r>
            <a:rPr lang="en-US" sz="1300" kern="1200" baseline="0" dirty="0"/>
            <a:t> Uncertainty</a:t>
          </a:r>
          <a:endParaRPr lang="en-US" sz="1300" kern="1200" dirty="0"/>
        </a:p>
      </dsp:txBody>
      <dsp:txXfrm>
        <a:off x="6457645" y="144749"/>
        <a:ext cx="1011800" cy="434248"/>
      </dsp:txXfrm>
    </dsp:sp>
    <dsp:sp modelId="{886D0D3A-00EA-44EA-83C6-25815EADC376}">
      <dsp:nvSpPr>
        <dsp:cNvPr id="0" name=""/>
        <dsp:cNvSpPr/>
      </dsp:nvSpPr>
      <dsp:spPr>
        <a:xfrm>
          <a:off x="5877923" y="723748"/>
          <a:ext cx="2171244" cy="2171244"/>
        </a:xfrm>
        <a:prstGeom prst="ellipse">
          <a:avLst/>
        </a:prstGeom>
        <a:solidFill>
          <a:schemeClr val="accent1">
            <a:hueOff val="0"/>
            <a:satOff val="0"/>
            <a:lumOff val="0"/>
            <a:alpha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2456" tIns="92456" rIns="92456" bIns="92456" numCol="1" spcCol="1270" anchor="ctr" anchorCtr="0">
          <a:noAutofit/>
        </a:bodyPr>
        <a:lstStyle/>
        <a:p>
          <a:pPr marL="0" lvl="0" indent="0" algn="ctr" defTabSz="577850">
            <a:lnSpc>
              <a:spcPct val="90000"/>
            </a:lnSpc>
            <a:spcBef>
              <a:spcPct val="0"/>
            </a:spcBef>
            <a:spcAft>
              <a:spcPct val="35000"/>
            </a:spcAft>
            <a:buNone/>
          </a:pPr>
          <a:r>
            <a:rPr lang="en-US" sz="1300" kern="1200" dirty="0"/>
            <a:t>Aleatoric</a:t>
          </a:r>
        </a:p>
        <a:p>
          <a:pPr marL="0" lvl="0" indent="0" algn="ctr" defTabSz="577850">
            <a:lnSpc>
              <a:spcPct val="90000"/>
            </a:lnSpc>
            <a:spcBef>
              <a:spcPct val="0"/>
            </a:spcBef>
            <a:spcAft>
              <a:spcPct val="35000"/>
            </a:spcAft>
            <a:buNone/>
          </a:pPr>
          <a:r>
            <a:rPr lang="en-US" sz="1300" kern="1200" dirty="0"/>
            <a:t>Variability</a:t>
          </a:r>
        </a:p>
      </dsp:txBody>
      <dsp:txXfrm>
        <a:off x="6457645" y="859451"/>
        <a:ext cx="1011800" cy="407108"/>
      </dsp:txXfrm>
    </dsp:sp>
    <dsp:sp modelId="{260BD720-D2E3-4846-9883-A08B066BBAB5}">
      <dsp:nvSpPr>
        <dsp:cNvPr id="0" name=""/>
        <dsp:cNvSpPr/>
      </dsp:nvSpPr>
      <dsp:spPr>
        <a:xfrm>
          <a:off x="6239797" y="1447496"/>
          <a:ext cx="1447496" cy="1447496"/>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135128" rIns="135128" bIns="135128" numCol="1" spcCol="1270" anchor="ctr" anchorCtr="0">
          <a:noAutofit/>
        </a:bodyPr>
        <a:lstStyle/>
        <a:p>
          <a:pPr marL="0" lvl="0" indent="0" algn="ctr" defTabSz="844550">
            <a:lnSpc>
              <a:spcPct val="90000"/>
            </a:lnSpc>
            <a:spcBef>
              <a:spcPct val="0"/>
            </a:spcBef>
            <a:spcAft>
              <a:spcPct val="35000"/>
            </a:spcAft>
            <a:buNone/>
          </a:pPr>
          <a:r>
            <a:rPr lang="en-US" sz="1900" kern="1200" dirty="0"/>
            <a:t>Reality</a:t>
          </a:r>
        </a:p>
      </dsp:txBody>
      <dsp:txXfrm>
        <a:off x="6451778" y="1809370"/>
        <a:ext cx="1023534" cy="7237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09059A-C5B5-4F54-889E-E0940DBD5535}">
      <dsp:nvSpPr>
        <dsp:cNvPr id="0" name=""/>
        <dsp:cNvSpPr/>
      </dsp:nvSpPr>
      <dsp:spPr>
        <a:xfrm>
          <a:off x="233766" y="0"/>
          <a:ext cx="2021863" cy="2021863"/>
        </a:xfrm>
        <a:prstGeom prst="ellipse">
          <a:avLst/>
        </a:prstGeom>
        <a:solidFill>
          <a:schemeClr val="accent1">
            <a:hueOff val="0"/>
            <a:satOff val="0"/>
            <a:lumOff val="0"/>
            <a:alpha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2456" tIns="92456" rIns="92456" bIns="92456" numCol="1" spcCol="1270" anchor="ctr" anchorCtr="0">
          <a:noAutofit/>
        </a:bodyPr>
        <a:lstStyle/>
        <a:p>
          <a:pPr marL="0" lvl="0" indent="0" algn="ctr" defTabSz="577850">
            <a:lnSpc>
              <a:spcPct val="90000"/>
            </a:lnSpc>
            <a:spcBef>
              <a:spcPct val="0"/>
            </a:spcBef>
            <a:spcAft>
              <a:spcPct val="35000"/>
            </a:spcAft>
            <a:buNone/>
          </a:pPr>
          <a:r>
            <a:rPr lang="en-US" sz="1300" kern="1200" dirty="0"/>
            <a:t>Noise Model</a:t>
          </a:r>
        </a:p>
      </dsp:txBody>
      <dsp:txXfrm>
        <a:off x="713958" y="151639"/>
        <a:ext cx="1061478" cy="343716"/>
      </dsp:txXfrm>
    </dsp:sp>
    <dsp:sp modelId="{886D0D3A-00EA-44EA-83C6-25815EADC376}">
      <dsp:nvSpPr>
        <dsp:cNvPr id="0" name=""/>
        <dsp:cNvSpPr/>
      </dsp:nvSpPr>
      <dsp:spPr>
        <a:xfrm>
          <a:off x="486499" y="505465"/>
          <a:ext cx="1516397" cy="151639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135128" rIns="135128" bIns="135128" numCol="1" spcCol="1270" anchor="ctr" anchorCtr="0">
          <a:noAutofit/>
        </a:bodyPr>
        <a:lstStyle/>
        <a:p>
          <a:pPr marL="0" lvl="0" indent="0" algn="ctr" defTabSz="844550">
            <a:lnSpc>
              <a:spcPct val="90000"/>
            </a:lnSpc>
            <a:spcBef>
              <a:spcPct val="0"/>
            </a:spcBef>
            <a:spcAft>
              <a:spcPct val="35000"/>
            </a:spcAft>
            <a:buNone/>
          </a:pPr>
          <a:r>
            <a:rPr lang="en-US" sz="1900" kern="1200" dirty="0"/>
            <a:t>Reality</a:t>
          </a:r>
        </a:p>
      </dsp:txBody>
      <dsp:txXfrm>
        <a:off x="708570" y="884565"/>
        <a:ext cx="1072254" cy="75819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09059A-C5B5-4F54-889E-E0940DBD5535}">
      <dsp:nvSpPr>
        <dsp:cNvPr id="0" name=""/>
        <dsp:cNvSpPr/>
      </dsp:nvSpPr>
      <dsp:spPr>
        <a:xfrm>
          <a:off x="233766" y="0"/>
          <a:ext cx="2021863" cy="2021863"/>
        </a:xfrm>
        <a:prstGeom prst="ellipse">
          <a:avLst/>
        </a:prstGeom>
        <a:solidFill>
          <a:schemeClr val="accent1">
            <a:hueOff val="0"/>
            <a:satOff val="0"/>
            <a:lumOff val="0"/>
            <a:alpha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2456" tIns="92456" rIns="92456" bIns="92456" numCol="1" spcCol="1270" anchor="ctr" anchorCtr="0">
          <a:noAutofit/>
        </a:bodyPr>
        <a:lstStyle/>
        <a:p>
          <a:pPr marL="0" lvl="0" indent="0" algn="ctr" defTabSz="577850">
            <a:lnSpc>
              <a:spcPct val="90000"/>
            </a:lnSpc>
            <a:spcBef>
              <a:spcPct val="0"/>
            </a:spcBef>
            <a:spcAft>
              <a:spcPct val="35000"/>
            </a:spcAft>
            <a:buNone/>
          </a:pPr>
          <a:r>
            <a:rPr lang="en-US" sz="1300" kern="1200" dirty="0"/>
            <a:t>Inadequacy Model</a:t>
          </a:r>
        </a:p>
      </dsp:txBody>
      <dsp:txXfrm>
        <a:off x="713958" y="151639"/>
        <a:ext cx="1061478" cy="343716"/>
      </dsp:txXfrm>
    </dsp:sp>
    <dsp:sp modelId="{886D0D3A-00EA-44EA-83C6-25815EADC376}">
      <dsp:nvSpPr>
        <dsp:cNvPr id="0" name=""/>
        <dsp:cNvSpPr/>
      </dsp:nvSpPr>
      <dsp:spPr>
        <a:xfrm>
          <a:off x="486499" y="505465"/>
          <a:ext cx="1516397" cy="151639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135128" rIns="135128" bIns="135128" numCol="1" spcCol="1270" anchor="ctr" anchorCtr="0">
          <a:noAutofit/>
        </a:bodyPr>
        <a:lstStyle/>
        <a:p>
          <a:pPr marL="0" lvl="0" indent="0" algn="ctr" defTabSz="844550">
            <a:lnSpc>
              <a:spcPct val="90000"/>
            </a:lnSpc>
            <a:spcBef>
              <a:spcPct val="0"/>
            </a:spcBef>
            <a:spcAft>
              <a:spcPct val="35000"/>
            </a:spcAft>
            <a:buNone/>
          </a:pPr>
          <a:r>
            <a:rPr lang="en-US" sz="1900" kern="1200" dirty="0"/>
            <a:t>Physical Model</a:t>
          </a:r>
        </a:p>
      </dsp:txBody>
      <dsp:txXfrm>
        <a:off x="708570" y="884565"/>
        <a:ext cx="1072254" cy="75819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09059A-C5B5-4F54-889E-E0940DBD5535}">
      <dsp:nvSpPr>
        <dsp:cNvPr id="0" name=""/>
        <dsp:cNvSpPr/>
      </dsp:nvSpPr>
      <dsp:spPr>
        <a:xfrm>
          <a:off x="139233" y="0"/>
          <a:ext cx="1204245" cy="1204245"/>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66750">
            <a:lnSpc>
              <a:spcPct val="90000"/>
            </a:lnSpc>
            <a:spcBef>
              <a:spcPct val="0"/>
            </a:spcBef>
            <a:spcAft>
              <a:spcPct val="35000"/>
            </a:spcAft>
            <a:buNone/>
          </a:pPr>
          <a:r>
            <a:rPr lang="en-US" sz="1500" kern="1200" dirty="0"/>
            <a:t>Physical Model</a:t>
          </a:r>
        </a:p>
      </dsp:txBody>
      <dsp:txXfrm>
        <a:off x="315591" y="301061"/>
        <a:ext cx="851529" cy="602122"/>
      </dsp:txXfrm>
    </dsp:sp>
  </dsp:spTree>
</dsp:drawing>
</file>

<file path=ppt/diagrams/layout1.xml><?xml version="1.0" encoding="utf-8"?>
<dgm:layoutDef xmlns:dgm="http://schemas.openxmlformats.org/drawingml/2006/diagram" xmlns:a="http://schemas.openxmlformats.org/drawingml/2006/main" uniqueId="urn:microsoft.com/office/officeart/2005/8/layout/venn2">
  <dgm:title val=""/>
  <dgm:desc val=""/>
  <dgm:catLst>
    <dgm:cat type="relationship" pri="30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resizeHandles val="exact"/>
    </dgm:varLst>
    <dgm:alg type="composite">
      <dgm:param type="ar" val="1"/>
    </dgm:alg>
    <dgm:shape xmlns:r="http://schemas.openxmlformats.org/officeDocument/2006/relationships" r:blip="">
      <dgm:adjLst/>
    </dgm:shape>
    <dgm:presOf/>
    <dgm:choose name="Name1">
      <dgm:if name="Name2" axis="ch" ptType="node" func="cnt" op="lte" val="3">
        <dgm:constrLst>
          <dgm:constr type="w" for="ch" forName="comp1" refType="w"/>
          <dgm:constr type="h" for="ch" forName="comp1" refType="w" refFor="ch" refForName="comp1"/>
          <dgm:constr type="w" for="ch" forName="comp2" refType="w" fact="0.75"/>
          <dgm:constr type="h" for="ch" forName="comp2" refType="w" refFor="ch" refForName="comp2"/>
          <dgm:constr type="ctrX" for="ch" forName="comp2" refType="ctrX" refFor="ch" refForName="comp1"/>
          <dgm:constr type="b" for="ch" forName="comp2" refType="b" refFor="ch" refForName="comp1"/>
          <dgm:constr type="w" for="ch" forName="comp3" refType="w" fact="0.5"/>
          <dgm:constr type="h" for="ch" forName="comp3" refType="w" refFor="ch" refForName="comp3"/>
          <dgm:constr type="ctrX" for="ch" forName="comp3" refType="ctrX" refFor="ch" refForName="comp1"/>
          <dgm:constr type="b" for="ch" forName="comp3" refType="b" refFor="ch" refForName="comp1"/>
          <dgm:constr type="primFontSz" for="des" ptType="node" op="equ" val="65"/>
        </dgm:constrLst>
      </dgm:if>
      <dgm:if name="Name3" axis="ch" ptType="node" func="cnt" op="equ" val="4">
        <dgm:constrLst>
          <dgm:constr type="w" for="ch" forName="comp1" refType="w"/>
          <dgm:constr type="h" for="ch" forName="comp1" refType="w" refFor="ch" refForName="comp1"/>
          <dgm:constr type="w" for="ch" forName="comp2" refType="w" fact="0.8"/>
          <dgm:constr type="h" for="ch" forName="comp2" refType="w" refFor="ch" refForName="comp2"/>
          <dgm:constr type="ctrX" for="ch" forName="comp2" refType="ctrX" refFor="ch" refForName="comp1"/>
          <dgm:constr type="b" for="ch" forName="comp2" refType="b" refFor="ch" refForName="comp1"/>
          <dgm:constr type="w" for="ch" forName="comp3" refType="w" fact="0.6"/>
          <dgm:constr type="h" for="ch" forName="comp3" refType="w" refFor="ch" refForName="comp3"/>
          <dgm:constr type="ctrX" for="ch" forName="comp3" refType="ctrX" refFor="ch" refForName="comp1"/>
          <dgm:constr type="b" for="ch" forName="comp3" refType="b" refFor="ch" refForName="comp1"/>
          <dgm:constr type="w" for="ch" forName="comp4" refType="w" fact="0.4"/>
          <dgm:constr type="h" for="ch" forName="comp4" refType="w" refFor="ch" refForName="comp4"/>
          <dgm:constr type="ctrX" for="ch" forName="comp4" refType="ctrX" refFor="ch" refForName="comp1"/>
          <dgm:constr type="b" for="ch" forName="comp4" refType="b" refFor="ch" refForName="comp1"/>
          <dgm:constr type="primFontSz" for="des" ptType="node" op="equ" val="65"/>
        </dgm:constrLst>
      </dgm:if>
      <dgm:else name="Name4">
        <dgm:constrLst>
          <dgm:constr type="w" for="ch" forName="comp1" refType="w"/>
          <dgm:constr type="h" for="ch" forName="comp1" refType="w" refFor="ch" refForName="comp1"/>
          <dgm:constr type="w" for="ch" forName="comp2" refType="w" fact="0.85"/>
          <dgm:constr type="h" for="ch" forName="comp2" refType="w" refFor="ch" refForName="comp2"/>
          <dgm:constr type="ctrX" for="ch" forName="comp2" refType="ctrX" refFor="ch" refForName="comp1"/>
          <dgm:constr type="b" for="ch" forName="comp2" refType="b" refFor="ch" refForName="comp1"/>
          <dgm:constr type="w" for="ch" forName="comp3" refType="w" fact="0.7"/>
          <dgm:constr type="h" for="ch" forName="comp3" refType="w" refFor="ch" refForName="comp3"/>
          <dgm:constr type="ctrX" for="ch" forName="comp3" refType="ctrX" refFor="ch" refForName="comp1"/>
          <dgm:constr type="b" for="ch" forName="comp3" refType="b" refFor="ch" refForName="comp1"/>
          <dgm:constr type="w" for="ch" forName="comp4" refType="w" fact="0.55"/>
          <dgm:constr type="h" for="ch" forName="comp4" refType="w" refFor="ch" refForName="comp4"/>
          <dgm:constr type="ctrX" for="ch" forName="comp4" refType="ctrX" refFor="ch" refForName="comp1"/>
          <dgm:constr type="b" for="ch" forName="comp4" refType="b" refFor="ch" refForName="comp1"/>
          <dgm:constr type="w" for="ch" forName="comp5" refType="w" fact="0.4"/>
          <dgm:constr type="h" for="ch" forName="comp5" refType="w" refFor="ch" refForName="comp5"/>
          <dgm:constr type="ctrX" for="ch" forName="comp5" refType="ctrX" refFor="ch" refForName="comp1"/>
          <dgm:constr type="b" for="ch" forName="comp5" refType="b" refFor="ch" refForName="comp1"/>
          <dgm:constr type="w" for="ch" forName="comp6" refType="w" fact="0.25"/>
          <dgm:constr type="h" for="ch" forName="comp6" refType="w" refFor="ch" refForName="comp6"/>
          <dgm:constr type="ctrX" for="ch" forName="comp6" refType="ctrX" refFor="ch" refForName="comp1"/>
          <dgm:constr type="b" for="ch" forName="comp6" refType="b" refFor="ch" refForName="comp1"/>
          <dgm:constr type="w" for="ch" forName="comp7" refType="w" fact="0.15"/>
          <dgm:constr type="h" for="ch" forName="comp7" refType="w" refFor="ch" refForName="comp7"/>
          <dgm:constr type="ctrX" for="ch" forName="comp7" refType="ctrX" refFor="ch" refForName="comp1"/>
          <dgm:constr type="b" for="ch" forName="comp7" refType="b" refFor="ch" refForName="comp1"/>
          <dgm:constr type="primFontSz" for="des" ptType="node" op="equ" val="65"/>
        </dgm:constrLst>
      </dgm:else>
    </dgm:choose>
    <dgm:ruleLst/>
    <dgm:choose name="Name5">
      <dgm:if name="Name6" axis="ch" ptType="node" func="cnt" op="gte" val="1">
        <dgm:layoutNode name="comp1">
          <dgm:alg type="composite"/>
          <dgm:shape xmlns:r="http://schemas.openxmlformats.org/officeDocument/2006/relationships" r:blip="">
            <dgm:adjLst/>
          </dgm:shape>
          <dgm:presOf/>
          <dgm:choose name="Name7">
            <dgm:if name="Name8" axis="ch" ptType="node" func="cnt" op="equ" val="1">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5"/>
                <dgm:constr type="w" for="ch" forName="c1text" refType="w" refFor="ch" refForName="circle1" fact="0.70711"/>
                <dgm:constr type="h" for="ch" forName="c1text" refType="h" refFor="ch" refForName="circle1" fact="0.5"/>
              </dgm:constrLst>
            </dgm:if>
            <dgm:if name="Name9" axis="ch" ptType="node" func="cnt" op="equ" val="2">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6"/>
                <dgm:constr type="w" for="ch" forName="c1text" refType="w" refFor="ch" refForName="circle1" fact="0.525"/>
                <dgm:constr type="h" for="ch" forName="c1text" refType="h" refFor="ch" refForName="circle1" fact="0.17"/>
              </dgm:constrLst>
            </dgm:if>
            <dgm:if name="Name10" axis="ch" ptType="node" func="cnt" op="equ" val="3">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25"/>
                <dgm:constr type="w" for="ch" forName="c1text" refType="w" refFor="ch" refForName="circle1" fact="0.3495"/>
                <dgm:constr type="h" for="ch" forName="c1text" refType="h" refFor="ch" refForName="circle1" fact="0.15"/>
              </dgm:constrLst>
            </dgm:if>
            <dgm:if name="Name11" axis="ch" ptType="node" func="cnt" op="equ" val="4">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25"/>
                <dgm:constr type="w" for="ch" forName="c1text" refType="w" refFor="ch" refForName="circle1" fact="0.2796"/>
                <dgm:constr type="h" for="ch" forName="c1text" refType="h" refFor="ch" refForName="circle1" fact="0.15"/>
              </dgm:constrLst>
            </dgm:if>
            <dgm:if name="Name12" axis="ch" ptType="node" func="cnt" op="gte" val="5">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
                <dgm:constr type="w" for="ch" forName="c1text" refType="w" refFor="ch" refForName="circle1" fact="0.375"/>
                <dgm:constr type="h" for="ch" forName="c1text" refType="h" refFor="ch" refForName="circle1" fact="0.1"/>
              </dgm:constrLst>
            </dgm:if>
            <dgm:else name="Name13"/>
          </dgm:choose>
          <dgm:ruleLst/>
          <dgm:layoutNode name="circle1" styleLbl="node1">
            <dgm:alg type="sp"/>
            <dgm:shape xmlns:r="http://schemas.openxmlformats.org/officeDocument/2006/relationships" type="ellipse" r:blip="">
              <dgm:adjLst/>
            </dgm:shape>
            <dgm:presOf axis="ch desOrSelf" ptType="node node" st="1 1" cnt="1 0"/>
            <dgm:constrLst>
              <dgm:constr type="h" refType="w"/>
            </dgm:constrLst>
            <dgm:ruleLst/>
          </dgm:layoutNode>
          <dgm:layoutNode name="c1text">
            <dgm:varLst>
              <dgm:bulletEnabled val="1"/>
            </dgm:varLst>
            <dgm:alg type="tx"/>
            <dgm:shape xmlns:r="http://schemas.openxmlformats.org/officeDocument/2006/relationships" type="rect" r:blip="" hideGeom="1">
              <dgm:adjLst/>
            </dgm:shape>
            <dgm:presOf axis="ch desOrSelf" ptType="node node" st="1 1" cnt="1 0"/>
            <dgm:constrLst/>
            <dgm:ruleLst>
              <dgm:rule type="primFontSz" val="5" fact="NaN" max="NaN"/>
            </dgm:ruleLst>
          </dgm:layoutNode>
        </dgm:layoutNode>
      </dgm:if>
      <dgm:else name="Name14"/>
    </dgm:choose>
    <dgm:choose name="Name15">
      <dgm:if name="Name16" axis="ch" ptType="node" func="cnt" op="gte" val="2">
        <dgm:layoutNode name="comp2">
          <dgm:alg type="composite"/>
          <dgm:shape xmlns:r="http://schemas.openxmlformats.org/officeDocument/2006/relationships" r:blip="">
            <dgm:adjLst/>
          </dgm:shape>
          <dgm:presOf/>
          <dgm:choose name="Name17">
            <dgm:if name="Name18" axis="ch" ptType="node" func="cnt" op="equ" val="2">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5"/>
                <dgm:constr type="w" for="ch" forName="c2text" refType="w" refFor="ch" refForName="circle2" fact="0.70711"/>
                <dgm:constr type="h" for="ch" forName="c2text" refType="h" refFor="ch" refForName="circle2" fact="0.5"/>
              </dgm:constrLst>
            </dgm:if>
            <dgm:if name="Name19" axis="ch" ptType="node" func="cnt" op="equ" val="3">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5625"/>
                <dgm:constr type="w" for="ch" forName="c2text" refType="w" refFor="ch" refForName="circle2" fact="0.466"/>
                <dgm:constr type="h" for="ch" forName="c2text" refType="h" refFor="ch" refForName="circle2" fact="0.1875"/>
              </dgm:constrLst>
            </dgm:if>
            <dgm:if name="Name20" axis="ch" ptType="node" func="cnt" op="equ" val="4">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5"/>
                <dgm:constr type="w" for="ch" forName="c2text" refType="w" refFor="ch" refForName="circle2" fact="0.3495"/>
                <dgm:constr type="h" for="ch" forName="c2text" refType="h" refFor="ch" refForName="circle2" fact="0.18"/>
              </dgm:constrLst>
            </dgm:if>
            <dgm:if name="Name21" axis="ch" ptType="node" func="cnt" op="gte" val="5">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15"/>
                <dgm:constr type="w" for="ch" forName="c2text" refType="w" refFor="ch" refForName="circle2" fact="0.43125"/>
                <dgm:constr type="h" for="ch" forName="c2text" refType="h" refFor="ch" refForName="circle2" fact="0.115"/>
              </dgm:constrLst>
            </dgm:if>
            <dgm:else name="Name22"/>
          </dgm:choose>
          <dgm:ruleLst/>
          <dgm:layoutNode name="circle2" styleLbl="node1">
            <dgm:alg type="sp"/>
            <dgm:shape xmlns:r="http://schemas.openxmlformats.org/officeDocument/2006/relationships" type="ellipse" r:blip="">
              <dgm:adjLst/>
            </dgm:shape>
            <dgm:presOf axis="ch desOrSelf" ptType="node node" st="2 1" cnt="1 0"/>
            <dgm:constrLst>
              <dgm:constr type="h" refType="w"/>
            </dgm:constrLst>
            <dgm:ruleLst/>
          </dgm:layoutNode>
          <dgm:layoutNode name="c2text">
            <dgm:varLst>
              <dgm:bulletEnabled val="1"/>
            </dgm:varLst>
            <dgm:alg type="tx"/>
            <dgm:shape xmlns:r="http://schemas.openxmlformats.org/officeDocument/2006/relationships" type="rect" r:blip="" hideGeom="1">
              <dgm:adjLst/>
            </dgm:shape>
            <dgm:presOf axis="ch desOrSelf" ptType="node node" st="2 1" cnt="1 0"/>
            <dgm:constrLst/>
            <dgm:ruleLst>
              <dgm:rule type="primFontSz" val="5" fact="NaN" max="NaN"/>
            </dgm:ruleLst>
          </dgm:layoutNode>
        </dgm:layoutNode>
      </dgm:if>
      <dgm:else name="Name23"/>
    </dgm:choose>
    <dgm:choose name="Name24">
      <dgm:if name="Name25" axis="ch" ptType="node" func="cnt" op="gte" val="3">
        <dgm:layoutNode name="comp3">
          <dgm:alg type="composite"/>
          <dgm:shape xmlns:r="http://schemas.openxmlformats.org/officeDocument/2006/relationships" r:blip="">
            <dgm:adjLst/>
          </dgm:shape>
          <dgm:presOf/>
          <dgm:choose name="Name26">
            <dgm:if name="Name27" axis="ch" ptType="node" func="cnt" op="equ" val="3">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5"/>
                <dgm:constr type="w" for="ch" forName="c3text" refType="w" refFor="ch" refForName="circle3" fact="0.70711"/>
                <dgm:constr type="h" for="ch" forName="c3text" refType="h" refFor="ch" refForName="circle3" fact="0.5"/>
              </dgm:constrLst>
            </dgm:if>
            <dgm:if name="Name28" axis="ch" ptType="node" func="cnt" op="equ" val="4">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1875"/>
                <dgm:constr type="w" for="ch" forName="c3text" refType="w" refFor="ch" refForName="circle3" fact="0.466"/>
                <dgm:constr type="h" for="ch" forName="c3text" refType="h" refFor="ch" refForName="circle3" fact="0.225"/>
              </dgm:constrLst>
            </dgm:if>
            <dgm:if name="Name29" axis="ch" ptType="node" func="cnt" op="gte" val="5">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138"/>
                <dgm:constr type="w" for="ch" forName="c3text" refType="w" refFor="ch" refForName="circle3" fact="0.5175"/>
                <dgm:constr type="h" for="ch" forName="c3text" refType="h" refFor="ch" refForName="circle3" fact="0.138"/>
              </dgm:constrLst>
            </dgm:if>
            <dgm:else name="Name30"/>
          </dgm:choose>
          <dgm:ruleLst/>
          <dgm:layoutNode name="circle3" styleLbl="node1">
            <dgm:alg type="sp"/>
            <dgm:shape xmlns:r="http://schemas.openxmlformats.org/officeDocument/2006/relationships" type="ellipse" r:blip="">
              <dgm:adjLst/>
            </dgm:shape>
            <dgm:presOf axis="ch desOrSelf" ptType="node node" st="3 1" cnt="1 0"/>
            <dgm:constrLst>
              <dgm:constr type="h" refType="w"/>
            </dgm:constrLst>
            <dgm:ruleLst/>
          </dgm:layoutNode>
          <dgm:layoutNode name="c3text">
            <dgm:varLst>
              <dgm:bulletEnabled val="1"/>
            </dgm:varLst>
            <dgm:alg type="tx"/>
            <dgm:shape xmlns:r="http://schemas.openxmlformats.org/officeDocument/2006/relationships" type="rect" r:blip="" hideGeom="1">
              <dgm:adjLst/>
            </dgm:shape>
            <dgm:presOf axis="ch desOrSelf" ptType="node node" st="3 1" cnt="1 0"/>
            <dgm:constrLst/>
            <dgm:ruleLst>
              <dgm:rule type="primFontSz" val="5" fact="NaN" max="NaN"/>
            </dgm:ruleLst>
          </dgm:layoutNode>
        </dgm:layoutNode>
      </dgm:if>
      <dgm:else name="Name31"/>
    </dgm:choose>
    <dgm:choose name="Name32">
      <dgm:if name="Name33" axis="ch" ptType="node" func="cnt" op="gte" val="4">
        <dgm:layoutNode name="comp4">
          <dgm:alg type="composite"/>
          <dgm:shape xmlns:r="http://schemas.openxmlformats.org/officeDocument/2006/relationships" r:blip="">
            <dgm:adjLst/>
          </dgm:shape>
          <dgm:presOf/>
          <dgm:choose name="Name34">
            <dgm:if name="Name35" axis="ch" ptType="node" func="cnt" op="equ" val="4">
              <dgm:constrLst>
                <dgm:constr type="w" for="ch" forName="circle4" refType="w"/>
                <dgm:constr type="h" for="ch" forName="circle4" refType="h"/>
                <dgm:constr type="ctrX" for="ch" forName="circle4" refType="w" fact="0.5"/>
                <dgm:constr type="ctrY" for="ch" forName="circle4" refType="h" fact="0.5"/>
                <dgm:constr type="ctrX" for="ch" forName="c4text" refType="w" fact="0.5"/>
                <dgm:constr type="ctrY" for="ch" forName="c4text" refType="h" fact="0.5"/>
                <dgm:constr type="w" for="ch" forName="c4text" refType="w" refFor="ch" refForName="circle4" fact="0.70711"/>
                <dgm:constr type="h" for="ch" forName="c4text" refType="h" refFor="ch" refForName="circle4" fact="0.5"/>
              </dgm:constrLst>
            </dgm:if>
            <dgm:if name="Name36" axis="ch" ptType="node" func="cnt" op="gte" val="5">
              <dgm:constrLst>
                <dgm:constr type="w" for="ch" forName="circle4" refType="w"/>
                <dgm:constr type="h" for="ch" forName="circle4" refType="h"/>
                <dgm:constr type="ctrX" for="ch" forName="circle4" refType="w" fact="0.5"/>
                <dgm:constr type="ctrY" for="ch" forName="circle4" refType="h" fact="0.5"/>
                <dgm:constr type="ctrX" for="ch" forName="c4text" refType="w" fact="0.5"/>
                <dgm:constr type="ctrY" for="ch" forName="c4text" refType="h" fact="0.18"/>
                <dgm:constr type="w" for="ch" forName="c4text" refType="w" refFor="ch" refForName="circle4" fact="0.54"/>
                <dgm:constr type="h" for="ch" forName="c4text" refType="h" refFor="ch" refForName="circle4" fact="0.18"/>
              </dgm:constrLst>
            </dgm:if>
            <dgm:else name="Name37"/>
          </dgm:choose>
          <dgm:ruleLst/>
          <dgm:layoutNode name="circle4" styleLbl="node1">
            <dgm:alg type="sp"/>
            <dgm:shape xmlns:r="http://schemas.openxmlformats.org/officeDocument/2006/relationships" type="ellipse" r:blip="">
              <dgm:adjLst/>
            </dgm:shape>
            <dgm:presOf axis="ch desOrSelf" ptType="node node" st="4 1" cnt="1 0"/>
            <dgm:constrLst>
              <dgm:constr type="h" refType="w"/>
            </dgm:constrLst>
            <dgm:ruleLst/>
          </dgm:layoutNode>
          <dgm:layoutNode name="c4text">
            <dgm:varLst>
              <dgm:bulletEnabled val="1"/>
            </dgm:varLst>
            <dgm:alg type="tx"/>
            <dgm:shape xmlns:r="http://schemas.openxmlformats.org/officeDocument/2006/relationships" type="rect" r:blip="" hideGeom="1">
              <dgm:adjLst/>
            </dgm:shape>
            <dgm:presOf axis="ch desOrSelf" ptType="node node" st="4 1" cnt="1 0"/>
            <dgm:constrLst/>
            <dgm:ruleLst>
              <dgm:rule type="primFontSz" val="5" fact="NaN" max="NaN"/>
            </dgm:ruleLst>
          </dgm:layoutNode>
        </dgm:layoutNode>
      </dgm:if>
      <dgm:else name="Name38"/>
    </dgm:choose>
    <dgm:choose name="Name39">
      <dgm:if name="Name40" axis="ch" ptType="node" func="cnt" op="gte" val="5">
        <dgm:layoutNode name="comp5">
          <dgm:alg type="composite"/>
          <dgm:shape xmlns:r="http://schemas.openxmlformats.org/officeDocument/2006/relationships" r:blip="">
            <dgm:adjLst/>
          </dgm:shape>
          <dgm:presOf/>
          <dgm:choose name="Name41">
            <dgm:if name="Name42" axis="ch" ptType="node" func="cnt" op="equ" val="5">
              <dgm:constrLst>
                <dgm:constr type="w" for="ch" forName="circle5" refType="w"/>
                <dgm:constr type="h" for="ch" forName="circle5" refType="h"/>
                <dgm:constr type="ctrX" for="ch" forName="circle5" refType="w" fact="0.5"/>
                <dgm:constr type="ctrY" for="ch" forName="circle5" refType="h" fact="0.5"/>
                <dgm:constr type="ctrX" for="ch" forName="c5text" refType="w" fact="0.5"/>
                <dgm:constr type="ctrY" for="ch" forName="c5text" refType="h" fact="0.5"/>
                <dgm:constr type="w" for="ch" forName="c5text" refType="w" refFor="ch" refForName="circle5" fact="0.70711"/>
                <dgm:constr type="h" for="ch" forName="c5text" refType="h" refFor="ch" refForName="circle5" fact="0.5"/>
              </dgm:constrLst>
            </dgm:if>
            <dgm:if name="Name43" axis="ch" ptType="node" func="cnt" op="gte" val="6">
              <dgm:constrLst>
                <dgm:constr type="w" for="ch" forName="circle5" refType="w"/>
                <dgm:constr type="h" for="ch" forName="circle5" refType="h"/>
                <dgm:constr type="ctrX" for="ch" forName="circle5" refType="w" fact="0.5"/>
                <dgm:constr type="ctrY" for="ch" forName="circle5" refType="h" fact="0.5"/>
                <dgm:constr type="ctrX" for="ch" forName="c5text" refType="w" fact="0.5"/>
                <dgm:constr type="ctrY" for="ch" forName="c5text" refType="h" fact="0.25"/>
                <dgm:constr type="w" for="ch" forName="c5text" refType="w" refFor="ch" refForName="circle5" fact="0.65"/>
                <dgm:constr type="h" for="ch" forName="c5text" refType="h" refFor="ch" refForName="circle5" fact="0.25"/>
              </dgm:constrLst>
            </dgm:if>
            <dgm:else name="Name44"/>
          </dgm:choose>
          <dgm:ruleLst/>
          <dgm:layoutNode name="circle5" styleLbl="node1">
            <dgm:alg type="sp"/>
            <dgm:shape xmlns:r="http://schemas.openxmlformats.org/officeDocument/2006/relationships" type="ellipse" r:blip="">
              <dgm:adjLst/>
            </dgm:shape>
            <dgm:presOf axis="ch desOrSelf" ptType="node node" st="5 1" cnt="1 0"/>
            <dgm:constrLst>
              <dgm:constr type="h" refType="w"/>
            </dgm:constrLst>
            <dgm:ruleLst/>
          </dgm:layoutNode>
          <dgm:layoutNode name="c5text">
            <dgm:varLst>
              <dgm:bulletEnabled val="1"/>
            </dgm:varLst>
            <dgm:alg type="tx"/>
            <dgm:shape xmlns:r="http://schemas.openxmlformats.org/officeDocument/2006/relationships" type="rect" r:blip="" hideGeom="1">
              <dgm:adjLst/>
            </dgm:shape>
            <dgm:presOf axis="ch desOrSelf" ptType="node node" st="5 1" cnt="1 0"/>
            <dgm:constrLst/>
            <dgm:ruleLst>
              <dgm:rule type="primFontSz" val="5" fact="NaN" max="NaN"/>
            </dgm:ruleLst>
          </dgm:layoutNode>
        </dgm:layoutNode>
      </dgm:if>
      <dgm:else name="Name45"/>
    </dgm:choose>
    <dgm:choose name="Name46">
      <dgm:if name="Name47" axis="ch" ptType="node" func="cnt" op="gte" val="6">
        <dgm:layoutNode name="comp6">
          <dgm:alg type="composite"/>
          <dgm:shape xmlns:r="http://schemas.openxmlformats.org/officeDocument/2006/relationships" r:blip="">
            <dgm:adjLst/>
          </dgm:shape>
          <dgm:presOf/>
          <dgm:choose name="Name48">
            <dgm:if name="Name49" axis="ch" ptType="node" func="cnt" op="equ" val="6">
              <dgm:constrLst>
                <dgm:constr type="w" for="ch" forName="circle6" refType="w"/>
                <dgm:constr type="h" for="ch" forName="circle6" refType="h"/>
                <dgm:constr type="ctrX" for="ch" forName="circle6" refType="w" fact="0.5"/>
                <dgm:constr type="ctrY" for="ch" forName="circle6" refType="h" fact="0.5"/>
                <dgm:constr type="ctrX" for="ch" forName="c6text" refType="w" fact="0.5"/>
                <dgm:constr type="ctrY" for="ch" forName="c6text" refType="h" fact="0.5"/>
                <dgm:constr type="w" for="ch" forName="c6text" refType="w" refFor="ch" refForName="circle6" fact="0.70711"/>
                <dgm:constr type="h" for="ch" forName="c6text" refType="h" refFor="ch" refForName="circle6" fact="0.5"/>
              </dgm:constrLst>
            </dgm:if>
            <dgm:if name="Name50" axis="ch" ptType="node" func="cnt" op="gte" val="7">
              <dgm:constrLst>
                <dgm:constr type="w" for="ch" forName="circle6" refType="w"/>
                <dgm:constr type="h" for="ch" forName="circle6" refType="h"/>
                <dgm:constr type="ctrX" for="ch" forName="circle6" refType="w" fact="0.5"/>
                <dgm:constr type="ctrY" for="ch" forName="circle6" refType="h" fact="0.5"/>
                <dgm:constr type="ctrX" for="ch" forName="c6text" refType="w" fact="0.5"/>
                <dgm:constr type="ctrY" for="ch" forName="c6text" refType="h" fact="0.27"/>
                <dgm:constr type="w" for="ch" forName="c6text" refType="w" refFor="ch" refForName="circle6" fact="0.68"/>
                <dgm:constr type="h" for="ch" forName="c6text" refType="h" refFor="ch" refForName="circle6" fact="0.241"/>
              </dgm:constrLst>
            </dgm:if>
            <dgm:else name="Name51"/>
          </dgm:choose>
          <dgm:ruleLst/>
          <dgm:layoutNode name="circle6" styleLbl="node1">
            <dgm:alg type="sp"/>
            <dgm:shape xmlns:r="http://schemas.openxmlformats.org/officeDocument/2006/relationships" type="ellipse" r:blip="">
              <dgm:adjLst/>
            </dgm:shape>
            <dgm:presOf axis="ch desOrSelf" ptType="node node" st="6 1" cnt="1 0"/>
            <dgm:constrLst>
              <dgm:constr type="h" refType="w"/>
            </dgm:constrLst>
            <dgm:ruleLst/>
          </dgm:layoutNode>
          <dgm:layoutNode name="c6text">
            <dgm:varLst>
              <dgm:bulletEnabled val="1"/>
            </dgm:varLst>
            <dgm:alg type="tx"/>
            <dgm:shape xmlns:r="http://schemas.openxmlformats.org/officeDocument/2006/relationships" type="rect" r:blip="" hideGeom="1">
              <dgm:adjLst/>
            </dgm:shape>
            <dgm:presOf axis="ch desOrSelf" ptType="node node" st="6 1" cnt="1 0"/>
            <dgm:constrLst/>
            <dgm:ruleLst>
              <dgm:rule type="primFontSz" val="5" fact="NaN" max="NaN"/>
            </dgm:ruleLst>
          </dgm:layoutNode>
        </dgm:layoutNode>
      </dgm:if>
      <dgm:else name="Name52"/>
    </dgm:choose>
    <dgm:choose name="Name53">
      <dgm:if name="Name54" axis="ch" ptType="node" func="cnt" op="gte" val="7">
        <dgm:layoutNode name="comp7">
          <dgm:alg type="composite"/>
          <dgm:shape xmlns:r="http://schemas.openxmlformats.org/officeDocument/2006/relationships" r:blip="">
            <dgm:adjLst/>
          </dgm:shape>
          <dgm:presOf/>
          <dgm:constrLst>
            <dgm:constr type="w" for="ch" forName="circle7" refType="w"/>
            <dgm:constr type="h" for="ch" forName="circle7" refType="h"/>
            <dgm:constr type="ctrX" for="ch" forName="circle7" refType="w" fact="0.5"/>
            <dgm:constr type="ctrY" for="ch" forName="circle7" refType="h" fact="0.5"/>
            <dgm:constr type="ctrX" for="ch" forName="c7text" refType="w" fact="0.5"/>
            <dgm:constr type="ctrY" for="ch" forName="c7text" refType="h" fact="0.5"/>
            <dgm:constr type="w" for="ch" forName="c7text" refType="w" refFor="ch" refForName="circle7" fact="0.70711"/>
            <dgm:constr type="h" for="ch" forName="c7text" refType="h" refFor="ch" refForName="circle7" fact="0.5"/>
          </dgm:constrLst>
          <dgm:ruleLst/>
          <dgm:layoutNode name="circle7" styleLbl="node1">
            <dgm:alg type="sp"/>
            <dgm:shape xmlns:r="http://schemas.openxmlformats.org/officeDocument/2006/relationships" type="ellipse" r:blip="">
              <dgm:adjLst/>
            </dgm:shape>
            <dgm:presOf axis="ch desOrSelf" ptType="node node" st="7 1" cnt="1 0"/>
            <dgm:constrLst>
              <dgm:constr type="h" refType="w"/>
            </dgm:constrLst>
            <dgm:ruleLst/>
          </dgm:layoutNode>
          <dgm:layoutNode name="c7text">
            <dgm:varLst>
              <dgm:bulletEnabled val="1"/>
            </dgm:varLst>
            <dgm:alg type="tx"/>
            <dgm:shape xmlns:r="http://schemas.openxmlformats.org/officeDocument/2006/relationships" type="rect" r:blip="" hideGeom="1">
              <dgm:adjLst/>
            </dgm:shape>
            <dgm:presOf axis="ch desOrSelf" ptType="node node" st="7 1" cnt="1 0"/>
            <dgm:constrLst/>
            <dgm:ruleLst>
              <dgm:rule type="primFontSz" val="5" fact="NaN" max="NaN"/>
            </dgm:ruleLst>
          </dgm:layoutNode>
        </dgm:layoutNode>
      </dgm:if>
      <dgm:else name="Name55"/>
    </dgm:choose>
  </dgm:layoutNode>
</dgm:layoutDef>
</file>

<file path=ppt/diagrams/layout2.xml><?xml version="1.0" encoding="utf-8"?>
<dgm:layoutDef xmlns:dgm="http://schemas.openxmlformats.org/drawingml/2006/diagram" xmlns:a="http://schemas.openxmlformats.org/drawingml/2006/main" uniqueId="urn:microsoft.com/office/officeart/2005/8/layout/venn2">
  <dgm:title val=""/>
  <dgm:desc val=""/>
  <dgm:catLst>
    <dgm:cat type="relationship" pri="30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resizeHandles val="exact"/>
    </dgm:varLst>
    <dgm:alg type="composite">
      <dgm:param type="ar" val="1"/>
    </dgm:alg>
    <dgm:shape xmlns:r="http://schemas.openxmlformats.org/officeDocument/2006/relationships" r:blip="">
      <dgm:adjLst/>
    </dgm:shape>
    <dgm:presOf/>
    <dgm:choose name="Name1">
      <dgm:if name="Name2" axis="ch" ptType="node" func="cnt" op="lte" val="3">
        <dgm:constrLst>
          <dgm:constr type="w" for="ch" forName="comp1" refType="w"/>
          <dgm:constr type="h" for="ch" forName="comp1" refType="w" refFor="ch" refForName="comp1"/>
          <dgm:constr type="w" for="ch" forName="comp2" refType="w" fact="0.75"/>
          <dgm:constr type="h" for="ch" forName="comp2" refType="w" refFor="ch" refForName="comp2"/>
          <dgm:constr type="ctrX" for="ch" forName="comp2" refType="ctrX" refFor="ch" refForName="comp1"/>
          <dgm:constr type="b" for="ch" forName="comp2" refType="b" refFor="ch" refForName="comp1"/>
          <dgm:constr type="w" for="ch" forName="comp3" refType="w" fact="0.5"/>
          <dgm:constr type="h" for="ch" forName="comp3" refType="w" refFor="ch" refForName="comp3"/>
          <dgm:constr type="ctrX" for="ch" forName="comp3" refType="ctrX" refFor="ch" refForName="comp1"/>
          <dgm:constr type="b" for="ch" forName="comp3" refType="b" refFor="ch" refForName="comp1"/>
          <dgm:constr type="primFontSz" for="des" ptType="node" op="equ" val="65"/>
        </dgm:constrLst>
      </dgm:if>
      <dgm:if name="Name3" axis="ch" ptType="node" func="cnt" op="equ" val="4">
        <dgm:constrLst>
          <dgm:constr type="w" for="ch" forName="comp1" refType="w"/>
          <dgm:constr type="h" for="ch" forName="comp1" refType="w" refFor="ch" refForName="comp1"/>
          <dgm:constr type="w" for="ch" forName="comp2" refType="w" fact="0.8"/>
          <dgm:constr type="h" for="ch" forName="comp2" refType="w" refFor="ch" refForName="comp2"/>
          <dgm:constr type="ctrX" for="ch" forName="comp2" refType="ctrX" refFor="ch" refForName="comp1"/>
          <dgm:constr type="b" for="ch" forName="comp2" refType="b" refFor="ch" refForName="comp1"/>
          <dgm:constr type="w" for="ch" forName="comp3" refType="w" fact="0.6"/>
          <dgm:constr type="h" for="ch" forName="comp3" refType="w" refFor="ch" refForName="comp3"/>
          <dgm:constr type="ctrX" for="ch" forName="comp3" refType="ctrX" refFor="ch" refForName="comp1"/>
          <dgm:constr type="b" for="ch" forName="comp3" refType="b" refFor="ch" refForName="comp1"/>
          <dgm:constr type="w" for="ch" forName="comp4" refType="w" fact="0.4"/>
          <dgm:constr type="h" for="ch" forName="comp4" refType="w" refFor="ch" refForName="comp4"/>
          <dgm:constr type="ctrX" for="ch" forName="comp4" refType="ctrX" refFor="ch" refForName="comp1"/>
          <dgm:constr type="b" for="ch" forName="comp4" refType="b" refFor="ch" refForName="comp1"/>
          <dgm:constr type="primFontSz" for="des" ptType="node" op="equ" val="65"/>
        </dgm:constrLst>
      </dgm:if>
      <dgm:else name="Name4">
        <dgm:constrLst>
          <dgm:constr type="w" for="ch" forName="comp1" refType="w"/>
          <dgm:constr type="h" for="ch" forName="comp1" refType="w" refFor="ch" refForName="comp1"/>
          <dgm:constr type="w" for="ch" forName="comp2" refType="w" fact="0.85"/>
          <dgm:constr type="h" for="ch" forName="comp2" refType="w" refFor="ch" refForName="comp2"/>
          <dgm:constr type="ctrX" for="ch" forName="comp2" refType="ctrX" refFor="ch" refForName="comp1"/>
          <dgm:constr type="b" for="ch" forName="comp2" refType="b" refFor="ch" refForName="comp1"/>
          <dgm:constr type="w" for="ch" forName="comp3" refType="w" fact="0.7"/>
          <dgm:constr type="h" for="ch" forName="comp3" refType="w" refFor="ch" refForName="comp3"/>
          <dgm:constr type="ctrX" for="ch" forName="comp3" refType="ctrX" refFor="ch" refForName="comp1"/>
          <dgm:constr type="b" for="ch" forName="comp3" refType="b" refFor="ch" refForName="comp1"/>
          <dgm:constr type="w" for="ch" forName="comp4" refType="w" fact="0.55"/>
          <dgm:constr type="h" for="ch" forName="comp4" refType="w" refFor="ch" refForName="comp4"/>
          <dgm:constr type="ctrX" for="ch" forName="comp4" refType="ctrX" refFor="ch" refForName="comp1"/>
          <dgm:constr type="b" for="ch" forName="comp4" refType="b" refFor="ch" refForName="comp1"/>
          <dgm:constr type="w" for="ch" forName="comp5" refType="w" fact="0.4"/>
          <dgm:constr type="h" for="ch" forName="comp5" refType="w" refFor="ch" refForName="comp5"/>
          <dgm:constr type="ctrX" for="ch" forName="comp5" refType="ctrX" refFor="ch" refForName="comp1"/>
          <dgm:constr type="b" for="ch" forName="comp5" refType="b" refFor="ch" refForName="comp1"/>
          <dgm:constr type="w" for="ch" forName="comp6" refType="w" fact="0.25"/>
          <dgm:constr type="h" for="ch" forName="comp6" refType="w" refFor="ch" refForName="comp6"/>
          <dgm:constr type="ctrX" for="ch" forName="comp6" refType="ctrX" refFor="ch" refForName="comp1"/>
          <dgm:constr type="b" for="ch" forName="comp6" refType="b" refFor="ch" refForName="comp1"/>
          <dgm:constr type="w" for="ch" forName="comp7" refType="w" fact="0.15"/>
          <dgm:constr type="h" for="ch" forName="comp7" refType="w" refFor="ch" refForName="comp7"/>
          <dgm:constr type="ctrX" for="ch" forName="comp7" refType="ctrX" refFor="ch" refForName="comp1"/>
          <dgm:constr type="b" for="ch" forName="comp7" refType="b" refFor="ch" refForName="comp1"/>
          <dgm:constr type="primFontSz" for="des" ptType="node" op="equ" val="65"/>
        </dgm:constrLst>
      </dgm:else>
    </dgm:choose>
    <dgm:ruleLst/>
    <dgm:choose name="Name5">
      <dgm:if name="Name6" axis="ch" ptType="node" func="cnt" op="gte" val="1">
        <dgm:layoutNode name="comp1">
          <dgm:alg type="composite"/>
          <dgm:shape xmlns:r="http://schemas.openxmlformats.org/officeDocument/2006/relationships" r:blip="">
            <dgm:adjLst/>
          </dgm:shape>
          <dgm:presOf/>
          <dgm:choose name="Name7">
            <dgm:if name="Name8" axis="ch" ptType="node" func="cnt" op="equ" val="1">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5"/>
                <dgm:constr type="w" for="ch" forName="c1text" refType="w" refFor="ch" refForName="circle1" fact="0.70711"/>
                <dgm:constr type="h" for="ch" forName="c1text" refType="h" refFor="ch" refForName="circle1" fact="0.5"/>
              </dgm:constrLst>
            </dgm:if>
            <dgm:if name="Name9" axis="ch" ptType="node" func="cnt" op="equ" val="2">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6"/>
                <dgm:constr type="w" for="ch" forName="c1text" refType="w" refFor="ch" refForName="circle1" fact="0.525"/>
                <dgm:constr type="h" for="ch" forName="c1text" refType="h" refFor="ch" refForName="circle1" fact="0.17"/>
              </dgm:constrLst>
            </dgm:if>
            <dgm:if name="Name10" axis="ch" ptType="node" func="cnt" op="equ" val="3">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25"/>
                <dgm:constr type="w" for="ch" forName="c1text" refType="w" refFor="ch" refForName="circle1" fact="0.3495"/>
                <dgm:constr type="h" for="ch" forName="c1text" refType="h" refFor="ch" refForName="circle1" fact="0.15"/>
              </dgm:constrLst>
            </dgm:if>
            <dgm:if name="Name11" axis="ch" ptType="node" func="cnt" op="equ" val="4">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25"/>
                <dgm:constr type="w" for="ch" forName="c1text" refType="w" refFor="ch" refForName="circle1" fact="0.2796"/>
                <dgm:constr type="h" for="ch" forName="c1text" refType="h" refFor="ch" refForName="circle1" fact="0.15"/>
              </dgm:constrLst>
            </dgm:if>
            <dgm:if name="Name12" axis="ch" ptType="node" func="cnt" op="gte" val="5">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
                <dgm:constr type="w" for="ch" forName="c1text" refType="w" refFor="ch" refForName="circle1" fact="0.375"/>
                <dgm:constr type="h" for="ch" forName="c1text" refType="h" refFor="ch" refForName="circle1" fact="0.1"/>
              </dgm:constrLst>
            </dgm:if>
            <dgm:else name="Name13"/>
          </dgm:choose>
          <dgm:ruleLst/>
          <dgm:layoutNode name="circle1" styleLbl="node1">
            <dgm:alg type="sp"/>
            <dgm:shape xmlns:r="http://schemas.openxmlformats.org/officeDocument/2006/relationships" type="ellipse" r:blip="">
              <dgm:adjLst/>
            </dgm:shape>
            <dgm:presOf axis="ch desOrSelf" ptType="node node" st="1 1" cnt="1 0"/>
            <dgm:constrLst>
              <dgm:constr type="h" refType="w"/>
            </dgm:constrLst>
            <dgm:ruleLst/>
          </dgm:layoutNode>
          <dgm:layoutNode name="c1text">
            <dgm:varLst>
              <dgm:bulletEnabled val="1"/>
            </dgm:varLst>
            <dgm:alg type="tx"/>
            <dgm:shape xmlns:r="http://schemas.openxmlformats.org/officeDocument/2006/relationships" type="rect" r:blip="" hideGeom="1">
              <dgm:adjLst/>
            </dgm:shape>
            <dgm:presOf axis="ch desOrSelf" ptType="node node" st="1 1" cnt="1 0"/>
            <dgm:constrLst/>
            <dgm:ruleLst>
              <dgm:rule type="primFontSz" val="5" fact="NaN" max="NaN"/>
            </dgm:ruleLst>
          </dgm:layoutNode>
        </dgm:layoutNode>
      </dgm:if>
      <dgm:else name="Name14"/>
    </dgm:choose>
    <dgm:choose name="Name15">
      <dgm:if name="Name16" axis="ch" ptType="node" func="cnt" op="gte" val="2">
        <dgm:layoutNode name="comp2">
          <dgm:alg type="composite"/>
          <dgm:shape xmlns:r="http://schemas.openxmlformats.org/officeDocument/2006/relationships" r:blip="">
            <dgm:adjLst/>
          </dgm:shape>
          <dgm:presOf/>
          <dgm:choose name="Name17">
            <dgm:if name="Name18" axis="ch" ptType="node" func="cnt" op="equ" val="2">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5"/>
                <dgm:constr type="w" for="ch" forName="c2text" refType="w" refFor="ch" refForName="circle2" fact="0.70711"/>
                <dgm:constr type="h" for="ch" forName="c2text" refType="h" refFor="ch" refForName="circle2" fact="0.5"/>
              </dgm:constrLst>
            </dgm:if>
            <dgm:if name="Name19" axis="ch" ptType="node" func="cnt" op="equ" val="3">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5625"/>
                <dgm:constr type="w" for="ch" forName="c2text" refType="w" refFor="ch" refForName="circle2" fact="0.466"/>
                <dgm:constr type="h" for="ch" forName="c2text" refType="h" refFor="ch" refForName="circle2" fact="0.1875"/>
              </dgm:constrLst>
            </dgm:if>
            <dgm:if name="Name20" axis="ch" ptType="node" func="cnt" op="equ" val="4">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5"/>
                <dgm:constr type="w" for="ch" forName="c2text" refType="w" refFor="ch" refForName="circle2" fact="0.3495"/>
                <dgm:constr type="h" for="ch" forName="c2text" refType="h" refFor="ch" refForName="circle2" fact="0.18"/>
              </dgm:constrLst>
            </dgm:if>
            <dgm:if name="Name21" axis="ch" ptType="node" func="cnt" op="gte" val="5">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15"/>
                <dgm:constr type="w" for="ch" forName="c2text" refType="w" refFor="ch" refForName="circle2" fact="0.43125"/>
                <dgm:constr type="h" for="ch" forName="c2text" refType="h" refFor="ch" refForName="circle2" fact="0.115"/>
              </dgm:constrLst>
            </dgm:if>
            <dgm:else name="Name22"/>
          </dgm:choose>
          <dgm:ruleLst/>
          <dgm:layoutNode name="circle2" styleLbl="node1">
            <dgm:alg type="sp"/>
            <dgm:shape xmlns:r="http://schemas.openxmlformats.org/officeDocument/2006/relationships" type="ellipse" r:blip="">
              <dgm:adjLst/>
            </dgm:shape>
            <dgm:presOf axis="ch desOrSelf" ptType="node node" st="2 1" cnt="1 0"/>
            <dgm:constrLst>
              <dgm:constr type="h" refType="w"/>
            </dgm:constrLst>
            <dgm:ruleLst/>
          </dgm:layoutNode>
          <dgm:layoutNode name="c2text">
            <dgm:varLst>
              <dgm:bulletEnabled val="1"/>
            </dgm:varLst>
            <dgm:alg type="tx"/>
            <dgm:shape xmlns:r="http://schemas.openxmlformats.org/officeDocument/2006/relationships" type="rect" r:blip="" hideGeom="1">
              <dgm:adjLst/>
            </dgm:shape>
            <dgm:presOf axis="ch desOrSelf" ptType="node node" st="2 1" cnt="1 0"/>
            <dgm:constrLst/>
            <dgm:ruleLst>
              <dgm:rule type="primFontSz" val="5" fact="NaN" max="NaN"/>
            </dgm:ruleLst>
          </dgm:layoutNode>
        </dgm:layoutNode>
      </dgm:if>
      <dgm:else name="Name23"/>
    </dgm:choose>
    <dgm:choose name="Name24">
      <dgm:if name="Name25" axis="ch" ptType="node" func="cnt" op="gte" val="3">
        <dgm:layoutNode name="comp3">
          <dgm:alg type="composite"/>
          <dgm:shape xmlns:r="http://schemas.openxmlformats.org/officeDocument/2006/relationships" r:blip="">
            <dgm:adjLst/>
          </dgm:shape>
          <dgm:presOf/>
          <dgm:choose name="Name26">
            <dgm:if name="Name27" axis="ch" ptType="node" func="cnt" op="equ" val="3">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5"/>
                <dgm:constr type="w" for="ch" forName="c3text" refType="w" refFor="ch" refForName="circle3" fact="0.70711"/>
                <dgm:constr type="h" for="ch" forName="c3text" refType="h" refFor="ch" refForName="circle3" fact="0.5"/>
              </dgm:constrLst>
            </dgm:if>
            <dgm:if name="Name28" axis="ch" ptType="node" func="cnt" op="equ" val="4">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1875"/>
                <dgm:constr type="w" for="ch" forName="c3text" refType="w" refFor="ch" refForName="circle3" fact="0.466"/>
                <dgm:constr type="h" for="ch" forName="c3text" refType="h" refFor="ch" refForName="circle3" fact="0.225"/>
              </dgm:constrLst>
            </dgm:if>
            <dgm:if name="Name29" axis="ch" ptType="node" func="cnt" op="gte" val="5">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138"/>
                <dgm:constr type="w" for="ch" forName="c3text" refType="w" refFor="ch" refForName="circle3" fact="0.5175"/>
                <dgm:constr type="h" for="ch" forName="c3text" refType="h" refFor="ch" refForName="circle3" fact="0.138"/>
              </dgm:constrLst>
            </dgm:if>
            <dgm:else name="Name30"/>
          </dgm:choose>
          <dgm:ruleLst/>
          <dgm:layoutNode name="circle3" styleLbl="node1">
            <dgm:alg type="sp"/>
            <dgm:shape xmlns:r="http://schemas.openxmlformats.org/officeDocument/2006/relationships" type="ellipse" r:blip="">
              <dgm:adjLst/>
            </dgm:shape>
            <dgm:presOf axis="ch desOrSelf" ptType="node node" st="3 1" cnt="1 0"/>
            <dgm:constrLst>
              <dgm:constr type="h" refType="w"/>
            </dgm:constrLst>
            <dgm:ruleLst/>
          </dgm:layoutNode>
          <dgm:layoutNode name="c3text">
            <dgm:varLst>
              <dgm:bulletEnabled val="1"/>
            </dgm:varLst>
            <dgm:alg type="tx"/>
            <dgm:shape xmlns:r="http://schemas.openxmlformats.org/officeDocument/2006/relationships" type="rect" r:blip="" hideGeom="1">
              <dgm:adjLst/>
            </dgm:shape>
            <dgm:presOf axis="ch desOrSelf" ptType="node node" st="3 1" cnt="1 0"/>
            <dgm:constrLst/>
            <dgm:ruleLst>
              <dgm:rule type="primFontSz" val="5" fact="NaN" max="NaN"/>
            </dgm:ruleLst>
          </dgm:layoutNode>
        </dgm:layoutNode>
      </dgm:if>
      <dgm:else name="Name31"/>
    </dgm:choose>
    <dgm:choose name="Name32">
      <dgm:if name="Name33" axis="ch" ptType="node" func="cnt" op="gte" val="4">
        <dgm:layoutNode name="comp4">
          <dgm:alg type="composite"/>
          <dgm:shape xmlns:r="http://schemas.openxmlformats.org/officeDocument/2006/relationships" r:blip="">
            <dgm:adjLst/>
          </dgm:shape>
          <dgm:presOf/>
          <dgm:choose name="Name34">
            <dgm:if name="Name35" axis="ch" ptType="node" func="cnt" op="equ" val="4">
              <dgm:constrLst>
                <dgm:constr type="w" for="ch" forName="circle4" refType="w"/>
                <dgm:constr type="h" for="ch" forName="circle4" refType="h"/>
                <dgm:constr type="ctrX" for="ch" forName="circle4" refType="w" fact="0.5"/>
                <dgm:constr type="ctrY" for="ch" forName="circle4" refType="h" fact="0.5"/>
                <dgm:constr type="ctrX" for="ch" forName="c4text" refType="w" fact="0.5"/>
                <dgm:constr type="ctrY" for="ch" forName="c4text" refType="h" fact="0.5"/>
                <dgm:constr type="w" for="ch" forName="c4text" refType="w" refFor="ch" refForName="circle4" fact="0.70711"/>
                <dgm:constr type="h" for="ch" forName="c4text" refType="h" refFor="ch" refForName="circle4" fact="0.5"/>
              </dgm:constrLst>
            </dgm:if>
            <dgm:if name="Name36" axis="ch" ptType="node" func="cnt" op="gte" val="5">
              <dgm:constrLst>
                <dgm:constr type="w" for="ch" forName="circle4" refType="w"/>
                <dgm:constr type="h" for="ch" forName="circle4" refType="h"/>
                <dgm:constr type="ctrX" for="ch" forName="circle4" refType="w" fact="0.5"/>
                <dgm:constr type="ctrY" for="ch" forName="circle4" refType="h" fact="0.5"/>
                <dgm:constr type="ctrX" for="ch" forName="c4text" refType="w" fact="0.5"/>
                <dgm:constr type="ctrY" for="ch" forName="c4text" refType="h" fact="0.18"/>
                <dgm:constr type="w" for="ch" forName="c4text" refType="w" refFor="ch" refForName="circle4" fact="0.54"/>
                <dgm:constr type="h" for="ch" forName="c4text" refType="h" refFor="ch" refForName="circle4" fact="0.18"/>
              </dgm:constrLst>
            </dgm:if>
            <dgm:else name="Name37"/>
          </dgm:choose>
          <dgm:ruleLst/>
          <dgm:layoutNode name="circle4" styleLbl="node1">
            <dgm:alg type="sp"/>
            <dgm:shape xmlns:r="http://schemas.openxmlformats.org/officeDocument/2006/relationships" type="ellipse" r:blip="">
              <dgm:adjLst/>
            </dgm:shape>
            <dgm:presOf axis="ch desOrSelf" ptType="node node" st="4 1" cnt="1 0"/>
            <dgm:constrLst>
              <dgm:constr type="h" refType="w"/>
            </dgm:constrLst>
            <dgm:ruleLst/>
          </dgm:layoutNode>
          <dgm:layoutNode name="c4text">
            <dgm:varLst>
              <dgm:bulletEnabled val="1"/>
            </dgm:varLst>
            <dgm:alg type="tx"/>
            <dgm:shape xmlns:r="http://schemas.openxmlformats.org/officeDocument/2006/relationships" type="rect" r:blip="" hideGeom="1">
              <dgm:adjLst/>
            </dgm:shape>
            <dgm:presOf axis="ch desOrSelf" ptType="node node" st="4 1" cnt="1 0"/>
            <dgm:constrLst/>
            <dgm:ruleLst>
              <dgm:rule type="primFontSz" val="5" fact="NaN" max="NaN"/>
            </dgm:ruleLst>
          </dgm:layoutNode>
        </dgm:layoutNode>
      </dgm:if>
      <dgm:else name="Name38"/>
    </dgm:choose>
    <dgm:choose name="Name39">
      <dgm:if name="Name40" axis="ch" ptType="node" func="cnt" op="gte" val="5">
        <dgm:layoutNode name="comp5">
          <dgm:alg type="composite"/>
          <dgm:shape xmlns:r="http://schemas.openxmlformats.org/officeDocument/2006/relationships" r:blip="">
            <dgm:adjLst/>
          </dgm:shape>
          <dgm:presOf/>
          <dgm:choose name="Name41">
            <dgm:if name="Name42" axis="ch" ptType="node" func="cnt" op="equ" val="5">
              <dgm:constrLst>
                <dgm:constr type="w" for="ch" forName="circle5" refType="w"/>
                <dgm:constr type="h" for="ch" forName="circle5" refType="h"/>
                <dgm:constr type="ctrX" for="ch" forName="circle5" refType="w" fact="0.5"/>
                <dgm:constr type="ctrY" for="ch" forName="circle5" refType="h" fact="0.5"/>
                <dgm:constr type="ctrX" for="ch" forName="c5text" refType="w" fact="0.5"/>
                <dgm:constr type="ctrY" for="ch" forName="c5text" refType="h" fact="0.5"/>
                <dgm:constr type="w" for="ch" forName="c5text" refType="w" refFor="ch" refForName="circle5" fact="0.70711"/>
                <dgm:constr type="h" for="ch" forName="c5text" refType="h" refFor="ch" refForName="circle5" fact="0.5"/>
              </dgm:constrLst>
            </dgm:if>
            <dgm:if name="Name43" axis="ch" ptType="node" func="cnt" op="gte" val="6">
              <dgm:constrLst>
                <dgm:constr type="w" for="ch" forName="circle5" refType="w"/>
                <dgm:constr type="h" for="ch" forName="circle5" refType="h"/>
                <dgm:constr type="ctrX" for="ch" forName="circle5" refType="w" fact="0.5"/>
                <dgm:constr type="ctrY" for="ch" forName="circle5" refType="h" fact="0.5"/>
                <dgm:constr type="ctrX" for="ch" forName="c5text" refType="w" fact="0.5"/>
                <dgm:constr type="ctrY" for="ch" forName="c5text" refType="h" fact="0.25"/>
                <dgm:constr type="w" for="ch" forName="c5text" refType="w" refFor="ch" refForName="circle5" fact="0.65"/>
                <dgm:constr type="h" for="ch" forName="c5text" refType="h" refFor="ch" refForName="circle5" fact="0.25"/>
              </dgm:constrLst>
            </dgm:if>
            <dgm:else name="Name44"/>
          </dgm:choose>
          <dgm:ruleLst/>
          <dgm:layoutNode name="circle5" styleLbl="node1">
            <dgm:alg type="sp"/>
            <dgm:shape xmlns:r="http://schemas.openxmlformats.org/officeDocument/2006/relationships" type="ellipse" r:blip="">
              <dgm:adjLst/>
            </dgm:shape>
            <dgm:presOf axis="ch desOrSelf" ptType="node node" st="5 1" cnt="1 0"/>
            <dgm:constrLst>
              <dgm:constr type="h" refType="w"/>
            </dgm:constrLst>
            <dgm:ruleLst/>
          </dgm:layoutNode>
          <dgm:layoutNode name="c5text">
            <dgm:varLst>
              <dgm:bulletEnabled val="1"/>
            </dgm:varLst>
            <dgm:alg type="tx"/>
            <dgm:shape xmlns:r="http://schemas.openxmlformats.org/officeDocument/2006/relationships" type="rect" r:blip="" hideGeom="1">
              <dgm:adjLst/>
            </dgm:shape>
            <dgm:presOf axis="ch desOrSelf" ptType="node node" st="5 1" cnt="1 0"/>
            <dgm:constrLst/>
            <dgm:ruleLst>
              <dgm:rule type="primFontSz" val="5" fact="NaN" max="NaN"/>
            </dgm:ruleLst>
          </dgm:layoutNode>
        </dgm:layoutNode>
      </dgm:if>
      <dgm:else name="Name45"/>
    </dgm:choose>
    <dgm:choose name="Name46">
      <dgm:if name="Name47" axis="ch" ptType="node" func="cnt" op="gte" val="6">
        <dgm:layoutNode name="comp6">
          <dgm:alg type="composite"/>
          <dgm:shape xmlns:r="http://schemas.openxmlformats.org/officeDocument/2006/relationships" r:blip="">
            <dgm:adjLst/>
          </dgm:shape>
          <dgm:presOf/>
          <dgm:choose name="Name48">
            <dgm:if name="Name49" axis="ch" ptType="node" func="cnt" op="equ" val="6">
              <dgm:constrLst>
                <dgm:constr type="w" for="ch" forName="circle6" refType="w"/>
                <dgm:constr type="h" for="ch" forName="circle6" refType="h"/>
                <dgm:constr type="ctrX" for="ch" forName="circle6" refType="w" fact="0.5"/>
                <dgm:constr type="ctrY" for="ch" forName="circle6" refType="h" fact="0.5"/>
                <dgm:constr type="ctrX" for="ch" forName="c6text" refType="w" fact="0.5"/>
                <dgm:constr type="ctrY" for="ch" forName="c6text" refType="h" fact="0.5"/>
                <dgm:constr type="w" for="ch" forName="c6text" refType="w" refFor="ch" refForName="circle6" fact="0.70711"/>
                <dgm:constr type="h" for="ch" forName="c6text" refType="h" refFor="ch" refForName="circle6" fact="0.5"/>
              </dgm:constrLst>
            </dgm:if>
            <dgm:if name="Name50" axis="ch" ptType="node" func="cnt" op="gte" val="7">
              <dgm:constrLst>
                <dgm:constr type="w" for="ch" forName="circle6" refType="w"/>
                <dgm:constr type="h" for="ch" forName="circle6" refType="h"/>
                <dgm:constr type="ctrX" for="ch" forName="circle6" refType="w" fact="0.5"/>
                <dgm:constr type="ctrY" for="ch" forName="circle6" refType="h" fact="0.5"/>
                <dgm:constr type="ctrX" for="ch" forName="c6text" refType="w" fact="0.5"/>
                <dgm:constr type="ctrY" for="ch" forName="c6text" refType="h" fact="0.27"/>
                <dgm:constr type="w" for="ch" forName="c6text" refType="w" refFor="ch" refForName="circle6" fact="0.68"/>
                <dgm:constr type="h" for="ch" forName="c6text" refType="h" refFor="ch" refForName="circle6" fact="0.241"/>
              </dgm:constrLst>
            </dgm:if>
            <dgm:else name="Name51"/>
          </dgm:choose>
          <dgm:ruleLst/>
          <dgm:layoutNode name="circle6" styleLbl="node1">
            <dgm:alg type="sp"/>
            <dgm:shape xmlns:r="http://schemas.openxmlformats.org/officeDocument/2006/relationships" type="ellipse" r:blip="">
              <dgm:adjLst/>
            </dgm:shape>
            <dgm:presOf axis="ch desOrSelf" ptType="node node" st="6 1" cnt="1 0"/>
            <dgm:constrLst>
              <dgm:constr type="h" refType="w"/>
            </dgm:constrLst>
            <dgm:ruleLst/>
          </dgm:layoutNode>
          <dgm:layoutNode name="c6text">
            <dgm:varLst>
              <dgm:bulletEnabled val="1"/>
            </dgm:varLst>
            <dgm:alg type="tx"/>
            <dgm:shape xmlns:r="http://schemas.openxmlformats.org/officeDocument/2006/relationships" type="rect" r:blip="" hideGeom="1">
              <dgm:adjLst/>
            </dgm:shape>
            <dgm:presOf axis="ch desOrSelf" ptType="node node" st="6 1" cnt="1 0"/>
            <dgm:constrLst/>
            <dgm:ruleLst>
              <dgm:rule type="primFontSz" val="5" fact="NaN" max="NaN"/>
            </dgm:ruleLst>
          </dgm:layoutNode>
        </dgm:layoutNode>
      </dgm:if>
      <dgm:else name="Name52"/>
    </dgm:choose>
    <dgm:choose name="Name53">
      <dgm:if name="Name54" axis="ch" ptType="node" func="cnt" op="gte" val="7">
        <dgm:layoutNode name="comp7">
          <dgm:alg type="composite"/>
          <dgm:shape xmlns:r="http://schemas.openxmlformats.org/officeDocument/2006/relationships" r:blip="">
            <dgm:adjLst/>
          </dgm:shape>
          <dgm:presOf/>
          <dgm:constrLst>
            <dgm:constr type="w" for="ch" forName="circle7" refType="w"/>
            <dgm:constr type="h" for="ch" forName="circle7" refType="h"/>
            <dgm:constr type="ctrX" for="ch" forName="circle7" refType="w" fact="0.5"/>
            <dgm:constr type="ctrY" for="ch" forName="circle7" refType="h" fact="0.5"/>
            <dgm:constr type="ctrX" for="ch" forName="c7text" refType="w" fact="0.5"/>
            <dgm:constr type="ctrY" for="ch" forName="c7text" refType="h" fact="0.5"/>
            <dgm:constr type="w" for="ch" forName="c7text" refType="w" refFor="ch" refForName="circle7" fact="0.70711"/>
            <dgm:constr type="h" for="ch" forName="c7text" refType="h" refFor="ch" refForName="circle7" fact="0.5"/>
          </dgm:constrLst>
          <dgm:ruleLst/>
          <dgm:layoutNode name="circle7" styleLbl="node1">
            <dgm:alg type="sp"/>
            <dgm:shape xmlns:r="http://schemas.openxmlformats.org/officeDocument/2006/relationships" type="ellipse" r:blip="">
              <dgm:adjLst/>
            </dgm:shape>
            <dgm:presOf axis="ch desOrSelf" ptType="node node" st="7 1" cnt="1 0"/>
            <dgm:constrLst>
              <dgm:constr type="h" refType="w"/>
            </dgm:constrLst>
            <dgm:ruleLst/>
          </dgm:layoutNode>
          <dgm:layoutNode name="c7text">
            <dgm:varLst>
              <dgm:bulletEnabled val="1"/>
            </dgm:varLst>
            <dgm:alg type="tx"/>
            <dgm:shape xmlns:r="http://schemas.openxmlformats.org/officeDocument/2006/relationships" type="rect" r:blip="" hideGeom="1">
              <dgm:adjLst/>
            </dgm:shape>
            <dgm:presOf axis="ch desOrSelf" ptType="node node" st="7 1" cnt="1 0"/>
            <dgm:constrLst/>
            <dgm:ruleLst>
              <dgm:rule type="primFontSz" val="5" fact="NaN" max="NaN"/>
            </dgm:ruleLst>
          </dgm:layoutNode>
        </dgm:layoutNode>
      </dgm:if>
      <dgm:else name="Name55"/>
    </dgm:choose>
  </dgm:layoutNode>
</dgm:layoutDef>
</file>

<file path=ppt/diagrams/layout3.xml><?xml version="1.0" encoding="utf-8"?>
<dgm:layoutDef xmlns:dgm="http://schemas.openxmlformats.org/drawingml/2006/diagram" xmlns:a="http://schemas.openxmlformats.org/drawingml/2006/main" uniqueId="urn:microsoft.com/office/officeart/2005/8/layout/venn2">
  <dgm:title val=""/>
  <dgm:desc val=""/>
  <dgm:catLst>
    <dgm:cat type="relationship" pri="30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resizeHandles val="exact"/>
    </dgm:varLst>
    <dgm:alg type="composite">
      <dgm:param type="ar" val="1"/>
    </dgm:alg>
    <dgm:shape xmlns:r="http://schemas.openxmlformats.org/officeDocument/2006/relationships" r:blip="">
      <dgm:adjLst/>
    </dgm:shape>
    <dgm:presOf/>
    <dgm:choose name="Name1">
      <dgm:if name="Name2" axis="ch" ptType="node" func="cnt" op="lte" val="3">
        <dgm:constrLst>
          <dgm:constr type="w" for="ch" forName="comp1" refType="w"/>
          <dgm:constr type="h" for="ch" forName="comp1" refType="w" refFor="ch" refForName="comp1"/>
          <dgm:constr type="w" for="ch" forName="comp2" refType="w" fact="0.75"/>
          <dgm:constr type="h" for="ch" forName="comp2" refType="w" refFor="ch" refForName="comp2"/>
          <dgm:constr type="ctrX" for="ch" forName="comp2" refType="ctrX" refFor="ch" refForName="comp1"/>
          <dgm:constr type="b" for="ch" forName="comp2" refType="b" refFor="ch" refForName="comp1"/>
          <dgm:constr type="w" for="ch" forName="comp3" refType="w" fact="0.5"/>
          <dgm:constr type="h" for="ch" forName="comp3" refType="w" refFor="ch" refForName="comp3"/>
          <dgm:constr type="ctrX" for="ch" forName="comp3" refType="ctrX" refFor="ch" refForName="comp1"/>
          <dgm:constr type="b" for="ch" forName="comp3" refType="b" refFor="ch" refForName="comp1"/>
          <dgm:constr type="primFontSz" for="des" ptType="node" op="equ" val="65"/>
        </dgm:constrLst>
      </dgm:if>
      <dgm:if name="Name3" axis="ch" ptType="node" func="cnt" op="equ" val="4">
        <dgm:constrLst>
          <dgm:constr type="w" for="ch" forName="comp1" refType="w"/>
          <dgm:constr type="h" for="ch" forName="comp1" refType="w" refFor="ch" refForName="comp1"/>
          <dgm:constr type="w" for="ch" forName="comp2" refType="w" fact="0.8"/>
          <dgm:constr type="h" for="ch" forName="comp2" refType="w" refFor="ch" refForName="comp2"/>
          <dgm:constr type="ctrX" for="ch" forName="comp2" refType="ctrX" refFor="ch" refForName="comp1"/>
          <dgm:constr type="b" for="ch" forName="comp2" refType="b" refFor="ch" refForName="comp1"/>
          <dgm:constr type="w" for="ch" forName="comp3" refType="w" fact="0.6"/>
          <dgm:constr type="h" for="ch" forName="comp3" refType="w" refFor="ch" refForName="comp3"/>
          <dgm:constr type="ctrX" for="ch" forName="comp3" refType="ctrX" refFor="ch" refForName="comp1"/>
          <dgm:constr type="b" for="ch" forName="comp3" refType="b" refFor="ch" refForName="comp1"/>
          <dgm:constr type="w" for="ch" forName="comp4" refType="w" fact="0.4"/>
          <dgm:constr type="h" for="ch" forName="comp4" refType="w" refFor="ch" refForName="comp4"/>
          <dgm:constr type="ctrX" for="ch" forName="comp4" refType="ctrX" refFor="ch" refForName="comp1"/>
          <dgm:constr type="b" for="ch" forName="comp4" refType="b" refFor="ch" refForName="comp1"/>
          <dgm:constr type="primFontSz" for="des" ptType="node" op="equ" val="65"/>
        </dgm:constrLst>
      </dgm:if>
      <dgm:else name="Name4">
        <dgm:constrLst>
          <dgm:constr type="w" for="ch" forName="comp1" refType="w"/>
          <dgm:constr type="h" for="ch" forName="comp1" refType="w" refFor="ch" refForName="comp1"/>
          <dgm:constr type="w" for="ch" forName="comp2" refType="w" fact="0.85"/>
          <dgm:constr type="h" for="ch" forName="comp2" refType="w" refFor="ch" refForName="comp2"/>
          <dgm:constr type="ctrX" for="ch" forName="comp2" refType="ctrX" refFor="ch" refForName="comp1"/>
          <dgm:constr type="b" for="ch" forName="comp2" refType="b" refFor="ch" refForName="comp1"/>
          <dgm:constr type="w" for="ch" forName="comp3" refType="w" fact="0.7"/>
          <dgm:constr type="h" for="ch" forName="comp3" refType="w" refFor="ch" refForName="comp3"/>
          <dgm:constr type="ctrX" for="ch" forName="comp3" refType="ctrX" refFor="ch" refForName="comp1"/>
          <dgm:constr type="b" for="ch" forName="comp3" refType="b" refFor="ch" refForName="comp1"/>
          <dgm:constr type="w" for="ch" forName="comp4" refType="w" fact="0.55"/>
          <dgm:constr type="h" for="ch" forName="comp4" refType="w" refFor="ch" refForName="comp4"/>
          <dgm:constr type="ctrX" for="ch" forName="comp4" refType="ctrX" refFor="ch" refForName="comp1"/>
          <dgm:constr type="b" for="ch" forName="comp4" refType="b" refFor="ch" refForName="comp1"/>
          <dgm:constr type="w" for="ch" forName="comp5" refType="w" fact="0.4"/>
          <dgm:constr type="h" for="ch" forName="comp5" refType="w" refFor="ch" refForName="comp5"/>
          <dgm:constr type="ctrX" for="ch" forName="comp5" refType="ctrX" refFor="ch" refForName="comp1"/>
          <dgm:constr type="b" for="ch" forName="comp5" refType="b" refFor="ch" refForName="comp1"/>
          <dgm:constr type="w" for="ch" forName="comp6" refType="w" fact="0.25"/>
          <dgm:constr type="h" for="ch" forName="comp6" refType="w" refFor="ch" refForName="comp6"/>
          <dgm:constr type="ctrX" for="ch" forName="comp6" refType="ctrX" refFor="ch" refForName="comp1"/>
          <dgm:constr type="b" for="ch" forName="comp6" refType="b" refFor="ch" refForName="comp1"/>
          <dgm:constr type="w" for="ch" forName="comp7" refType="w" fact="0.15"/>
          <dgm:constr type="h" for="ch" forName="comp7" refType="w" refFor="ch" refForName="comp7"/>
          <dgm:constr type="ctrX" for="ch" forName="comp7" refType="ctrX" refFor="ch" refForName="comp1"/>
          <dgm:constr type="b" for="ch" forName="comp7" refType="b" refFor="ch" refForName="comp1"/>
          <dgm:constr type="primFontSz" for="des" ptType="node" op="equ" val="65"/>
        </dgm:constrLst>
      </dgm:else>
    </dgm:choose>
    <dgm:ruleLst/>
    <dgm:choose name="Name5">
      <dgm:if name="Name6" axis="ch" ptType="node" func="cnt" op="gte" val="1">
        <dgm:layoutNode name="comp1">
          <dgm:alg type="composite"/>
          <dgm:shape xmlns:r="http://schemas.openxmlformats.org/officeDocument/2006/relationships" r:blip="">
            <dgm:adjLst/>
          </dgm:shape>
          <dgm:presOf/>
          <dgm:choose name="Name7">
            <dgm:if name="Name8" axis="ch" ptType="node" func="cnt" op="equ" val="1">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5"/>
                <dgm:constr type="w" for="ch" forName="c1text" refType="w" refFor="ch" refForName="circle1" fact="0.70711"/>
                <dgm:constr type="h" for="ch" forName="c1text" refType="h" refFor="ch" refForName="circle1" fact="0.5"/>
              </dgm:constrLst>
            </dgm:if>
            <dgm:if name="Name9" axis="ch" ptType="node" func="cnt" op="equ" val="2">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6"/>
                <dgm:constr type="w" for="ch" forName="c1text" refType="w" refFor="ch" refForName="circle1" fact="0.525"/>
                <dgm:constr type="h" for="ch" forName="c1text" refType="h" refFor="ch" refForName="circle1" fact="0.17"/>
              </dgm:constrLst>
            </dgm:if>
            <dgm:if name="Name10" axis="ch" ptType="node" func="cnt" op="equ" val="3">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25"/>
                <dgm:constr type="w" for="ch" forName="c1text" refType="w" refFor="ch" refForName="circle1" fact="0.3495"/>
                <dgm:constr type="h" for="ch" forName="c1text" refType="h" refFor="ch" refForName="circle1" fact="0.15"/>
              </dgm:constrLst>
            </dgm:if>
            <dgm:if name="Name11" axis="ch" ptType="node" func="cnt" op="equ" val="4">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25"/>
                <dgm:constr type="w" for="ch" forName="c1text" refType="w" refFor="ch" refForName="circle1" fact="0.2796"/>
                <dgm:constr type="h" for="ch" forName="c1text" refType="h" refFor="ch" refForName="circle1" fact="0.15"/>
              </dgm:constrLst>
            </dgm:if>
            <dgm:if name="Name12" axis="ch" ptType="node" func="cnt" op="gte" val="5">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
                <dgm:constr type="w" for="ch" forName="c1text" refType="w" refFor="ch" refForName="circle1" fact="0.375"/>
                <dgm:constr type="h" for="ch" forName="c1text" refType="h" refFor="ch" refForName="circle1" fact="0.1"/>
              </dgm:constrLst>
            </dgm:if>
            <dgm:else name="Name13"/>
          </dgm:choose>
          <dgm:ruleLst/>
          <dgm:layoutNode name="circle1" styleLbl="node1">
            <dgm:alg type="sp"/>
            <dgm:shape xmlns:r="http://schemas.openxmlformats.org/officeDocument/2006/relationships" type="ellipse" r:blip="">
              <dgm:adjLst/>
            </dgm:shape>
            <dgm:presOf axis="ch desOrSelf" ptType="node node" st="1 1" cnt="1 0"/>
            <dgm:constrLst>
              <dgm:constr type="h" refType="w"/>
            </dgm:constrLst>
            <dgm:ruleLst/>
          </dgm:layoutNode>
          <dgm:layoutNode name="c1text">
            <dgm:varLst>
              <dgm:bulletEnabled val="1"/>
            </dgm:varLst>
            <dgm:alg type="tx"/>
            <dgm:shape xmlns:r="http://schemas.openxmlformats.org/officeDocument/2006/relationships" type="rect" r:blip="" hideGeom="1">
              <dgm:adjLst/>
            </dgm:shape>
            <dgm:presOf axis="ch desOrSelf" ptType="node node" st="1 1" cnt="1 0"/>
            <dgm:constrLst/>
            <dgm:ruleLst>
              <dgm:rule type="primFontSz" val="5" fact="NaN" max="NaN"/>
            </dgm:ruleLst>
          </dgm:layoutNode>
        </dgm:layoutNode>
      </dgm:if>
      <dgm:else name="Name14"/>
    </dgm:choose>
    <dgm:choose name="Name15">
      <dgm:if name="Name16" axis="ch" ptType="node" func="cnt" op="gte" val="2">
        <dgm:layoutNode name="comp2">
          <dgm:alg type="composite"/>
          <dgm:shape xmlns:r="http://schemas.openxmlformats.org/officeDocument/2006/relationships" r:blip="">
            <dgm:adjLst/>
          </dgm:shape>
          <dgm:presOf/>
          <dgm:choose name="Name17">
            <dgm:if name="Name18" axis="ch" ptType="node" func="cnt" op="equ" val="2">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5"/>
                <dgm:constr type="w" for="ch" forName="c2text" refType="w" refFor="ch" refForName="circle2" fact="0.70711"/>
                <dgm:constr type="h" for="ch" forName="c2text" refType="h" refFor="ch" refForName="circle2" fact="0.5"/>
              </dgm:constrLst>
            </dgm:if>
            <dgm:if name="Name19" axis="ch" ptType="node" func="cnt" op="equ" val="3">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5625"/>
                <dgm:constr type="w" for="ch" forName="c2text" refType="w" refFor="ch" refForName="circle2" fact="0.466"/>
                <dgm:constr type="h" for="ch" forName="c2text" refType="h" refFor="ch" refForName="circle2" fact="0.1875"/>
              </dgm:constrLst>
            </dgm:if>
            <dgm:if name="Name20" axis="ch" ptType="node" func="cnt" op="equ" val="4">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5"/>
                <dgm:constr type="w" for="ch" forName="c2text" refType="w" refFor="ch" refForName="circle2" fact="0.3495"/>
                <dgm:constr type="h" for="ch" forName="c2text" refType="h" refFor="ch" refForName="circle2" fact="0.18"/>
              </dgm:constrLst>
            </dgm:if>
            <dgm:if name="Name21" axis="ch" ptType="node" func="cnt" op="gte" val="5">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15"/>
                <dgm:constr type="w" for="ch" forName="c2text" refType="w" refFor="ch" refForName="circle2" fact="0.43125"/>
                <dgm:constr type="h" for="ch" forName="c2text" refType="h" refFor="ch" refForName="circle2" fact="0.115"/>
              </dgm:constrLst>
            </dgm:if>
            <dgm:else name="Name22"/>
          </dgm:choose>
          <dgm:ruleLst/>
          <dgm:layoutNode name="circle2" styleLbl="node1">
            <dgm:alg type="sp"/>
            <dgm:shape xmlns:r="http://schemas.openxmlformats.org/officeDocument/2006/relationships" type="ellipse" r:blip="">
              <dgm:adjLst/>
            </dgm:shape>
            <dgm:presOf axis="ch desOrSelf" ptType="node node" st="2 1" cnt="1 0"/>
            <dgm:constrLst>
              <dgm:constr type="h" refType="w"/>
            </dgm:constrLst>
            <dgm:ruleLst/>
          </dgm:layoutNode>
          <dgm:layoutNode name="c2text">
            <dgm:varLst>
              <dgm:bulletEnabled val="1"/>
            </dgm:varLst>
            <dgm:alg type="tx"/>
            <dgm:shape xmlns:r="http://schemas.openxmlformats.org/officeDocument/2006/relationships" type="rect" r:blip="" hideGeom="1">
              <dgm:adjLst/>
            </dgm:shape>
            <dgm:presOf axis="ch desOrSelf" ptType="node node" st="2 1" cnt="1 0"/>
            <dgm:constrLst/>
            <dgm:ruleLst>
              <dgm:rule type="primFontSz" val="5" fact="NaN" max="NaN"/>
            </dgm:ruleLst>
          </dgm:layoutNode>
        </dgm:layoutNode>
      </dgm:if>
      <dgm:else name="Name23"/>
    </dgm:choose>
    <dgm:choose name="Name24">
      <dgm:if name="Name25" axis="ch" ptType="node" func="cnt" op="gte" val="3">
        <dgm:layoutNode name="comp3">
          <dgm:alg type="composite"/>
          <dgm:shape xmlns:r="http://schemas.openxmlformats.org/officeDocument/2006/relationships" r:blip="">
            <dgm:adjLst/>
          </dgm:shape>
          <dgm:presOf/>
          <dgm:choose name="Name26">
            <dgm:if name="Name27" axis="ch" ptType="node" func="cnt" op="equ" val="3">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5"/>
                <dgm:constr type="w" for="ch" forName="c3text" refType="w" refFor="ch" refForName="circle3" fact="0.70711"/>
                <dgm:constr type="h" for="ch" forName="c3text" refType="h" refFor="ch" refForName="circle3" fact="0.5"/>
              </dgm:constrLst>
            </dgm:if>
            <dgm:if name="Name28" axis="ch" ptType="node" func="cnt" op="equ" val="4">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1875"/>
                <dgm:constr type="w" for="ch" forName="c3text" refType="w" refFor="ch" refForName="circle3" fact="0.466"/>
                <dgm:constr type="h" for="ch" forName="c3text" refType="h" refFor="ch" refForName="circle3" fact="0.225"/>
              </dgm:constrLst>
            </dgm:if>
            <dgm:if name="Name29" axis="ch" ptType="node" func="cnt" op="gte" val="5">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138"/>
                <dgm:constr type="w" for="ch" forName="c3text" refType="w" refFor="ch" refForName="circle3" fact="0.5175"/>
                <dgm:constr type="h" for="ch" forName="c3text" refType="h" refFor="ch" refForName="circle3" fact="0.138"/>
              </dgm:constrLst>
            </dgm:if>
            <dgm:else name="Name30"/>
          </dgm:choose>
          <dgm:ruleLst/>
          <dgm:layoutNode name="circle3" styleLbl="node1">
            <dgm:alg type="sp"/>
            <dgm:shape xmlns:r="http://schemas.openxmlformats.org/officeDocument/2006/relationships" type="ellipse" r:blip="">
              <dgm:adjLst/>
            </dgm:shape>
            <dgm:presOf axis="ch desOrSelf" ptType="node node" st="3 1" cnt="1 0"/>
            <dgm:constrLst>
              <dgm:constr type="h" refType="w"/>
            </dgm:constrLst>
            <dgm:ruleLst/>
          </dgm:layoutNode>
          <dgm:layoutNode name="c3text">
            <dgm:varLst>
              <dgm:bulletEnabled val="1"/>
            </dgm:varLst>
            <dgm:alg type="tx"/>
            <dgm:shape xmlns:r="http://schemas.openxmlformats.org/officeDocument/2006/relationships" type="rect" r:blip="" hideGeom="1">
              <dgm:adjLst/>
            </dgm:shape>
            <dgm:presOf axis="ch desOrSelf" ptType="node node" st="3 1" cnt="1 0"/>
            <dgm:constrLst/>
            <dgm:ruleLst>
              <dgm:rule type="primFontSz" val="5" fact="NaN" max="NaN"/>
            </dgm:ruleLst>
          </dgm:layoutNode>
        </dgm:layoutNode>
      </dgm:if>
      <dgm:else name="Name31"/>
    </dgm:choose>
    <dgm:choose name="Name32">
      <dgm:if name="Name33" axis="ch" ptType="node" func="cnt" op="gte" val="4">
        <dgm:layoutNode name="comp4">
          <dgm:alg type="composite"/>
          <dgm:shape xmlns:r="http://schemas.openxmlformats.org/officeDocument/2006/relationships" r:blip="">
            <dgm:adjLst/>
          </dgm:shape>
          <dgm:presOf/>
          <dgm:choose name="Name34">
            <dgm:if name="Name35" axis="ch" ptType="node" func="cnt" op="equ" val="4">
              <dgm:constrLst>
                <dgm:constr type="w" for="ch" forName="circle4" refType="w"/>
                <dgm:constr type="h" for="ch" forName="circle4" refType="h"/>
                <dgm:constr type="ctrX" for="ch" forName="circle4" refType="w" fact="0.5"/>
                <dgm:constr type="ctrY" for="ch" forName="circle4" refType="h" fact="0.5"/>
                <dgm:constr type="ctrX" for="ch" forName="c4text" refType="w" fact="0.5"/>
                <dgm:constr type="ctrY" for="ch" forName="c4text" refType="h" fact="0.5"/>
                <dgm:constr type="w" for="ch" forName="c4text" refType="w" refFor="ch" refForName="circle4" fact="0.70711"/>
                <dgm:constr type="h" for="ch" forName="c4text" refType="h" refFor="ch" refForName="circle4" fact="0.5"/>
              </dgm:constrLst>
            </dgm:if>
            <dgm:if name="Name36" axis="ch" ptType="node" func="cnt" op="gte" val="5">
              <dgm:constrLst>
                <dgm:constr type="w" for="ch" forName="circle4" refType="w"/>
                <dgm:constr type="h" for="ch" forName="circle4" refType="h"/>
                <dgm:constr type="ctrX" for="ch" forName="circle4" refType="w" fact="0.5"/>
                <dgm:constr type="ctrY" for="ch" forName="circle4" refType="h" fact="0.5"/>
                <dgm:constr type="ctrX" for="ch" forName="c4text" refType="w" fact="0.5"/>
                <dgm:constr type="ctrY" for="ch" forName="c4text" refType="h" fact="0.18"/>
                <dgm:constr type="w" for="ch" forName="c4text" refType="w" refFor="ch" refForName="circle4" fact="0.54"/>
                <dgm:constr type="h" for="ch" forName="c4text" refType="h" refFor="ch" refForName="circle4" fact="0.18"/>
              </dgm:constrLst>
            </dgm:if>
            <dgm:else name="Name37"/>
          </dgm:choose>
          <dgm:ruleLst/>
          <dgm:layoutNode name="circle4" styleLbl="node1">
            <dgm:alg type="sp"/>
            <dgm:shape xmlns:r="http://schemas.openxmlformats.org/officeDocument/2006/relationships" type="ellipse" r:blip="">
              <dgm:adjLst/>
            </dgm:shape>
            <dgm:presOf axis="ch desOrSelf" ptType="node node" st="4 1" cnt="1 0"/>
            <dgm:constrLst>
              <dgm:constr type="h" refType="w"/>
            </dgm:constrLst>
            <dgm:ruleLst/>
          </dgm:layoutNode>
          <dgm:layoutNode name="c4text">
            <dgm:varLst>
              <dgm:bulletEnabled val="1"/>
            </dgm:varLst>
            <dgm:alg type="tx"/>
            <dgm:shape xmlns:r="http://schemas.openxmlformats.org/officeDocument/2006/relationships" type="rect" r:blip="" hideGeom="1">
              <dgm:adjLst/>
            </dgm:shape>
            <dgm:presOf axis="ch desOrSelf" ptType="node node" st="4 1" cnt="1 0"/>
            <dgm:constrLst/>
            <dgm:ruleLst>
              <dgm:rule type="primFontSz" val="5" fact="NaN" max="NaN"/>
            </dgm:ruleLst>
          </dgm:layoutNode>
        </dgm:layoutNode>
      </dgm:if>
      <dgm:else name="Name38"/>
    </dgm:choose>
    <dgm:choose name="Name39">
      <dgm:if name="Name40" axis="ch" ptType="node" func="cnt" op="gte" val="5">
        <dgm:layoutNode name="comp5">
          <dgm:alg type="composite"/>
          <dgm:shape xmlns:r="http://schemas.openxmlformats.org/officeDocument/2006/relationships" r:blip="">
            <dgm:adjLst/>
          </dgm:shape>
          <dgm:presOf/>
          <dgm:choose name="Name41">
            <dgm:if name="Name42" axis="ch" ptType="node" func="cnt" op="equ" val="5">
              <dgm:constrLst>
                <dgm:constr type="w" for="ch" forName="circle5" refType="w"/>
                <dgm:constr type="h" for="ch" forName="circle5" refType="h"/>
                <dgm:constr type="ctrX" for="ch" forName="circle5" refType="w" fact="0.5"/>
                <dgm:constr type="ctrY" for="ch" forName="circle5" refType="h" fact="0.5"/>
                <dgm:constr type="ctrX" for="ch" forName="c5text" refType="w" fact="0.5"/>
                <dgm:constr type="ctrY" for="ch" forName="c5text" refType="h" fact="0.5"/>
                <dgm:constr type="w" for="ch" forName="c5text" refType="w" refFor="ch" refForName="circle5" fact="0.70711"/>
                <dgm:constr type="h" for="ch" forName="c5text" refType="h" refFor="ch" refForName="circle5" fact="0.5"/>
              </dgm:constrLst>
            </dgm:if>
            <dgm:if name="Name43" axis="ch" ptType="node" func="cnt" op="gte" val="6">
              <dgm:constrLst>
                <dgm:constr type="w" for="ch" forName="circle5" refType="w"/>
                <dgm:constr type="h" for="ch" forName="circle5" refType="h"/>
                <dgm:constr type="ctrX" for="ch" forName="circle5" refType="w" fact="0.5"/>
                <dgm:constr type="ctrY" for="ch" forName="circle5" refType="h" fact="0.5"/>
                <dgm:constr type="ctrX" for="ch" forName="c5text" refType="w" fact="0.5"/>
                <dgm:constr type="ctrY" for="ch" forName="c5text" refType="h" fact="0.25"/>
                <dgm:constr type="w" for="ch" forName="c5text" refType="w" refFor="ch" refForName="circle5" fact="0.65"/>
                <dgm:constr type="h" for="ch" forName="c5text" refType="h" refFor="ch" refForName="circle5" fact="0.25"/>
              </dgm:constrLst>
            </dgm:if>
            <dgm:else name="Name44"/>
          </dgm:choose>
          <dgm:ruleLst/>
          <dgm:layoutNode name="circle5" styleLbl="node1">
            <dgm:alg type="sp"/>
            <dgm:shape xmlns:r="http://schemas.openxmlformats.org/officeDocument/2006/relationships" type="ellipse" r:blip="">
              <dgm:adjLst/>
            </dgm:shape>
            <dgm:presOf axis="ch desOrSelf" ptType="node node" st="5 1" cnt="1 0"/>
            <dgm:constrLst>
              <dgm:constr type="h" refType="w"/>
            </dgm:constrLst>
            <dgm:ruleLst/>
          </dgm:layoutNode>
          <dgm:layoutNode name="c5text">
            <dgm:varLst>
              <dgm:bulletEnabled val="1"/>
            </dgm:varLst>
            <dgm:alg type="tx"/>
            <dgm:shape xmlns:r="http://schemas.openxmlformats.org/officeDocument/2006/relationships" type="rect" r:blip="" hideGeom="1">
              <dgm:adjLst/>
            </dgm:shape>
            <dgm:presOf axis="ch desOrSelf" ptType="node node" st="5 1" cnt="1 0"/>
            <dgm:constrLst/>
            <dgm:ruleLst>
              <dgm:rule type="primFontSz" val="5" fact="NaN" max="NaN"/>
            </dgm:ruleLst>
          </dgm:layoutNode>
        </dgm:layoutNode>
      </dgm:if>
      <dgm:else name="Name45"/>
    </dgm:choose>
    <dgm:choose name="Name46">
      <dgm:if name="Name47" axis="ch" ptType="node" func="cnt" op="gte" val="6">
        <dgm:layoutNode name="comp6">
          <dgm:alg type="composite"/>
          <dgm:shape xmlns:r="http://schemas.openxmlformats.org/officeDocument/2006/relationships" r:blip="">
            <dgm:adjLst/>
          </dgm:shape>
          <dgm:presOf/>
          <dgm:choose name="Name48">
            <dgm:if name="Name49" axis="ch" ptType="node" func="cnt" op="equ" val="6">
              <dgm:constrLst>
                <dgm:constr type="w" for="ch" forName="circle6" refType="w"/>
                <dgm:constr type="h" for="ch" forName="circle6" refType="h"/>
                <dgm:constr type="ctrX" for="ch" forName="circle6" refType="w" fact="0.5"/>
                <dgm:constr type="ctrY" for="ch" forName="circle6" refType="h" fact="0.5"/>
                <dgm:constr type="ctrX" for="ch" forName="c6text" refType="w" fact="0.5"/>
                <dgm:constr type="ctrY" for="ch" forName="c6text" refType="h" fact="0.5"/>
                <dgm:constr type="w" for="ch" forName="c6text" refType="w" refFor="ch" refForName="circle6" fact="0.70711"/>
                <dgm:constr type="h" for="ch" forName="c6text" refType="h" refFor="ch" refForName="circle6" fact="0.5"/>
              </dgm:constrLst>
            </dgm:if>
            <dgm:if name="Name50" axis="ch" ptType="node" func="cnt" op="gte" val="7">
              <dgm:constrLst>
                <dgm:constr type="w" for="ch" forName="circle6" refType="w"/>
                <dgm:constr type="h" for="ch" forName="circle6" refType="h"/>
                <dgm:constr type="ctrX" for="ch" forName="circle6" refType="w" fact="0.5"/>
                <dgm:constr type="ctrY" for="ch" forName="circle6" refType="h" fact="0.5"/>
                <dgm:constr type="ctrX" for="ch" forName="c6text" refType="w" fact="0.5"/>
                <dgm:constr type="ctrY" for="ch" forName="c6text" refType="h" fact="0.27"/>
                <dgm:constr type="w" for="ch" forName="c6text" refType="w" refFor="ch" refForName="circle6" fact="0.68"/>
                <dgm:constr type="h" for="ch" forName="c6text" refType="h" refFor="ch" refForName="circle6" fact="0.241"/>
              </dgm:constrLst>
            </dgm:if>
            <dgm:else name="Name51"/>
          </dgm:choose>
          <dgm:ruleLst/>
          <dgm:layoutNode name="circle6" styleLbl="node1">
            <dgm:alg type="sp"/>
            <dgm:shape xmlns:r="http://schemas.openxmlformats.org/officeDocument/2006/relationships" type="ellipse" r:blip="">
              <dgm:adjLst/>
            </dgm:shape>
            <dgm:presOf axis="ch desOrSelf" ptType="node node" st="6 1" cnt="1 0"/>
            <dgm:constrLst>
              <dgm:constr type="h" refType="w"/>
            </dgm:constrLst>
            <dgm:ruleLst/>
          </dgm:layoutNode>
          <dgm:layoutNode name="c6text">
            <dgm:varLst>
              <dgm:bulletEnabled val="1"/>
            </dgm:varLst>
            <dgm:alg type="tx"/>
            <dgm:shape xmlns:r="http://schemas.openxmlformats.org/officeDocument/2006/relationships" type="rect" r:blip="" hideGeom="1">
              <dgm:adjLst/>
            </dgm:shape>
            <dgm:presOf axis="ch desOrSelf" ptType="node node" st="6 1" cnt="1 0"/>
            <dgm:constrLst/>
            <dgm:ruleLst>
              <dgm:rule type="primFontSz" val="5" fact="NaN" max="NaN"/>
            </dgm:ruleLst>
          </dgm:layoutNode>
        </dgm:layoutNode>
      </dgm:if>
      <dgm:else name="Name52"/>
    </dgm:choose>
    <dgm:choose name="Name53">
      <dgm:if name="Name54" axis="ch" ptType="node" func="cnt" op="gte" val="7">
        <dgm:layoutNode name="comp7">
          <dgm:alg type="composite"/>
          <dgm:shape xmlns:r="http://schemas.openxmlformats.org/officeDocument/2006/relationships" r:blip="">
            <dgm:adjLst/>
          </dgm:shape>
          <dgm:presOf/>
          <dgm:constrLst>
            <dgm:constr type="w" for="ch" forName="circle7" refType="w"/>
            <dgm:constr type="h" for="ch" forName="circle7" refType="h"/>
            <dgm:constr type="ctrX" for="ch" forName="circle7" refType="w" fact="0.5"/>
            <dgm:constr type="ctrY" for="ch" forName="circle7" refType="h" fact="0.5"/>
            <dgm:constr type="ctrX" for="ch" forName="c7text" refType="w" fact="0.5"/>
            <dgm:constr type="ctrY" for="ch" forName="c7text" refType="h" fact="0.5"/>
            <dgm:constr type="w" for="ch" forName="c7text" refType="w" refFor="ch" refForName="circle7" fact="0.70711"/>
            <dgm:constr type="h" for="ch" forName="c7text" refType="h" refFor="ch" refForName="circle7" fact="0.5"/>
          </dgm:constrLst>
          <dgm:ruleLst/>
          <dgm:layoutNode name="circle7" styleLbl="node1">
            <dgm:alg type="sp"/>
            <dgm:shape xmlns:r="http://schemas.openxmlformats.org/officeDocument/2006/relationships" type="ellipse" r:blip="">
              <dgm:adjLst/>
            </dgm:shape>
            <dgm:presOf axis="ch desOrSelf" ptType="node node" st="7 1" cnt="1 0"/>
            <dgm:constrLst>
              <dgm:constr type="h" refType="w"/>
            </dgm:constrLst>
            <dgm:ruleLst/>
          </dgm:layoutNode>
          <dgm:layoutNode name="c7text">
            <dgm:varLst>
              <dgm:bulletEnabled val="1"/>
            </dgm:varLst>
            <dgm:alg type="tx"/>
            <dgm:shape xmlns:r="http://schemas.openxmlformats.org/officeDocument/2006/relationships" type="rect" r:blip="" hideGeom="1">
              <dgm:adjLst/>
            </dgm:shape>
            <dgm:presOf axis="ch desOrSelf" ptType="node node" st="7 1" cnt="1 0"/>
            <dgm:constrLst/>
            <dgm:ruleLst>
              <dgm:rule type="primFontSz" val="5" fact="NaN" max="NaN"/>
            </dgm:ruleLst>
          </dgm:layoutNode>
        </dgm:layoutNode>
      </dgm:if>
      <dgm:else name="Name55"/>
    </dgm:choose>
  </dgm:layoutNode>
</dgm:layoutDef>
</file>

<file path=ppt/diagrams/layout4.xml><?xml version="1.0" encoding="utf-8"?>
<dgm:layoutDef xmlns:dgm="http://schemas.openxmlformats.org/drawingml/2006/diagram" xmlns:a="http://schemas.openxmlformats.org/drawingml/2006/main" uniqueId="urn:microsoft.com/office/officeart/2005/8/layout/venn2">
  <dgm:title val=""/>
  <dgm:desc val=""/>
  <dgm:catLst>
    <dgm:cat type="relationship" pri="30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resizeHandles val="exact"/>
    </dgm:varLst>
    <dgm:alg type="composite">
      <dgm:param type="ar" val="1"/>
    </dgm:alg>
    <dgm:shape xmlns:r="http://schemas.openxmlformats.org/officeDocument/2006/relationships" r:blip="">
      <dgm:adjLst/>
    </dgm:shape>
    <dgm:presOf/>
    <dgm:choose name="Name1">
      <dgm:if name="Name2" axis="ch" ptType="node" func="cnt" op="lte" val="3">
        <dgm:constrLst>
          <dgm:constr type="w" for="ch" forName="comp1" refType="w"/>
          <dgm:constr type="h" for="ch" forName="comp1" refType="w" refFor="ch" refForName="comp1"/>
          <dgm:constr type="w" for="ch" forName="comp2" refType="w" fact="0.75"/>
          <dgm:constr type="h" for="ch" forName="comp2" refType="w" refFor="ch" refForName="comp2"/>
          <dgm:constr type="ctrX" for="ch" forName="comp2" refType="ctrX" refFor="ch" refForName="comp1"/>
          <dgm:constr type="b" for="ch" forName="comp2" refType="b" refFor="ch" refForName="comp1"/>
          <dgm:constr type="w" for="ch" forName="comp3" refType="w" fact="0.5"/>
          <dgm:constr type="h" for="ch" forName="comp3" refType="w" refFor="ch" refForName="comp3"/>
          <dgm:constr type="ctrX" for="ch" forName="comp3" refType="ctrX" refFor="ch" refForName="comp1"/>
          <dgm:constr type="b" for="ch" forName="comp3" refType="b" refFor="ch" refForName="comp1"/>
          <dgm:constr type="primFontSz" for="des" ptType="node" op="equ" val="65"/>
        </dgm:constrLst>
      </dgm:if>
      <dgm:if name="Name3" axis="ch" ptType="node" func="cnt" op="equ" val="4">
        <dgm:constrLst>
          <dgm:constr type="w" for="ch" forName="comp1" refType="w"/>
          <dgm:constr type="h" for="ch" forName="comp1" refType="w" refFor="ch" refForName="comp1"/>
          <dgm:constr type="w" for="ch" forName="comp2" refType="w" fact="0.8"/>
          <dgm:constr type="h" for="ch" forName="comp2" refType="w" refFor="ch" refForName="comp2"/>
          <dgm:constr type="ctrX" for="ch" forName="comp2" refType="ctrX" refFor="ch" refForName="comp1"/>
          <dgm:constr type="b" for="ch" forName="comp2" refType="b" refFor="ch" refForName="comp1"/>
          <dgm:constr type="w" for="ch" forName="comp3" refType="w" fact="0.6"/>
          <dgm:constr type="h" for="ch" forName="comp3" refType="w" refFor="ch" refForName="comp3"/>
          <dgm:constr type="ctrX" for="ch" forName="comp3" refType="ctrX" refFor="ch" refForName="comp1"/>
          <dgm:constr type="b" for="ch" forName="comp3" refType="b" refFor="ch" refForName="comp1"/>
          <dgm:constr type="w" for="ch" forName="comp4" refType="w" fact="0.4"/>
          <dgm:constr type="h" for="ch" forName="comp4" refType="w" refFor="ch" refForName="comp4"/>
          <dgm:constr type="ctrX" for="ch" forName="comp4" refType="ctrX" refFor="ch" refForName="comp1"/>
          <dgm:constr type="b" for="ch" forName="comp4" refType="b" refFor="ch" refForName="comp1"/>
          <dgm:constr type="primFontSz" for="des" ptType="node" op="equ" val="65"/>
        </dgm:constrLst>
      </dgm:if>
      <dgm:else name="Name4">
        <dgm:constrLst>
          <dgm:constr type="w" for="ch" forName="comp1" refType="w"/>
          <dgm:constr type="h" for="ch" forName="comp1" refType="w" refFor="ch" refForName="comp1"/>
          <dgm:constr type="w" for="ch" forName="comp2" refType="w" fact="0.85"/>
          <dgm:constr type="h" for="ch" forName="comp2" refType="w" refFor="ch" refForName="comp2"/>
          <dgm:constr type="ctrX" for="ch" forName="comp2" refType="ctrX" refFor="ch" refForName="comp1"/>
          <dgm:constr type="b" for="ch" forName="comp2" refType="b" refFor="ch" refForName="comp1"/>
          <dgm:constr type="w" for="ch" forName="comp3" refType="w" fact="0.7"/>
          <dgm:constr type="h" for="ch" forName="comp3" refType="w" refFor="ch" refForName="comp3"/>
          <dgm:constr type="ctrX" for="ch" forName="comp3" refType="ctrX" refFor="ch" refForName="comp1"/>
          <dgm:constr type="b" for="ch" forName="comp3" refType="b" refFor="ch" refForName="comp1"/>
          <dgm:constr type="w" for="ch" forName="comp4" refType="w" fact="0.55"/>
          <dgm:constr type="h" for="ch" forName="comp4" refType="w" refFor="ch" refForName="comp4"/>
          <dgm:constr type="ctrX" for="ch" forName="comp4" refType="ctrX" refFor="ch" refForName="comp1"/>
          <dgm:constr type="b" for="ch" forName="comp4" refType="b" refFor="ch" refForName="comp1"/>
          <dgm:constr type="w" for="ch" forName="comp5" refType="w" fact="0.4"/>
          <dgm:constr type="h" for="ch" forName="comp5" refType="w" refFor="ch" refForName="comp5"/>
          <dgm:constr type="ctrX" for="ch" forName="comp5" refType="ctrX" refFor="ch" refForName="comp1"/>
          <dgm:constr type="b" for="ch" forName="comp5" refType="b" refFor="ch" refForName="comp1"/>
          <dgm:constr type="w" for="ch" forName="comp6" refType="w" fact="0.25"/>
          <dgm:constr type="h" for="ch" forName="comp6" refType="w" refFor="ch" refForName="comp6"/>
          <dgm:constr type="ctrX" for="ch" forName="comp6" refType="ctrX" refFor="ch" refForName="comp1"/>
          <dgm:constr type="b" for="ch" forName="comp6" refType="b" refFor="ch" refForName="comp1"/>
          <dgm:constr type="w" for="ch" forName="comp7" refType="w" fact="0.15"/>
          <dgm:constr type="h" for="ch" forName="comp7" refType="w" refFor="ch" refForName="comp7"/>
          <dgm:constr type="ctrX" for="ch" forName="comp7" refType="ctrX" refFor="ch" refForName="comp1"/>
          <dgm:constr type="b" for="ch" forName="comp7" refType="b" refFor="ch" refForName="comp1"/>
          <dgm:constr type="primFontSz" for="des" ptType="node" op="equ" val="65"/>
        </dgm:constrLst>
      </dgm:else>
    </dgm:choose>
    <dgm:ruleLst/>
    <dgm:choose name="Name5">
      <dgm:if name="Name6" axis="ch" ptType="node" func="cnt" op="gte" val="1">
        <dgm:layoutNode name="comp1">
          <dgm:alg type="composite"/>
          <dgm:shape xmlns:r="http://schemas.openxmlformats.org/officeDocument/2006/relationships" r:blip="">
            <dgm:adjLst/>
          </dgm:shape>
          <dgm:presOf/>
          <dgm:choose name="Name7">
            <dgm:if name="Name8" axis="ch" ptType="node" func="cnt" op="equ" val="1">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5"/>
                <dgm:constr type="w" for="ch" forName="c1text" refType="w" refFor="ch" refForName="circle1" fact="0.70711"/>
                <dgm:constr type="h" for="ch" forName="c1text" refType="h" refFor="ch" refForName="circle1" fact="0.5"/>
              </dgm:constrLst>
            </dgm:if>
            <dgm:if name="Name9" axis="ch" ptType="node" func="cnt" op="equ" val="2">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6"/>
                <dgm:constr type="w" for="ch" forName="c1text" refType="w" refFor="ch" refForName="circle1" fact="0.525"/>
                <dgm:constr type="h" for="ch" forName="c1text" refType="h" refFor="ch" refForName="circle1" fact="0.17"/>
              </dgm:constrLst>
            </dgm:if>
            <dgm:if name="Name10" axis="ch" ptType="node" func="cnt" op="equ" val="3">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25"/>
                <dgm:constr type="w" for="ch" forName="c1text" refType="w" refFor="ch" refForName="circle1" fact="0.3495"/>
                <dgm:constr type="h" for="ch" forName="c1text" refType="h" refFor="ch" refForName="circle1" fact="0.15"/>
              </dgm:constrLst>
            </dgm:if>
            <dgm:if name="Name11" axis="ch" ptType="node" func="cnt" op="equ" val="4">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25"/>
                <dgm:constr type="w" for="ch" forName="c1text" refType="w" refFor="ch" refForName="circle1" fact="0.2796"/>
                <dgm:constr type="h" for="ch" forName="c1text" refType="h" refFor="ch" refForName="circle1" fact="0.15"/>
              </dgm:constrLst>
            </dgm:if>
            <dgm:if name="Name12" axis="ch" ptType="node" func="cnt" op="gte" val="5">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
                <dgm:constr type="w" for="ch" forName="c1text" refType="w" refFor="ch" refForName="circle1" fact="0.375"/>
                <dgm:constr type="h" for="ch" forName="c1text" refType="h" refFor="ch" refForName="circle1" fact="0.1"/>
              </dgm:constrLst>
            </dgm:if>
            <dgm:else name="Name13"/>
          </dgm:choose>
          <dgm:ruleLst/>
          <dgm:layoutNode name="circle1" styleLbl="node1">
            <dgm:alg type="sp"/>
            <dgm:shape xmlns:r="http://schemas.openxmlformats.org/officeDocument/2006/relationships" type="ellipse" r:blip="">
              <dgm:adjLst/>
            </dgm:shape>
            <dgm:presOf axis="ch desOrSelf" ptType="node node" st="1 1" cnt="1 0"/>
            <dgm:constrLst>
              <dgm:constr type="h" refType="w"/>
            </dgm:constrLst>
            <dgm:ruleLst/>
          </dgm:layoutNode>
          <dgm:layoutNode name="c1text">
            <dgm:varLst>
              <dgm:bulletEnabled val="1"/>
            </dgm:varLst>
            <dgm:alg type="tx"/>
            <dgm:shape xmlns:r="http://schemas.openxmlformats.org/officeDocument/2006/relationships" type="rect" r:blip="" hideGeom="1">
              <dgm:adjLst/>
            </dgm:shape>
            <dgm:presOf axis="ch desOrSelf" ptType="node node" st="1 1" cnt="1 0"/>
            <dgm:constrLst/>
            <dgm:ruleLst>
              <dgm:rule type="primFontSz" val="5" fact="NaN" max="NaN"/>
            </dgm:ruleLst>
          </dgm:layoutNode>
        </dgm:layoutNode>
      </dgm:if>
      <dgm:else name="Name14"/>
    </dgm:choose>
    <dgm:choose name="Name15">
      <dgm:if name="Name16" axis="ch" ptType="node" func="cnt" op="gte" val="2">
        <dgm:layoutNode name="comp2">
          <dgm:alg type="composite"/>
          <dgm:shape xmlns:r="http://schemas.openxmlformats.org/officeDocument/2006/relationships" r:blip="">
            <dgm:adjLst/>
          </dgm:shape>
          <dgm:presOf/>
          <dgm:choose name="Name17">
            <dgm:if name="Name18" axis="ch" ptType="node" func="cnt" op="equ" val="2">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5"/>
                <dgm:constr type="w" for="ch" forName="c2text" refType="w" refFor="ch" refForName="circle2" fact="0.70711"/>
                <dgm:constr type="h" for="ch" forName="c2text" refType="h" refFor="ch" refForName="circle2" fact="0.5"/>
              </dgm:constrLst>
            </dgm:if>
            <dgm:if name="Name19" axis="ch" ptType="node" func="cnt" op="equ" val="3">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5625"/>
                <dgm:constr type="w" for="ch" forName="c2text" refType="w" refFor="ch" refForName="circle2" fact="0.466"/>
                <dgm:constr type="h" for="ch" forName="c2text" refType="h" refFor="ch" refForName="circle2" fact="0.1875"/>
              </dgm:constrLst>
            </dgm:if>
            <dgm:if name="Name20" axis="ch" ptType="node" func="cnt" op="equ" val="4">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5"/>
                <dgm:constr type="w" for="ch" forName="c2text" refType="w" refFor="ch" refForName="circle2" fact="0.3495"/>
                <dgm:constr type="h" for="ch" forName="c2text" refType="h" refFor="ch" refForName="circle2" fact="0.18"/>
              </dgm:constrLst>
            </dgm:if>
            <dgm:if name="Name21" axis="ch" ptType="node" func="cnt" op="gte" val="5">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15"/>
                <dgm:constr type="w" for="ch" forName="c2text" refType="w" refFor="ch" refForName="circle2" fact="0.43125"/>
                <dgm:constr type="h" for="ch" forName="c2text" refType="h" refFor="ch" refForName="circle2" fact="0.115"/>
              </dgm:constrLst>
            </dgm:if>
            <dgm:else name="Name22"/>
          </dgm:choose>
          <dgm:ruleLst/>
          <dgm:layoutNode name="circle2" styleLbl="node1">
            <dgm:alg type="sp"/>
            <dgm:shape xmlns:r="http://schemas.openxmlformats.org/officeDocument/2006/relationships" type="ellipse" r:blip="">
              <dgm:adjLst/>
            </dgm:shape>
            <dgm:presOf axis="ch desOrSelf" ptType="node node" st="2 1" cnt="1 0"/>
            <dgm:constrLst>
              <dgm:constr type="h" refType="w"/>
            </dgm:constrLst>
            <dgm:ruleLst/>
          </dgm:layoutNode>
          <dgm:layoutNode name="c2text">
            <dgm:varLst>
              <dgm:bulletEnabled val="1"/>
            </dgm:varLst>
            <dgm:alg type="tx"/>
            <dgm:shape xmlns:r="http://schemas.openxmlformats.org/officeDocument/2006/relationships" type="rect" r:blip="" hideGeom="1">
              <dgm:adjLst/>
            </dgm:shape>
            <dgm:presOf axis="ch desOrSelf" ptType="node node" st="2 1" cnt="1 0"/>
            <dgm:constrLst/>
            <dgm:ruleLst>
              <dgm:rule type="primFontSz" val="5" fact="NaN" max="NaN"/>
            </dgm:ruleLst>
          </dgm:layoutNode>
        </dgm:layoutNode>
      </dgm:if>
      <dgm:else name="Name23"/>
    </dgm:choose>
    <dgm:choose name="Name24">
      <dgm:if name="Name25" axis="ch" ptType="node" func="cnt" op="gte" val="3">
        <dgm:layoutNode name="comp3">
          <dgm:alg type="composite"/>
          <dgm:shape xmlns:r="http://schemas.openxmlformats.org/officeDocument/2006/relationships" r:blip="">
            <dgm:adjLst/>
          </dgm:shape>
          <dgm:presOf/>
          <dgm:choose name="Name26">
            <dgm:if name="Name27" axis="ch" ptType="node" func="cnt" op="equ" val="3">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5"/>
                <dgm:constr type="w" for="ch" forName="c3text" refType="w" refFor="ch" refForName="circle3" fact="0.70711"/>
                <dgm:constr type="h" for="ch" forName="c3text" refType="h" refFor="ch" refForName="circle3" fact="0.5"/>
              </dgm:constrLst>
            </dgm:if>
            <dgm:if name="Name28" axis="ch" ptType="node" func="cnt" op="equ" val="4">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1875"/>
                <dgm:constr type="w" for="ch" forName="c3text" refType="w" refFor="ch" refForName="circle3" fact="0.466"/>
                <dgm:constr type="h" for="ch" forName="c3text" refType="h" refFor="ch" refForName="circle3" fact="0.225"/>
              </dgm:constrLst>
            </dgm:if>
            <dgm:if name="Name29" axis="ch" ptType="node" func="cnt" op="gte" val="5">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138"/>
                <dgm:constr type="w" for="ch" forName="c3text" refType="w" refFor="ch" refForName="circle3" fact="0.5175"/>
                <dgm:constr type="h" for="ch" forName="c3text" refType="h" refFor="ch" refForName="circle3" fact="0.138"/>
              </dgm:constrLst>
            </dgm:if>
            <dgm:else name="Name30"/>
          </dgm:choose>
          <dgm:ruleLst/>
          <dgm:layoutNode name="circle3" styleLbl="node1">
            <dgm:alg type="sp"/>
            <dgm:shape xmlns:r="http://schemas.openxmlformats.org/officeDocument/2006/relationships" type="ellipse" r:blip="">
              <dgm:adjLst/>
            </dgm:shape>
            <dgm:presOf axis="ch desOrSelf" ptType="node node" st="3 1" cnt="1 0"/>
            <dgm:constrLst>
              <dgm:constr type="h" refType="w"/>
            </dgm:constrLst>
            <dgm:ruleLst/>
          </dgm:layoutNode>
          <dgm:layoutNode name="c3text">
            <dgm:varLst>
              <dgm:bulletEnabled val="1"/>
            </dgm:varLst>
            <dgm:alg type="tx"/>
            <dgm:shape xmlns:r="http://schemas.openxmlformats.org/officeDocument/2006/relationships" type="rect" r:blip="" hideGeom="1">
              <dgm:adjLst/>
            </dgm:shape>
            <dgm:presOf axis="ch desOrSelf" ptType="node node" st="3 1" cnt="1 0"/>
            <dgm:constrLst/>
            <dgm:ruleLst>
              <dgm:rule type="primFontSz" val="5" fact="NaN" max="NaN"/>
            </dgm:ruleLst>
          </dgm:layoutNode>
        </dgm:layoutNode>
      </dgm:if>
      <dgm:else name="Name31"/>
    </dgm:choose>
    <dgm:choose name="Name32">
      <dgm:if name="Name33" axis="ch" ptType="node" func="cnt" op="gte" val="4">
        <dgm:layoutNode name="comp4">
          <dgm:alg type="composite"/>
          <dgm:shape xmlns:r="http://schemas.openxmlformats.org/officeDocument/2006/relationships" r:blip="">
            <dgm:adjLst/>
          </dgm:shape>
          <dgm:presOf/>
          <dgm:choose name="Name34">
            <dgm:if name="Name35" axis="ch" ptType="node" func="cnt" op="equ" val="4">
              <dgm:constrLst>
                <dgm:constr type="w" for="ch" forName="circle4" refType="w"/>
                <dgm:constr type="h" for="ch" forName="circle4" refType="h"/>
                <dgm:constr type="ctrX" for="ch" forName="circle4" refType="w" fact="0.5"/>
                <dgm:constr type="ctrY" for="ch" forName="circle4" refType="h" fact="0.5"/>
                <dgm:constr type="ctrX" for="ch" forName="c4text" refType="w" fact="0.5"/>
                <dgm:constr type="ctrY" for="ch" forName="c4text" refType="h" fact="0.5"/>
                <dgm:constr type="w" for="ch" forName="c4text" refType="w" refFor="ch" refForName="circle4" fact="0.70711"/>
                <dgm:constr type="h" for="ch" forName="c4text" refType="h" refFor="ch" refForName="circle4" fact="0.5"/>
              </dgm:constrLst>
            </dgm:if>
            <dgm:if name="Name36" axis="ch" ptType="node" func="cnt" op="gte" val="5">
              <dgm:constrLst>
                <dgm:constr type="w" for="ch" forName="circle4" refType="w"/>
                <dgm:constr type="h" for="ch" forName="circle4" refType="h"/>
                <dgm:constr type="ctrX" for="ch" forName="circle4" refType="w" fact="0.5"/>
                <dgm:constr type="ctrY" for="ch" forName="circle4" refType="h" fact="0.5"/>
                <dgm:constr type="ctrX" for="ch" forName="c4text" refType="w" fact="0.5"/>
                <dgm:constr type="ctrY" for="ch" forName="c4text" refType="h" fact="0.18"/>
                <dgm:constr type="w" for="ch" forName="c4text" refType="w" refFor="ch" refForName="circle4" fact="0.54"/>
                <dgm:constr type="h" for="ch" forName="c4text" refType="h" refFor="ch" refForName="circle4" fact="0.18"/>
              </dgm:constrLst>
            </dgm:if>
            <dgm:else name="Name37"/>
          </dgm:choose>
          <dgm:ruleLst/>
          <dgm:layoutNode name="circle4" styleLbl="node1">
            <dgm:alg type="sp"/>
            <dgm:shape xmlns:r="http://schemas.openxmlformats.org/officeDocument/2006/relationships" type="ellipse" r:blip="">
              <dgm:adjLst/>
            </dgm:shape>
            <dgm:presOf axis="ch desOrSelf" ptType="node node" st="4 1" cnt="1 0"/>
            <dgm:constrLst>
              <dgm:constr type="h" refType="w"/>
            </dgm:constrLst>
            <dgm:ruleLst/>
          </dgm:layoutNode>
          <dgm:layoutNode name="c4text">
            <dgm:varLst>
              <dgm:bulletEnabled val="1"/>
            </dgm:varLst>
            <dgm:alg type="tx"/>
            <dgm:shape xmlns:r="http://schemas.openxmlformats.org/officeDocument/2006/relationships" type="rect" r:blip="" hideGeom="1">
              <dgm:adjLst/>
            </dgm:shape>
            <dgm:presOf axis="ch desOrSelf" ptType="node node" st="4 1" cnt="1 0"/>
            <dgm:constrLst/>
            <dgm:ruleLst>
              <dgm:rule type="primFontSz" val="5" fact="NaN" max="NaN"/>
            </dgm:ruleLst>
          </dgm:layoutNode>
        </dgm:layoutNode>
      </dgm:if>
      <dgm:else name="Name38"/>
    </dgm:choose>
    <dgm:choose name="Name39">
      <dgm:if name="Name40" axis="ch" ptType="node" func="cnt" op="gte" val="5">
        <dgm:layoutNode name="comp5">
          <dgm:alg type="composite"/>
          <dgm:shape xmlns:r="http://schemas.openxmlformats.org/officeDocument/2006/relationships" r:blip="">
            <dgm:adjLst/>
          </dgm:shape>
          <dgm:presOf/>
          <dgm:choose name="Name41">
            <dgm:if name="Name42" axis="ch" ptType="node" func="cnt" op="equ" val="5">
              <dgm:constrLst>
                <dgm:constr type="w" for="ch" forName="circle5" refType="w"/>
                <dgm:constr type="h" for="ch" forName="circle5" refType="h"/>
                <dgm:constr type="ctrX" for="ch" forName="circle5" refType="w" fact="0.5"/>
                <dgm:constr type="ctrY" for="ch" forName="circle5" refType="h" fact="0.5"/>
                <dgm:constr type="ctrX" for="ch" forName="c5text" refType="w" fact="0.5"/>
                <dgm:constr type="ctrY" for="ch" forName="c5text" refType="h" fact="0.5"/>
                <dgm:constr type="w" for="ch" forName="c5text" refType="w" refFor="ch" refForName="circle5" fact="0.70711"/>
                <dgm:constr type="h" for="ch" forName="c5text" refType="h" refFor="ch" refForName="circle5" fact="0.5"/>
              </dgm:constrLst>
            </dgm:if>
            <dgm:if name="Name43" axis="ch" ptType="node" func="cnt" op="gte" val="6">
              <dgm:constrLst>
                <dgm:constr type="w" for="ch" forName="circle5" refType="w"/>
                <dgm:constr type="h" for="ch" forName="circle5" refType="h"/>
                <dgm:constr type="ctrX" for="ch" forName="circle5" refType="w" fact="0.5"/>
                <dgm:constr type="ctrY" for="ch" forName="circle5" refType="h" fact="0.5"/>
                <dgm:constr type="ctrX" for="ch" forName="c5text" refType="w" fact="0.5"/>
                <dgm:constr type="ctrY" for="ch" forName="c5text" refType="h" fact="0.25"/>
                <dgm:constr type="w" for="ch" forName="c5text" refType="w" refFor="ch" refForName="circle5" fact="0.65"/>
                <dgm:constr type="h" for="ch" forName="c5text" refType="h" refFor="ch" refForName="circle5" fact="0.25"/>
              </dgm:constrLst>
            </dgm:if>
            <dgm:else name="Name44"/>
          </dgm:choose>
          <dgm:ruleLst/>
          <dgm:layoutNode name="circle5" styleLbl="node1">
            <dgm:alg type="sp"/>
            <dgm:shape xmlns:r="http://schemas.openxmlformats.org/officeDocument/2006/relationships" type="ellipse" r:blip="">
              <dgm:adjLst/>
            </dgm:shape>
            <dgm:presOf axis="ch desOrSelf" ptType="node node" st="5 1" cnt="1 0"/>
            <dgm:constrLst>
              <dgm:constr type="h" refType="w"/>
            </dgm:constrLst>
            <dgm:ruleLst/>
          </dgm:layoutNode>
          <dgm:layoutNode name="c5text">
            <dgm:varLst>
              <dgm:bulletEnabled val="1"/>
            </dgm:varLst>
            <dgm:alg type="tx"/>
            <dgm:shape xmlns:r="http://schemas.openxmlformats.org/officeDocument/2006/relationships" type="rect" r:blip="" hideGeom="1">
              <dgm:adjLst/>
            </dgm:shape>
            <dgm:presOf axis="ch desOrSelf" ptType="node node" st="5 1" cnt="1 0"/>
            <dgm:constrLst/>
            <dgm:ruleLst>
              <dgm:rule type="primFontSz" val="5" fact="NaN" max="NaN"/>
            </dgm:ruleLst>
          </dgm:layoutNode>
        </dgm:layoutNode>
      </dgm:if>
      <dgm:else name="Name45"/>
    </dgm:choose>
    <dgm:choose name="Name46">
      <dgm:if name="Name47" axis="ch" ptType="node" func="cnt" op="gte" val="6">
        <dgm:layoutNode name="comp6">
          <dgm:alg type="composite"/>
          <dgm:shape xmlns:r="http://schemas.openxmlformats.org/officeDocument/2006/relationships" r:blip="">
            <dgm:adjLst/>
          </dgm:shape>
          <dgm:presOf/>
          <dgm:choose name="Name48">
            <dgm:if name="Name49" axis="ch" ptType="node" func="cnt" op="equ" val="6">
              <dgm:constrLst>
                <dgm:constr type="w" for="ch" forName="circle6" refType="w"/>
                <dgm:constr type="h" for="ch" forName="circle6" refType="h"/>
                <dgm:constr type="ctrX" for="ch" forName="circle6" refType="w" fact="0.5"/>
                <dgm:constr type="ctrY" for="ch" forName="circle6" refType="h" fact="0.5"/>
                <dgm:constr type="ctrX" for="ch" forName="c6text" refType="w" fact="0.5"/>
                <dgm:constr type="ctrY" for="ch" forName="c6text" refType="h" fact="0.5"/>
                <dgm:constr type="w" for="ch" forName="c6text" refType="w" refFor="ch" refForName="circle6" fact="0.70711"/>
                <dgm:constr type="h" for="ch" forName="c6text" refType="h" refFor="ch" refForName="circle6" fact="0.5"/>
              </dgm:constrLst>
            </dgm:if>
            <dgm:if name="Name50" axis="ch" ptType="node" func="cnt" op="gte" val="7">
              <dgm:constrLst>
                <dgm:constr type="w" for="ch" forName="circle6" refType="w"/>
                <dgm:constr type="h" for="ch" forName="circle6" refType="h"/>
                <dgm:constr type="ctrX" for="ch" forName="circle6" refType="w" fact="0.5"/>
                <dgm:constr type="ctrY" for="ch" forName="circle6" refType="h" fact="0.5"/>
                <dgm:constr type="ctrX" for="ch" forName="c6text" refType="w" fact="0.5"/>
                <dgm:constr type="ctrY" for="ch" forName="c6text" refType="h" fact="0.27"/>
                <dgm:constr type="w" for="ch" forName="c6text" refType="w" refFor="ch" refForName="circle6" fact="0.68"/>
                <dgm:constr type="h" for="ch" forName="c6text" refType="h" refFor="ch" refForName="circle6" fact="0.241"/>
              </dgm:constrLst>
            </dgm:if>
            <dgm:else name="Name51"/>
          </dgm:choose>
          <dgm:ruleLst/>
          <dgm:layoutNode name="circle6" styleLbl="node1">
            <dgm:alg type="sp"/>
            <dgm:shape xmlns:r="http://schemas.openxmlformats.org/officeDocument/2006/relationships" type="ellipse" r:blip="">
              <dgm:adjLst/>
            </dgm:shape>
            <dgm:presOf axis="ch desOrSelf" ptType="node node" st="6 1" cnt="1 0"/>
            <dgm:constrLst>
              <dgm:constr type="h" refType="w"/>
            </dgm:constrLst>
            <dgm:ruleLst/>
          </dgm:layoutNode>
          <dgm:layoutNode name="c6text">
            <dgm:varLst>
              <dgm:bulletEnabled val="1"/>
            </dgm:varLst>
            <dgm:alg type="tx"/>
            <dgm:shape xmlns:r="http://schemas.openxmlformats.org/officeDocument/2006/relationships" type="rect" r:blip="" hideGeom="1">
              <dgm:adjLst/>
            </dgm:shape>
            <dgm:presOf axis="ch desOrSelf" ptType="node node" st="6 1" cnt="1 0"/>
            <dgm:constrLst/>
            <dgm:ruleLst>
              <dgm:rule type="primFontSz" val="5" fact="NaN" max="NaN"/>
            </dgm:ruleLst>
          </dgm:layoutNode>
        </dgm:layoutNode>
      </dgm:if>
      <dgm:else name="Name52"/>
    </dgm:choose>
    <dgm:choose name="Name53">
      <dgm:if name="Name54" axis="ch" ptType="node" func="cnt" op="gte" val="7">
        <dgm:layoutNode name="comp7">
          <dgm:alg type="composite"/>
          <dgm:shape xmlns:r="http://schemas.openxmlformats.org/officeDocument/2006/relationships" r:blip="">
            <dgm:adjLst/>
          </dgm:shape>
          <dgm:presOf/>
          <dgm:constrLst>
            <dgm:constr type="w" for="ch" forName="circle7" refType="w"/>
            <dgm:constr type="h" for="ch" forName="circle7" refType="h"/>
            <dgm:constr type="ctrX" for="ch" forName="circle7" refType="w" fact="0.5"/>
            <dgm:constr type="ctrY" for="ch" forName="circle7" refType="h" fact="0.5"/>
            <dgm:constr type="ctrX" for="ch" forName="c7text" refType="w" fact="0.5"/>
            <dgm:constr type="ctrY" for="ch" forName="c7text" refType="h" fact="0.5"/>
            <dgm:constr type="w" for="ch" forName="c7text" refType="w" refFor="ch" refForName="circle7" fact="0.70711"/>
            <dgm:constr type="h" for="ch" forName="c7text" refType="h" refFor="ch" refForName="circle7" fact="0.5"/>
          </dgm:constrLst>
          <dgm:ruleLst/>
          <dgm:layoutNode name="circle7" styleLbl="node1">
            <dgm:alg type="sp"/>
            <dgm:shape xmlns:r="http://schemas.openxmlformats.org/officeDocument/2006/relationships" type="ellipse" r:blip="">
              <dgm:adjLst/>
            </dgm:shape>
            <dgm:presOf axis="ch desOrSelf" ptType="node node" st="7 1" cnt="1 0"/>
            <dgm:constrLst>
              <dgm:constr type="h" refType="w"/>
            </dgm:constrLst>
            <dgm:ruleLst/>
          </dgm:layoutNode>
          <dgm:layoutNode name="c7text">
            <dgm:varLst>
              <dgm:bulletEnabled val="1"/>
            </dgm:varLst>
            <dgm:alg type="tx"/>
            <dgm:shape xmlns:r="http://schemas.openxmlformats.org/officeDocument/2006/relationships" type="rect" r:blip="" hideGeom="1">
              <dgm:adjLst/>
            </dgm:shape>
            <dgm:presOf axis="ch desOrSelf" ptType="node node" st="7 1" cnt="1 0"/>
            <dgm:constrLst/>
            <dgm:ruleLst>
              <dgm:rule type="primFontSz" val="5" fact="NaN" max="NaN"/>
            </dgm:ruleLst>
          </dgm:layoutNode>
        </dgm:layoutNode>
      </dgm:if>
      <dgm:else name="Name55"/>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2C3A5D-9EC1-4E2E-A5F5-F57C4274B9D9}" type="datetimeFigureOut">
              <a:rPr lang="en-US" smtClean="0"/>
              <a:t>4/24/2024</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E96CD4-D923-48F0-B01E-35879D93E3CB}" type="slidenum">
              <a:rPr lang="en-US" smtClean="0"/>
              <a:t>‹#›</a:t>
            </a:fld>
            <a:endParaRPr lang="en-US"/>
          </a:p>
        </p:txBody>
      </p:sp>
    </p:spTree>
    <p:extLst>
      <p:ext uri="{BB962C8B-B14F-4D97-AF65-F5344CB8AC3E}">
        <p14:creationId xmlns:p14="http://schemas.microsoft.com/office/powerpoint/2010/main" val="23008770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0" fontAlgn="base" latinLnBrk="0" hangingPunct="0">
              <a:lnSpc>
                <a:spcPct val="100000"/>
              </a:lnSpc>
              <a:spcBef>
                <a:spcPct val="0"/>
              </a:spcBef>
              <a:spcAft>
                <a:spcPct val="0"/>
              </a:spcAft>
              <a:buClrTx/>
              <a:buSzTx/>
              <a:buFontTx/>
              <a:buNone/>
              <a:tabLst/>
              <a:defRPr/>
            </a:pPr>
            <a:fld id="{6E074355-CE0D-4C68-A6CB-C364ED71B33B}" type="slidenum">
              <a:rPr kumimoji="0" lang="en-US" sz="1200" b="0" i="0" u="none" strike="noStrike" kern="1200" cap="none" spc="0" normalizeH="0" baseline="0" noProof="0" smtClean="0">
                <a:ln>
                  <a:noFill/>
                </a:ln>
                <a:solidFill>
                  <a:srgbClr val="000000"/>
                </a:solidFill>
                <a:effectLst/>
                <a:uLnTx/>
                <a:uFillTx/>
                <a:latin typeface="Arial" charset="0"/>
              </a:rPr>
              <a:pPr marL="0" marR="0" lvl="0" indent="0" algn="r" defTabSz="914400" rtl="0" eaLnBrk="0" fontAlgn="base" latinLnBrk="0" hangingPunct="0">
                <a:lnSpc>
                  <a:spcPct val="100000"/>
                </a:lnSpc>
                <a:spcBef>
                  <a:spcPct val="0"/>
                </a:spcBef>
                <a:spcAft>
                  <a:spcPct val="0"/>
                </a:spcAft>
                <a:buClrTx/>
                <a:buSzTx/>
                <a:buFontTx/>
                <a:buNone/>
                <a:tabLst/>
                <a:defRPr/>
              </a:pPr>
              <a:t>1</a:t>
            </a:fld>
            <a:endParaRPr kumimoji="0" lang="en-US" sz="1200" b="0" i="0" u="none" strike="noStrike" kern="1200" cap="none" spc="0" normalizeH="0" baseline="0" noProof="0">
              <a:ln>
                <a:noFill/>
              </a:ln>
              <a:solidFill>
                <a:srgbClr val="000000"/>
              </a:solidFill>
              <a:effectLst/>
              <a:uLnTx/>
              <a:uFillTx/>
              <a:latin typeface="Arial" charset="0"/>
            </a:endParaRPr>
          </a:p>
        </p:txBody>
      </p:sp>
    </p:spTree>
    <p:extLst>
      <p:ext uri="{BB962C8B-B14F-4D97-AF65-F5344CB8AC3E}">
        <p14:creationId xmlns:p14="http://schemas.microsoft.com/office/powerpoint/2010/main" val="37337929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I will begin my talk with a simple question: How do we make a scientific inference?</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Here is an elementary depiction of the scientific method: On the left hand side of this table, we have the real world in which natural phenomena occur, and on the right hand side, we have the mathematical abstraction of the physical world.</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We perform an initial experiment and collect some data. Then we form a hypothesis or mathematical model for the observed data,  calibrate and validate the model, and then make a prediction based on the model and compare the results with more observations from nature.</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More formally, we can represent this process by a hierarchical pyramid structure. The right face of the pyramid represents observational data,  the left face represents the model, and the rear face is the reality, which we never observed, simply because it is always convolved with complex measurement errors and uncertainties. Then, the scientific methodology starts from the bottom of the pyramid, first we calibrate the model using the calibration data, then we perform model validation to ensure that the model’s predictions are accurate enough for our problem. And finally we make a prediction using the validated model to obtain the quantity of interest in our scientific problem.</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i="0" dirty="0"/>
              <a:t>For centuries, this methodology has been the workhorse of scientific inference. But, over the past few decades things have slightly changed.</a:t>
            </a:r>
          </a:p>
        </p:txBody>
      </p:sp>
      <p:sp>
        <p:nvSpPr>
          <p:cNvPr id="4" name="Slide Number Placeholder 3"/>
          <p:cNvSpPr>
            <a:spLocks noGrp="1"/>
          </p:cNvSpPr>
          <p:nvPr>
            <p:ph type="sldNum" sz="quarter" idx="10"/>
          </p:nvPr>
        </p:nvSpPr>
        <p:spPr/>
        <p:txBody>
          <a:bodyPr/>
          <a:lstStyle/>
          <a:p>
            <a:pPr marL="0" marR="0" lvl="0" indent="0" algn="r" defTabSz="914400" rtl="0" eaLnBrk="0" fontAlgn="base" latinLnBrk="0" hangingPunct="0">
              <a:lnSpc>
                <a:spcPct val="100000"/>
              </a:lnSpc>
              <a:spcBef>
                <a:spcPct val="0"/>
              </a:spcBef>
              <a:spcAft>
                <a:spcPct val="0"/>
              </a:spcAft>
              <a:buClrTx/>
              <a:buSzTx/>
              <a:buFontTx/>
              <a:buNone/>
              <a:tabLst/>
              <a:defRPr/>
            </a:pPr>
            <a:fld id="{6E074355-CE0D-4C68-A6CB-C364ED71B33B}" type="slidenum">
              <a:rPr kumimoji="0" lang="en-US" sz="1200" b="0" i="0" u="none" strike="noStrike" kern="1200" cap="none" spc="0" normalizeH="0" baseline="0" noProof="0" smtClean="0">
                <a:ln>
                  <a:noFill/>
                </a:ln>
                <a:solidFill>
                  <a:srgbClr val="000000"/>
                </a:solidFill>
                <a:effectLst/>
                <a:uLnTx/>
                <a:uFillTx/>
                <a:latin typeface="Arial" charset="0"/>
              </a:rPr>
              <a:pPr marL="0" marR="0" lvl="0" indent="0" algn="r" defTabSz="914400" rtl="0" eaLnBrk="0" fontAlgn="base" latinLnBrk="0" hangingPunct="0">
                <a:lnSpc>
                  <a:spcPct val="100000"/>
                </a:lnSpc>
                <a:spcBef>
                  <a:spcPct val="0"/>
                </a:spcBef>
                <a:spcAft>
                  <a:spcPct val="0"/>
                </a:spcAft>
                <a:buClrTx/>
                <a:buSzTx/>
                <a:buFontTx/>
                <a:buNone/>
                <a:tabLst/>
                <a:defRPr/>
              </a:pPr>
              <a:t>2</a:t>
            </a:fld>
            <a:endParaRPr kumimoji="0" lang="en-US" sz="1200" b="0" i="0" u="none" strike="noStrike" kern="1200" cap="none" spc="0" normalizeH="0" baseline="0" noProof="0" dirty="0">
              <a:ln>
                <a:noFill/>
              </a:ln>
              <a:solidFill>
                <a:srgbClr val="000000"/>
              </a:solidFill>
              <a:effectLst/>
              <a:uLnTx/>
              <a:uFillTx/>
              <a:latin typeface="Arial" charset="0"/>
            </a:endParaRPr>
          </a:p>
        </p:txBody>
      </p:sp>
    </p:spTree>
    <p:extLst>
      <p:ext uri="{BB962C8B-B14F-4D97-AF65-F5344CB8AC3E}">
        <p14:creationId xmlns:p14="http://schemas.microsoft.com/office/powerpoint/2010/main" val="25691259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I will begin my talk with a simple question: How do we make a scientific inference?</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Here is an elementary depiction of the scientific method: On the left hand side of this table, we have the real world in which natural phenomena occur, and on the right hand side, we have the mathematical abstraction of the physical world.</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We perform an initial experiment and collect some data. Then we form a hypothesis or mathematical model for the observed data,  calibrate and validate the model, and then make a prediction based on the model and compare the results with more observations from nature.</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More formally, we can represent this process by a hierarchical pyramid structure. The right face of the pyramid represents observational data,  the left face represents the model, and the rear face is the reality, which we never observed, simply because it is always convolved with complex measurement errors and uncertainties. Then, the scientific methodology starts from the bottom of the pyramid, first we calibrate the model using the calibration data, then we perform model validation to ensure that the model’s predictions are accurate enough for our problem. And finally we make a prediction using the validated model to obtain the quantity of interest in our scientific problem.</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i="0" dirty="0"/>
              <a:t>For centuries, this methodology has been the workhorse of scientific inference. But, over the past few decades things have slightly changed.</a:t>
            </a:r>
          </a:p>
        </p:txBody>
      </p:sp>
      <p:sp>
        <p:nvSpPr>
          <p:cNvPr id="4" name="Slide Number Placeholder 3"/>
          <p:cNvSpPr>
            <a:spLocks noGrp="1"/>
          </p:cNvSpPr>
          <p:nvPr>
            <p:ph type="sldNum" sz="quarter" idx="10"/>
          </p:nvPr>
        </p:nvSpPr>
        <p:spPr/>
        <p:txBody>
          <a:bodyPr/>
          <a:lstStyle/>
          <a:p>
            <a:pPr marL="0" marR="0" lvl="0" indent="0" algn="r" defTabSz="914400" rtl="0" eaLnBrk="0" fontAlgn="base" latinLnBrk="0" hangingPunct="0">
              <a:lnSpc>
                <a:spcPct val="100000"/>
              </a:lnSpc>
              <a:spcBef>
                <a:spcPct val="0"/>
              </a:spcBef>
              <a:spcAft>
                <a:spcPct val="0"/>
              </a:spcAft>
              <a:buClrTx/>
              <a:buSzTx/>
              <a:buFontTx/>
              <a:buNone/>
              <a:tabLst/>
              <a:defRPr/>
            </a:pPr>
            <a:fld id="{6E074355-CE0D-4C68-A6CB-C364ED71B33B}" type="slidenum">
              <a:rPr kumimoji="0" lang="en-US" sz="1200" b="0" i="0" u="none" strike="noStrike" kern="1200" cap="none" spc="0" normalizeH="0" baseline="0" noProof="0" smtClean="0">
                <a:ln>
                  <a:noFill/>
                </a:ln>
                <a:solidFill>
                  <a:srgbClr val="000000"/>
                </a:solidFill>
                <a:effectLst/>
                <a:uLnTx/>
                <a:uFillTx/>
                <a:latin typeface="Arial" charset="0"/>
              </a:rPr>
              <a:pPr marL="0" marR="0" lvl="0" indent="0" algn="r" defTabSz="914400" rtl="0" eaLnBrk="0" fontAlgn="base" latinLnBrk="0" hangingPunct="0">
                <a:lnSpc>
                  <a:spcPct val="100000"/>
                </a:lnSpc>
                <a:spcBef>
                  <a:spcPct val="0"/>
                </a:spcBef>
                <a:spcAft>
                  <a:spcPct val="0"/>
                </a:spcAft>
                <a:buClrTx/>
                <a:buSzTx/>
                <a:buFontTx/>
                <a:buNone/>
                <a:tabLst/>
                <a:defRPr/>
              </a:pPr>
              <a:t>3</a:t>
            </a:fld>
            <a:endParaRPr kumimoji="0" lang="en-US" sz="1200" b="0" i="0" u="none" strike="noStrike" kern="1200" cap="none" spc="0" normalizeH="0" baseline="0" noProof="0" dirty="0">
              <a:ln>
                <a:noFill/>
              </a:ln>
              <a:solidFill>
                <a:srgbClr val="000000"/>
              </a:solidFill>
              <a:effectLst/>
              <a:uLnTx/>
              <a:uFillTx/>
              <a:latin typeface="Arial" charset="0"/>
            </a:endParaRPr>
          </a:p>
        </p:txBody>
      </p:sp>
    </p:spTree>
    <p:extLst>
      <p:ext uri="{BB962C8B-B14F-4D97-AF65-F5344CB8AC3E}">
        <p14:creationId xmlns:p14="http://schemas.microsoft.com/office/powerpoint/2010/main" val="26801549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521512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989463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17703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261020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625250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9</a:t>
            </a:fld>
            <a:endParaRPr lang="en-US" dirty="0"/>
          </a:p>
        </p:txBody>
      </p:sp>
    </p:spTree>
    <p:extLst>
      <p:ext uri="{BB962C8B-B14F-4D97-AF65-F5344CB8AC3E}">
        <p14:creationId xmlns:p14="http://schemas.microsoft.com/office/powerpoint/2010/main" val="38505958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10</a:t>
            </a:fld>
            <a:endParaRPr lang="en-US" dirty="0"/>
          </a:p>
        </p:txBody>
      </p:sp>
    </p:spTree>
    <p:extLst>
      <p:ext uri="{BB962C8B-B14F-4D97-AF65-F5344CB8AC3E}">
        <p14:creationId xmlns:p14="http://schemas.microsoft.com/office/powerpoint/2010/main" val="42294000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11</a:t>
            </a:fld>
            <a:endParaRPr lang="en-US" dirty="0"/>
          </a:p>
        </p:txBody>
      </p:sp>
    </p:spTree>
    <p:extLst>
      <p:ext uri="{BB962C8B-B14F-4D97-AF65-F5344CB8AC3E}">
        <p14:creationId xmlns:p14="http://schemas.microsoft.com/office/powerpoint/2010/main" val="26039835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9E16A498-CF41-4AF6-8A2C-3024948F12A4}"/>
              </a:ext>
            </a:extLst>
          </p:cNvPr>
          <p:cNvSpPr>
            <a:spLocks noGrp="1"/>
          </p:cNvSpPr>
          <p:nvPr>
            <p:ph type="body" idx="1"/>
          </p:nvPr>
        </p:nvSpPr>
        <p:spPr/>
        <p:txBody>
          <a:bodyPr/>
          <a:lstStyle/>
          <a:p>
            <a:r>
              <a:rPr lang="en-US" dirty="0"/>
              <a:t>Historically, there has been two fundamentally different approaches to scientific inference.</a:t>
            </a:r>
          </a:p>
          <a:p>
            <a:r>
              <a:rPr lang="en-US" dirty="0"/>
              <a:t>…</a:t>
            </a:r>
          </a:p>
          <a:p>
            <a:r>
              <a:rPr lang="en-US" dirty="0"/>
              <a:t>Now I will try to explain the fundamental difference between the two schools of thought by a simple example.</a:t>
            </a:r>
          </a:p>
        </p:txBody>
      </p:sp>
    </p:spTree>
    <p:extLst>
      <p:ext uri="{BB962C8B-B14F-4D97-AF65-F5344CB8AC3E}">
        <p14:creationId xmlns:p14="http://schemas.microsoft.com/office/powerpoint/2010/main" val="451661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13</a:t>
            </a:fld>
            <a:endParaRPr lang="en-US" dirty="0"/>
          </a:p>
        </p:txBody>
      </p:sp>
    </p:spTree>
    <p:extLst>
      <p:ext uri="{BB962C8B-B14F-4D97-AF65-F5344CB8AC3E}">
        <p14:creationId xmlns:p14="http://schemas.microsoft.com/office/powerpoint/2010/main" val="776402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14</a:t>
            </a:fld>
            <a:endParaRPr lang="en-US" dirty="0"/>
          </a:p>
        </p:txBody>
      </p:sp>
    </p:spTree>
    <p:extLst>
      <p:ext uri="{BB962C8B-B14F-4D97-AF65-F5344CB8AC3E}">
        <p14:creationId xmlns:p14="http://schemas.microsoft.com/office/powerpoint/2010/main" val="32429976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15</a:t>
            </a:fld>
            <a:endParaRPr lang="en-US" dirty="0"/>
          </a:p>
        </p:txBody>
      </p:sp>
    </p:spTree>
    <p:extLst>
      <p:ext uri="{BB962C8B-B14F-4D97-AF65-F5344CB8AC3E}">
        <p14:creationId xmlns:p14="http://schemas.microsoft.com/office/powerpoint/2010/main" val="31969180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16</a:t>
            </a:fld>
            <a:endParaRPr lang="en-US" dirty="0"/>
          </a:p>
        </p:txBody>
      </p:sp>
    </p:spTree>
    <p:extLst>
      <p:ext uri="{BB962C8B-B14F-4D97-AF65-F5344CB8AC3E}">
        <p14:creationId xmlns:p14="http://schemas.microsoft.com/office/powerpoint/2010/main" val="2022576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17</a:t>
            </a:fld>
            <a:endParaRPr lang="en-US" dirty="0"/>
          </a:p>
        </p:txBody>
      </p:sp>
    </p:spTree>
    <p:extLst>
      <p:ext uri="{BB962C8B-B14F-4D97-AF65-F5344CB8AC3E}">
        <p14:creationId xmlns:p14="http://schemas.microsoft.com/office/powerpoint/2010/main" val="17533842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18</a:t>
            </a:fld>
            <a:endParaRPr lang="en-US" dirty="0"/>
          </a:p>
        </p:txBody>
      </p:sp>
    </p:spTree>
    <p:extLst>
      <p:ext uri="{BB962C8B-B14F-4D97-AF65-F5344CB8AC3E}">
        <p14:creationId xmlns:p14="http://schemas.microsoft.com/office/powerpoint/2010/main" val="31742632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i="0" dirty="0"/>
              <a:t>We can only talk about</a:t>
            </a:r>
            <a:r>
              <a:rPr lang="en-US" i="0" baseline="0" dirty="0"/>
              <a:t> subjective notion of probability. </a:t>
            </a:r>
            <a:r>
              <a:rPr lang="en-US" i="0" dirty="0"/>
              <a:t>For example in a horse race betting, no race can be repeated in order</a:t>
            </a:r>
            <a:r>
              <a:rPr lang="en-US" i="0" baseline="0" dirty="0"/>
              <a:t> to apply frequentist notion of probability.</a:t>
            </a:r>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19</a:t>
            </a:fld>
            <a:endParaRPr lang="en-US" dirty="0"/>
          </a:p>
        </p:txBody>
      </p:sp>
    </p:spTree>
    <p:extLst>
      <p:ext uri="{BB962C8B-B14F-4D97-AF65-F5344CB8AC3E}">
        <p14:creationId xmlns:p14="http://schemas.microsoft.com/office/powerpoint/2010/main" val="10938651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754879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29519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D9C64B8E-23EA-44BC-A124-50BE7C2C0E23}"/>
              </a:ext>
            </a:extLst>
          </p:cNvPr>
          <p:cNvSpPr>
            <a:spLocks noGrp="1"/>
          </p:cNvSpPr>
          <p:nvPr>
            <p:ph type="body" idx="1"/>
          </p:nvPr>
        </p:nvSpPr>
        <p:spPr/>
        <p:txBody>
          <a:bodyPr/>
          <a:lstStyle/>
          <a:p>
            <a:r>
              <a:rPr lang="en-US" dirty="0"/>
              <a:t>These two fundamentally different world-views lead to two entirely different approaches to treating uncertainty in data. For a frequentist, reality is always obscured by inherent variability as well as measurement noise, whereas in Bayesian modeling, the inherent variability is solely due to the inadequacy of the model or the uncertainty in our model, and data is data uncertainty is solely due to noise in the measurements.</a:t>
            </a:r>
          </a:p>
        </p:txBody>
      </p:sp>
    </p:spTree>
    <p:extLst>
      <p:ext uri="{BB962C8B-B14F-4D97-AF65-F5344CB8AC3E}">
        <p14:creationId xmlns:p14="http://schemas.microsoft.com/office/powerpoint/2010/main" val="32915800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i="0" dirty="0"/>
              <a:t>We define an event</a:t>
            </a:r>
            <a:r>
              <a:rPr lang="en-US" i="0" baseline="0" dirty="0"/>
              <a:t> as a subset of these possible outcomes in the sample space.</a:t>
            </a:r>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23</a:t>
            </a:fld>
            <a:endParaRPr lang="en-US" dirty="0"/>
          </a:p>
        </p:txBody>
      </p:sp>
    </p:spTree>
    <p:extLst>
      <p:ext uri="{BB962C8B-B14F-4D97-AF65-F5344CB8AC3E}">
        <p14:creationId xmlns:p14="http://schemas.microsoft.com/office/powerpoint/2010/main" val="27676262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037395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65691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92112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885177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4002362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89967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91528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940688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507564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6299013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13131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8539097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108204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597B7625-B870-4444-BF89-68422ABACD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77601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38</a:t>
            </a:fld>
            <a:endParaRPr lang="en-US" dirty="0"/>
          </a:p>
        </p:txBody>
      </p:sp>
    </p:spTree>
    <p:extLst>
      <p:ext uri="{BB962C8B-B14F-4D97-AF65-F5344CB8AC3E}">
        <p14:creationId xmlns:p14="http://schemas.microsoft.com/office/powerpoint/2010/main" val="30319955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39</a:t>
            </a:fld>
            <a:endParaRPr lang="en-US" dirty="0"/>
          </a:p>
        </p:txBody>
      </p:sp>
    </p:spTree>
    <p:extLst>
      <p:ext uri="{BB962C8B-B14F-4D97-AF65-F5344CB8AC3E}">
        <p14:creationId xmlns:p14="http://schemas.microsoft.com/office/powerpoint/2010/main" val="348652751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40</a:t>
            </a:fld>
            <a:endParaRPr lang="en-US" dirty="0"/>
          </a:p>
        </p:txBody>
      </p:sp>
    </p:spTree>
    <p:extLst>
      <p:ext uri="{BB962C8B-B14F-4D97-AF65-F5344CB8AC3E}">
        <p14:creationId xmlns:p14="http://schemas.microsoft.com/office/powerpoint/2010/main" val="423415853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41</a:t>
            </a:fld>
            <a:endParaRPr lang="en-US" dirty="0"/>
          </a:p>
        </p:txBody>
      </p:sp>
    </p:spTree>
    <p:extLst>
      <p:ext uri="{BB962C8B-B14F-4D97-AF65-F5344CB8AC3E}">
        <p14:creationId xmlns:p14="http://schemas.microsoft.com/office/powerpoint/2010/main" val="332836888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42</a:t>
            </a:fld>
            <a:endParaRPr lang="en-US" dirty="0"/>
          </a:p>
        </p:txBody>
      </p:sp>
    </p:spTree>
    <p:extLst>
      <p:ext uri="{BB962C8B-B14F-4D97-AF65-F5344CB8AC3E}">
        <p14:creationId xmlns:p14="http://schemas.microsoft.com/office/powerpoint/2010/main" val="23273071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43</a:t>
            </a:fld>
            <a:endParaRPr lang="en-US" dirty="0"/>
          </a:p>
        </p:txBody>
      </p:sp>
    </p:spTree>
    <p:extLst>
      <p:ext uri="{BB962C8B-B14F-4D97-AF65-F5344CB8AC3E}">
        <p14:creationId xmlns:p14="http://schemas.microsoft.com/office/powerpoint/2010/main" val="26361746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44</a:t>
            </a:fld>
            <a:endParaRPr lang="en-US" dirty="0"/>
          </a:p>
        </p:txBody>
      </p:sp>
    </p:spTree>
    <p:extLst>
      <p:ext uri="{BB962C8B-B14F-4D97-AF65-F5344CB8AC3E}">
        <p14:creationId xmlns:p14="http://schemas.microsoft.com/office/powerpoint/2010/main" val="339052831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US" i="0"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45</a:t>
            </a:fld>
            <a:endParaRPr lang="en-US" dirty="0"/>
          </a:p>
        </p:txBody>
      </p:sp>
    </p:spTree>
    <p:extLst>
      <p:ext uri="{BB962C8B-B14F-4D97-AF65-F5344CB8AC3E}">
        <p14:creationId xmlns:p14="http://schemas.microsoft.com/office/powerpoint/2010/main" val="42252598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B9BDF-5E51-4DC7-A5F3-208ECAB2D359}"/>
              </a:ext>
            </a:extLst>
          </p:cNvPr>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7FBFE54-D08C-42C1-A8D4-EB8EFFE3EA5E}"/>
              </a:ext>
            </a:extLst>
          </p:cNvPr>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5F08568-9083-4142-83E6-A5E951B6DCC8}"/>
              </a:ext>
            </a:extLst>
          </p:cNvPr>
          <p:cNvSpPr>
            <a:spLocks noGrp="1"/>
          </p:cNvSpPr>
          <p:nvPr>
            <p:ph type="dt" sz="half" idx="10"/>
          </p:nvPr>
        </p:nvSpPr>
        <p:spPr/>
        <p:txBody>
          <a:bodyPr/>
          <a:lstStyle/>
          <a:p>
            <a:fld id="{16097714-2330-4288-A0E3-0FDE6F22DE3C}" type="datetimeFigureOut">
              <a:rPr lang="en-US" smtClean="0"/>
              <a:t>4/24/2024</a:t>
            </a:fld>
            <a:endParaRPr lang="en-US"/>
          </a:p>
        </p:txBody>
      </p:sp>
      <p:sp>
        <p:nvSpPr>
          <p:cNvPr id="5" name="Footer Placeholder 4">
            <a:extLst>
              <a:ext uri="{FF2B5EF4-FFF2-40B4-BE49-F238E27FC236}">
                <a16:creationId xmlns:a16="http://schemas.microsoft.com/office/drawing/2014/main" id="{650811E0-09A4-49EF-90D2-73F03DD7DF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492F07-FBB3-4009-A648-C210747F1254}"/>
              </a:ext>
            </a:extLst>
          </p:cNvPr>
          <p:cNvSpPr>
            <a:spLocks noGrp="1"/>
          </p:cNvSpPr>
          <p:nvPr>
            <p:ph type="sldNum" sz="quarter" idx="12"/>
          </p:nvPr>
        </p:nvSpPr>
        <p:spPr/>
        <p:txBody>
          <a:bodyPr/>
          <a:lstStyle/>
          <a:p>
            <a:fld id="{9779EF10-7722-4FC5-B339-71C82576020E}" type="slidenum">
              <a:rPr lang="en-US" smtClean="0"/>
              <a:t>‹#›</a:t>
            </a:fld>
            <a:endParaRPr lang="en-US"/>
          </a:p>
        </p:txBody>
      </p:sp>
    </p:spTree>
    <p:extLst>
      <p:ext uri="{BB962C8B-B14F-4D97-AF65-F5344CB8AC3E}">
        <p14:creationId xmlns:p14="http://schemas.microsoft.com/office/powerpoint/2010/main" val="30903499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7E655-A379-4EA2-A769-012FD6ABF3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0AECEC5-D1B1-4008-98A2-AAD599BEE5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667407-96D2-4AC7-A24F-C3F50146CCCC}"/>
              </a:ext>
            </a:extLst>
          </p:cNvPr>
          <p:cNvSpPr>
            <a:spLocks noGrp="1"/>
          </p:cNvSpPr>
          <p:nvPr>
            <p:ph type="dt" sz="half" idx="10"/>
          </p:nvPr>
        </p:nvSpPr>
        <p:spPr/>
        <p:txBody>
          <a:bodyPr/>
          <a:lstStyle/>
          <a:p>
            <a:fld id="{16097714-2330-4288-A0E3-0FDE6F22DE3C}" type="datetimeFigureOut">
              <a:rPr lang="en-US" smtClean="0"/>
              <a:t>4/24/2024</a:t>
            </a:fld>
            <a:endParaRPr lang="en-US"/>
          </a:p>
        </p:txBody>
      </p:sp>
      <p:sp>
        <p:nvSpPr>
          <p:cNvPr id="5" name="Footer Placeholder 4">
            <a:extLst>
              <a:ext uri="{FF2B5EF4-FFF2-40B4-BE49-F238E27FC236}">
                <a16:creationId xmlns:a16="http://schemas.microsoft.com/office/drawing/2014/main" id="{5F0A092B-D895-4BAC-A9AA-3A45D5699A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4F5190-7F34-446F-9DEE-7FF3558C0DCA}"/>
              </a:ext>
            </a:extLst>
          </p:cNvPr>
          <p:cNvSpPr>
            <a:spLocks noGrp="1"/>
          </p:cNvSpPr>
          <p:nvPr>
            <p:ph type="sldNum" sz="quarter" idx="12"/>
          </p:nvPr>
        </p:nvSpPr>
        <p:spPr/>
        <p:txBody>
          <a:bodyPr/>
          <a:lstStyle/>
          <a:p>
            <a:fld id="{9779EF10-7722-4FC5-B339-71C82576020E}" type="slidenum">
              <a:rPr lang="en-US" smtClean="0"/>
              <a:t>‹#›</a:t>
            </a:fld>
            <a:endParaRPr lang="en-US"/>
          </a:p>
        </p:txBody>
      </p:sp>
    </p:spTree>
    <p:extLst>
      <p:ext uri="{BB962C8B-B14F-4D97-AF65-F5344CB8AC3E}">
        <p14:creationId xmlns:p14="http://schemas.microsoft.com/office/powerpoint/2010/main" val="37901694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C6590-9009-4408-AEF0-529F328D75C7}"/>
              </a:ext>
            </a:extLst>
          </p:cNvPr>
          <p:cNvSpPr>
            <a:spLocks noGrp="1"/>
          </p:cNvSpPr>
          <p:nvPr>
            <p:ph type="title"/>
          </p:nvPr>
        </p:nvSpPr>
        <p:spPr>
          <a:xfrm>
            <a:off x="623888" y="1709739"/>
            <a:ext cx="78867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AD6BEF9-C069-4EE4-86F1-7AD867438E70}"/>
              </a:ext>
            </a:extLst>
          </p:cNvPr>
          <p:cNvSpPr>
            <a:spLocks noGrp="1"/>
          </p:cNvSpPr>
          <p:nvPr>
            <p:ph type="body" idx="1"/>
          </p:nvPr>
        </p:nvSpPr>
        <p:spPr>
          <a:xfrm>
            <a:off x="623888" y="4589464"/>
            <a:ext cx="78867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79CD26-2293-4B6D-B4D0-DC40F8E5624C}"/>
              </a:ext>
            </a:extLst>
          </p:cNvPr>
          <p:cNvSpPr>
            <a:spLocks noGrp="1"/>
          </p:cNvSpPr>
          <p:nvPr>
            <p:ph type="dt" sz="half" idx="10"/>
          </p:nvPr>
        </p:nvSpPr>
        <p:spPr/>
        <p:txBody>
          <a:bodyPr/>
          <a:lstStyle/>
          <a:p>
            <a:fld id="{16097714-2330-4288-A0E3-0FDE6F22DE3C}" type="datetimeFigureOut">
              <a:rPr lang="en-US" smtClean="0"/>
              <a:t>4/24/2024</a:t>
            </a:fld>
            <a:endParaRPr lang="en-US"/>
          </a:p>
        </p:txBody>
      </p:sp>
      <p:sp>
        <p:nvSpPr>
          <p:cNvPr id="5" name="Footer Placeholder 4">
            <a:extLst>
              <a:ext uri="{FF2B5EF4-FFF2-40B4-BE49-F238E27FC236}">
                <a16:creationId xmlns:a16="http://schemas.microsoft.com/office/drawing/2014/main" id="{152B7541-BCE3-4B3D-8B45-A7A00158DA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024F8F-1568-4849-B28B-876322080FE7}"/>
              </a:ext>
            </a:extLst>
          </p:cNvPr>
          <p:cNvSpPr>
            <a:spLocks noGrp="1"/>
          </p:cNvSpPr>
          <p:nvPr>
            <p:ph type="sldNum" sz="quarter" idx="12"/>
          </p:nvPr>
        </p:nvSpPr>
        <p:spPr/>
        <p:txBody>
          <a:bodyPr/>
          <a:lstStyle/>
          <a:p>
            <a:fld id="{9779EF10-7722-4FC5-B339-71C82576020E}" type="slidenum">
              <a:rPr lang="en-US" smtClean="0"/>
              <a:t>‹#›</a:t>
            </a:fld>
            <a:endParaRPr lang="en-US"/>
          </a:p>
        </p:txBody>
      </p:sp>
    </p:spTree>
    <p:extLst>
      <p:ext uri="{BB962C8B-B14F-4D97-AF65-F5344CB8AC3E}">
        <p14:creationId xmlns:p14="http://schemas.microsoft.com/office/powerpoint/2010/main" val="606163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355B5C-13B0-4F80-A6FB-3D561B73E2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60D359-0EF4-4F7A-A8E6-94DAECB58CF4}"/>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BE0AB4C-836F-4C9A-A442-F55F555ABC52}"/>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8981720-E44F-4907-8422-5CA1CC9FD196}"/>
              </a:ext>
            </a:extLst>
          </p:cNvPr>
          <p:cNvSpPr>
            <a:spLocks noGrp="1"/>
          </p:cNvSpPr>
          <p:nvPr>
            <p:ph type="dt" sz="half" idx="10"/>
          </p:nvPr>
        </p:nvSpPr>
        <p:spPr/>
        <p:txBody>
          <a:bodyPr/>
          <a:lstStyle/>
          <a:p>
            <a:fld id="{16097714-2330-4288-A0E3-0FDE6F22DE3C}" type="datetimeFigureOut">
              <a:rPr lang="en-US" smtClean="0"/>
              <a:t>4/24/2024</a:t>
            </a:fld>
            <a:endParaRPr lang="en-US"/>
          </a:p>
        </p:txBody>
      </p:sp>
      <p:sp>
        <p:nvSpPr>
          <p:cNvPr id="6" name="Footer Placeholder 5">
            <a:extLst>
              <a:ext uri="{FF2B5EF4-FFF2-40B4-BE49-F238E27FC236}">
                <a16:creationId xmlns:a16="http://schemas.microsoft.com/office/drawing/2014/main" id="{2C4582BE-C09A-424D-9428-9388C3E199C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AC356C-F772-4F8D-B1D7-6D7549C307F4}"/>
              </a:ext>
            </a:extLst>
          </p:cNvPr>
          <p:cNvSpPr>
            <a:spLocks noGrp="1"/>
          </p:cNvSpPr>
          <p:nvPr>
            <p:ph type="sldNum" sz="quarter" idx="12"/>
          </p:nvPr>
        </p:nvSpPr>
        <p:spPr/>
        <p:txBody>
          <a:bodyPr/>
          <a:lstStyle/>
          <a:p>
            <a:fld id="{9779EF10-7722-4FC5-B339-71C82576020E}" type="slidenum">
              <a:rPr lang="en-US" smtClean="0"/>
              <a:t>‹#›</a:t>
            </a:fld>
            <a:endParaRPr lang="en-US"/>
          </a:p>
        </p:txBody>
      </p:sp>
    </p:spTree>
    <p:extLst>
      <p:ext uri="{BB962C8B-B14F-4D97-AF65-F5344CB8AC3E}">
        <p14:creationId xmlns:p14="http://schemas.microsoft.com/office/powerpoint/2010/main" val="3399839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D57B6-1EEE-42E6-AC88-72E5C2D1FBCA}"/>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A61A456-BF46-47D3-BBBE-554CFB1E3B76}"/>
              </a:ext>
            </a:extLst>
          </p:cNvPr>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6761D8-B94B-4DD0-BEB7-DE05F21343C1}"/>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C8FB6C0-D00E-4768-8E04-5E5BB19EDF09}"/>
              </a:ext>
            </a:extLst>
          </p:cNvPr>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71C06F-97A6-4E35-9D79-62F345CDCD8B}"/>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CB4B39-AB39-4A09-BB4D-1D3A8C40385D}"/>
              </a:ext>
            </a:extLst>
          </p:cNvPr>
          <p:cNvSpPr>
            <a:spLocks noGrp="1"/>
          </p:cNvSpPr>
          <p:nvPr>
            <p:ph type="dt" sz="half" idx="10"/>
          </p:nvPr>
        </p:nvSpPr>
        <p:spPr/>
        <p:txBody>
          <a:bodyPr/>
          <a:lstStyle/>
          <a:p>
            <a:fld id="{16097714-2330-4288-A0E3-0FDE6F22DE3C}" type="datetimeFigureOut">
              <a:rPr lang="en-US" smtClean="0"/>
              <a:t>4/24/2024</a:t>
            </a:fld>
            <a:endParaRPr lang="en-US"/>
          </a:p>
        </p:txBody>
      </p:sp>
      <p:sp>
        <p:nvSpPr>
          <p:cNvPr id="8" name="Footer Placeholder 7">
            <a:extLst>
              <a:ext uri="{FF2B5EF4-FFF2-40B4-BE49-F238E27FC236}">
                <a16:creationId xmlns:a16="http://schemas.microsoft.com/office/drawing/2014/main" id="{E444B08A-8B0C-4657-BA37-B80F02668B5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ACF24EB-7619-4AD8-A10F-9079158F17FD}"/>
              </a:ext>
            </a:extLst>
          </p:cNvPr>
          <p:cNvSpPr>
            <a:spLocks noGrp="1"/>
          </p:cNvSpPr>
          <p:nvPr>
            <p:ph type="sldNum" sz="quarter" idx="12"/>
          </p:nvPr>
        </p:nvSpPr>
        <p:spPr/>
        <p:txBody>
          <a:bodyPr/>
          <a:lstStyle/>
          <a:p>
            <a:fld id="{9779EF10-7722-4FC5-B339-71C82576020E}" type="slidenum">
              <a:rPr lang="en-US" smtClean="0"/>
              <a:t>‹#›</a:t>
            </a:fld>
            <a:endParaRPr lang="en-US"/>
          </a:p>
        </p:txBody>
      </p:sp>
    </p:spTree>
    <p:extLst>
      <p:ext uri="{BB962C8B-B14F-4D97-AF65-F5344CB8AC3E}">
        <p14:creationId xmlns:p14="http://schemas.microsoft.com/office/powerpoint/2010/main" val="13851823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C3101-6781-42BD-82D9-176D0D97492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D719956-1272-4A55-B5C0-6608F6DC39B0}"/>
              </a:ext>
            </a:extLst>
          </p:cNvPr>
          <p:cNvSpPr>
            <a:spLocks noGrp="1"/>
          </p:cNvSpPr>
          <p:nvPr>
            <p:ph type="dt" sz="half" idx="10"/>
          </p:nvPr>
        </p:nvSpPr>
        <p:spPr/>
        <p:txBody>
          <a:bodyPr/>
          <a:lstStyle/>
          <a:p>
            <a:fld id="{16097714-2330-4288-A0E3-0FDE6F22DE3C}" type="datetimeFigureOut">
              <a:rPr lang="en-US" smtClean="0"/>
              <a:t>4/24/2024</a:t>
            </a:fld>
            <a:endParaRPr lang="en-US"/>
          </a:p>
        </p:txBody>
      </p:sp>
      <p:sp>
        <p:nvSpPr>
          <p:cNvPr id="4" name="Footer Placeholder 3">
            <a:extLst>
              <a:ext uri="{FF2B5EF4-FFF2-40B4-BE49-F238E27FC236}">
                <a16:creationId xmlns:a16="http://schemas.microsoft.com/office/drawing/2014/main" id="{E7E5F23D-179D-4418-84BB-B81091E1553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C615B9B-BCFF-4F95-9135-24ADBE5C7B4C}"/>
              </a:ext>
            </a:extLst>
          </p:cNvPr>
          <p:cNvSpPr>
            <a:spLocks noGrp="1"/>
          </p:cNvSpPr>
          <p:nvPr>
            <p:ph type="sldNum" sz="quarter" idx="12"/>
          </p:nvPr>
        </p:nvSpPr>
        <p:spPr/>
        <p:txBody>
          <a:bodyPr/>
          <a:lstStyle/>
          <a:p>
            <a:fld id="{9779EF10-7722-4FC5-B339-71C82576020E}" type="slidenum">
              <a:rPr lang="en-US" smtClean="0"/>
              <a:t>‹#›</a:t>
            </a:fld>
            <a:endParaRPr lang="en-US"/>
          </a:p>
        </p:txBody>
      </p:sp>
    </p:spTree>
    <p:extLst>
      <p:ext uri="{BB962C8B-B14F-4D97-AF65-F5344CB8AC3E}">
        <p14:creationId xmlns:p14="http://schemas.microsoft.com/office/powerpoint/2010/main" val="34705146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2252A0-C5D5-4DB2-AEE4-60342E9909E7}"/>
              </a:ext>
            </a:extLst>
          </p:cNvPr>
          <p:cNvSpPr>
            <a:spLocks noGrp="1"/>
          </p:cNvSpPr>
          <p:nvPr>
            <p:ph type="dt" sz="half" idx="10"/>
          </p:nvPr>
        </p:nvSpPr>
        <p:spPr/>
        <p:txBody>
          <a:bodyPr/>
          <a:lstStyle/>
          <a:p>
            <a:fld id="{16097714-2330-4288-A0E3-0FDE6F22DE3C}" type="datetimeFigureOut">
              <a:rPr lang="en-US" smtClean="0"/>
              <a:t>4/24/2024</a:t>
            </a:fld>
            <a:endParaRPr lang="en-US"/>
          </a:p>
        </p:txBody>
      </p:sp>
      <p:sp>
        <p:nvSpPr>
          <p:cNvPr id="3" name="Footer Placeholder 2">
            <a:extLst>
              <a:ext uri="{FF2B5EF4-FFF2-40B4-BE49-F238E27FC236}">
                <a16:creationId xmlns:a16="http://schemas.microsoft.com/office/drawing/2014/main" id="{D84B89A9-1261-4578-B77D-C3267BE010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054C1C-EA15-4154-919A-C582A8588DA5}"/>
              </a:ext>
            </a:extLst>
          </p:cNvPr>
          <p:cNvSpPr>
            <a:spLocks noGrp="1"/>
          </p:cNvSpPr>
          <p:nvPr>
            <p:ph type="sldNum" sz="quarter" idx="12"/>
          </p:nvPr>
        </p:nvSpPr>
        <p:spPr/>
        <p:txBody>
          <a:bodyPr/>
          <a:lstStyle/>
          <a:p>
            <a:fld id="{9779EF10-7722-4FC5-B339-71C82576020E}" type="slidenum">
              <a:rPr lang="en-US" smtClean="0"/>
              <a:t>‹#›</a:t>
            </a:fld>
            <a:endParaRPr lang="en-US"/>
          </a:p>
        </p:txBody>
      </p:sp>
    </p:spTree>
    <p:extLst>
      <p:ext uri="{BB962C8B-B14F-4D97-AF65-F5344CB8AC3E}">
        <p14:creationId xmlns:p14="http://schemas.microsoft.com/office/powerpoint/2010/main" val="374825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20625-84B9-4D04-ACBA-371E904396E5}"/>
              </a:ext>
            </a:extLst>
          </p:cNvPr>
          <p:cNvSpPr>
            <a:spLocks noGrp="1"/>
          </p:cNvSpPr>
          <p:nvPr>
            <p:ph type="title"/>
          </p:nvPr>
        </p:nvSpPr>
        <p:spPr>
          <a:xfrm>
            <a:off x="629841" y="457200"/>
            <a:ext cx="2949178"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4B2EB58-3500-4E8A-BCFE-4D1CD37518E7}"/>
              </a:ext>
            </a:extLst>
          </p:cNvPr>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A3E9D5-B964-40B7-9B47-2CE96CC0CF54}"/>
              </a:ext>
            </a:extLst>
          </p:cNvPr>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5BC8C1-5665-4E8C-9F1E-97E272503ECD}"/>
              </a:ext>
            </a:extLst>
          </p:cNvPr>
          <p:cNvSpPr>
            <a:spLocks noGrp="1"/>
          </p:cNvSpPr>
          <p:nvPr>
            <p:ph type="dt" sz="half" idx="10"/>
          </p:nvPr>
        </p:nvSpPr>
        <p:spPr/>
        <p:txBody>
          <a:bodyPr/>
          <a:lstStyle/>
          <a:p>
            <a:fld id="{16097714-2330-4288-A0E3-0FDE6F22DE3C}" type="datetimeFigureOut">
              <a:rPr lang="en-US" smtClean="0"/>
              <a:t>4/24/2024</a:t>
            </a:fld>
            <a:endParaRPr lang="en-US"/>
          </a:p>
        </p:txBody>
      </p:sp>
      <p:sp>
        <p:nvSpPr>
          <p:cNvPr id="6" name="Footer Placeholder 5">
            <a:extLst>
              <a:ext uri="{FF2B5EF4-FFF2-40B4-BE49-F238E27FC236}">
                <a16:creationId xmlns:a16="http://schemas.microsoft.com/office/drawing/2014/main" id="{145F8B6B-5292-4DF9-AB51-58608601DA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E23194B-E8DA-4C16-8AC0-9276BC361A78}"/>
              </a:ext>
            </a:extLst>
          </p:cNvPr>
          <p:cNvSpPr>
            <a:spLocks noGrp="1"/>
          </p:cNvSpPr>
          <p:nvPr>
            <p:ph type="sldNum" sz="quarter" idx="12"/>
          </p:nvPr>
        </p:nvSpPr>
        <p:spPr/>
        <p:txBody>
          <a:bodyPr/>
          <a:lstStyle/>
          <a:p>
            <a:fld id="{9779EF10-7722-4FC5-B339-71C82576020E}" type="slidenum">
              <a:rPr lang="en-US" smtClean="0"/>
              <a:t>‹#›</a:t>
            </a:fld>
            <a:endParaRPr lang="en-US"/>
          </a:p>
        </p:txBody>
      </p:sp>
    </p:spTree>
    <p:extLst>
      <p:ext uri="{BB962C8B-B14F-4D97-AF65-F5344CB8AC3E}">
        <p14:creationId xmlns:p14="http://schemas.microsoft.com/office/powerpoint/2010/main" val="34545592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12538-4ADF-48D4-B199-35A0B9AC556F}"/>
              </a:ext>
            </a:extLst>
          </p:cNvPr>
          <p:cNvSpPr>
            <a:spLocks noGrp="1"/>
          </p:cNvSpPr>
          <p:nvPr>
            <p:ph type="title"/>
          </p:nvPr>
        </p:nvSpPr>
        <p:spPr>
          <a:xfrm>
            <a:off x="629841" y="457200"/>
            <a:ext cx="2949178"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66AE218-BE61-4723-A768-2F699E105766}"/>
              </a:ext>
            </a:extLst>
          </p:cNvPr>
          <p:cNvSpPr>
            <a:spLocks noGrp="1"/>
          </p:cNvSpPr>
          <p:nvPr>
            <p:ph type="pic" idx="1"/>
          </p:nvPr>
        </p:nvSpPr>
        <p:spPr>
          <a:xfrm>
            <a:off x="3887391" y="987426"/>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00EAD8D-373E-4556-B18A-E8D85018ACF9}"/>
              </a:ext>
            </a:extLst>
          </p:cNvPr>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F73FC48-5AC1-478A-B128-C7A28F612E7E}"/>
              </a:ext>
            </a:extLst>
          </p:cNvPr>
          <p:cNvSpPr>
            <a:spLocks noGrp="1"/>
          </p:cNvSpPr>
          <p:nvPr>
            <p:ph type="dt" sz="half" idx="10"/>
          </p:nvPr>
        </p:nvSpPr>
        <p:spPr/>
        <p:txBody>
          <a:bodyPr/>
          <a:lstStyle/>
          <a:p>
            <a:fld id="{16097714-2330-4288-A0E3-0FDE6F22DE3C}" type="datetimeFigureOut">
              <a:rPr lang="en-US" smtClean="0"/>
              <a:t>4/24/2024</a:t>
            </a:fld>
            <a:endParaRPr lang="en-US"/>
          </a:p>
        </p:txBody>
      </p:sp>
      <p:sp>
        <p:nvSpPr>
          <p:cNvPr id="6" name="Footer Placeholder 5">
            <a:extLst>
              <a:ext uri="{FF2B5EF4-FFF2-40B4-BE49-F238E27FC236}">
                <a16:creationId xmlns:a16="http://schemas.microsoft.com/office/drawing/2014/main" id="{EC242A18-3A73-43B5-870B-EE8B5900D0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C37C5A-576C-4E12-925D-1485FCE24F48}"/>
              </a:ext>
            </a:extLst>
          </p:cNvPr>
          <p:cNvSpPr>
            <a:spLocks noGrp="1"/>
          </p:cNvSpPr>
          <p:nvPr>
            <p:ph type="sldNum" sz="quarter" idx="12"/>
          </p:nvPr>
        </p:nvSpPr>
        <p:spPr/>
        <p:txBody>
          <a:bodyPr/>
          <a:lstStyle/>
          <a:p>
            <a:fld id="{9779EF10-7722-4FC5-B339-71C82576020E}" type="slidenum">
              <a:rPr lang="en-US" smtClean="0"/>
              <a:t>‹#›</a:t>
            </a:fld>
            <a:endParaRPr lang="en-US"/>
          </a:p>
        </p:txBody>
      </p:sp>
    </p:spTree>
    <p:extLst>
      <p:ext uri="{BB962C8B-B14F-4D97-AF65-F5344CB8AC3E}">
        <p14:creationId xmlns:p14="http://schemas.microsoft.com/office/powerpoint/2010/main" val="319638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620B0-9ABD-47E7-A7E5-443A88B0A8F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4DCB2FB-2A3F-4A3E-8FB2-BA3DAFA23E2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61C612-F407-454E-8CC5-8994845BB9DC}"/>
              </a:ext>
            </a:extLst>
          </p:cNvPr>
          <p:cNvSpPr>
            <a:spLocks noGrp="1"/>
          </p:cNvSpPr>
          <p:nvPr>
            <p:ph type="dt" sz="half" idx="10"/>
          </p:nvPr>
        </p:nvSpPr>
        <p:spPr/>
        <p:txBody>
          <a:bodyPr/>
          <a:lstStyle/>
          <a:p>
            <a:fld id="{16097714-2330-4288-A0E3-0FDE6F22DE3C}" type="datetimeFigureOut">
              <a:rPr lang="en-US" smtClean="0"/>
              <a:t>4/24/2024</a:t>
            </a:fld>
            <a:endParaRPr lang="en-US"/>
          </a:p>
        </p:txBody>
      </p:sp>
      <p:sp>
        <p:nvSpPr>
          <p:cNvPr id="5" name="Footer Placeholder 4">
            <a:extLst>
              <a:ext uri="{FF2B5EF4-FFF2-40B4-BE49-F238E27FC236}">
                <a16:creationId xmlns:a16="http://schemas.microsoft.com/office/drawing/2014/main" id="{9931E3AE-49E4-4C2C-9418-C9261D7338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D12156-9764-4CA1-A8EC-F44F165596F3}"/>
              </a:ext>
            </a:extLst>
          </p:cNvPr>
          <p:cNvSpPr>
            <a:spLocks noGrp="1"/>
          </p:cNvSpPr>
          <p:nvPr>
            <p:ph type="sldNum" sz="quarter" idx="12"/>
          </p:nvPr>
        </p:nvSpPr>
        <p:spPr/>
        <p:txBody>
          <a:bodyPr/>
          <a:lstStyle/>
          <a:p>
            <a:fld id="{9779EF10-7722-4FC5-B339-71C82576020E}" type="slidenum">
              <a:rPr lang="en-US" smtClean="0"/>
              <a:t>‹#›</a:t>
            </a:fld>
            <a:endParaRPr lang="en-US"/>
          </a:p>
        </p:txBody>
      </p:sp>
    </p:spTree>
    <p:extLst>
      <p:ext uri="{BB962C8B-B14F-4D97-AF65-F5344CB8AC3E}">
        <p14:creationId xmlns:p14="http://schemas.microsoft.com/office/powerpoint/2010/main" val="36002352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A7AFE7-D395-45D8-9836-FF08E6BC8C51}"/>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476B398-0E14-4B0C-926D-4F15CBA29EFB}"/>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83841D-98FA-4023-BA05-69D7804BEC26}"/>
              </a:ext>
            </a:extLst>
          </p:cNvPr>
          <p:cNvSpPr>
            <a:spLocks noGrp="1"/>
          </p:cNvSpPr>
          <p:nvPr>
            <p:ph type="dt" sz="half" idx="10"/>
          </p:nvPr>
        </p:nvSpPr>
        <p:spPr/>
        <p:txBody>
          <a:bodyPr/>
          <a:lstStyle/>
          <a:p>
            <a:fld id="{16097714-2330-4288-A0E3-0FDE6F22DE3C}" type="datetimeFigureOut">
              <a:rPr lang="en-US" smtClean="0"/>
              <a:t>4/24/2024</a:t>
            </a:fld>
            <a:endParaRPr lang="en-US"/>
          </a:p>
        </p:txBody>
      </p:sp>
      <p:sp>
        <p:nvSpPr>
          <p:cNvPr id="5" name="Footer Placeholder 4">
            <a:extLst>
              <a:ext uri="{FF2B5EF4-FFF2-40B4-BE49-F238E27FC236}">
                <a16:creationId xmlns:a16="http://schemas.microsoft.com/office/drawing/2014/main" id="{D312921F-BD7B-4E7B-BC2B-7C28AB4D9D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3A94E4-F146-4C73-B491-767BED8C9761}"/>
              </a:ext>
            </a:extLst>
          </p:cNvPr>
          <p:cNvSpPr>
            <a:spLocks noGrp="1"/>
          </p:cNvSpPr>
          <p:nvPr>
            <p:ph type="sldNum" sz="quarter" idx="12"/>
          </p:nvPr>
        </p:nvSpPr>
        <p:spPr/>
        <p:txBody>
          <a:bodyPr/>
          <a:lstStyle/>
          <a:p>
            <a:fld id="{9779EF10-7722-4FC5-B339-71C82576020E}" type="slidenum">
              <a:rPr lang="en-US" smtClean="0"/>
              <a:t>‹#›</a:t>
            </a:fld>
            <a:endParaRPr lang="en-US"/>
          </a:p>
        </p:txBody>
      </p:sp>
    </p:spTree>
    <p:extLst>
      <p:ext uri="{BB962C8B-B14F-4D97-AF65-F5344CB8AC3E}">
        <p14:creationId xmlns:p14="http://schemas.microsoft.com/office/powerpoint/2010/main" val="27712659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295402"/>
            <a:ext cx="7772400" cy="1470025"/>
          </a:xfrm>
        </p:spPr>
        <p:txBody>
          <a:bodyPr/>
          <a:lstStyle/>
          <a:p>
            <a:r>
              <a:rPr lang="en-US" dirty="0"/>
              <a:t>Click to edit Master title style</a:t>
            </a:r>
          </a:p>
        </p:txBody>
      </p:sp>
      <p:sp>
        <p:nvSpPr>
          <p:cNvPr id="3" name="Subtitle 2"/>
          <p:cNvSpPr>
            <a:spLocks noGrp="1"/>
          </p:cNvSpPr>
          <p:nvPr>
            <p:ph type="subTitle" idx="1"/>
          </p:nvPr>
        </p:nvSpPr>
        <p:spPr>
          <a:xfrm>
            <a:off x="1371600" y="3124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Tree>
    <p:extLst>
      <p:ext uri="{BB962C8B-B14F-4D97-AF65-F5344CB8AC3E}">
        <p14:creationId xmlns:p14="http://schemas.microsoft.com/office/powerpoint/2010/main" val="36410531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6356352"/>
            <a:ext cx="2133600" cy="365125"/>
          </a:xfrm>
          <a:prstGeom prst="rect">
            <a:avLst/>
          </a:prstGeom>
        </p:spPr>
        <p:txBody>
          <a:bodyPr/>
          <a:lstStyle/>
          <a:p>
            <a:fld id="{638F6AEB-8D55-45A4-92B9-3A64A5EABA57}" type="datetime1">
              <a:rPr lang="en-US" smtClean="0"/>
              <a:t>4/24/2024</a:t>
            </a:fld>
            <a:endParaRPr lang="en-US"/>
          </a:p>
        </p:txBody>
      </p:sp>
      <p:sp>
        <p:nvSpPr>
          <p:cNvPr id="5" name="Footer Placeholder 4"/>
          <p:cNvSpPr>
            <a:spLocks noGrp="1"/>
          </p:cNvSpPr>
          <p:nvPr>
            <p:ph type="ftr" sz="quarter" idx="11"/>
          </p:nvPr>
        </p:nvSpPr>
        <p:spPr>
          <a:xfrm>
            <a:off x="3124200" y="6356352"/>
            <a:ext cx="28956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6356352"/>
            <a:ext cx="2133600" cy="365125"/>
          </a:xfrm>
          <a:prstGeom prst="rect">
            <a:avLst/>
          </a:prstGeom>
        </p:spPr>
        <p:txBody>
          <a:bodyPr/>
          <a:lstStyle/>
          <a:p>
            <a:pPr>
              <a:defRPr/>
            </a:pPr>
            <a:fld id="{8B879F29-07CC-4734-BC9D-F46D4774DF95}" type="slidenum">
              <a:rPr lang="en-US" smtClean="0"/>
              <a:pPr>
                <a:defRPr/>
              </a:pPr>
              <a:t>‹#›</a:t>
            </a:fld>
            <a:endParaRPr lang="en-US" sz="1400"/>
          </a:p>
        </p:txBody>
      </p:sp>
    </p:spTree>
    <p:extLst>
      <p:ext uri="{BB962C8B-B14F-4D97-AF65-F5344CB8AC3E}">
        <p14:creationId xmlns:p14="http://schemas.microsoft.com/office/powerpoint/2010/main" val="16600760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4000" b="1" cap="all"/>
            </a:lvl1pPr>
          </a:lstStyle>
          <a:p>
            <a:r>
              <a:rPr lang="en-US" dirty="0"/>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a:xfrm>
            <a:off x="457200" y="6356352"/>
            <a:ext cx="2133600" cy="365125"/>
          </a:xfrm>
          <a:prstGeom prst="rect">
            <a:avLst/>
          </a:prstGeom>
        </p:spPr>
        <p:txBody>
          <a:bodyPr/>
          <a:lstStyle/>
          <a:p>
            <a:fld id="{0B330C99-3C89-4925-989D-87B6215129DF}" type="datetime1">
              <a:rPr lang="en-US" smtClean="0"/>
              <a:t>4/24/2024</a:t>
            </a:fld>
            <a:endParaRPr lang="en-US"/>
          </a:p>
        </p:txBody>
      </p:sp>
      <p:sp>
        <p:nvSpPr>
          <p:cNvPr id="5" name="Footer Placeholder 4"/>
          <p:cNvSpPr>
            <a:spLocks noGrp="1"/>
          </p:cNvSpPr>
          <p:nvPr>
            <p:ph type="ftr" sz="quarter" idx="11"/>
          </p:nvPr>
        </p:nvSpPr>
        <p:spPr>
          <a:xfrm>
            <a:off x="3124200" y="6356352"/>
            <a:ext cx="28956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6356352"/>
            <a:ext cx="2133600" cy="365125"/>
          </a:xfrm>
          <a:prstGeom prst="rect">
            <a:avLst/>
          </a:prstGeom>
        </p:spPr>
        <p:txBody>
          <a:bodyPr/>
          <a:lstStyle/>
          <a:p>
            <a:pPr>
              <a:defRPr/>
            </a:pPr>
            <a:fld id="{70B4FEC8-3D7B-4AEE-BB2B-4DA7498A7F66}" type="slidenum">
              <a:rPr lang="en-US" smtClean="0"/>
              <a:pPr>
                <a:defRPr/>
              </a:pPr>
              <a:t>‹#›</a:t>
            </a:fld>
            <a:endParaRPr lang="en-US" sz="1400"/>
          </a:p>
        </p:txBody>
      </p:sp>
    </p:spTree>
    <p:extLst>
      <p:ext uri="{BB962C8B-B14F-4D97-AF65-F5344CB8AC3E}">
        <p14:creationId xmlns:p14="http://schemas.microsoft.com/office/powerpoint/2010/main" val="16439199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981201"/>
            <a:ext cx="4038600" cy="4267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981201"/>
            <a:ext cx="4038600" cy="4267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6356352"/>
            <a:ext cx="2133600" cy="365125"/>
          </a:xfrm>
          <a:prstGeom prst="rect">
            <a:avLst/>
          </a:prstGeom>
        </p:spPr>
        <p:txBody>
          <a:bodyPr/>
          <a:lstStyle/>
          <a:p>
            <a:fld id="{6C3E9C4C-7487-48D4-AB70-3452BFB1BF7D}" type="datetime1">
              <a:rPr lang="en-US" smtClean="0"/>
              <a:t>4/24/2024</a:t>
            </a:fld>
            <a:endParaRPr lang="en-US"/>
          </a:p>
        </p:txBody>
      </p:sp>
      <p:sp>
        <p:nvSpPr>
          <p:cNvPr id="6" name="Footer Placeholder 5"/>
          <p:cNvSpPr>
            <a:spLocks noGrp="1"/>
          </p:cNvSpPr>
          <p:nvPr>
            <p:ph type="ftr" sz="quarter" idx="11"/>
          </p:nvPr>
        </p:nvSpPr>
        <p:spPr>
          <a:xfrm>
            <a:off x="3124200" y="6356352"/>
            <a:ext cx="28956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6356352"/>
            <a:ext cx="2133600" cy="365125"/>
          </a:xfrm>
          <a:prstGeom prst="rect">
            <a:avLst/>
          </a:prstGeom>
        </p:spPr>
        <p:txBody>
          <a:bodyPr/>
          <a:lstStyle/>
          <a:p>
            <a:pPr>
              <a:defRPr/>
            </a:pPr>
            <a:fld id="{0BFB47B6-E5D9-439A-BE4E-EE64598FF312}" type="slidenum">
              <a:rPr lang="en-US" smtClean="0"/>
              <a:pPr>
                <a:defRPr/>
              </a:pPr>
              <a:t>‹#›</a:t>
            </a:fld>
            <a:endParaRPr lang="en-US" sz="1400"/>
          </a:p>
        </p:txBody>
      </p:sp>
    </p:spTree>
    <p:extLst>
      <p:ext uri="{BB962C8B-B14F-4D97-AF65-F5344CB8AC3E}">
        <p14:creationId xmlns:p14="http://schemas.microsoft.com/office/powerpoint/2010/main" val="34604557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Tree>
    <p:extLst>
      <p:ext uri="{BB962C8B-B14F-4D97-AF65-F5344CB8AC3E}">
        <p14:creationId xmlns:p14="http://schemas.microsoft.com/office/powerpoint/2010/main" val="322853617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Tree>
    <p:extLst>
      <p:ext uri="{BB962C8B-B14F-4D97-AF65-F5344CB8AC3E}">
        <p14:creationId xmlns:p14="http://schemas.microsoft.com/office/powerpoint/2010/main" val="71944024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2"/>
            <a:ext cx="2133600" cy="365125"/>
          </a:xfrm>
          <a:prstGeom prst="rect">
            <a:avLst/>
          </a:prstGeom>
        </p:spPr>
        <p:txBody>
          <a:bodyPr/>
          <a:lstStyle/>
          <a:p>
            <a:fld id="{EE74E987-2009-4DB4-A81A-1C7C9FA247B0}" type="datetime1">
              <a:rPr lang="en-US" smtClean="0"/>
              <a:t>4/24/2024</a:t>
            </a:fld>
            <a:endParaRPr lang="en-US"/>
          </a:p>
        </p:txBody>
      </p:sp>
      <p:sp>
        <p:nvSpPr>
          <p:cNvPr id="6" name="Footer Placeholder 5"/>
          <p:cNvSpPr>
            <a:spLocks noGrp="1"/>
          </p:cNvSpPr>
          <p:nvPr>
            <p:ph type="ftr" sz="quarter" idx="11"/>
          </p:nvPr>
        </p:nvSpPr>
        <p:spPr>
          <a:xfrm>
            <a:off x="3124200" y="6356352"/>
            <a:ext cx="28956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6356352"/>
            <a:ext cx="2133600" cy="365125"/>
          </a:xfrm>
          <a:prstGeom prst="rect">
            <a:avLst/>
          </a:prstGeom>
        </p:spPr>
        <p:txBody>
          <a:bodyPr/>
          <a:lstStyle/>
          <a:p>
            <a:pPr>
              <a:defRPr/>
            </a:pPr>
            <a:fld id="{288100D8-BB89-428B-B60F-A4CDEC89E416}" type="slidenum">
              <a:rPr lang="en-US" smtClean="0"/>
              <a:pPr>
                <a:defRPr/>
              </a:pPr>
              <a:t>‹#›</a:t>
            </a:fld>
            <a:endParaRPr lang="en-US" sz="1400"/>
          </a:p>
        </p:txBody>
      </p:sp>
    </p:spTree>
    <p:extLst>
      <p:ext uri="{BB962C8B-B14F-4D97-AF65-F5344CB8AC3E}">
        <p14:creationId xmlns:p14="http://schemas.microsoft.com/office/powerpoint/2010/main" val="26037385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457200" y="838200"/>
            <a:ext cx="8229600" cy="1676400"/>
          </a:xfrm>
        </p:spPr>
        <p:txBody>
          <a:bodyPr/>
          <a:lstStyle/>
          <a:p>
            <a:r>
              <a:rPr lang="en-US" dirty="0"/>
              <a:t>Click to edit Master title style</a:t>
            </a:r>
          </a:p>
        </p:txBody>
      </p:sp>
      <p:sp>
        <p:nvSpPr>
          <p:cNvPr id="3" name="Vertical Text Placeholder 2"/>
          <p:cNvSpPr>
            <a:spLocks noGrp="1"/>
          </p:cNvSpPr>
          <p:nvPr>
            <p:ph type="body" orient="vert" idx="1"/>
          </p:nvPr>
        </p:nvSpPr>
        <p:spPr>
          <a:xfrm rot="16200000">
            <a:off x="3607993" y="964010"/>
            <a:ext cx="3429000" cy="6834983"/>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457200" y="6356352"/>
            <a:ext cx="2133600" cy="365125"/>
          </a:xfrm>
          <a:prstGeom prst="rect">
            <a:avLst/>
          </a:prstGeom>
        </p:spPr>
        <p:txBody>
          <a:bodyPr/>
          <a:lstStyle/>
          <a:p>
            <a:fld id="{BC169090-F8B9-43BE-BE88-016FB88AD439}" type="datetime1">
              <a:rPr lang="en-US" smtClean="0"/>
              <a:t>4/24/2024</a:t>
            </a:fld>
            <a:endParaRPr lang="en-US"/>
          </a:p>
        </p:txBody>
      </p:sp>
      <p:sp>
        <p:nvSpPr>
          <p:cNvPr id="5" name="Footer Placeholder 4"/>
          <p:cNvSpPr>
            <a:spLocks noGrp="1"/>
          </p:cNvSpPr>
          <p:nvPr>
            <p:ph type="ftr" sz="quarter" idx="11"/>
          </p:nvPr>
        </p:nvSpPr>
        <p:spPr>
          <a:xfrm>
            <a:off x="3124200" y="6356352"/>
            <a:ext cx="28956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6356352"/>
            <a:ext cx="2133600" cy="365125"/>
          </a:xfrm>
          <a:prstGeom prst="rect">
            <a:avLst/>
          </a:prstGeom>
        </p:spPr>
        <p:txBody>
          <a:bodyPr/>
          <a:lstStyle/>
          <a:p>
            <a:pPr>
              <a:defRPr/>
            </a:pPr>
            <a:fld id="{0D43F31C-FC08-480E-89F2-BE02BC6A4A33}" type="slidenum">
              <a:rPr lang="en-US" smtClean="0"/>
              <a:pPr>
                <a:defRPr/>
              </a:pPr>
              <a:t>‹#›</a:t>
            </a:fld>
            <a:endParaRPr lang="en-US" sz="1400"/>
          </a:p>
        </p:txBody>
      </p:sp>
    </p:spTree>
    <p:extLst>
      <p:ext uri="{BB962C8B-B14F-4D97-AF65-F5344CB8AC3E}">
        <p14:creationId xmlns:p14="http://schemas.microsoft.com/office/powerpoint/2010/main" val="41656915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10" Type="http://schemas.openxmlformats.org/officeDocument/2006/relationships/image" Target="../media/image1.png"/><Relationship Id="rId4" Type="http://schemas.openxmlformats.org/officeDocument/2006/relationships/slideLayout" Target="../slideLayouts/slideLayout15.xml"/><Relationship Id="rId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1CBF36-ECAA-4742-B5CE-F8887E81DE7D}"/>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BA373A2-2693-4587-8A65-BEB1136E260C}"/>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FA51A3-9F55-4606-B2E0-EDAA65BE8024}"/>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097714-2330-4288-A0E3-0FDE6F22DE3C}" type="datetimeFigureOut">
              <a:rPr lang="en-US" smtClean="0"/>
              <a:t>4/24/2024</a:t>
            </a:fld>
            <a:endParaRPr lang="en-US"/>
          </a:p>
        </p:txBody>
      </p:sp>
      <p:sp>
        <p:nvSpPr>
          <p:cNvPr id="5" name="Footer Placeholder 4">
            <a:extLst>
              <a:ext uri="{FF2B5EF4-FFF2-40B4-BE49-F238E27FC236}">
                <a16:creationId xmlns:a16="http://schemas.microsoft.com/office/drawing/2014/main" id="{B267B1C6-79A8-49EA-B418-A34AC0576E30}"/>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CF1CE39-2F54-472A-A5FE-A18051E5A263}"/>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779EF10-7722-4FC5-B339-71C82576020E}" type="slidenum">
              <a:rPr lang="en-US" smtClean="0"/>
              <a:t>‹#›</a:t>
            </a:fld>
            <a:endParaRPr lang="en-US"/>
          </a:p>
        </p:txBody>
      </p:sp>
    </p:spTree>
    <p:extLst>
      <p:ext uri="{BB962C8B-B14F-4D97-AF65-F5344CB8AC3E}">
        <p14:creationId xmlns:p14="http://schemas.microsoft.com/office/powerpoint/2010/main" val="2444107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0">
            <a:lum/>
          </a:blip>
          <a:srcRect/>
          <a:stretch>
            <a:fillRect l="-4000" r="-4000"/>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381000"/>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8006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9959466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Lst>
  <p:hf sldNum="0" hdr="0" dt="0"/>
  <p:txStyles>
    <p:titleStyle>
      <a:lvl1pPr algn="ctr" defTabSz="457200" rtl="0" eaLnBrk="1" latinLnBrk="0" hangingPunct="1">
        <a:spcBef>
          <a:spcPct val="0"/>
        </a:spcBef>
        <a:buNone/>
        <a:defRPr sz="3600" kern="1200">
          <a:solidFill>
            <a:schemeClr val="accent1">
              <a:lumMod val="50000"/>
            </a:schemeClr>
          </a:solidFill>
          <a:latin typeface="Arial"/>
          <a:ea typeface="+mj-ea"/>
          <a:cs typeface="+mj-cs"/>
        </a:defRPr>
      </a:lvl1pPr>
    </p:titleStyle>
    <p:bodyStyle>
      <a:lvl1pPr marL="342900" indent="-342900" algn="l" defTabSz="457200" rtl="0" eaLnBrk="1" latinLnBrk="0" hangingPunct="1">
        <a:spcBef>
          <a:spcPct val="20000"/>
        </a:spcBef>
        <a:buFont typeface="Arial"/>
        <a:buChar char="•"/>
        <a:defRPr sz="2800" kern="1200">
          <a:solidFill>
            <a:schemeClr val="accent1">
              <a:lumMod val="50000"/>
            </a:schemeClr>
          </a:solidFill>
          <a:latin typeface="Arial"/>
          <a:ea typeface="+mn-ea"/>
          <a:cs typeface="+mn-cs"/>
        </a:defRPr>
      </a:lvl1pPr>
      <a:lvl2pPr marL="742950" indent="-285750" algn="l" defTabSz="457200" rtl="0" eaLnBrk="1" latinLnBrk="0" hangingPunct="1">
        <a:spcBef>
          <a:spcPct val="20000"/>
        </a:spcBef>
        <a:buFont typeface="Arial"/>
        <a:buChar char="–"/>
        <a:defRPr sz="2800" kern="1200">
          <a:solidFill>
            <a:schemeClr val="accent1">
              <a:lumMod val="50000"/>
            </a:schemeClr>
          </a:solidFill>
          <a:latin typeface="Arial"/>
          <a:ea typeface="+mn-ea"/>
          <a:cs typeface="+mn-cs"/>
        </a:defRPr>
      </a:lvl2pPr>
      <a:lvl3pPr marL="1143000" indent="-228600" algn="l" defTabSz="457200" rtl="0" eaLnBrk="1" latinLnBrk="0" hangingPunct="1">
        <a:spcBef>
          <a:spcPct val="20000"/>
        </a:spcBef>
        <a:buFont typeface="Arial"/>
        <a:buChar char="•"/>
        <a:defRPr sz="2400" kern="1200">
          <a:solidFill>
            <a:schemeClr val="accent1">
              <a:lumMod val="50000"/>
            </a:schemeClr>
          </a:solidFill>
          <a:latin typeface="Arial"/>
          <a:ea typeface="+mn-ea"/>
          <a:cs typeface="+mn-cs"/>
        </a:defRPr>
      </a:lvl3pPr>
      <a:lvl4pPr marL="1600200" indent="-228600" algn="l" defTabSz="457200" rtl="0" eaLnBrk="1" latinLnBrk="0" hangingPunct="1">
        <a:spcBef>
          <a:spcPct val="20000"/>
        </a:spcBef>
        <a:buFont typeface="Arial"/>
        <a:buChar char="–"/>
        <a:defRPr sz="2000" kern="1200">
          <a:solidFill>
            <a:schemeClr val="accent1">
              <a:lumMod val="50000"/>
            </a:schemeClr>
          </a:solidFill>
          <a:latin typeface="Arial"/>
          <a:ea typeface="+mn-ea"/>
          <a:cs typeface="+mn-cs"/>
        </a:defRPr>
      </a:lvl4pPr>
      <a:lvl5pPr marL="2057400" indent="-228600" algn="l" defTabSz="457200" rtl="0" eaLnBrk="1" latinLnBrk="0" hangingPunct="1">
        <a:spcBef>
          <a:spcPct val="20000"/>
        </a:spcBef>
        <a:buFont typeface="Arial"/>
        <a:buChar char="»"/>
        <a:defRPr sz="2000" kern="1200">
          <a:solidFill>
            <a:schemeClr val="accent1">
              <a:lumMod val="50000"/>
            </a:schemeClr>
          </a:solidFill>
          <a:latin typeface="Arial"/>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6.emf"/></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emf"/><Relationship Id="rId2" Type="http://schemas.openxmlformats.org/officeDocument/2006/relationships/notesSlide" Target="../notesSlides/notesSlide6.xml"/><Relationship Id="rId1" Type="http://schemas.openxmlformats.org/officeDocument/2006/relationships/slideLayout" Target="../slideLayouts/slideLayout16.xml"/><Relationship Id="rId6" Type="http://schemas.openxmlformats.org/officeDocument/2006/relationships/image" Target="../media/image8.emf"/><Relationship Id="rId5" Type="http://schemas.openxmlformats.org/officeDocument/2006/relationships/image" Target="../media/image7.emf"/><Relationship Id="rId4" Type="http://schemas.openxmlformats.org/officeDocument/2006/relationships/image" Target="../media/image6.emf"/></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7" Type="http://schemas.openxmlformats.org/officeDocument/2006/relationships/image" Target="../media/image9.emf"/><Relationship Id="rId2" Type="http://schemas.openxmlformats.org/officeDocument/2006/relationships/slideLayout" Target="../slideLayouts/slideLayout16.xml"/><Relationship Id="rId1" Type="http://schemas.openxmlformats.org/officeDocument/2006/relationships/tags" Target="../tags/tag1.xml"/><Relationship Id="rId6" Type="http://schemas.openxmlformats.org/officeDocument/2006/relationships/image" Target="../media/image8.emf"/><Relationship Id="rId5" Type="http://schemas.openxmlformats.org/officeDocument/2006/relationships/image" Target="../media/image7.emf"/><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7" Type="http://schemas.openxmlformats.org/officeDocument/2006/relationships/image" Target="../media/image9.emf"/><Relationship Id="rId2" Type="http://schemas.openxmlformats.org/officeDocument/2006/relationships/slideLayout" Target="../slideLayouts/slideLayout16.xml"/><Relationship Id="rId1" Type="http://schemas.openxmlformats.org/officeDocument/2006/relationships/tags" Target="../tags/tag2.xml"/><Relationship Id="rId6" Type="http://schemas.openxmlformats.org/officeDocument/2006/relationships/image" Target="../media/image8.emf"/><Relationship Id="rId5" Type="http://schemas.openxmlformats.org/officeDocument/2006/relationships/image" Target="../media/image7.emf"/><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8" Type="http://schemas.openxmlformats.org/officeDocument/2006/relationships/notesSlide" Target="../notesSlides/notesSlide9.xml"/><Relationship Id="rId13" Type="http://schemas.openxmlformats.org/officeDocument/2006/relationships/image" Target="../media/image13.png"/><Relationship Id="rId18" Type="http://schemas.openxmlformats.org/officeDocument/2006/relationships/image" Target="../media/image620.png"/><Relationship Id="rId3" Type="http://schemas.openxmlformats.org/officeDocument/2006/relationships/tags" Target="../tags/tag5.xml"/><Relationship Id="rId21" Type="http://schemas.openxmlformats.org/officeDocument/2006/relationships/image" Target="../media/image17.png"/><Relationship Id="rId7" Type="http://schemas.openxmlformats.org/officeDocument/2006/relationships/slideLayout" Target="../slideLayouts/slideLayout16.xml"/><Relationship Id="rId12" Type="http://schemas.openxmlformats.org/officeDocument/2006/relationships/image" Target="../media/image12.png"/><Relationship Id="rId17" Type="http://schemas.openxmlformats.org/officeDocument/2006/relationships/image" Target="../media/image610.png"/><Relationship Id="rId2" Type="http://schemas.openxmlformats.org/officeDocument/2006/relationships/tags" Target="../tags/tag4.xml"/><Relationship Id="rId16" Type="http://schemas.openxmlformats.org/officeDocument/2006/relationships/image" Target="../media/image15.png"/><Relationship Id="rId20" Type="http://schemas.openxmlformats.org/officeDocument/2006/relationships/image" Target="../media/image16.png"/><Relationship Id="rId1" Type="http://schemas.openxmlformats.org/officeDocument/2006/relationships/tags" Target="../tags/tag3.xml"/><Relationship Id="rId6" Type="http://schemas.openxmlformats.org/officeDocument/2006/relationships/tags" Target="../tags/tag8.xml"/><Relationship Id="rId11" Type="http://schemas.openxmlformats.org/officeDocument/2006/relationships/image" Target="../media/image550.png"/><Relationship Id="rId5" Type="http://schemas.openxmlformats.org/officeDocument/2006/relationships/tags" Target="../tags/tag7.xml"/><Relationship Id="rId15" Type="http://schemas.openxmlformats.org/officeDocument/2006/relationships/image" Target="../media/image14.png"/><Relationship Id="rId23" Type="http://schemas.openxmlformats.org/officeDocument/2006/relationships/image" Target="../media/image19.png"/><Relationship Id="rId10" Type="http://schemas.openxmlformats.org/officeDocument/2006/relationships/image" Target="../media/image540.png"/><Relationship Id="rId19" Type="http://schemas.openxmlformats.org/officeDocument/2006/relationships/image" Target="../media/image630.png"/><Relationship Id="rId4" Type="http://schemas.openxmlformats.org/officeDocument/2006/relationships/tags" Target="../tags/tag6.xml"/><Relationship Id="rId9" Type="http://schemas.openxmlformats.org/officeDocument/2006/relationships/image" Target="../media/image11.png"/><Relationship Id="rId14" Type="http://schemas.openxmlformats.org/officeDocument/2006/relationships/image" Target="../media/image580.png"/><Relationship Id="rId22" Type="http://schemas.openxmlformats.org/officeDocument/2006/relationships/image" Target="../media/image1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8" Type="http://schemas.openxmlformats.org/officeDocument/2006/relationships/image" Target="../media/image25.jp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6.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27.jpeg"/><Relationship Id="rId4" Type="http://schemas.openxmlformats.org/officeDocument/2006/relationships/image" Target="../media/image21.png"/><Relationship Id="rId9" Type="http://schemas.openxmlformats.org/officeDocument/2006/relationships/image" Target="../media/image26.png"/></Relationships>
</file>

<file path=ppt/slides/_rels/slide12.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440.png"/><Relationship Id="rId3" Type="http://schemas.openxmlformats.org/officeDocument/2006/relationships/notesSlide" Target="../notesSlides/notesSlide12.xml"/><Relationship Id="rId7" Type="http://schemas.openxmlformats.org/officeDocument/2006/relationships/image" Target="../media/image23.png"/><Relationship Id="rId12" Type="http://schemas.openxmlformats.org/officeDocument/2006/relationships/image" Target="../media/image28.png"/><Relationship Id="rId2" Type="http://schemas.openxmlformats.org/officeDocument/2006/relationships/slideLayout" Target="../slideLayouts/slideLayout16.xml"/><Relationship Id="rId16" Type="http://schemas.openxmlformats.org/officeDocument/2006/relationships/image" Target="../media/image470.png"/><Relationship Id="rId1" Type="http://schemas.openxmlformats.org/officeDocument/2006/relationships/tags" Target="../tags/tag9.xml"/><Relationship Id="rId6" Type="http://schemas.openxmlformats.org/officeDocument/2006/relationships/image" Target="../media/image22.png"/><Relationship Id="rId11" Type="http://schemas.openxmlformats.org/officeDocument/2006/relationships/image" Target="../media/image27.jpeg"/><Relationship Id="rId5" Type="http://schemas.openxmlformats.org/officeDocument/2006/relationships/image" Target="../media/image21.png"/><Relationship Id="rId15" Type="http://schemas.openxmlformats.org/officeDocument/2006/relationships/image" Target="../media/image460.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jpg"/><Relationship Id="rId14" Type="http://schemas.openxmlformats.org/officeDocument/2006/relationships/image" Target="../media/image450.png"/></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6.xml"/><Relationship Id="rId5" Type="http://schemas.openxmlformats.org/officeDocument/2006/relationships/image" Target="../media/image31.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16.xml"/><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6.xml"/><Relationship Id="rId1" Type="http://schemas.openxmlformats.org/officeDocument/2006/relationships/tags" Target="../tags/tag10.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tags" Target="../tags/tag13.xml"/><Relationship Id="rId7" Type="http://schemas.openxmlformats.org/officeDocument/2006/relationships/image" Target="../media/image33.png"/><Relationship Id="rId12" Type="http://schemas.openxmlformats.org/officeDocument/2006/relationships/image" Target="../media/image36.png"/><Relationship Id="rId2" Type="http://schemas.openxmlformats.org/officeDocument/2006/relationships/tags" Target="../tags/tag12.xml"/><Relationship Id="rId1" Type="http://schemas.openxmlformats.org/officeDocument/2006/relationships/tags" Target="../tags/tag11.xml"/><Relationship Id="rId6" Type="http://schemas.openxmlformats.org/officeDocument/2006/relationships/notesSlide" Target="../notesSlides/notesSlide16.xml"/><Relationship Id="rId11" Type="http://schemas.openxmlformats.org/officeDocument/2006/relationships/image" Target="../media/image35.png"/><Relationship Id="rId5" Type="http://schemas.openxmlformats.org/officeDocument/2006/relationships/slideLayout" Target="../slideLayouts/slideLayout16.xml"/><Relationship Id="rId10" Type="http://schemas.openxmlformats.org/officeDocument/2006/relationships/image" Target="../media/image34.png"/><Relationship Id="rId4" Type="http://schemas.openxmlformats.org/officeDocument/2006/relationships/tags" Target="../tags/tag14.xml"/><Relationship Id="rId9" Type="http://schemas.openxmlformats.org/officeDocument/2006/relationships/image" Target="../media/image31.png"/></Relationships>
</file>

<file path=ppt/slides/_rels/slide17.xml.rels><?xml version="1.0" encoding="UTF-8" standalone="yes"?>
<Relationships xmlns="http://schemas.openxmlformats.org/package/2006/relationships"><Relationship Id="rId8" Type="http://schemas.openxmlformats.org/officeDocument/2006/relationships/notesSlide" Target="../notesSlides/notesSlide17.xml"/><Relationship Id="rId13" Type="http://schemas.openxmlformats.org/officeDocument/2006/relationships/image" Target="../media/image35.png"/><Relationship Id="rId3" Type="http://schemas.openxmlformats.org/officeDocument/2006/relationships/tags" Target="../tags/tag17.xml"/><Relationship Id="rId7" Type="http://schemas.openxmlformats.org/officeDocument/2006/relationships/slideLayout" Target="../slideLayouts/slideLayout16.xml"/><Relationship Id="rId12" Type="http://schemas.openxmlformats.org/officeDocument/2006/relationships/image" Target="../media/image34.png"/><Relationship Id="rId2" Type="http://schemas.openxmlformats.org/officeDocument/2006/relationships/tags" Target="../tags/tag16.xml"/><Relationship Id="rId16" Type="http://schemas.openxmlformats.org/officeDocument/2006/relationships/image" Target="../media/image38.png"/><Relationship Id="rId1" Type="http://schemas.openxmlformats.org/officeDocument/2006/relationships/tags" Target="../tags/tag15.xml"/><Relationship Id="rId6" Type="http://schemas.openxmlformats.org/officeDocument/2006/relationships/tags" Target="../tags/tag20.xml"/><Relationship Id="rId11" Type="http://schemas.openxmlformats.org/officeDocument/2006/relationships/image" Target="../media/image31.png"/><Relationship Id="rId5" Type="http://schemas.openxmlformats.org/officeDocument/2006/relationships/tags" Target="../tags/tag19.xml"/><Relationship Id="rId15" Type="http://schemas.openxmlformats.org/officeDocument/2006/relationships/image" Target="../media/image37.png"/><Relationship Id="rId10" Type="http://schemas.openxmlformats.org/officeDocument/2006/relationships/image" Target="../media/image30.png"/><Relationship Id="rId4" Type="http://schemas.openxmlformats.org/officeDocument/2006/relationships/tags" Target="../tags/tag18.xml"/><Relationship Id="rId9" Type="http://schemas.openxmlformats.org/officeDocument/2006/relationships/image" Target="../media/image33.png"/><Relationship Id="rId14" Type="http://schemas.openxmlformats.org/officeDocument/2006/relationships/image" Target="../media/image36.png"/></Relationships>
</file>

<file path=ppt/slides/_rels/slide18.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tags" Target="../tags/tag23.xml"/><Relationship Id="rId7" Type="http://schemas.openxmlformats.org/officeDocument/2006/relationships/image" Target="../media/image39.png"/><Relationship Id="rId12" Type="http://schemas.openxmlformats.org/officeDocument/2006/relationships/image" Target="../media/image36.png"/><Relationship Id="rId2" Type="http://schemas.openxmlformats.org/officeDocument/2006/relationships/tags" Target="../tags/tag22.xml"/><Relationship Id="rId1" Type="http://schemas.openxmlformats.org/officeDocument/2006/relationships/tags" Target="../tags/tag21.xml"/><Relationship Id="rId6" Type="http://schemas.openxmlformats.org/officeDocument/2006/relationships/notesSlide" Target="../notesSlides/notesSlide18.xml"/><Relationship Id="rId11" Type="http://schemas.openxmlformats.org/officeDocument/2006/relationships/image" Target="../media/image34.png"/><Relationship Id="rId5" Type="http://schemas.openxmlformats.org/officeDocument/2006/relationships/slideLayout" Target="../slideLayouts/slideLayout16.xml"/><Relationship Id="rId10" Type="http://schemas.openxmlformats.org/officeDocument/2006/relationships/image" Target="../media/image40.png"/><Relationship Id="rId4" Type="http://schemas.openxmlformats.org/officeDocument/2006/relationships/tags" Target="../tags/tag24.xml"/><Relationship Id="rId9" Type="http://schemas.openxmlformats.org/officeDocument/2006/relationships/image" Target="../media/image31.png"/></Relationships>
</file>

<file path=ppt/slides/_rels/slide19.xml.rels><?xml version="1.0" encoding="UTF-8" standalone="yes"?>
<Relationships xmlns="http://schemas.openxmlformats.org/package/2006/relationships"><Relationship Id="rId8" Type="http://schemas.openxmlformats.org/officeDocument/2006/relationships/image" Target="../media/image44.gif"/><Relationship Id="rId3" Type="http://schemas.openxmlformats.org/officeDocument/2006/relationships/image" Target="../media/image41.gif"/><Relationship Id="rId7" Type="http://schemas.openxmlformats.org/officeDocument/2006/relationships/image" Target="../media/image43.gif"/><Relationship Id="rId2" Type="http://schemas.openxmlformats.org/officeDocument/2006/relationships/notesSlide" Target="../notesSlides/notesSlide19.xml"/><Relationship Id="rId1" Type="http://schemas.openxmlformats.org/officeDocument/2006/relationships/slideLayout" Target="../slideLayouts/slideLayout16.xml"/><Relationship Id="rId6" Type="http://schemas.openxmlformats.org/officeDocument/2006/relationships/image" Target="../media/image800.png"/><Relationship Id="rId5" Type="http://schemas.openxmlformats.org/officeDocument/2006/relationships/image" Target="../media/image790.png"/><Relationship Id="rId4" Type="http://schemas.openxmlformats.org/officeDocument/2006/relationships/image" Target="../media/image42.gif"/></Relationships>
</file>

<file path=ppt/slides/_rels/slide2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1.xml"/><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18" Type="http://schemas.openxmlformats.org/officeDocument/2006/relationships/diagramData" Target="../diagrams/data4.xml"/><Relationship Id="rId3" Type="http://schemas.openxmlformats.org/officeDocument/2006/relationships/diagramData" Target="../diagrams/data1.xml"/><Relationship Id="rId21" Type="http://schemas.openxmlformats.org/officeDocument/2006/relationships/diagramColors" Target="../diagrams/colors4.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2.xml"/><Relationship Id="rId16" Type="http://schemas.openxmlformats.org/officeDocument/2006/relationships/diagramColors" Target="../diagrams/colors3.xml"/><Relationship Id="rId20" Type="http://schemas.openxmlformats.org/officeDocument/2006/relationships/diagramQuickStyle" Target="../diagrams/quickStyle4.xml"/><Relationship Id="rId1" Type="http://schemas.openxmlformats.org/officeDocument/2006/relationships/slideLayout" Target="../slideLayouts/slideLayout16.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19" Type="http://schemas.openxmlformats.org/officeDocument/2006/relationships/diagramLayout" Target="../diagrams/layout4.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 Id="rId22" Type="http://schemas.microsoft.com/office/2007/relationships/diagramDrawing" Target="../diagrams/drawing4.xml"/></Relationships>
</file>

<file path=ppt/slides/_rels/slide23.xml.rels><?xml version="1.0" encoding="UTF-8" standalone="yes"?>
<Relationships xmlns="http://schemas.openxmlformats.org/package/2006/relationships"><Relationship Id="rId8" Type="http://schemas.openxmlformats.org/officeDocument/2006/relationships/image" Target="../media/image390.png"/><Relationship Id="rId13" Type="http://schemas.openxmlformats.org/officeDocument/2006/relationships/image" Target="../media/image49.png"/><Relationship Id="rId3" Type="http://schemas.openxmlformats.org/officeDocument/2006/relationships/tags" Target="../tags/tag27.xml"/><Relationship Id="rId12" Type="http://schemas.openxmlformats.org/officeDocument/2006/relationships/image" Target="../media/image48.png"/><Relationship Id="rId2" Type="http://schemas.openxmlformats.org/officeDocument/2006/relationships/tags" Target="../tags/tag26.xml"/><Relationship Id="rId1" Type="http://schemas.openxmlformats.org/officeDocument/2006/relationships/tags" Target="../tags/tag25.xml"/><Relationship Id="rId11" Type="http://schemas.openxmlformats.org/officeDocument/2006/relationships/image" Target="../media/image47.png"/><Relationship Id="rId5" Type="http://schemas.openxmlformats.org/officeDocument/2006/relationships/notesSlide" Target="../notesSlides/notesSlide23.xml"/><Relationship Id="rId10" Type="http://schemas.openxmlformats.org/officeDocument/2006/relationships/image" Target="../media/image650.png"/><Relationship Id="rId4" Type="http://schemas.openxmlformats.org/officeDocument/2006/relationships/slideLayout" Target="../slideLayouts/slideLayout16.xml"/><Relationship Id="rId9" Type="http://schemas.openxmlformats.org/officeDocument/2006/relationships/image" Target="../media/image4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16.xml"/><Relationship Id="rId4" Type="http://schemas.openxmlformats.org/officeDocument/2006/relationships/image" Target="../media/image51.png"/></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55.svg"/><Relationship Id="rId2" Type="http://schemas.openxmlformats.org/officeDocument/2006/relationships/notesSlide" Target="../notesSlides/notesSlide29.xml"/><Relationship Id="rId1" Type="http://schemas.openxmlformats.org/officeDocument/2006/relationships/slideLayout" Target="../slideLayouts/slideLayout16.xml"/><Relationship Id="rId6" Type="http://schemas.openxmlformats.org/officeDocument/2006/relationships/image" Target="../media/image54.png"/><Relationship Id="rId5" Type="http://schemas.openxmlformats.org/officeDocument/2006/relationships/image" Target="../media/image53.svg"/><Relationship Id="rId4" Type="http://schemas.openxmlformats.org/officeDocument/2006/relationships/image" Target="../media/image52.png"/></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3" Type="http://schemas.openxmlformats.org/officeDocument/2006/relationships/image" Target="../media/image56.emf"/><Relationship Id="rId2" Type="http://schemas.openxmlformats.org/officeDocument/2006/relationships/notesSlide" Target="../notesSlides/notesSlide32.xml"/><Relationship Id="rId1" Type="http://schemas.openxmlformats.org/officeDocument/2006/relationships/slideLayout" Target="../slideLayouts/slideLayout16.xml"/><Relationship Id="rId4" Type="http://schemas.openxmlformats.org/officeDocument/2006/relationships/image" Target="../media/image100.png"/></Relationships>
</file>

<file path=ppt/slides/_rels/slide33.xml.rels><?xml version="1.0" encoding="UTF-8" standalone="yes"?>
<Relationships xmlns="http://schemas.openxmlformats.org/package/2006/relationships"><Relationship Id="rId3" Type="http://schemas.openxmlformats.org/officeDocument/2006/relationships/image" Target="../media/image56.emf"/><Relationship Id="rId2" Type="http://schemas.openxmlformats.org/officeDocument/2006/relationships/notesSlide" Target="../notesSlides/notesSlide33.xml"/><Relationship Id="rId1" Type="http://schemas.openxmlformats.org/officeDocument/2006/relationships/slideLayout" Target="../slideLayouts/slideLayout16.xml"/><Relationship Id="rId5" Type="http://schemas.openxmlformats.org/officeDocument/2006/relationships/image" Target="../media/image120.png"/><Relationship Id="rId4" Type="http://schemas.openxmlformats.org/officeDocument/2006/relationships/image" Target="../media/image110.png"/></Relationships>
</file>

<file path=ppt/slides/_rels/slide34.xml.rels><?xml version="1.0" encoding="UTF-8" standalone="yes"?>
<Relationships xmlns="http://schemas.openxmlformats.org/package/2006/relationships"><Relationship Id="rId3" Type="http://schemas.openxmlformats.org/officeDocument/2006/relationships/image" Target="../media/image56.emf"/><Relationship Id="rId2" Type="http://schemas.openxmlformats.org/officeDocument/2006/relationships/notesSlide" Target="../notesSlides/notesSlide34.xml"/><Relationship Id="rId1" Type="http://schemas.openxmlformats.org/officeDocument/2006/relationships/slideLayout" Target="../slideLayouts/slideLayout16.xml"/><Relationship Id="rId4" Type="http://schemas.openxmlformats.org/officeDocument/2006/relationships/image" Target="../media/image120.png"/></Relationships>
</file>

<file path=ppt/slides/_rels/slide3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5.xml"/><Relationship Id="rId1" Type="http://schemas.openxmlformats.org/officeDocument/2006/relationships/slideLayout" Target="../slideLayouts/slideLayout16.xml"/><Relationship Id="rId5" Type="http://schemas.openxmlformats.org/officeDocument/2006/relationships/image" Target="../media/image59.svg"/><Relationship Id="rId4" Type="http://schemas.openxmlformats.org/officeDocument/2006/relationships/image" Target="../media/image58.png"/></Relationships>
</file>

<file path=ppt/slides/_rels/slide3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6.xml"/><Relationship Id="rId1" Type="http://schemas.openxmlformats.org/officeDocument/2006/relationships/slideLayout" Target="../slideLayouts/slideLayout16.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svg"/></Relationships>
</file>

<file path=ppt/slides/_rels/slide37.xml.rels><?xml version="1.0" encoding="UTF-8" standalone="yes"?>
<Relationships xmlns="http://schemas.openxmlformats.org/package/2006/relationships"><Relationship Id="rId3" Type="http://schemas.openxmlformats.org/officeDocument/2006/relationships/image" Target="../media/image64.jpg"/><Relationship Id="rId2" Type="http://schemas.openxmlformats.org/officeDocument/2006/relationships/notesSlide" Target="../notesSlides/notesSlide37.xml"/><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8.xml"/><Relationship Id="rId1" Type="http://schemas.openxmlformats.org/officeDocument/2006/relationships/slideLayout" Target="../slideLayouts/slideLayout16.xml"/></Relationships>
</file>

<file path=ppt/slides/_rels/slide3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9.xml"/><Relationship Id="rId1" Type="http://schemas.openxmlformats.org/officeDocument/2006/relationships/slideLayout" Target="../slideLayouts/slideLayout16.xml"/></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0.xml"/><Relationship Id="rId1" Type="http://schemas.openxmlformats.org/officeDocument/2006/relationships/slideLayout" Target="../slideLayouts/slideLayout16.xml"/></Relationships>
</file>

<file path=ppt/slides/_rels/slide4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1.xml"/><Relationship Id="rId1" Type="http://schemas.openxmlformats.org/officeDocument/2006/relationships/slideLayout" Target="../slideLayouts/slideLayout16.xml"/></Relationships>
</file>

<file path=ppt/slides/_rels/slide4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2.xml"/><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3.xml"/><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4.xml"/><Relationship Id="rId1" Type="http://schemas.openxmlformats.org/officeDocument/2006/relationships/slideLayout" Target="../slideLayouts/slideLayout16.xml"/></Relationships>
</file>

<file path=ppt/slides/_rels/slide4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5.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24E087F-0D08-4EC9-8E76-CC1A2F4D0697}"/>
              </a:ext>
            </a:extLst>
          </p:cNvPr>
          <p:cNvSpPr/>
          <p:nvPr/>
        </p:nvSpPr>
        <p:spPr>
          <a:xfrm>
            <a:off x="-1" y="6200917"/>
            <a:ext cx="9144000" cy="704850"/>
          </a:xfrm>
          <a:prstGeom prst="rect">
            <a:avLst/>
          </a:prstGeom>
          <a:gradFill flip="none" rotWithShape="1">
            <a:gsLst>
              <a:gs pos="0">
                <a:srgbClr val="448599">
                  <a:tint val="66000"/>
                  <a:satMod val="160000"/>
                </a:srgbClr>
              </a:gs>
              <a:gs pos="57000">
                <a:srgbClr val="448599">
                  <a:tint val="44500"/>
                  <a:satMod val="160000"/>
                </a:srgbClr>
              </a:gs>
              <a:gs pos="100000">
                <a:srgbClr val="448599">
                  <a:tint val="23500"/>
                  <a:satMod val="160000"/>
                </a:srgbClr>
              </a:gs>
            </a:gsLst>
            <a:path path="rect">
              <a:fillToRect l="100000" t="100000"/>
            </a:path>
            <a:tileRect r="-100000" b="-100000"/>
          </a:gradFill>
          <a:ln>
            <a:noFill/>
          </a:ln>
          <a:effectLst/>
        </p:spPr>
        <p:style>
          <a:lnRef idx="1">
            <a:schemeClr val="accent1"/>
          </a:lnRef>
          <a:fillRef idx="3">
            <a:schemeClr val="accent1"/>
          </a:fillRef>
          <a:effectRef idx="2">
            <a:schemeClr val="accent1"/>
          </a:effectRef>
          <a:fontRef idx="minor">
            <a:schemeClr val="lt1"/>
          </a:fontRef>
        </p:style>
        <p:txBody>
          <a:bodyPr anchor="ctr"/>
          <a:lstStyle>
            <a:lvl1pPr>
              <a:defRPr>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fontAlgn="base">
              <a:spcBef>
                <a:spcPct val="0"/>
              </a:spcBef>
              <a:spcAft>
                <a:spcPct val="0"/>
              </a:spcAft>
            </a:pPr>
            <a:endParaRPr lang="en-US" sz="2400" dirty="0">
              <a:solidFill>
                <a:srgbClr val="FFFFFF"/>
              </a:solidFill>
              <a:latin typeface="Calibri"/>
              <a:ea typeface="MS PGothic" pitchFamily="34" charset="-128"/>
            </a:endParaRPr>
          </a:p>
        </p:txBody>
      </p:sp>
      <p:sp>
        <p:nvSpPr>
          <p:cNvPr id="6" name="Subtitle 6"/>
          <p:cNvSpPr txBox="1">
            <a:spLocks/>
          </p:cNvSpPr>
          <p:nvPr/>
        </p:nvSpPr>
        <p:spPr>
          <a:xfrm>
            <a:off x="297904" y="4038600"/>
            <a:ext cx="8382000" cy="2590800"/>
          </a:xfrm>
          <a:prstGeom prst="rect">
            <a:avLst/>
          </a:prstGeom>
          <a:effectLst/>
        </p:spPr>
        <p:txBody>
          <a:bodyPr vert="horz" lIns="91440" tIns="45720" rIns="91440" bIns="45720" rtlCol="0">
            <a:noAutofit/>
          </a:bodyPr>
          <a:lstStyle>
            <a:lvl1pPr marL="0" indent="0" algn="ctr" defTabSz="457200" rtl="0" eaLnBrk="1" latinLnBrk="0" hangingPunct="1">
              <a:spcBef>
                <a:spcPct val="20000"/>
              </a:spcBef>
              <a:buFont typeface="Arial"/>
              <a:buNone/>
              <a:defRPr sz="2800" kern="1200">
                <a:solidFill>
                  <a:schemeClr val="tx1"/>
                </a:solidFill>
                <a:latin typeface="Arial"/>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Arial"/>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Arial"/>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Arial"/>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Arial"/>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defTabSz="914400" fontAlgn="base">
              <a:spcBef>
                <a:spcPct val="0"/>
              </a:spcBef>
              <a:spcAft>
                <a:spcPct val="0"/>
              </a:spcAft>
            </a:pPr>
            <a:endParaRPr lang="en-US" sz="1000" dirty="0">
              <a:solidFill>
                <a:prstClr val="black"/>
              </a:solidFill>
              <a:latin typeface="Arial" charset="0"/>
              <a:cs typeface="Arial" charset="0"/>
            </a:endParaRPr>
          </a:p>
          <a:p>
            <a:pPr fontAlgn="base">
              <a:spcAft>
                <a:spcPct val="0"/>
              </a:spcAft>
            </a:pPr>
            <a:r>
              <a:rPr lang="en-US" sz="2300" dirty="0">
                <a:solidFill>
                  <a:prstClr val="black"/>
                </a:solidFill>
              </a:rPr>
              <a:t>Amir Shahmoradi</a:t>
            </a:r>
          </a:p>
          <a:p>
            <a:pPr fontAlgn="base">
              <a:spcAft>
                <a:spcPct val="0"/>
              </a:spcAft>
            </a:pPr>
            <a:endParaRPr lang="en-US" sz="1000" dirty="0">
              <a:solidFill>
                <a:prstClr val="black"/>
              </a:solidFill>
            </a:endParaRPr>
          </a:p>
          <a:p>
            <a:pPr fontAlgn="base">
              <a:spcAft>
                <a:spcPct val="0"/>
              </a:spcAft>
            </a:pPr>
            <a:r>
              <a:rPr lang="en-US" sz="1600" dirty="0">
                <a:solidFill>
                  <a:prstClr val="black"/>
                </a:solidFill>
              </a:rPr>
              <a:t>Department of Physics / College of Science</a:t>
            </a:r>
          </a:p>
          <a:p>
            <a:pPr fontAlgn="base">
              <a:spcAft>
                <a:spcPct val="0"/>
              </a:spcAft>
            </a:pPr>
            <a:r>
              <a:rPr lang="en-US" sz="1600" dirty="0">
                <a:solidFill>
                  <a:prstClr val="black"/>
                </a:solidFill>
              </a:rPr>
              <a:t>Data Science Program / College of Science</a:t>
            </a:r>
          </a:p>
          <a:p>
            <a:pPr fontAlgn="base">
              <a:spcAft>
                <a:spcPct val="0"/>
              </a:spcAft>
            </a:pPr>
            <a:r>
              <a:rPr lang="en-US" sz="1600" dirty="0">
                <a:solidFill>
                  <a:prstClr val="black"/>
                </a:solidFill>
              </a:rPr>
              <a:t>The University of Texas</a:t>
            </a:r>
          </a:p>
          <a:p>
            <a:pPr fontAlgn="base">
              <a:spcAft>
                <a:spcPct val="0"/>
              </a:spcAft>
            </a:pPr>
            <a:r>
              <a:rPr lang="en-US" sz="1600" dirty="0">
                <a:solidFill>
                  <a:prstClr val="black"/>
                </a:solidFill>
              </a:rPr>
              <a:t>Arlington, Texas</a:t>
            </a:r>
          </a:p>
          <a:p>
            <a:pPr fontAlgn="base">
              <a:spcAft>
                <a:spcPct val="0"/>
              </a:spcAft>
            </a:pPr>
            <a:endParaRPr lang="en-US" sz="1000" dirty="0">
              <a:solidFill>
                <a:prstClr val="black"/>
              </a:solidFill>
            </a:endParaRPr>
          </a:p>
          <a:p>
            <a:pPr fontAlgn="base">
              <a:spcAft>
                <a:spcPct val="0"/>
              </a:spcAft>
            </a:pPr>
            <a:endParaRPr lang="en-US" sz="1600" dirty="0">
              <a:solidFill>
                <a:prstClr val="black"/>
              </a:solidFill>
            </a:endParaRPr>
          </a:p>
          <a:p>
            <a:pPr fontAlgn="base">
              <a:spcAft>
                <a:spcPct val="0"/>
              </a:spcAft>
            </a:pPr>
            <a:endParaRPr lang="en-US" sz="1600" dirty="0">
              <a:solidFill>
                <a:prstClr val="black"/>
              </a:solidFill>
            </a:endParaRPr>
          </a:p>
        </p:txBody>
      </p:sp>
      <p:sp>
        <p:nvSpPr>
          <p:cNvPr id="15" name="Title 4">
            <a:extLst>
              <a:ext uri="{FF2B5EF4-FFF2-40B4-BE49-F238E27FC236}">
                <a16:creationId xmlns:a16="http://schemas.microsoft.com/office/drawing/2014/main" id="{C81CCA77-68A9-4F76-9A2C-295FB4C45869}"/>
              </a:ext>
            </a:extLst>
          </p:cNvPr>
          <p:cNvSpPr txBox="1">
            <a:spLocks/>
          </p:cNvSpPr>
          <p:nvPr/>
        </p:nvSpPr>
        <p:spPr>
          <a:xfrm>
            <a:off x="824406" y="1442305"/>
            <a:ext cx="7328994" cy="2748697"/>
          </a:xfrm>
          <a:prstGeom prst="rect">
            <a:avLst/>
          </a:prstGeom>
          <a:effectLst/>
        </p:spPr>
        <p:txBody>
          <a:bodyPr vert="horz" lIns="91440" tIns="45720" rIns="91440" bIns="45720" rtlCol="0" anchor="ctr">
            <a:normAutofit/>
          </a:bodyPr>
          <a:lstStyle>
            <a:lvl1pPr algn="ctr" defTabSz="457200" rtl="0" eaLnBrk="1" latinLnBrk="0" hangingPunct="1">
              <a:spcBef>
                <a:spcPct val="0"/>
              </a:spcBef>
              <a:buNone/>
              <a:defRPr sz="3600" kern="1200">
                <a:solidFill>
                  <a:schemeClr val="accent1">
                    <a:lumMod val="50000"/>
                  </a:schemeClr>
                </a:solidFill>
                <a:latin typeface="Arial"/>
                <a:ea typeface="+mj-ea"/>
                <a:cs typeface="+mj-cs"/>
              </a:defRPr>
            </a:lvl1pPr>
          </a:lstStyle>
          <a:p>
            <a:r>
              <a:rPr lang="en-US" sz="4400" dirty="0">
                <a:solidFill>
                  <a:prstClr val="black"/>
                </a:solidFill>
                <a:latin typeface="Arial" pitchFamily="34" charset="0"/>
                <a:cs typeface="Arial" pitchFamily="34" charset="0"/>
              </a:rPr>
              <a:t>DATA 1301</a:t>
            </a:r>
          </a:p>
          <a:p>
            <a:r>
              <a:rPr lang="en-US" sz="4400" dirty="0">
                <a:solidFill>
                  <a:prstClr val="black"/>
                </a:solidFill>
                <a:latin typeface="Arial" pitchFamily="34" charset="0"/>
                <a:cs typeface="Arial" pitchFamily="34" charset="0"/>
              </a:rPr>
              <a:t>Introduction to Data Science</a:t>
            </a:r>
          </a:p>
          <a:p>
            <a:r>
              <a:rPr lang="en-US" sz="3000" dirty="0">
                <a:solidFill>
                  <a:prstClr val="black"/>
                </a:solidFill>
                <a:latin typeface="Arial" pitchFamily="34" charset="0"/>
                <a:cs typeface="Arial" pitchFamily="34" charset="0"/>
              </a:rPr>
              <a:t>Logic and Probability Theory</a:t>
            </a:r>
          </a:p>
        </p:txBody>
      </p:sp>
      <p:pic>
        <p:nvPicPr>
          <p:cNvPr id="16" name="Picture 15" descr="A picture containing object&#10;&#10;Description generated with high confidence">
            <a:extLst>
              <a:ext uri="{FF2B5EF4-FFF2-40B4-BE49-F238E27FC236}">
                <a16:creationId xmlns:a16="http://schemas.microsoft.com/office/drawing/2014/main" id="{02CDBEDA-2272-4C7A-AC18-60180D6D63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8303" y="83765"/>
            <a:ext cx="1981200" cy="1358538"/>
          </a:xfrm>
          <a:prstGeom prst="rect">
            <a:avLst/>
          </a:prstGeom>
        </p:spPr>
      </p:pic>
    </p:spTree>
    <p:extLst>
      <p:ext uri="{BB962C8B-B14F-4D97-AF65-F5344CB8AC3E}">
        <p14:creationId xmlns:p14="http://schemas.microsoft.com/office/powerpoint/2010/main" val="651482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D35396E-4D0F-4D9D-BC1B-8820F80057F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13410" y="2480323"/>
            <a:ext cx="4666383" cy="3486269"/>
          </a:xfrm>
          <a:prstGeom prst="rect">
            <a:avLst/>
          </a:prstGeom>
        </p:spPr>
      </p:pic>
      <p:sp>
        <p:nvSpPr>
          <p:cNvPr id="5" name="Title 4 1"/>
          <p:cNvSpPr>
            <a:spLocks noGrp="1"/>
          </p:cNvSpPr>
          <p:nvPr>
            <p:ph type="title"/>
          </p:nvPr>
        </p:nvSpPr>
        <p:spPr>
          <a:xfrm>
            <a:off x="152400" y="228603"/>
            <a:ext cx="8839200" cy="468875"/>
          </a:xfrm>
        </p:spPr>
        <p:txBody>
          <a:bodyPr>
            <a:normAutofit/>
          </a:bodyPr>
          <a:lstStyle/>
          <a:p>
            <a:r>
              <a:rPr lang="en-US" sz="1800" b="1" dirty="0">
                <a:solidFill>
                  <a:schemeClr val="tx1"/>
                </a:solidFill>
              </a:rPr>
              <a:t>The two classical pillars of science: Experiment and Theory</a:t>
            </a:r>
          </a:p>
        </p:txBody>
      </p:sp>
      <p:sp>
        <p:nvSpPr>
          <p:cNvPr id="20" name="Title 4 2 1 1"/>
          <p:cNvSpPr txBox="1">
            <a:spLocks/>
          </p:cNvSpPr>
          <p:nvPr/>
        </p:nvSpPr>
        <p:spPr>
          <a:xfrm>
            <a:off x="2286002" y="2012585"/>
            <a:ext cx="4593791" cy="47441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a:r>
              <a:rPr lang="en-US" sz="1500" dirty="0">
                <a:solidFill>
                  <a:prstClr val="black"/>
                </a:solidFill>
              </a:rPr>
              <a:t>A very elementary depiction of the scientific method</a:t>
            </a:r>
          </a:p>
        </p:txBody>
      </p:sp>
      <p:sp>
        <p:nvSpPr>
          <p:cNvPr id="26" name="Title 4 2 1 1"/>
          <p:cNvSpPr txBox="1">
            <a:spLocks/>
          </p:cNvSpPr>
          <p:nvPr/>
        </p:nvSpPr>
        <p:spPr>
          <a:xfrm>
            <a:off x="1600200" y="1143000"/>
            <a:ext cx="5943600" cy="47441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a:r>
              <a:rPr lang="en-US" sz="1500" b="1" dirty="0">
                <a:solidFill>
                  <a:prstClr val="black"/>
                </a:solidFill>
              </a:rPr>
              <a:t>How do we make a scientific inference?</a:t>
            </a:r>
          </a:p>
        </p:txBody>
      </p:sp>
    </p:spTree>
    <p:extLst>
      <p:ext uri="{BB962C8B-B14F-4D97-AF65-F5344CB8AC3E}">
        <p14:creationId xmlns:p14="http://schemas.microsoft.com/office/powerpoint/2010/main" val="16098836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1" nodeType="with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0" grpId="1"/>
      <p:bldP spid="2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202D0A7-EC4D-4C79-8F8D-222C46D21CB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0" y="2566105"/>
            <a:ext cx="4419600" cy="3314700"/>
          </a:xfrm>
          <a:prstGeom prst="rect">
            <a:avLst/>
          </a:prstGeom>
        </p:spPr>
      </p:pic>
      <p:pic>
        <p:nvPicPr>
          <p:cNvPr id="8" name="Picture 7">
            <a:extLst>
              <a:ext uri="{FF2B5EF4-FFF2-40B4-BE49-F238E27FC236}">
                <a16:creationId xmlns:a16="http://schemas.microsoft.com/office/drawing/2014/main" id="{FD35396E-4D0F-4D9D-BC1B-8820F80057F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04802" y="2394538"/>
            <a:ext cx="4666383" cy="3486269"/>
          </a:xfrm>
          <a:prstGeom prst="rect">
            <a:avLst/>
          </a:prstGeom>
        </p:spPr>
      </p:pic>
      <p:sp>
        <p:nvSpPr>
          <p:cNvPr id="5" name="Title 4 1"/>
          <p:cNvSpPr>
            <a:spLocks noGrp="1"/>
          </p:cNvSpPr>
          <p:nvPr>
            <p:ph type="title"/>
          </p:nvPr>
        </p:nvSpPr>
        <p:spPr>
          <a:xfrm>
            <a:off x="152400" y="228603"/>
            <a:ext cx="8839200" cy="468875"/>
          </a:xfrm>
        </p:spPr>
        <p:txBody>
          <a:bodyPr>
            <a:normAutofit/>
          </a:bodyPr>
          <a:lstStyle/>
          <a:p>
            <a:r>
              <a:rPr lang="en-US" sz="1800" b="1" dirty="0">
                <a:solidFill>
                  <a:schemeClr val="tx1"/>
                </a:solidFill>
              </a:rPr>
              <a:t>The two classical pillars of science: Experiment and Theory</a:t>
            </a:r>
          </a:p>
        </p:txBody>
      </p:sp>
      <p:sp>
        <p:nvSpPr>
          <p:cNvPr id="20" name="Title 4 2 1 1"/>
          <p:cNvSpPr txBox="1">
            <a:spLocks/>
          </p:cNvSpPr>
          <p:nvPr/>
        </p:nvSpPr>
        <p:spPr>
          <a:xfrm>
            <a:off x="341097" y="1983705"/>
            <a:ext cx="4593791" cy="47441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a:r>
              <a:rPr lang="en-US" sz="1500" dirty="0">
                <a:solidFill>
                  <a:prstClr val="black"/>
                </a:solidFill>
              </a:rPr>
              <a:t>A very elementary depiction of the scientific method</a:t>
            </a:r>
          </a:p>
        </p:txBody>
      </p:sp>
      <p:sp>
        <p:nvSpPr>
          <p:cNvPr id="26" name="Title 4 2 1 1"/>
          <p:cNvSpPr txBox="1">
            <a:spLocks/>
          </p:cNvSpPr>
          <p:nvPr/>
        </p:nvSpPr>
        <p:spPr>
          <a:xfrm>
            <a:off x="1600200" y="1143000"/>
            <a:ext cx="5943600" cy="47441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a:r>
              <a:rPr lang="en-US" sz="1500" b="1" dirty="0">
                <a:solidFill>
                  <a:prstClr val="black"/>
                </a:solidFill>
              </a:rPr>
              <a:t>How do we make a scientific inference?</a:t>
            </a:r>
          </a:p>
        </p:txBody>
      </p:sp>
      <p:sp>
        <p:nvSpPr>
          <p:cNvPr id="32" name="Title 4 2 1 1">
            <a:extLst>
              <a:ext uri="{FF2B5EF4-FFF2-40B4-BE49-F238E27FC236}">
                <a16:creationId xmlns:a16="http://schemas.microsoft.com/office/drawing/2014/main" id="{F2B84A76-C2B3-4F9B-8EDD-F095E4D4C629}"/>
              </a:ext>
            </a:extLst>
          </p:cNvPr>
          <p:cNvSpPr txBox="1">
            <a:spLocks/>
          </p:cNvSpPr>
          <p:nvPr/>
        </p:nvSpPr>
        <p:spPr>
          <a:xfrm>
            <a:off x="5334000" y="1996740"/>
            <a:ext cx="3048000" cy="47441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a:r>
              <a:rPr lang="en-US" sz="1500" dirty="0">
                <a:solidFill>
                  <a:prstClr val="black"/>
                </a:solidFill>
              </a:rPr>
              <a:t>The prediction pyramid</a:t>
            </a:r>
          </a:p>
        </p:txBody>
      </p:sp>
    </p:spTree>
    <p:extLst>
      <p:ext uri="{BB962C8B-B14F-4D97-AF65-F5344CB8AC3E}">
        <p14:creationId xmlns:p14="http://schemas.microsoft.com/office/powerpoint/2010/main" val="26625699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2"/>
                                        </p:tgtEl>
                                        <p:attrNameLst>
                                          <p:attrName>style.visibility</p:attrName>
                                        </p:attrNameLst>
                                      </p:cBhvr>
                                      <p:to>
                                        <p:strVal val="visible"/>
                                      </p:to>
                                    </p:set>
                                    <p:animEffect transition="in" filter="fade">
                                      <p:cBhvr>
                                        <p:cTn id="16"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3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The desiderata of Probability Theory</a:t>
            </a:r>
          </a:p>
        </p:txBody>
      </p:sp>
      <p:sp>
        <p:nvSpPr>
          <p:cNvPr id="14" name="Rectangle 13">
            <a:extLst>
              <a:ext uri="{FF2B5EF4-FFF2-40B4-BE49-F238E27FC236}">
                <a16:creationId xmlns:a16="http://schemas.microsoft.com/office/drawing/2014/main" id="{F7CE52AB-3FCC-4DF2-9AF8-F769F7CD9DF2}"/>
              </a:ext>
            </a:extLst>
          </p:cNvPr>
          <p:cNvSpPr/>
          <p:nvPr/>
        </p:nvSpPr>
        <p:spPr>
          <a:xfrm>
            <a:off x="234874" y="630087"/>
            <a:ext cx="8648344" cy="5632311"/>
          </a:xfrm>
          <a:prstGeom prst="rect">
            <a:avLst/>
          </a:prstGeom>
        </p:spPr>
        <p:txBody>
          <a:bodyPr wrap="square">
            <a:spAutoFit/>
          </a:bodyPr>
          <a:lstStyle/>
          <a:p>
            <a:pPr algn="ctr"/>
            <a:endParaRPr lang="en-US" dirty="0">
              <a:latin typeface="Times-Roman"/>
            </a:endParaRPr>
          </a:p>
          <a:p>
            <a:pPr algn="ctr"/>
            <a:r>
              <a:rPr lang="en-US" dirty="0">
                <a:latin typeface="Times-Roman"/>
              </a:rPr>
              <a:t>There is a set of properties that we </a:t>
            </a:r>
            <a:r>
              <a:rPr lang="en-US" b="1" dirty="0">
                <a:latin typeface="Times-Roman"/>
              </a:rPr>
              <a:t>desire</a:t>
            </a:r>
            <a:r>
              <a:rPr lang="en-US" dirty="0">
                <a:latin typeface="Times-Roman"/>
              </a:rPr>
              <a:t> to have in a theory of probability that we wish to construct now.</a:t>
            </a:r>
          </a:p>
          <a:p>
            <a:pPr algn="ctr"/>
            <a:endParaRPr lang="en-US" dirty="0">
              <a:latin typeface="Times-Roman"/>
            </a:endParaRPr>
          </a:p>
          <a:p>
            <a:pPr marL="400050" indent="-400050">
              <a:buAutoNum type="romanUcParenBoth"/>
            </a:pPr>
            <a:r>
              <a:rPr lang="en-US" dirty="0">
                <a:latin typeface="Times-Roman"/>
              </a:rPr>
              <a:t>Degrees of plausibility are represented by real numbers.</a:t>
            </a:r>
          </a:p>
          <a:p>
            <a:pPr marL="400050" indent="-400050">
              <a:buAutoNum type="romanUcParenBoth"/>
            </a:pPr>
            <a:endParaRPr lang="en-US" dirty="0">
              <a:latin typeface="Times-Roman"/>
            </a:endParaRPr>
          </a:p>
          <a:p>
            <a:pPr marL="400050" indent="-400050">
              <a:buAutoNum type="romanUcParenBoth"/>
            </a:pPr>
            <a:r>
              <a:rPr lang="en-US" dirty="0">
                <a:latin typeface="Times-Roman"/>
              </a:rPr>
              <a:t>Qualitative correspondence with common sense.</a:t>
            </a:r>
          </a:p>
          <a:p>
            <a:pPr marL="400050" indent="-400050">
              <a:buAutoNum type="romanUcParenBoth"/>
            </a:pPr>
            <a:endParaRPr lang="en-US" dirty="0">
              <a:latin typeface="Times-Roman"/>
            </a:endParaRPr>
          </a:p>
          <a:p>
            <a:pPr marL="400050" indent="-400050">
              <a:buAutoNum type="romanUcParenBoth"/>
            </a:pPr>
            <a:r>
              <a:rPr lang="en-US" dirty="0">
                <a:latin typeface="Times-Roman"/>
              </a:rPr>
              <a:t> Consistency.</a:t>
            </a:r>
          </a:p>
          <a:p>
            <a:pPr marL="400050" indent="-400050">
              <a:buAutoNum type="romanUcParenBoth"/>
            </a:pPr>
            <a:endParaRPr lang="en-US" dirty="0">
              <a:latin typeface="Times-Roman"/>
            </a:endParaRPr>
          </a:p>
          <a:p>
            <a:pPr marL="857250" lvl="1" indent="-400050">
              <a:buAutoNum type="romanUcParenBoth"/>
            </a:pPr>
            <a:r>
              <a:rPr lang="en-US" dirty="0">
                <a:latin typeface="Times-Roman"/>
              </a:rPr>
              <a:t>If a conclusion can be reasoned out in more than one way, then every possible way must lead to the same result.</a:t>
            </a:r>
          </a:p>
          <a:p>
            <a:pPr marL="857250" lvl="1" indent="-400050">
              <a:buAutoNum type="romanUcParenBoth"/>
            </a:pPr>
            <a:endParaRPr lang="en-US" dirty="0">
              <a:latin typeface="Times-Roman"/>
            </a:endParaRPr>
          </a:p>
          <a:p>
            <a:pPr marL="857250" lvl="1" indent="-400050">
              <a:buAutoNum type="romanUcParenBoth"/>
            </a:pPr>
            <a:r>
              <a:rPr lang="en-US" dirty="0">
                <a:latin typeface="Times-Roman"/>
              </a:rPr>
              <a:t>We must always consider all the evidence relevant to a question. We should not arbitrarily ignore some information, basing the conclusions only on what remains.</a:t>
            </a:r>
          </a:p>
          <a:p>
            <a:pPr marL="857250" lvl="1" indent="-400050">
              <a:buAutoNum type="romanUcParenBoth"/>
            </a:pPr>
            <a:endParaRPr lang="en-US" dirty="0">
              <a:latin typeface="Times-Roman"/>
            </a:endParaRPr>
          </a:p>
          <a:p>
            <a:pPr marL="857250" lvl="1" indent="-400050">
              <a:buAutoNum type="romanUcParenBoth"/>
            </a:pPr>
            <a:r>
              <a:rPr lang="en-US" dirty="0">
                <a:latin typeface="Times-Roman"/>
              </a:rPr>
              <a:t> We must always represent equivalent states of knowledge by equivalent plausibility assignments. That is, if the state of knowledge is the same (except perhaps for labeling the propositions) in two problems, then it must assign the same </a:t>
            </a:r>
            <a:r>
              <a:rPr lang="en-US" dirty="0" err="1">
                <a:latin typeface="Times-Roman"/>
              </a:rPr>
              <a:t>plausibilities</a:t>
            </a:r>
            <a:r>
              <a:rPr lang="en-US" dirty="0">
                <a:latin typeface="Times-Roman"/>
              </a:rPr>
              <a:t> in both.</a:t>
            </a:r>
          </a:p>
        </p:txBody>
      </p:sp>
    </p:spTree>
    <p:extLst>
      <p:ext uri="{BB962C8B-B14F-4D97-AF65-F5344CB8AC3E}">
        <p14:creationId xmlns:p14="http://schemas.microsoft.com/office/powerpoint/2010/main" val="21534102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An example of correspondence with common sense</a:t>
            </a:r>
          </a:p>
        </p:txBody>
      </p:sp>
      <p:sp>
        <p:nvSpPr>
          <p:cNvPr id="14" name="Rectangle 13">
            <a:extLst>
              <a:ext uri="{FF2B5EF4-FFF2-40B4-BE49-F238E27FC236}">
                <a16:creationId xmlns:a16="http://schemas.microsoft.com/office/drawing/2014/main" id="{F7CE52AB-3FCC-4DF2-9AF8-F769F7CD9DF2}"/>
              </a:ext>
            </a:extLst>
          </p:cNvPr>
          <p:cNvSpPr/>
          <p:nvPr/>
        </p:nvSpPr>
        <p:spPr>
          <a:xfrm>
            <a:off x="234874" y="630087"/>
            <a:ext cx="8648344" cy="646331"/>
          </a:xfrm>
          <a:prstGeom prst="rect">
            <a:avLst/>
          </a:prstGeom>
        </p:spPr>
        <p:txBody>
          <a:bodyPr wrap="square">
            <a:spAutoFit/>
          </a:bodyPr>
          <a:lstStyle/>
          <a:p>
            <a:r>
              <a:rPr lang="en-US" dirty="0">
                <a:latin typeface="Times-Roman"/>
              </a:rPr>
              <a:t>First, let’s learn the conditional notation: A proposition (A) whose truth is conditioned on the truth of another proposition (B) is typically denoted by,</a:t>
            </a:r>
          </a:p>
        </p:txBody>
      </p:sp>
      <p:pic>
        <p:nvPicPr>
          <p:cNvPr id="2" name="Picture 1">
            <a:extLst>
              <a:ext uri="{FF2B5EF4-FFF2-40B4-BE49-F238E27FC236}">
                <a16:creationId xmlns:a16="http://schemas.microsoft.com/office/drawing/2014/main" id="{F486092A-43BB-42F9-BE4C-F158E58903B6}"/>
              </a:ext>
            </a:extLst>
          </p:cNvPr>
          <p:cNvPicPr>
            <a:picLocks noChangeAspect="1"/>
          </p:cNvPicPr>
          <p:nvPr/>
        </p:nvPicPr>
        <p:blipFill>
          <a:blip r:embed="rId3"/>
          <a:stretch>
            <a:fillRect/>
          </a:stretch>
        </p:blipFill>
        <p:spPr>
          <a:xfrm>
            <a:off x="4162425" y="1458749"/>
            <a:ext cx="819150" cy="590550"/>
          </a:xfrm>
          <a:prstGeom prst="rect">
            <a:avLst/>
          </a:prstGeom>
        </p:spPr>
      </p:pic>
      <p:sp>
        <p:nvSpPr>
          <p:cNvPr id="5" name="Rectangle 4">
            <a:extLst>
              <a:ext uri="{FF2B5EF4-FFF2-40B4-BE49-F238E27FC236}">
                <a16:creationId xmlns:a16="http://schemas.microsoft.com/office/drawing/2014/main" id="{DBF729B7-2D4F-4899-87C4-8836E117CA41}"/>
              </a:ext>
            </a:extLst>
          </p:cNvPr>
          <p:cNvSpPr/>
          <p:nvPr/>
        </p:nvSpPr>
        <p:spPr>
          <a:xfrm>
            <a:off x="247828" y="2163264"/>
            <a:ext cx="8648344" cy="646331"/>
          </a:xfrm>
          <a:prstGeom prst="rect">
            <a:avLst/>
          </a:prstGeom>
        </p:spPr>
        <p:txBody>
          <a:bodyPr wrap="square">
            <a:spAutoFit/>
          </a:bodyPr>
          <a:lstStyle/>
          <a:p>
            <a:r>
              <a:rPr lang="en-US" dirty="0">
                <a:latin typeface="Times-Roman"/>
              </a:rPr>
              <a:t>Second, </a:t>
            </a:r>
            <a:r>
              <a:rPr lang="en-US" b="1" dirty="0">
                <a:latin typeface="Times-Roman"/>
              </a:rPr>
              <a:t>by convention</a:t>
            </a:r>
            <a:r>
              <a:rPr lang="en-US" dirty="0">
                <a:latin typeface="Times-Roman"/>
              </a:rPr>
              <a:t>, we will assume that propositions with greater degree of plausibility correspond to greater real numbers.</a:t>
            </a:r>
            <a:endParaRPr lang="en-US" b="1" dirty="0">
              <a:latin typeface="Times-Roman"/>
            </a:endParaRPr>
          </a:p>
        </p:txBody>
      </p:sp>
      <p:sp>
        <p:nvSpPr>
          <p:cNvPr id="6" name="Rectangle 5">
            <a:extLst>
              <a:ext uri="{FF2B5EF4-FFF2-40B4-BE49-F238E27FC236}">
                <a16:creationId xmlns:a16="http://schemas.microsoft.com/office/drawing/2014/main" id="{FE82A634-E6ED-4118-A35F-4A57A3059AEC}"/>
              </a:ext>
            </a:extLst>
          </p:cNvPr>
          <p:cNvSpPr/>
          <p:nvPr/>
        </p:nvSpPr>
        <p:spPr>
          <a:xfrm>
            <a:off x="247828" y="2936145"/>
            <a:ext cx="8648344" cy="369332"/>
          </a:xfrm>
          <a:prstGeom prst="rect">
            <a:avLst/>
          </a:prstGeom>
        </p:spPr>
        <p:txBody>
          <a:bodyPr wrap="square">
            <a:spAutoFit/>
          </a:bodyPr>
          <a:lstStyle/>
          <a:p>
            <a:r>
              <a:rPr lang="en-US" dirty="0">
                <a:latin typeface="Times-Roman"/>
              </a:rPr>
              <a:t>Therefore, </a:t>
            </a:r>
            <a:endParaRPr lang="en-US" b="1" dirty="0">
              <a:latin typeface="Times-Roman"/>
            </a:endParaRPr>
          </a:p>
        </p:txBody>
      </p:sp>
      <p:pic>
        <p:nvPicPr>
          <p:cNvPr id="3" name="Picture 2">
            <a:extLst>
              <a:ext uri="{FF2B5EF4-FFF2-40B4-BE49-F238E27FC236}">
                <a16:creationId xmlns:a16="http://schemas.microsoft.com/office/drawing/2014/main" id="{8C597005-B382-46DB-B357-CD8A073193CA}"/>
              </a:ext>
            </a:extLst>
          </p:cNvPr>
          <p:cNvPicPr>
            <a:picLocks noChangeAspect="1"/>
          </p:cNvPicPr>
          <p:nvPr/>
        </p:nvPicPr>
        <p:blipFill>
          <a:blip r:embed="rId4"/>
          <a:stretch>
            <a:fillRect/>
          </a:stretch>
        </p:blipFill>
        <p:spPr>
          <a:xfrm>
            <a:off x="3572142" y="3394885"/>
            <a:ext cx="1999716" cy="382874"/>
          </a:xfrm>
          <a:prstGeom prst="rect">
            <a:avLst/>
          </a:prstGeom>
        </p:spPr>
      </p:pic>
    </p:spTree>
    <p:extLst>
      <p:ext uri="{BB962C8B-B14F-4D97-AF65-F5344CB8AC3E}">
        <p14:creationId xmlns:p14="http://schemas.microsoft.com/office/powerpoint/2010/main" val="28017846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An example of correspondence with common sense</a:t>
            </a:r>
          </a:p>
        </p:txBody>
      </p:sp>
      <p:sp>
        <p:nvSpPr>
          <p:cNvPr id="14" name="Rectangle 13">
            <a:extLst>
              <a:ext uri="{FF2B5EF4-FFF2-40B4-BE49-F238E27FC236}">
                <a16:creationId xmlns:a16="http://schemas.microsoft.com/office/drawing/2014/main" id="{F7CE52AB-3FCC-4DF2-9AF8-F769F7CD9DF2}"/>
              </a:ext>
            </a:extLst>
          </p:cNvPr>
          <p:cNvSpPr/>
          <p:nvPr/>
        </p:nvSpPr>
        <p:spPr>
          <a:xfrm>
            <a:off x="234874" y="630087"/>
            <a:ext cx="8648344" cy="646331"/>
          </a:xfrm>
          <a:prstGeom prst="rect">
            <a:avLst/>
          </a:prstGeom>
        </p:spPr>
        <p:txBody>
          <a:bodyPr wrap="square">
            <a:spAutoFit/>
          </a:bodyPr>
          <a:lstStyle/>
          <a:p>
            <a:r>
              <a:rPr lang="en-US" dirty="0">
                <a:latin typeface="Times-Roman"/>
              </a:rPr>
              <a:t>First, let’s learn the conditional notation: A proposition (A) whose truth is conditioned on the truth of another proposition (B) is typically denoted by,</a:t>
            </a:r>
          </a:p>
        </p:txBody>
      </p:sp>
      <p:pic>
        <p:nvPicPr>
          <p:cNvPr id="2" name="Picture 1">
            <a:extLst>
              <a:ext uri="{FF2B5EF4-FFF2-40B4-BE49-F238E27FC236}">
                <a16:creationId xmlns:a16="http://schemas.microsoft.com/office/drawing/2014/main" id="{F486092A-43BB-42F9-BE4C-F158E58903B6}"/>
              </a:ext>
            </a:extLst>
          </p:cNvPr>
          <p:cNvPicPr>
            <a:picLocks noChangeAspect="1"/>
          </p:cNvPicPr>
          <p:nvPr/>
        </p:nvPicPr>
        <p:blipFill>
          <a:blip r:embed="rId3"/>
          <a:stretch>
            <a:fillRect/>
          </a:stretch>
        </p:blipFill>
        <p:spPr>
          <a:xfrm>
            <a:off x="4162425" y="1458749"/>
            <a:ext cx="819150" cy="590550"/>
          </a:xfrm>
          <a:prstGeom prst="rect">
            <a:avLst/>
          </a:prstGeom>
        </p:spPr>
      </p:pic>
      <p:sp>
        <p:nvSpPr>
          <p:cNvPr id="5" name="Rectangle 4">
            <a:extLst>
              <a:ext uri="{FF2B5EF4-FFF2-40B4-BE49-F238E27FC236}">
                <a16:creationId xmlns:a16="http://schemas.microsoft.com/office/drawing/2014/main" id="{DBF729B7-2D4F-4899-87C4-8836E117CA41}"/>
              </a:ext>
            </a:extLst>
          </p:cNvPr>
          <p:cNvSpPr/>
          <p:nvPr/>
        </p:nvSpPr>
        <p:spPr>
          <a:xfrm>
            <a:off x="247828" y="2163264"/>
            <a:ext cx="8648344" cy="646331"/>
          </a:xfrm>
          <a:prstGeom prst="rect">
            <a:avLst/>
          </a:prstGeom>
        </p:spPr>
        <p:txBody>
          <a:bodyPr wrap="square">
            <a:spAutoFit/>
          </a:bodyPr>
          <a:lstStyle/>
          <a:p>
            <a:r>
              <a:rPr lang="en-US" dirty="0">
                <a:latin typeface="Times-Roman"/>
              </a:rPr>
              <a:t>Second, </a:t>
            </a:r>
            <a:r>
              <a:rPr lang="en-US" b="1" dirty="0">
                <a:latin typeface="Times-Roman"/>
              </a:rPr>
              <a:t>by convention</a:t>
            </a:r>
            <a:r>
              <a:rPr lang="en-US" dirty="0">
                <a:latin typeface="Times-Roman"/>
              </a:rPr>
              <a:t>, we will assume that propositions with greater degree of plausibility correspond to greater real numbers.</a:t>
            </a:r>
            <a:endParaRPr lang="en-US" b="1" dirty="0">
              <a:latin typeface="Times-Roman"/>
            </a:endParaRPr>
          </a:p>
        </p:txBody>
      </p:sp>
      <p:sp>
        <p:nvSpPr>
          <p:cNvPr id="6" name="Rectangle 5">
            <a:extLst>
              <a:ext uri="{FF2B5EF4-FFF2-40B4-BE49-F238E27FC236}">
                <a16:creationId xmlns:a16="http://schemas.microsoft.com/office/drawing/2014/main" id="{FE82A634-E6ED-4118-A35F-4A57A3059AEC}"/>
              </a:ext>
            </a:extLst>
          </p:cNvPr>
          <p:cNvSpPr/>
          <p:nvPr/>
        </p:nvSpPr>
        <p:spPr>
          <a:xfrm>
            <a:off x="247828" y="2842139"/>
            <a:ext cx="8648344" cy="369332"/>
          </a:xfrm>
          <a:prstGeom prst="rect">
            <a:avLst/>
          </a:prstGeom>
        </p:spPr>
        <p:txBody>
          <a:bodyPr wrap="square">
            <a:spAutoFit/>
          </a:bodyPr>
          <a:lstStyle/>
          <a:p>
            <a:r>
              <a:rPr lang="en-US" dirty="0">
                <a:latin typeface="Times-Roman"/>
              </a:rPr>
              <a:t>Therefore, </a:t>
            </a:r>
            <a:endParaRPr lang="en-US" b="1" dirty="0">
              <a:latin typeface="Times-Roman"/>
            </a:endParaRPr>
          </a:p>
        </p:txBody>
      </p:sp>
      <p:pic>
        <p:nvPicPr>
          <p:cNvPr id="3" name="Picture 2">
            <a:extLst>
              <a:ext uri="{FF2B5EF4-FFF2-40B4-BE49-F238E27FC236}">
                <a16:creationId xmlns:a16="http://schemas.microsoft.com/office/drawing/2014/main" id="{8C597005-B382-46DB-B357-CD8A073193CA}"/>
              </a:ext>
            </a:extLst>
          </p:cNvPr>
          <p:cNvPicPr>
            <a:picLocks noChangeAspect="1"/>
          </p:cNvPicPr>
          <p:nvPr/>
        </p:nvPicPr>
        <p:blipFill>
          <a:blip r:embed="rId4"/>
          <a:stretch>
            <a:fillRect/>
          </a:stretch>
        </p:blipFill>
        <p:spPr>
          <a:xfrm>
            <a:off x="3572142" y="3147054"/>
            <a:ext cx="1999716" cy="382874"/>
          </a:xfrm>
          <a:prstGeom prst="rect">
            <a:avLst/>
          </a:prstGeom>
        </p:spPr>
      </p:pic>
      <p:sp>
        <p:nvSpPr>
          <p:cNvPr id="9" name="Rectangle 8">
            <a:extLst>
              <a:ext uri="{FF2B5EF4-FFF2-40B4-BE49-F238E27FC236}">
                <a16:creationId xmlns:a16="http://schemas.microsoft.com/office/drawing/2014/main" id="{8E4C796B-8F00-44D7-8433-CC8B44BC18BD}"/>
              </a:ext>
            </a:extLst>
          </p:cNvPr>
          <p:cNvSpPr/>
          <p:nvPr/>
        </p:nvSpPr>
        <p:spPr>
          <a:xfrm>
            <a:off x="330302" y="3644973"/>
            <a:ext cx="8648344" cy="369332"/>
          </a:xfrm>
          <a:prstGeom prst="rect">
            <a:avLst/>
          </a:prstGeom>
        </p:spPr>
        <p:txBody>
          <a:bodyPr wrap="square">
            <a:spAutoFit/>
          </a:bodyPr>
          <a:lstStyle/>
          <a:p>
            <a:r>
              <a:rPr lang="en-US" dirty="0">
                <a:latin typeface="Times-Roman"/>
              </a:rPr>
              <a:t>says that, given B, A is more plausible than C.</a:t>
            </a:r>
          </a:p>
        </p:txBody>
      </p:sp>
      <p:sp>
        <p:nvSpPr>
          <p:cNvPr id="10" name="Rectangle 9">
            <a:extLst>
              <a:ext uri="{FF2B5EF4-FFF2-40B4-BE49-F238E27FC236}">
                <a16:creationId xmlns:a16="http://schemas.microsoft.com/office/drawing/2014/main" id="{6EF4C295-E26C-4F3F-BA7F-51206E515B96}"/>
              </a:ext>
            </a:extLst>
          </p:cNvPr>
          <p:cNvSpPr/>
          <p:nvPr/>
        </p:nvSpPr>
        <p:spPr>
          <a:xfrm>
            <a:off x="330302" y="4143362"/>
            <a:ext cx="8648344" cy="369332"/>
          </a:xfrm>
          <a:prstGeom prst="rect">
            <a:avLst/>
          </a:prstGeom>
        </p:spPr>
        <p:txBody>
          <a:bodyPr wrap="square">
            <a:spAutoFit/>
          </a:bodyPr>
          <a:lstStyle/>
          <a:p>
            <a:r>
              <a:rPr lang="en-US" dirty="0">
                <a:latin typeface="Times-Roman"/>
              </a:rPr>
              <a:t>Now, what do we mean by “</a:t>
            </a:r>
            <a:r>
              <a:rPr lang="en-US" dirty="0"/>
              <a:t>correspondence with common sense” ? Suppose,</a:t>
            </a:r>
            <a:endParaRPr lang="en-US" dirty="0">
              <a:latin typeface="Times-Roman"/>
            </a:endParaRPr>
          </a:p>
        </p:txBody>
      </p:sp>
      <p:sp>
        <p:nvSpPr>
          <p:cNvPr id="13" name="Rectangle 12">
            <a:extLst>
              <a:ext uri="{FF2B5EF4-FFF2-40B4-BE49-F238E27FC236}">
                <a16:creationId xmlns:a16="http://schemas.microsoft.com/office/drawing/2014/main" id="{672509AC-A663-486D-B7D0-FA6EEE0DEF82}"/>
              </a:ext>
            </a:extLst>
          </p:cNvPr>
          <p:cNvSpPr/>
          <p:nvPr/>
        </p:nvSpPr>
        <p:spPr>
          <a:xfrm>
            <a:off x="247828" y="5616989"/>
            <a:ext cx="8648344" cy="369332"/>
          </a:xfrm>
          <a:prstGeom prst="rect">
            <a:avLst/>
          </a:prstGeom>
        </p:spPr>
        <p:txBody>
          <a:bodyPr wrap="square">
            <a:spAutoFit/>
          </a:bodyPr>
          <a:lstStyle/>
          <a:p>
            <a:r>
              <a:rPr lang="en-US" dirty="0">
                <a:latin typeface="Times-Roman"/>
              </a:rPr>
              <a:t>Then, the desiderata of “correspondence with commonsense” requires us to have, </a:t>
            </a:r>
          </a:p>
        </p:txBody>
      </p:sp>
      <p:pic>
        <p:nvPicPr>
          <p:cNvPr id="15" name="Picture 14">
            <a:extLst>
              <a:ext uri="{FF2B5EF4-FFF2-40B4-BE49-F238E27FC236}">
                <a16:creationId xmlns:a16="http://schemas.microsoft.com/office/drawing/2014/main" id="{229F6A24-A685-4DD5-86DE-E3E8154F4A07}"/>
              </a:ext>
            </a:extLst>
          </p:cNvPr>
          <p:cNvPicPr>
            <a:picLocks noChangeAspect="1"/>
          </p:cNvPicPr>
          <p:nvPr/>
        </p:nvPicPr>
        <p:blipFill>
          <a:blip r:embed="rId5"/>
          <a:stretch>
            <a:fillRect/>
          </a:stretch>
        </p:blipFill>
        <p:spPr>
          <a:xfrm>
            <a:off x="3751604" y="4585056"/>
            <a:ext cx="1640792" cy="403470"/>
          </a:xfrm>
          <a:prstGeom prst="rect">
            <a:avLst/>
          </a:prstGeom>
        </p:spPr>
      </p:pic>
      <p:pic>
        <p:nvPicPr>
          <p:cNvPr id="16" name="Picture 15">
            <a:extLst>
              <a:ext uri="{FF2B5EF4-FFF2-40B4-BE49-F238E27FC236}">
                <a16:creationId xmlns:a16="http://schemas.microsoft.com/office/drawing/2014/main" id="{930E5186-5926-4609-B439-01B2F957040C}"/>
              </a:ext>
            </a:extLst>
          </p:cNvPr>
          <p:cNvPicPr>
            <a:picLocks noChangeAspect="1"/>
          </p:cNvPicPr>
          <p:nvPr/>
        </p:nvPicPr>
        <p:blipFill>
          <a:blip r:embed="rId6"/>
          <a:stretch>
            <a:fillRect/>
          </a:stretch>
        </p:blipFill>
        <p:spPr>
          <a:xfrm>
            <a:off x="3520867" y="5106332"/>
            <a:ext cx="2102266" cy="408232"/>
          </a:xfrm>
          <a:prstGeom prst="rect">
            <a:avLst/>
          </a:prstGeom>
        </p:spPr>
      </p:pic>
      <p:pic>
        <p:nvPicPr>
          <p:cNvPr id="17" name="Picture 16">
            <a:extLst>
              <a:ext uri="{FF2B5EF4-FFF2-40B4-BE49-F238E27FC236}">
                <a16:creationId xmlns:a16="http://schemas.microsoft.com/office/drawing/2014/main" id="{8985EE34-C70A-4415-9D3C-9C802F749EBB}"/>
              </a:ext>
            </a:extLst>
          </p:cNvPr>
          <p:cNvPicPr>
            <a:picLocks noChangeAspect="1"/>
          </p:cNvPicPr>
          <p:nvPr/>
        </p:nvPicPr>
        <p:blipFill>
          <a:blip r:embed="rId7"/>
          <a:stretch>
            <a:fillRect/>
          </a:stretch>
        </p:blipFill>
        <p:spPr>
          <a:xfrm>
            <a:off x="3520869" y="6217363"/>
            <a:ext cx="2102264" cy="336552"/>
          </a:xfrm>
          <a:prstGeom prst="rect">
            <a:avLst/>
          </a:prstGeom>
        </p:spPr>
      </p:pic>
    </p:spTree>
    <p:extLst>
      <p:ext uri="{BB962C8B-B14F-4D97-AF65-F5344CB8AC3E}">
        <p14:creationId xmlns:p14="http://schemas.microsoft.com/office/powerpoint/2010/main" val="12983264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An example of correspondence with common sense</a:t>
            </a:r>
          </a:p>
        </p:txBody>
      </p:sp>
      <p:sp>
        <p:nvSpPr>
          <p:cNvPr id="14" name="Rectangle 13">
            <a:extLst>
              <a:ext uri="{FF2B5EF4-FFF2-40B4-BE49-F238E27FC236}">
                <a16:creationId xmlns:a16="http://schemas.microsoft.com/office/drawing/2014/main" id="{F7CE52AB-3FCC-4DF2-9AF8-F769F7CD9DF2}"/>
              </a:ext>
            </a:extLst>
          </p:cNvPr>
          <p:cNvSpPr/>
          <p:nvPr/>
        </p:nvSpPr>
        <p:spPr>
          <a:xfrm>
            <a:off x="234874" y="630087"/>
            <a:ext cx="8648344" cy="646331"/>
          </a:xfrm>
          <a:prstGeom prst="rect">
            <a:avLst/>
          </a:prstGeom>
        </p:spPr>
        <p:txBody>
          <a:bodyPr wrap="square">
            <a:spAutoFit/>
          </a:bodyPr>
          <a:lstStyle/>
          <a:p>
            <a:r>
              <a:rPr lang="en-US" dirty="0">
                <a:latin typeface="Times-Roman"/>
              </a:rPr>
              <a:t>To illustrate the principle of commonsense with an example, consider the following scenario,</a:t>
            </a:r>
          </a:p>
        </p:txBody>
      </p:sp>
      <p:sp>
        <p:nvSpPr>
          <p:cNvPr id="10" name="Rectangle 9">
            <a:extLst>
              <a:ext uri="{FF2B5EF4-FFF2-40B4-BE49-F238E27FC236}">
                <a16:creationId xmlns:a16="http://schemas.microsoft.com/office/drawing/2014/main" id="{6EF4C295-E26C-4F3F-BA7F-51206E515B96}"/>
              </a:ext>
            </a:extLst>
          </p:cNvPr>
          <p:cNvSpPr/>
          <p:nvPr/>
        </p:nvSpPr>
        <p:spPr>
          <a:xfrm>
            <a:off x="330302" y="3280236"/>
            <a:ext cx="8648344" cy="369332"/>
          </a:xfrm>
          <a:prstGeom prst="rect">
            <a:avLst/>
          </a:prstGeom>
        </p:spPr>
        <p:txBody>
          <a:bodyPr wrap="square">
            <a:spAutoFit/>
          </a:bodyPr>
          <a:lstStyle/>
          <a:p>
            <a:r>
              <a:rPr lang="en-US" dirty="0">
                <a:latin typeface="Times-Roman"/>
              </a:rPr>
              <a:t>Therefore,</a:t>
            </a:r>
          </a:p>
        </p:txBody>
      </p:sp>
      <p:sp>
        <p:nvSpPr>
          <p:cNvPr id="13" name="Rectangle 12">
            <a:extLst>
              <a:ext uri="{FF2B5EF4-FFF2-40B4-BE49-F238E27FC236}">
                <a16:creationId xmlns:a16="http://schemas.microsoft.com/office/drawing/2014/main" id="{672509AC-A663-486D-B7D0-FA6EEE0DEF82}"/>
              </a:ext>
            </a:extLst>
          </p:cNvPr>
          <p:cNvSpPr/>
          <p:nvPr/>
        </p:nvSpPr>
        <p:spPr>
          <a:xfrm>
            <a:off x="247828" y="4882052"/>
            <a:ext cx="8648344" cy="369332"/>
          </a:xfrm>
          <a:prstGeom prst="rect">
            <a:avLst/>
          </a:prstGeom>
        </p:spPr>
        <p:txBody>
          <a:bodyPr wrap="square">
            <a:spAutoFit/>
          </a:bodyPr>
          <a:lstStyle/>
          <a:p>
            <a:r>
              <a:rPr lang="en-US" dirty="0">
                <a:latin typeface="Times-Roman"/>
              </a:rPr>
              <a:t>Then, the desiderata of “correspondence with commonsense” requires us to have, </a:t>
            </a:r>
          </a:p>
        </p:txBody>
      </p:sp>
      <p:pic>
        <p:nvPicPr>
          <p:cNvPr id="25" name="Picture 24" descr="\documentclass{article}&#10;\usepackage{amsfonts,amssymb,amsbsy,amsmath}&#10;\pagestyle{empty}&#10;\begin{document}&#10;&#10;\begin{eqnarray}&#10;A  &amp;\equiv&amp; {\text{The probability that I will go to school today}} \nonumber \\&#10;B  &amp;\equiv&amp; {\text{The probability that it will rain today}} \nonumber \\&#10;C  &amp;\equiv&amp; {\text{The probability that the sky will be sunny today}} \nonumber \\&#10;C'  &amp;\equiv&amp; {\text{The probability that the sky will be cloudy today}} \nonumber&#10;\end{eqnarray}&#10;&#10;\end{document}" title="IguanaTex Bitmap Display">
            <a:extLst>
              <a:ext uri="{FF2B5EF4-FFF2-40B4-BE49-F238E27FC236}">
                <a16:creationId xmlns:a16="http://schemas.microsoft.com/office/drawing/2014/main" id="{11D93F11-6A28-4A39-8EE8-7DAE9DD69CA2}"/>
              </a:ext>
            </a:extLst>
          </p:cNvPr>
          <p:cNvPicPr>
            <a:picLocks noChangeAspect="1"/>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1337718" y="1517853"/>
            <a:ext cx="6468564" cy="1373374"/>
          </a:xfrm>
          <a:prstGeom prst="rect">
            <a:avLst/>
          </a:prstGeom>
        </p:spPr>
      </p:pic>
      <p:pic>
        <p:nvPicPr>
          <p:cNvPr id="26" name="Picture 25">
            <a:extLst>
              <a:ext uri="{FF2B5EF4-FFF2-40B4-BE49-F238E27FC236}">
                <a16:creationId xmlns:a16="http://schemas.microsoft.com/office/drawing/2014/main" id="{70F13279-387C-481C-BA69-D84D5F19F388}"/>
              </a:ext>
            </a:extLst>
          </p:cNvPr>
          <p:cNvPicPr>
            <a:picLocks noChangeAspect="1"/>
          </p:cNvPicPr>
          <p:nvPr/>
        </p:nvPicPr>
        <p:blipFill>
          <a:blip r:embed="rId5"/>
          <a:stretch>
            <a:fillRect/>
          </a:stretch>
        </p:blipFill>
        <p:spPr>
          <a:xfrm>
            <a:off x="3751604" y="3701379"/>
            <a:ext cx="1640792" cy="403470"/>
          </a:xfrm>
          <a:prstGeom prst="rect">
            <a:avLst/>
          </a:prstGeom>
        </p:spPr>
      </p:pic>
      <p:pic>
        <p:nvPicPr>
          <p:cNvPr id="27" name="Picture 26">
            <a:extLst>
              <a:ext uri="{FF2B5EF4-FFF2-40B4-BE49-F238E27FC236}">
                <a16:creationId xmlns:a16="http://schemas.microsoft.com/office/drawing/2014/main" id="{40DDB23D-ED96-4B0F-8480-B04F426E8748}"/>
              </a:ext>
            </a:extLst>
          </p:cNvPr>
          <p:cNvPicPr>
            <a:picLocks noChangeAspect="1"/>
          </p:cNvPicPr>
          <p:nvPr/>
        </p:nvPicPr>
        <p:blipFill>
          <a:blip r:embed="rId6"/>
          <a:stretch>
            <a:fillRect/>
          </a:stretch>
        </p:blipFill>
        <p:spPr>
          <a:xfrm>
            <a:off x="3520867" y="4222655"/>
            <a:ext cx="2102266" cy="408232"/>
          </a:xfrm>
          <a:prstGeom prst="rect">
            <a:avLst/>
          </a:prstGeom>
        </p:spPr>
      </p:pic>
      <p:pic>
        <p:nvPicPr>
          <p:cNvPr id="28" name="Picture 27">
            <a:extLst>
              <a:ext uri="{FF2B5EF4-FFF2-40B4-BE49-F238E27FC236}">
                <a16:creationId xmlns:a16="http://schemas.microsoft.com/office/drawing/2014/main" id="{A9EFC632-4C8D-4507-942F-A4EFC314B0C0}"/>
              </a:ext>
            </a:extLst>
          </p:cNvPr>
          <p:cNvPicPr>
            <a:picLocks noChangeAspect="1"/>
          </p:cNvPicPr>
          <p:nvPr/>
        </p:nvPicPr>
        <p:blipFill>
          <a:blip r:embed="rId7"/>
          <a:stretch>
            <a:fillRect/>
          </a:stretch>
        </p:blipFill>
        <p:spPr>
          <a:xfrm>
            <a:off x="3520868" y="5564882"/>
            <a:ext cx="2102264" cy="336552"/>
          </a:xfrm>
          <a:prstGeom prst="rect">
            <a:avLst/>
          </a:prstGeom>
        </p:spPr>
      </p:pic>
    </p:spTree>
    <p:extLst>
      <p:ext uri="{BB962C8B-B14F-4D97-AF65-F5344CB8AC3E}">
        <p14:creationId xmlns:p14="http://schemas.microsoft.com/office/powerpoint/2010/main" val="42110596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52400" y="249088"/>
            <a:ext cx="8839200" cy="380999"/>
          </a:xfrm>
        </p:spPr>
        <p:txBody>
          <a:bodyPr>
            <a:normAutofit/>
          </a:bodyPr>
          <a:lstStyle/>
          <a:p>
            <a:r>
              <a:rPr lang="en-US" sz="1800" b="1" dirty="0">
                <a:solidFill>
                  <a:schemeClr val="tx1"/>
                </a:solidFill>
              </a:rPr>
              <a:t>Probability is real number whose range must be either [0,1] or [1,+infinity]</a:t>
            </a:r>
          </a:p>
        </p:txBody>
      </p:sp>
      <p:sp>
        <p:nvSpPr>
          <p:cNvPr id="14" name="Rectangle 13">
            <a:extLst>
              <a:ext uri="{FF2B5EF4-FFF2-40B4-BE49-F238E27FC236}">
                <a16:creationId xmlns:a16="http://schemas.microsoft.com/office/drawing/2014/main" id="{F7CE52AB-3FCC-4DF2-9AF8-F769F7CD9DF2}"/>
              </a:ext>
            </a:extLst>
          </p:cNvPr>
          <p:cNvSpPr/>
          <p:nvPr/>
        </p:nvSpPr>
        <p:spPr>
          <a:xfrm>
            <a:off x="234874" y="630087"/>
            <a:ext cx="8648344" cy="646331"/>
          </a:xfrm>
          <a:prstGeom prst="rect">
            <a:avLst/>
          </a:prstGeom>
        </p:spPr>
        <p:txBody>
          <a:bodyPr wrap="square">
            <a:spAutoFit/>
          </a:bodyPr>
          <a:lstStyle/>
          <a:p>
            <a:r>
              <a:rPr lang="en-US" dirty="0">
                <a:latin typeface="Times-Roman"/>
              </a:rPr>
              <a:t>To illustrate the principle of commonsense with an example, consider the following scenario,</a:t>
            </a:r>
          </a:p>
        </p:txBody>
      </p:sp>
      <p:sp>
        <p:nvSpPr>
          <p:cNvPr id="10" name="Rectangle 9">
            <a:extLst>
              <a:ext uri="{FF2B5EF4-FFF2-40B4-BE49-F238E27FC236}">
                <a16:creationId xmlns:a16="http://schemas.microsoft.com/office/drawing/2014/main" id="{6EF4C295-E26C-4F3F-BA7F-51206E515B96}"/>
              </a:ext>
            </a:extLst>
          </p:cNvPr>
          <p:cNvSpPr/>
          <p:nvPr/>
        </p:nvSpPr>
        <p:spPr>
          <a:xfrm>
            <a:off x="330302" y="3075135"/>
            <a:ext cx="8648344" cy="369332"/>
          </a:xfrm>
          <a:prstGeom prst="rect">
            <a:avLst/>
          </a:prstGeom>
        </p:spPr>
        <p:txBody>
          <a:bodyPr wrap="square">
            <a:spAutoFit/>
          </a:bodyPr>
          <a:lstStyle/>
          <a:p>
            <a:r>
              <a:rPr lang="en-US" dirty="0">
                <a:latin typeface="Times-Roman"/>
              </a:rPr>
              <a:t>Therefore,</a:t>
            </a:r>
          </a:p>
        </p:txBody>
      </p:sp>
      <p:sp>
        <p:nvSpPr>
          <p:cNvPr id="13" name="Rectangle 12">
            <a:extLst>
              <a:ext uri="{FF2B5EF4-FFF2-40B4-BE49-F238E27FC236}">
                <a16:creationId xmlns:a16="http://schemas.microsoft.com/office/drawing/2014/main" id="{672509AC-A663-486D-B7D0-FA6EEE0DEF82}"/>
              </a:ext>
            </a:extLst>
          </p:cNvPr>
          <p:cNvSpPr/>
          <p:nvPr/>
        </p:nvSpPr>
        <p:spPr>
          <a:xfrm>
            <a:off x="247828" y="4505278"/>
            <a:ext cx="8648344" cy="369332"/>
          </a:xfrm>
          <a:prstGeom prst="rect">
            <a:avLst/>
          </a:prstGeom>
        </p:spPr>
        <p:txBody>
          <a:bodyPr wrap="square">
            <a:spAutoFit/>
          </a:bodyPr>
          <a:lstStyle/>
          <a:p>
            <a:r>
              <a:rPr lang="en-US" dirty="0">
                <a:latin typeface="Times-Roman"/>
              </a:rPr>
              <a:t>Then, the desiderata of “correspondence with commonsense” requires us to have, </a:t>
            </a:r>
          </a:p>
        </p:txBody>
      </p:sp>
      <p:pic>
        <p:nvPicPr>
          <p:cNvPr id="25" name="Picture 24" descr="\documentclass{article}&#10;\usepackage{amsfonts,amssymb,amsbsy,amsmath}&#10;\pagestyle{empty}&#10;\begin{document}&#10;&#10;\begin{eqnarray}&#10;A  &amp;\equiv&amp; {\text{The probability that I will go to school today}} \nonumber \\&#10;B  &amp;\equiv&amp; {\text{The probability that it will rain today}} \nonumber \\&#10;C  &amp;\equiv&amp; {\text{The probability that the sky will be sunny today}} \nonumber \\&#10;C'  &amp;\equiv&amp; {\text{The probability that the sky will be cloudy today}} \nonumber&#10;\end{eqnarray}&#10;&#10;\end{document}" title="IguanaTex Bitmap Display">
            <a:extLst>
              <a:ext uri="{FF2B5EF4-FFF2-40B4-BE49-F238E27FC236}">
                <a16:creationId xmlns:a16="http://schemas.microsoft.com/office/drawing/2014/main" id="{11D93F11-6A28-4A39-8EE8-7DAE9DD69CA2}"/>
              </a:ext>
            </a:extLst>
          </p:cNvPr>
          <p:cNvPicPr>
            <a:picLocks noChangeAspect="1"/>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1337718" y="1517853"/>
            <a:ext cx="6468564" cy="1373374"/>
          </a:xfrm>
          <a:prstGeom prst="rect">
            <a:avLst/>
          </a:prstGeom>
        </p:spPr>
      </p:pic>
      <p:pic>
        <p:nvPicPr>
          <p:cNvPr id="26" name="Picture 25">
            <a:extLst>
              <a:ext uri="{FF2B5EF4-FFF2-40B4-BE49-F238E27FC236}">
                <a16:creationId xmlns:a16="http://schemas.microsoft.com/office/drawing/2014/main" id="{70F13279-387C-481C-BA69-D84D5F19F388}"/>
              </a:ext>
            </a:extLst>
          </p:cNvPr>
          <p:cNvPicPr>
            <a:picLocks noChangeAspect="1"/>
          </p:cNvPicPr>
          <p:nvPr/>
        </p:nvPicPr>
        <p:blipFill>
          <a:blip r:embed="rId5"/>
          <a:stretch>
            <a:fillRect/>
          </a:stretch>
        </p:blipFill>
        <p:spPr>
          <a:xfrm>
            <a:off x="3751604" y="3479185"/>
            <a:ext cx="1640792" cy="403470"/>
          </a:xfrm>
          <a:prstGeom prst="rect">
            <a:avLst/>
          </a:prstGeom>
        </p:spPr>
      </p:pic>
      <p:pic>
        <p:nvPicPr>
          <p:cNvPr id="27" name="Picture 26">
            <a:extLst>
              <a:ext uri="{FF2B5EF4-FFF2-40B4-BE49-F238E27FC236}">
                <a16:creationId xmlns:a16="http://schemas.microsoft.com/office/drawing/2014/main" id="{40DDB23D-ED96-4B0F-8480-B04F426E8748}"/>
              </a:ext>
            </a:extLst>
          </p:cNvPr>
          <p:cNvPicPr>
            <a:picLocks noChangeAspect="1"/>
          </p:cNvPicPr>
          <p:nvPr/>
        </p:nvPicPr>
        <p:blipFill>
          <a:blip r:embed="rId6"/>
          <a:stretch>
            <a:fillRect/>
          </a:stretch>
        </p:blipFill>
        <p:spPr>
          <a:xfrm>
            <a:off x="3520867" y="4000461"/>
            <a:ext cx="2102266" cy="408232"/>
          </a:xfrm>
          <a:prstGeom prst="rect">
            <a:avLst/>
          </a:prstGeom>
        </p:spPr>
      </p:pic>
      <p:pic>
        <p:nvPicPr>
          <p:cNvPr id="28" name="Picture 27">
            <a:extLst>
              <a:ext uri="{FF2B5EF4-FFF2-40B4-BE49-F238E27FC236}">
                <a16:creationId xmlns:a16="http://schemas.microsoft.com/office/drawing/2014/main" id="{A9EFC632-4C8D-4507-942F-A4EFC314B0C0}"/>
              </a:ext>
            </a:extLst>
          </p:cNvPr>
          <p:cNvPicPr>
            <a:picLocks noChangeAspect="1"/>
          </p:cNvPicPr>
          <p:nvPr/>
        </p:nvPicPr>
        <p:blipFill>
          <a:blip r:embed="rId7"/>
          <a:stretch>
            <a:fillRect/>
          </a:stretch>
        </p:blipFill>
        <p:spPr>
          <a:xfrm>
            <a:off x="3520869" y="4999723"/>
            <a:ext cx="2102264" cy="336552"/>
          </a:xfrm>
          <a:prstGeom prst="rect">
            <a:avLst/>
          </a:prstGeom>
        </p:spPr>
      </p:pic>
      <p:sp>
        <p:nvSpPr>
          <p:cNvPr id="11" name="Rectangle 10">
            <a:extLst>
              <a:ext uri="{FF2B5EF4-FFF2-40B4-BE49-F238E27FC236}">
                <a16:creationId xmlns:a16="http://schemas.microsoft.com/office/drawing/2014/main" id="{C61D9581-3BB8-4F90-9BAD-F21F4D27457C}"/>
              </a:ext>
            </a:extLst>
          </p:cNvPr>
          <p:cNvSpPr/>
          <p:nvPr/>
        </p:nvSpPr>
        <p:spPr>
          <a:xfrm>
            <a:off x="330302" y="5566089"/>
            <a:ext cx="8648344" cy="923330"/>
          </a:xfrm>
          <a:prstGeom prst="rect">
            <a:avLst/>
          </a:prstGeom>
        </p:spPr>
        <p:txBody>
          <a:bodyPr wrap="square">
            <a:spAutoFit/>
          </a:bodyPr>
          <a:lstStyle/>
          <a:p>
            <a:r>
              <a:rPr lang="en-US" dirty="0">
                <a:latin typeface="Times-Roman"/>
              </a:rPr>
              <a:t>Without going through proofs, we will state here that our three desiderates probability theory dictate that </a:t>
            </a:r>
            <a:r>
              <a:rPr lang="en-US" b="1" dirty="0">
                <a:latin typeface="Times-Roman"/>
              </a:rPr>
              <a:t>probability is a real number whose range must be either [0,1] or [1,+infinity]</a:t>
            </a:r>
            <a:r>
              <a:rPr lang="en-US" dirty="0">
                <a:latin typeface="Times-Roman"/>
              </a:rPr>
              <a:t>.</a:t>
            </a:r>
          </a:p>
        </p:txBody>
      </p:sp>
    </p:spTree>
    <p:extLst>
      <p:ext uri="{BB962C8B-B14F-4D97-AF65-F5344CB8AC3E}">
        <p14:creationId xmlns:p14="http://schemas.microsoft.com/office/powerpoint/2010/main" val="10981212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Rounded Rectangle 70"/>
          <p:cNvSpPr/>
          <p:nvPr/>
        </p:nvSpPr>
        <p:spPr>
          <a:xfrm>
            <a:off x="4876800" y="4628919"/>
            <a:ext cx="3571812" cy="1805735"/>
          </a:xfrm>
          <a:prstGeom prst="roundRect">
            <a:avLst/>
          </a:prstGeom>
          <a:solidFill>
            <a:srgbClr val="FCE7E0">
              <a:alpha val="90000"/>
            </a:srgbClr>
          </a:solidFill>
          <a:ln>
            <a:solidFill>
              <a:schemeClr val="accent1">
                <a:shade val="95000"/>
                <a:satMod val="105000"/>
                <a:alpha val="68000"/>
              </a:schemeClr>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900" b="1" dirty="0">
                <a:solidFill>
                  <a:schemeClr val="tx1"/>
                </a:solidFill>
              </a:rPr>
              <a:t>Bayes rule</a:t>
            </a:r>
          </a:p>
          <a:p>
            <a:pPr algn="ctr"/>
            <a:endParaRPr lang="en-US" sz="1900" b="1" dirty="0">
              <a:solidFill>
                <a:schemeClr val="tx1"/>
              </a:solidFill>
            </a:endParaRPr>
          </a:p>
          <a:p>
            <a:pPr algn="ctr"/>
            <a:endParaRPr lang="en-US" sz="1900" b="1" dirty="0">
              <a:solidFill>
                <a:schemeClr val="tx1"/>
              </a:solidFill>
            </a:endParaRPr>
          </a:p>
          <a:p>
            <a:pPr algn="ctr"/>
            <a:endParaRPr lang="en-US" sz="1900" b="1" dirty="0">
              <a:solidFill>
                <a:schemeClr val="tx1"/>
              </a:solidFill>
            </a:endParaRPr>
          </a:p>
          <a:p>
            <a:pPr algn="ctr"/>
            <a:endParaRPr lang="en-US" sz="1900" b="1" dirty="0">
              <a:solidFill>
                <a:schemeClr val="tx1"/>
              </a:solidFill>
            </a:endParaRPr>
          </a:p>
        </p:txBody>
      </p:sp>
      <p:grpSp>
        <p:nvGrpSpPr>
          <p:cNvPr id="22" name="Group 21"/>
          <p:cNvGrpSpPr/>
          <p:nvPr/>
        </p:nvGrpSpPr>
        <p:grpSpPr>
          <a:xfrm>
            <a:off x="0" y="1066800"/>
            <a:ext cx="3337919" cy="1852542"/>
            <a:chOff x="0" y="1066800"/>
            <a:chExt cx="3337919" cy="1852542"/>
          </a:xfrm>
        </p:grpSpPr>
        <p:grpSp>
          <p:nvGrpSpPr>
            <p:cNvPr id="6" name="Group 5"/>
            <p:cNvGrpSpPr/>
            <p:nvPr/>
          </p:nvGrpSpPr>
          <p:grpSpPr>
            <a:xfrm>
              <a:off x="0" y="1066800"/>
              <a:ext cx="2124974" cy="1852542"/>
              <a:chOff x="98441" y="848604"/>
              <a:chExt cx="2124974" cy="1852542"/>
            </a:xfrm>
          </p:grpSpPr>
          <p:pic>
            <p:nvPicPr>
              <p:cNvPr id="31" name="Picture 30"/>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8441" y="848604"/>
                <a:ext cx="2124974" cy="1852542"/>
              </a:xfrm>
              <a:prstGeom prst="rect">
                <a:avLst/>
              </a:prstGeom>
            </p:spPr>
          </p:pic>
          <mc:AlternateContent xmlns:mc="http://schemas.openxmlformats.org/markup-compatibility/2006" xmlns:a14="http://schemas.microsoft.com/office/drawing/2010/main">
            <mc:Choice Requires="a14">
              <p:sp>
                <p:nvSpPr>
                  <p:cNvPr id="2" name="TextBox 1"/>
                  <p:cNvSpPr txBox="1"/>
                  <p:nvPr/>
                </p:nvSpPr>
                <p:spPr>
                  <a:xfrm>
                    <a:off x="691329" y="1585305"/>
                    <a:ext cx="284440" cy="29238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300" i="1" dirty="0" smtClean="0">
                              <a:solidFill>
                                <a:schemeClr val="bg1"/>
                              </a:solidFill>
                              <a:latin typeface="Cambria Math" panose="02040503050406030204" pitchFamily="18" charset="0"/>
                              <a:cs typeface="Times New Roman" panose="02020603050405020304" pitchFamily="18" charset="0"/>
                            </a:rPr>
                            <m:t>𝐴</m:t>
                          </m:r>
                        </m:oMath>
                      </m:oMathPara>
                    </a14:m>
                    <a:endParaRPr lang="en-US" sz="1300" dirty="0">
                      <a:solidFill>
                        <a:schemeClr val="bg1"/>
                      </a:solidFill>
                      <a:latin typeface="Times New Roman" panose="02020603050405020304" pitchFamily="18" charset="0"/>
                      <a:cs typeface="Times New Roman" panose="02020603050405020304" pitchFamily="18" charset="0"/>
                    </a:endParaRPr>
                  </a:p>
                </p:txBody>
              </p:sp>
            </mc:Choice>
            <mc:Fallback xmlns="">
              <p:sp>
                <p:nvSpPr>
                  <p:cNvPr id="2" name="TextBox 1"/>
                  <p:cNvSpPr txBox="1">
                    <a:spLocks noRot="1" noChangeAspect="1" noMove="1" noResize="1" noEditPoints="1" noAdjustHandles="1" noChangeArrowheads="1" noChangeShapeType="1" noTextEdit="1"/>
                  </p:cNvSpPr>
                  <p:nvPr/>
                </p:nvSpPr>
                <p:spPr>
                  <a:xfrm>
                    <a:off x="691329" y="1585305"/>
                    <a:ext cx="284440" cy="292388"/>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p:cNvSpPr txBox="1"/>
                  <p:nvPr/>
                </p:nvSpPr>
                <p:spPr>
                  <a:xfrm>
                    <a:off x="787889" y="2152551"/>
                    <a:ext cx="746076" cy="29238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300" b="0" i="1" dirty="0" smtClean="0">
                              <a:solidFill>
                                <a:schemeClr val="tx1"/>
                              </a:solidFill>
                              <a:latin typeface="Cambria Math" panose="02040503050406030204" pitchFamily="18" charset="0"/>
                              <a:cs typeface="Times New Roman" panose="02020603050405020304" pitchFamily="18" charset="0"/>
                            </a:rPr>
                            <m:t>𝑈𝑛𝑖𝑣𝑒𝑟𝑠𝑒</m:t>
                          </m:r>
                        </m:oMath>
                      </m:oMathPara>
                    </a14:m>
                    <a:endParaRPr lang="en-US" sz="1300" dirty="0">
                      <a:solidFill>
                        <a:schemeClr val="bg1"/>
                      </a:solidFill>
                      <a:latin typeface="Times New Roman" panose="02020603050405020304" pitchFamily="18" charset="0"/>
                      <a:cs typeface="Times New Roman" panose="02020603050405020304" pitchFamily="18" charset="0"/>
                    </a:endParaRPr>
                  </a:p>
                </p:txBody>
              </p:sp>
            </mc:Choice>
            <mc:Fallback xmlns="">
              <p:sp>
                <p:nvSpPr>
                  <p:cNvPr id="46" name="TextBox 45"/>
                  <p:cNvSpPr txBox="1">
                    <a:spLocks noRot="1" noChangeAspect="1" noMove="1" noResize="1" noEditPoints="1" noAdjustHandles="1" noChangeArrowheads="1" noChangeShapeType="1" noTextEdit="1"/>
                  </p:cNvSpPr>
                  <p:nvPr/>
                </p:nvSpPr>
                <p:spPr>
                  <a:xfrm>
                    <a:off x="787889" y="2152551"/>
                    <a:ext cx="746076" cy="292388"/>
                  </a:xfrm>
                  <a:prstGeom prst="rect">
                    <a:avLst/>
                  </a:prstGeom>
                  <a:blipFill>
                    <a:blip r:embed="rId11"/>
                    <a:stretch>
                      <a:fillRect r="-9836"/>
                    </a:stretch>
                  </a:blipFill>
                </p:spPr>
                <p:txBody>
                  <a:bodyPr/>
                  <a:lstStyle/>
                  <a:p>
                    <a:r>
                      <a:rPr lang="en-US">
                        <a:noFill/>
                      </a:rPr>
                      <a:t> </a:t>
                    </a:r>
                  </a:p>
                </p:txBody>
              </p:sp>
            </mc:Fallback>
          </mc:AlternateContent>
        </p:grpSp>
        <p:pic>
          <p:nvPicPr>
            <p:cNvPr id="9" name="Picture 8"/>
            <p:cNvPicPr>
              <a:picLocks noChangeAspect="1"/>
            </p:cNvPicPr>
            <p:nvPr>
              <p:custDataLst>
                <p:tags r:id="rId6"/>
              </p:custDataLst>
            </p:nvPr>
          </p:nvPicPr>
          <p:blipFill>
            <a:blip r:embed="rId12" cstate="print">
              <a:extLst>
                <a:ext uri="{28A0092B-C50C-407E-A947-70E740481C1C}">
                  <a14:useLocalDpi xmlns:a14="http://schemas.microsoft.com/office/drawing/2010/main" val="0"/>
                </a:ext>
              </a:extLst>
            </a:blip>
            <a:stretch>
              <a:fillRect/>
            </a:stretch>
          </p:blipFill>
          <p:spPr>
            <a:xfrm>
              <a:off x="2195061" y="1727166"/>
              <a:ext cx="1142858" cy="531809"/>
            </a:xfrm>
            <a:prstGeom prst="rect">
              <a:avLst/>
            </a:prstGeom>
          </p:spPr>
        </p:pic>
      </p:grpSp>
      <p:grpSp>
        <p:nvGrpSpPr>
          <p:cNvPr id="25" name="Group 24"/>
          <p:cNvGrpSpPr/>
          <p:nvPr/>
        </p:nvGrpSpPr>
        <p:grpSpPr>
          <a:xfrm>
            <a:off x="-2" y="2919534"/>
            <a:ext cx="3359255" cy="1852544"/>
            <a:chOff x="-2" y="2919534"/>
            <a:chExt cx="3359255" cy="1852544"/>
          </a:xfrm>
        </p:grpSpPr>
        <p:grpSp>
          <p:nvGrpSpPr>
            <p:cNvPr id="4" name="Group 3"/>
            <p:cNvGrpSpPr/>
            <p:nvPr/>
          </p:nvGrpSpPr>
          <p:grpSpPr>
            <a:xfrm>
              <a:off x="-2" y="2919534"/>
              <a:ext cx="2124976" cy="1852544"/>
              <a:chOff x="98439" y="2824601"/>
              <a:chExt cx="2124976" cy="1852544"/>
            </a:xfrm>
          </p:grpSpPr>
          <p:pic>
            <p:nvPicPr>
              <p:cNvPr id="35" name="Picture 34"/>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8439" y="2824601"/>
                <a:ext cx="2124976" cy="1852544"/>
              </a:xfrm>
              <a:prstGeom prst="rect">
                <a:avLst/>
              </a:prstGeom>
            </p:spPr>
          </p:pic>
          <mc:AlternateContent xmlns:mc="http://schemas.openxmlformats.org/markup-compatibility/2006" xmlns:a14="http://schemas.microsoft.com/office/drawing/2010/main">
            <mc:Choice Requires="a14">
              <p:sp>
                <p:nvSpPr>
                  <p:cNvPr id="43" name="TextBox 42"/>
                  <p:cNvSpPr txBox="1"/>
                  <p:nvPr/>
                </p:nvSpPr>
                <p:spPr>
                  <a:xfrm>
                    <a:off x="1160927" y="3604679"/>
                    <a:ext cx="284440" cy="29238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300" b="0" i="1" dirty="0" smtClean="0">
                              <a:solidFill>
                                <a:schemeClr val="bg1"/>
                              </a:solidFill>
                              <a:latin typeface="Cambria Math" panose="02040503050406030204" pitchFamily="18" charset="0"/>
                              <a:cs typeface="Times New Roman" panose="02020603050405020304" pitchFamily="18" charset="0"/>
                            </a:rPr>
                            <m:t>𝐵</m:t>
                          </m:r>
                        </m:oMath>
                      </m:oMathPara>
                    </a14:m>
                    <a:endParaRPr lang="en-US" sz="1300" dirty="0">
                      <a:solidFill>
                        <a:schemeClr val="bg1"/>
                      </a:solidFill>
                      <a:latin typeface="Times New Roman" panose="02020603050405020304" pitchFamily="18" charset="0"/>
                      <a:cs typeface="Times New Roman" panose="02020603050405020304" pitchFamily="18" charset="0"/>
                    </a:endParaRPr>
                  </a:p>
                </p:txBody>
              </p:sp>
            </mc:Choice>
            <mc:Fallback xmlns="">
              <p:sp>
                <p:nvSpPr>
                  <p:cNvPr id="43" name="TextBox 42"/>
                  <p:cNvSpPr txBox="1">
                    <a:spLocks noRot="1" noChangeAspect="1" noMove="1" noResize="1" noEditPoints="1" noAdjustHandles="1" noChangeArrowheads="1" noChangeShapeType="1" noTextEdit="1"/>
                  </p:cNvSpPr>
                  <p:nvPr/>
                </p:nvSpPr>
                <p:spPr>
                  <a:xfrm>
                    <a:off x="1160927" y="3604679"/>
                    <a:ext cx="284440" cy="292388"/>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p:cNvSpPr txBox="1"/>
                  <p:nvPr/>
                </p:nvSpPr>
                <p:spPr>
                  <a:xfrm>
                    <a:off x="787889" y="4128990"/>
                    <a:ext cx="746076" cy="29238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300" b="0" i="1" dirty="0" smtClean="0">
                              <a:solidFill>
                                <a:schemeClr val="tx1"/>
                              </a:solidFill>
                              <a:latin typeface="Cambria Math" panose="02040503050406030204" pitchFamily="18" charset="0"/>
                              <a:cs typeface="Times New Roman" panose="02020603050405020304" pitchFamily="18" charset="0"/>
                            </a:rPr>
                            <m:t>𝑈𝑛𝑖𝑣𝑒𝑟𝑠𝑒</m:t>
                          </m:r>
                        </m:oMath>
                      </m:oMathPara>
                    </a14:m>
                    <a:endParaRPr lang="en-US" sz="1300" dirty="0">
                      <a:solidFill>
                        <a:schemeClr val="bg1"/>
                      </a:solidFill>
                      <a:latin typeface="Times New Roman" panose="02020603050405020304" pitchFamily="18" charset="0"/>
                      <a:cs typeface="Times New Roman" panose="02020603050405020304" pitchFamily="18" charset="0"/>
                    </a:endParaRPr>
                  </a:p>
                </p:txBody>
              </p:sp>
            </mc:Choice>
            <mc:Fallback xmlns="">
              <p:sp>
                <p:nvSpPr>
                  <p:cNvPr id="47" name="TextBox 46"/>
                  <p:cNvSpPr txBox="1">
                    <a:spLocks noRot="1" noChangeAspect="1" noMove="1" noResize="1" noEditPoints="1" noAdjustHandles="1" noChangeArrowheads="1" noChangeShapeType="1" noTextEdit="1"/>
                  </p:cNvSpPr>
                  <p:nvPr/>
                </p:nvSpPr>
                <p:spPr>
                  <a:xfrm>
                    <a:off x="787889" y="4128990"/>
                    <a:ext cx="746076" cy="292388"/>
                  </a:xfrm>
                  <a:prstGeom prst="rect">
                    <a:avLst/>
                  </a:prstGeom>
                  <a:blipFill>
                    <a:blip r:embed="rId11"/>
                    <a:stretch>
                      <a:fillRect r="-9836"/>
                    </a:stretch>
                  </a:blipFill>
                </p:spPr>
                <p:txBody>
                  <a:bodyPr/>
                  <a:lstStyle/>
                  <a:p>
                    <a:r>
                      <a:rPr lang="en-US">
                        <a:noFill/>
                      </a:rPr>
                      <a:t> </a:t>
                    </a:r>
                  </a:p>
                </p:txBody>
              </p:sp>
            </mc:Fallback>
          </mc:AlternateContent>
        </p:grpSp>
        <p:pic>
          <p:nvPicPr>
            <p:cNvPr id="10" name="Picture 9"/>
            <p:cNvPicPr>
              <a:picLocks noChangeAspect="1"/>
            </p:cNvPicPr>
            <p:nvPr>
              <p:custDataLst>
                <p:tags r:id="rId5"/>
              </p:custDataLst>
            </p:nvPr>
          </p:nvPicPr>
          <p:blipFill>
            <a:blip r:embed="rId15" cstate="print">
              <a:extLst>
                <a:ext uri="{28A0092B-C50C-407E-A947-70E740481C1C}">
                  <a14:useLocalDpi xmlns:a14="http://schemas.microsoft.com/office/drawing/2010/main" val="0"/>
                </a:ext>
              </a:extLst>
            </a:blip>
            <a:stretch>
              <a:fillRect/>
            </a:stretch>
          </p:blipFill>
          <p:spPr>
            <a:xfrm>
              <a:off x="2195062" y="3579901"/>
              <a:ext cx="1164191" cy="522666"/>
            </a:xfrm>
            <a:prstGeom prst="rect">
              <a:avLst/>
            </a:prstGeom>
          </p:spPr>
        </p:pic>
      </p:grpSp>
      <p:grpSp>
        <p:nvGrpSpPr>
          <p:cNvPr id="7" name="Group 6"/>
          <p:cNvGrpSpPr/>
          <p:nvPr/>
        </p:nvGrpSpPr>
        <p:grpSpPr>
          <a:xfrm>
            <a:off x="2" y="4772463"/>
            <a:ext cx="3667262" cy="1852540"/>
            <a:chOff x="2" y="4772463"/>
            <a:chExt cx="3667262" cy="1852540"/>
          </a:xfrm>
        </p:grpSpPr>
        <p:grpSp>
          <p:nvGrpSpPr>
            <p:cNvPr id="3" name="Group 2"/>
            <p:cNvGrpSpPr/>
            <p:nvPr/>
          </p:nvGrpSpPr>
          <p:grpSpPr>
            <a:xfrm>
              <a:off x="2" y="4772463"/>
              <a:ext cx="2124972" cy="1852540"/>
              <a:chOff x="98443" y="4800600"/>
              <a:chExt cx="2124972" cy="1852540"/>
            </a:xfrm>
          </p:grpSpPr>
          <p:pic>
            <p:nvPicPr>
              <p:cNvPr id="36" name="Picture 35"/>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98443" y="4800600"/>
                <a:ext cx="2124972" cy="1852540"/>
              </a:xfrm>
              <a:prstGeom prst="rect">
                <a:avLst/>
              </a:prstGeom>
            </p:spPr>
          </p:pic>
          <mc:AlternateContent xmlns:mc="http://schemas.openxmlformats.org/markup-compatibility/2006" xmlns:a14="http://schemas.microsoft.com/office/drawing/2010/main">
            <mc:Choice Requires="a14">
              <p:sp>
                <p:nvSpPr>
                  <p:cNvPr id="38" name="TextBox 37"/>
                  <p:cNvSpPr txBox="1"/>
                  <p:nvPr/>
                </p:nvSpPr>
                <p:spPr>
                  <a:xfrm>
                    <a:off x="833549" y="5575313"/>
                    <a:ext cx="381000" cy="2616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100" i="1" dirty="0" smtClean="0">
                              <a:solidFill>
                                <a:schemeClr val="bg1"/>
                              </a:solidFill>
                              <a:latin typeface="Cambria Math" panose="02040503050406030204" pitchFamily="18" charset="0"/>
                              <a:cs typeface="Times New Roman" panose="02020603050405020304" pitchFamily="18" charset="0"/>
                            </a:rPr>
                            <m:t>𝐴𝐵</m:t>
                          </m:r>
                        </m:oMath>
                      </m:oMathPara>
                    </a14:m>
                    <a:endParaRPr lang="en-US" sz="1100" dirty="0">
                      <a:solidFill>
                        <a:schemeClr val="bg1"/>
                      </a:solidFill>
                      <a:latin typeface="Times New Roman" panose="02020603050405020304" pitchFamily="18" charset="0"/>
                      <a:cs typeface="Times New Roman" panose="02020603050405020304" pitchFamily="18" charset="0"/>
                    </a:endParaRPr>
                  </a:p>
                </p:txBody>
              </p:sp>
            </mc:Choice>
            <mc:Fallback xmlns="">
              <p:sp>
                <p:nvSpPr>
                  <p:cNvPr id="38" name="TextBox 37"/>
                  <p:cNvSpPr txBox="1">
                    <a:spLocks noRot="1" noChangeAspect="1" noMove="1" noResize="1" noEditPoints="1" noAdjustHandles="1" noChangeArrowheads="1" noChangeShapeType="1" noTextEdit="1"/>
                  </p:cNvSpPr>
                  <p:nvPr/>
                </p:nvSpPr>
                <p:spPr>
                  <a:xfrm>
                    <a:off x="833549" y="5575313"/>
                    <a:ext cx="381000" cy="261610"/>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p:cNvSpPr txBox="1"/>
                  <p:nvPr/>
                </p:nvSpPr>
                <p:spPr>
                  <a:xfrm>
                    <a:off x="534552" y="5559924"/>
                    <a:ext cx="284440" cy="29238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300" i="1" dirty="0" smtClean="0">
                              <a:solidFill>
                                <a:schemeClr val="bg1"/>
                              </a:solidFill>
                              <a:latin typeface="Cambria Math" panose="02040503050406030204" pitchFamily="18" charset="0"/>
                              <a:cs typeface="Times New Roman" panose="02020603050405020304" pitchFamily="18" charset="0"/>
                            </a:rPr>
                            <m:t>𝐴</m:t>
                          </m:r>
                        </m:oMath>
                      </m:oMathPara>
                    </a14:m>
                    <a:endParaRPr lang="en-US" sz="1300" dirty="0">
                      <a:solidFill>
                        <a:schemeClr val="bg1"/>
                      </a:solidFill>
                      <a:latin typeface="Times New Roman" panose="02020603050405020304" pitchFamily="18" charset="0"/>
                      <a:cs typeface="Times New Roman" panose="02020603050405020304" pitchFamily="18" charset="0"/>
                    </a:endParaRPr>
                  </a:p>
                </p:txBody>
              </p:sp>
            </mc:Choice>
            <mc:Fallback xmlns="">
              <p:sp>
                <p:nvSpPr>
                  <p:cNvPr id="42" name="TextBox 41"/>
                  <p:cNvSpPr txBox="1">
                    <a:spLocks noRot="1" noChangeAspect="1" noMove="1" noResize="1" noEditPoints="1" noAdjustHandles="1" noChangeArrowheads="1" noChangeShapeType="1" noTextEdit="1"/>
                  </p:cNvSpPr>
                  <p:nvPr/>
                </p:nvSpPr>
                <p:spPr>
                  <a:xfrm>
                    <a:off x="534552" y="5559924"/>
                    <a:ext cx="284440" cy="292388"/>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p:cNvSpPr txBox="1"/>
                  <p:nvPr/>
                </p:nvSpPr>
                <p:spPr>
                  <a:xfrm>
                    <a:off x="787889" y="6098837"/>
                    <a:ext cx="746076" cy="29238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300" b="0" i="1" dirty="0" smtClean="0">
                              <a:solidFill>
                                <a:schemeClr val="tx1"/>
                              </a:solidFill>
                              <a:latin typeface="Cambria Math" panose="02040503050406030204" pitchFamily="18" charset="0"/>
                              <a:cs typeface="Times New Roman" panose="02020603050405020304" pitchFamily="18" charset="0"/>
                            </a:rPr>
                            <m:t>𝑈𝑛𝑖𝑣𝑒𝑟𝑠𝑒</m:t>
                          </m:r>
                        </m:oMath>
                      </m:oMathPara>
                    </a14:m>
                    <a:endParaRPr lang="en-US" sz="1300" dirty="0">
                      <a:solidFill>
                        <a:schemeClr val="bg1"/>
                      </a:solidFill>
                      <a:latin typeface="Times New Roman" panose="02020603050405020304" pitchFamily="18" charset="0"/>
                      <a:cs typeface="Times New Roman" panose="02020603050405020304" pitchFamily="18" charset="0"/>
                    </a:endParaRPr>
                  </a:p>
                </p:txBody>
              </p:sp>
            </mc:Choice>
            <mc:Fallback xmlns="">
              <p:sp>
                <p:nvSpPr>
                  <p:cNvPr id="48" name="TextBox 47"/>
                  <p:cNvSpPr txBox="1">
                    <a:spLocks noRot="1" noChangeAspect="1" noMove="1" noResize="1" noEditPoints="1" noAdjustHandles="1" noChangeArrowheads="1" noChangeShapeType="1" noTextEdit="1"/>
                  </p:cNvSpPr>
                  <p:nvPr/>
                </p:nvSpPr>
                <p:spPr>
                  <a:xfrm>
                    <a:off x="787889" y="6098837"/>
                    <a:ext cx="746076" cy="292388"/>
                  </a:xfrm>
                  <a:prstGeom prst="rect">
                    <a:avLst/>
                  </a:prstGeom>
                  <a:blipFill>
                    <a:blip r:embed="rId11"/>
                    <a:stretch>
                      <a:fillRect r="-98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p:cNvSpPr txBox="1"/>
                  <p:nvPr/>
                </p:nvSpPr>
                <p:spPr>
                  <a:xfrm>
                    <a:off x="1160927" y="5559924"/>
                    <a:ext cx="284440" cy="29238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300" b="0" i="1" dirty="0" smtClean="0">
                              <a:solidFill>
                                <a:schemeClr val="bg1"/>
                              </a:solidFill>
                              <a:latin typeface="Cambria Math" panose="02040503050406030204" pitchFamily="18" charset="0"/>
                              <a:cs typeface="Times New Roman" panose="02020603050405020304" pitchFamily="18" charset="0"/>
                            </a:rPr>
                            <m:t>𝐵</m:t>
                          </m:r>
                        </m:oMath>
                      </m:oMathPara>
                    </a14:m>
                    <a:endParaRPr lang="en-US" sz="1300" dirty="0">
                      <a:solidFill>
                        <a:schemeClr val="bg1"/>
                      </a:solidFill>
                      <a:latin typeface="Times New Roman" panose="02020603050405020304" pitchFamily="18" charset="0"/>
                      <a:cs typeface="Times New Roman" panose="02020603050405020304" pitchFamily="18" charset="0"/>
                    </a:endParaRPr>
                  </a:p>
                </p:txBody>
              </p:sp>
            </mc:Choice>
            <mc:Fallback xmlns="">
              <p:sp>
                <p:nvSpPr>
                  <p:cNvPr id="52" name="TextBox 51"/>
                  <p:cNvSpPr txBox="1">
                    <a:spLocks noRot="1" noChangeAspect="1" noMove="1" noResize="1" noEditPoints="1" noAdjustHandles="1" noChangeArrowheads="1" noChangeShapeType="1" noTextEdit="1"/>
                  </p:cNvSpPr>
                  <p:nvPr/>
                </p:nvSpPr>
                <p:spPr>
                  <a:xfrm>
                    <a:off x="1160927" y="5559924"/>
                    <a:ext cx="284440" cy="292388"/>
                  </a:xfrm>
                  <a:prstGeom prst="rect">
                    <a:avLst/>
                  </a:prstGeom>
                  <a:blipFill>
                    <a:blip r:embed="rId19"/>
                    <a:stretch>
                      <a:fillRect/>
                    </a:stretch>
                  </a:blipFill>
                </p:spPr>
                <p:txBody>
                  <a:bodyPr/>
                  <a:lstStyle/>
                  <a:p>
                    <a:r>
                      <a:rPr lang="en-US">
                        <a:noFill/>
                      </a:rPr>
                      <a:t> </a:t>
                    </a:r>
                  </a:p>
                </p:txBody>
              </p:sp>
            </mc:Fallback>
          </mc:AlternateContent>
        </p:grpSp>
        <p:pic>
          <p:nvPicPr>
            <p:cNvPr id="8" name="Picture 7"/>
            <p:cNvPicPr>
              <a:picLocks noChangeAspect="1"/>
            </p:cNvPicPr>
            <p:nvPr>
              <p:custDataLst>
                <p:tags r:id="rId4"/>
              </p:custDataLst>
            </p:nvPr>
          </p:nvPicPr>
          <p:blipFill>
            <a:blip r:embed="rId20" cstate="print">
              <a:extLst>
                <a:ext uri="{28A0092B-C50C-407E-A947-70E740481C1C}">
                  <a14:useLocalDpi xmlns:a14="http://schemas.microsoft.com/office/drawing/2010/main" val="0"/>
                </a:ext>
              </a:extLst>
            </a:blip>
            <a:stretch>
              <a:fillRect/>
            </a:stretch>
          </p:blipFill>
          <p:spPr>
            <a:xfrm>
              <a:off x="2124975" y="5437400"/>
              <a:ext cx="1542289" cy="531875"/>
            </a:xfrm>
            <a:prstGeom prst="rect">
              <a:avLst/>
            </a:prstGeom>
          </p:spPr>
        </p:pic>
      </p:grpSp>
      <p:pic>
        <p:nvPicPr>
          <p:cNvPr id="12" name="Picture 11"/>
          <p:cNvPicPr>
            <a:picLocks noChangeAspect="1"/>
          </p:cNvPicPr>
          <p:nvPr>
            <p:custDataLst>
              <p:tags r:id="rId1"/>
            </p:custDataLst>
          </p:nvPr>
        </p:nvPicPr>
        <p:blipFill>
          <a:blip r:embed="rId21" cstate="print">
            <a:extLst>
              <a:ext uri="{28A0092B-C50C-407E-A947-70E740481C1C}">
                <a14:useLocalDpi xmlns:a14="http://schemas.microsoft.com/office/drawing/2010/main" val="0"/>
              </a:ext>
            </a:extLst>
          </a:blip>
          <a:stretch>
            <a:fillRect/>
          </a:stretch>
        </p:blipFill>
        <p:spPr>
          <a:xfrm>
            <a:off x="4876800" y="1645642"/>
            <a:ext cx="3571812" cy="694856"/>
          </a:xfrm>
          <a:prstGeom prst="rect">
            <a:avLst/>
          </a:prstGeom>
        </p:spPr>
      </p:pic>
      <p:pic>
        <p:nvPicPr>
          <p:cNvPr id="13" name="Picture 12"/>
          <p:cNvPicPr>
            <a:picLocks noChangeAspect="1"/>
          </p:cNvPicPr>
          <p:nvPr>
            <p:custDataLst>
              <p:tags r:id="rId2"/>
            </p:custDataLst>
          </p:nvPr>
        </p:nvPicPr>
        <p:blipFill>
          <a:blip r:embed="rId22" cstate="print">
            <a:extLst>
              <a:ext uri="{28A0092B-C50C-407E-A947-70E740481C1C}">
                <a14:useLocalDpi xmlns:a14="http://schemas.microsoft.com/office/drawing/2010/main" val="0"/>
              </a:ext>
            </a:extLst>
          </a:blip>
          <a:stretch>
            <a:fillRect/>
          </a:stretch>
        </p:blipFill>
        <p:spPr>
          <a:xfrm>
            <a:off x="4876800" y="3493806"/>
            <a:ext cx="3571812" cy="694856"/>
          </a:xfrm>
          <a:prstGeom prst="rect">
            <a:avLst/>
          </a:prstGeom>
        </p:spPr>
      </p:pic>
      <p:cxnSp>
        <p:nvCxnSpPr>
          <p:cNvPr id="15" name="Straight Connector 14"/>
          <p:cNvCxnSpPr/>
          <p:nvPr/>
        </p:nvCxnSpPr>
        <p:spPr>
          <a:xfrm>
            <a:off x="4428565" y="1219200"/>
            <a:ext cx="0" cy="5365234"/>
          </a:xfrm>
          <a:prstGeom prst="line">
            <a:avLst/>
          </a:prstGeom>
          <a:ln w="1270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pic>
        <p:nvPicPr>
          <p:cNvPr id="20" name="Picture 19"/>
          <p:cNvPicPr>
            <a:picLocks noChangeAspect="1"/>
          </p:cNvPicPr>
          <p:nvPr>
            <p:custDataLst>
              <p:tags r:id="rId3"/>
            </p:custDataLst>
          </p:nvPr>
        </p:nvPicPr>
        <p:blipFill>
          <a:blip r:embed="rId23" cstate="print">
            <a:extLst>
              <a:ext uri="{28A0092B-C50C-407E-A947-70E740481C1C}">
                <a14:useLocalDpi xmlns:a14="http://schemas.microsoft.com/office/drawing/2010/main" val="0"/>
              </a:ext>
            </a:extLst>
          </a:blip>
          <a:stretch>
            <a:fillRect/>
          </a:stretch>
        </p:blipFill>
        <p:spPr>
          <a:xfrm>
            <a:off x="5324800" y="5400067"/>
            <a:ext cx="2675812" cy="597332"/>
          </a:xfrm>
          <a:prstGeom prst="rect">
            <a:avLst/>
          </a:prstGeom>
        </p:spPr>
      </p:pic>
      <p:sp>
        <p:nvSpPr>
          <p:cNvPr id="33" name="Title 4 1">
            <a:extLst>
              <a:ext uri="{FF2B5EF4-FFF2-40B4-BE49-F238E27FC236}">
                <a16:creationId xmlns:a16="http://schemas.microsoft.com/office/drawing/2014/main" id="{DEE090F3-9927-4102-A17F-649F1DCF855A}"/>
              </a:ext>
            </a:extLst>
          </p:cNvPr>
          <p:cNvSpPr>
            <a:spLocks noGrp="1"/>
          </p:cNvSpPr>
          <p:nvPr>
            <p:ph type="title"/>
          </p:nvPr>
        </p:nvSpPr>
        <p:spPr>
          <a:xfrm>
            <a:off x="152400" y="152400"/>
            <a:ext cx="8839200" cy="304800"/>
          </a:xfrm>
        </p:spPr>
        <p:txBody>
          <a:bodyPr>
            <a:noAutofit/>
          </a:bodyPr>
          <a:lstStyle/>
          <a:p>
            <a:r>
              <a:rPr lang="en-US" sz="1800" b="1" dirty="0">
                <a:solidFill>
                  <a:prstClr val="black"/>
                </a:solidFill>
              </a:rPr>
              <a:t>The product Rule (A prelude to the Bayesian Probability Theory)</a:t>
            </a:r>
            <a:endParaRPr lang="en-US" sz="1700" dirty="0">
              <a:solidFill>
                <a:schemeClr val="tx1"/>
              </a:solidFill>
            </a:endParaRPr>
          </a:p>
        </p:txBody>
      </p:sp>
    </p:spTree>
    <p:extLst>
      <p:ext uri="{BB962C8B-B14F-4D97-AF65-F5344CB8AC3E}">
        <p14:creationId xmlns:p14="http://schemas.microsoft.com/office/powerpoint/2010/main" val="3172172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par>
                                <p:cTn id="18" presetID="10" presetClass="entr" presetSubtype="0" fill="hold" nodeType="with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fade">
                                      <p:cBhvr>
                                        <p:cTn id="35" dur="5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1"/>
          <p:cNvSpPr>
            <a:spLocks noGrp="1"/>
          </p:cNvSpPr>
          <p:nvPr>
            <p:ph type="title"/>
          </p:nvPr>
        </p:nvSpPr>
        <p:spPr>
          <a:xfrm>
            <a:off x="152400" y="152400"/>
            <a:ext cx="8839200" cy="304800"/>
          </a:xfrm>
        </p:spPr>
        <p:txBody>
          <a:bodyPr>
            <a:noAutofit/>
          </a:bodyPr>
          <a:lstStyle/>
          <a:p>
            <a:r>
              <a:rPr lang="en-US" sz="1700" b="1" dirty="0">
                <a:solidFill>
                  <a:schemeClr val="tx1"/>
                </a:solidFill>
              </a:rPr>
              <a:t>A Tug-of-War in the History of Probability Theory</a:t>
            </a:r>
            <a:endParaRPr lang="en-US" sz="1700" dirty="0">
              <a:solidFill>
                <a:schemeClr val="tx1"/>
              </a:solidFill>
            </a:endParaRPr>
          </a:p>
        </p:txBody>
      </p:sp>
      <p:grpSp>
        <p:nvGrpSpPr>
          <p:cNvPr id="30" name="Group 29">
            <a:extLst>
              <a:ext uri="{FF2B5EF4-FFF2-40B4-BE49-F238E27FC236}">
                <a16:creationId xmlns:a16="http://schemas.microsoft.com/office/drawing/2014/main" id="{9D0B129D-C8F9-4A16-AB8E-5E016B449800}"/>
              </a:ext>
            </a:extLst>
          </p:cNvPr>
          <p:cNvGrpSpPr/>
          <p:nvPr/>
        </p:nvGrpSpPr>
        <p:grpSpPr>
          <a:xfrm>
            <a:off x="76200" y="685800"/>
            <a:ext cx="8763000" cy="315818"/>
            <a:chOff x="76200" y="838199"/>
            <a:chExt cx="8763000" cy="315818"/>
          </a:xfrm>
        </p:grpSpPr>
        <p:cxnSp>
          <p:nvCxnSpPr>
            <p:cNvPr id="7" name="Straight Arrow Connector 6">
              <a:extLst>
                <a:ext uri="{FF2B5EF4-FFF2-40B4-BE49-F238E27FC236}">
                  <a16:creationId xmlns:a16="http://schemas.microsoft.com/office/drawing/2014/main" id="{EDC6CF29-0C7E-4134-8087-72D39189B6F3}"/>
                </a:ext>
              </a:extLst>
            </p:cNvPr>
            <p:cNvCxnSpPr>
              <a:cxnSpLocks/>
            </p:cNvCxnSpPr>
            <p:nvPr/>
          </p:nvCxnSpPr>
          <p:spPr>
            <a:xfrm>
              <a:off x="304800" y="1143000"/>
              <a:ext cx="8534400" cy="0"/>
            </a:xfrm>
            <a:prstGeom prst="straightConnector1">
              <a:avLst/>
            </a:prstGeom>
            <a:ln w="31750">
              <a:tailEnd type="stealth" w="lg" len="lg"/>
            </a:ln>
          </p:spPr>
          <p:style>
            <a:lnRef idx="2">
              <a:schemeClr val="accent1"/>
            </a:lnRef>
            <a:fillRef idx="0">
              <a:schemeClr val="accent1"/>
            </a:fillRef>
            <a:effectRef idx="1">
              <a:schemeClr val="accent1"/>
            </a:effectRef>
            <a:fontRef idx="minor">
              <a:schemeClr val="tx1"/>
            </a:fontRef>
          </p:style>
        </p:cxnSp>
        <p:sp>
          <p:nvSpPr>
            <p:cNvPr id="14" name="Title 4 2 1 1">
              <a:extLst>
                <a:ext uri="{FF2B5EF4-FFF2-40B4-BE49-F238E27FC236}">
                  <a16:creationId xmlns:a16="http://schemas.microsoft.com/office/drawing/2014/main" id="{59423085-6222-46E2-B8DE-35676CFFD7E5}"/>
                </a:ext>
              </a:extLst>
            </p:cNvPr>
            <p:cNvSpPr txBox="1">
              <a:spLocks/>
            </p:cNvSpPr>
            <p:nvPr/>
          </p:nvSpPr>
          <p:spPr>
            <a:xfrm>
              <a:off x="76200" y="849216"/>
              <a:ext cx="759056" cy="304801"/>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200" dirty="0">
                  <a:solidFill>
                    <a:schemeClr val="tx1"/>
                  </a:solidFill>
                </a:rPr>
                <a:t>1700</a:t>
              </a:r>
            </a:p>
          </p:txBody>
        </p:sp>
        <p:sp>
          <p:nvSpPr>
            <p:cNvPr id="15" name="Title 4 2 1 1">
              <a:extLst>
                <a:ext uri="{FF2B5EF4-FFF2-40B4-BE49-F238E27FC236}">
                  <a16:creationId xmlns:a16="http://schemas.microsoft.com/office/drawing/2014/main" id="{8EB09671-8876-4A6A-95F5-E8799A099B8B}"/>
                </a:ext>
              </a:extLst>
            </p:cNvPr>
            <p:cNvSpPr txBox="1">
              <a:spLocks/>
            </p:cNvSpPr>
            <p:nvPr/>
          </p:nvSpPr>
          <p:spPr>
            <a:xfrm>
              <a:off x="3810000" y="838199"/>
              <a:ext cx="759056" cy="304801"/>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200" dirty="0">
                  <a:solidFill>
                    <a:schemeClr val="tx1"/>
                  </a:solidFill>
                </a:rPr>
                <a:t>1840</a:t>
              </a:r>
            </a:p>
          </p:txBody>
        </p:sp>
        <p:sp>
          <p:nvSpPr>
            <p:cNvPr id="16" name="Title 4 2 1 1">
              <a:extLst>
                <a:ext uri="{FF2B5EF4-FFF2-40B4-BE49-F238E27FC236}">
                  <a16:creationId xmlns:a16="http://schemas.microsoft.com/office/drawing/2014/main" id="{84424706-D9F0-411B-BC1B-B051860F27E7}"/>
                </a:ext>
              </a:extLst>
            </p:cNvPr>
            <p:cNvSpPr txBox="1">
              <a:spLocks/>
            </p:cNvSpPr>
            <p:nvPr/>
          </p:nvSpPr>
          <p:spPr>
            <a:xfrm>
              <a:off x="8080144" y="844992"/>
              <a:ext cx="759056" cy="304801"/>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200" dirty="0">
                  <a:solidFill>
                    <a:schemeClr val="tx1"/>
                  </a:solidFill>
                </a:rPr>
                <a:t>present</a:t>
              </a:r>
            </a:p>
          </p:txBody>
        </p:sp>
        <p:sp>
          <p:nvSpPr>
            <p:cNvPr id="17" name="Title 4 2 1 1">
              <a:extLst>
                <a:ext uri="{FF2B5EF4-FFF2-40B4-BE49-F238E27FC236}">
                  <a16:creationId xmlns:a16="http://schemas.microsoft.com/office/drawing/2014/main" id="{D365D905-66F1-435B-B64B-3F4B79C8F117}"/>
                </a:ext>
              </a:extLst>
            </p:cNvPr>
            <p:cNvSpPr txBox="1">
              <a:spLocks/>
            </p:cNvSpPr>
            <p:nvPr/>
          </p:nvSpPr>
          <p:spPr>
            <a:xfrm>
              <a:off x="6477000" y="844991"/>
              <a:ext cx="759056" cy="304801"/>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200" dirty="0">
                  <a:solidFill>
                    <a:schemeClr val="tx1"/>
                  </a:solidFill>
                </a:rPr>
                <a:t>1940</a:t>
              </a:r>
            </a:p>
          </p:txBody>
        </p:sp>
      </p:grpSp>
      <p:grpSp>
        <p:nvGrpSpPr>
          <p:cNvPr id="29" name="Group 28">
            <a:extLst>
              <a:ext uri="{FF2B5EF4-FFF2-40B4-BE49-F238E27FC236}">
                <a16:creationId xmlns:a16="http://schemas.microsoft.com/office/drawing/2014/main" id="{8BAE1422-DD49-4C81-80FF-A80EF20C7933}"/>
              </a:ext>
            </a:extLst>
          </p:cNvPr>
          <p:cNvGrpSpPr/>
          <p:nvPr/>
        </p:nvGrpSpPr>
        <p:grpSpPr>
          <a:xfrm>
            <a:off x="228599" y="1123118"/>
            <a:ext cx="5486401" cy="1239082"/>
            <a:chOff x="990599" y="1264496"/>
            <a:chExt cx="5486401" cy="1239082"/>
          </a:xfrm>
        </p:grpSpPr>
        <p:sp>
          <p:nvSpPr>
            <p:cNvPr id="4" name="Arrow: Right 3">
              <a:extLst>
                <a:ext uri="{FF2B5EF4-FFF2-40B4-BE49-F238E27FC236}">
                  <a16:creationId xmlns:a16="http://schemas.microsoft.com/office/drawing/2014/main" id="{5A0ED774-4DA3-4790-81AE-FF61C59B1F42}"/>
                </a:ext>
              </a:extLst>
            </p:cNvPr>
            <p:cNvSpPr/>
            <p:nvPr/>
          </p:nvSpPr>
          <p:spPr>
            <a:xfrm>
              <a:off x="1066800" y="1295400"/>
              <a:ext cx="5410200" cy="1208178"/>
            </a:xfrm>
            <a:prstGeom prst="rightArrow">
              <a:avLst/>
            </a:prstGeom>
            <a:gradFill flip="none" rotWithShape="1">
              <a:gsLst>
                <a:gs pos="2000">
                  <a:schemeClr val="accent1">
                    <a:tint val="100000"/>
                    <a:shade val="100000"/>
                    <a:satMod val="130000"/>
                  </a:schemeClr>
                </a:gs>
                <a:gs pos="87000">
                  <a:schemeClr val="accent1">
                    <a:tint val="50000"/>
                    <a:shade val="100000"/>
                    <a:satMod val="350000"/>
                    <a:alpha val="8000"/>
                  </a:schemeClr>
                </a:gs>
              </a:gsLst>
              <a:path path="circle">
                <a:fillToRect t="100000" r="100000"/>
              </a:path>
              <a:tileRect l="-100000" b="-100000"/>
            </a:gradFill>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300" dirty="0">
                  <a:solidFill>
                    <a:schemeClr val="tx1"/>
                  </a:solidFill>
                </a:rPr>
                <a:t>J </a:t>
              </a:r>
              <a:r>
                <a:rPr lang="en-US" sz="1300" b="1" dirty="0">
                  <a:solidFill>
                    <a:schemeClr val="tx1"/>
                  </a:solidFill>
                </a:rPr>
                <a:t>Bernoulli</a:t>
              </a:r>
              <a:r>
                <a:rPr lang="en-US" sz="1300" dirty="0">
                  <a:solidFill>
                    <a:schemeClr val="tx1"/>
                  </a:solidFill>
                </a:rPr>
                <a:t>, </a:t>
              </a:r>
              <a:r>
                <a:rPr lang="en-US" sz="1300" b="1" dirty="0">
                  <a:solidFill>
                    <a:schemeClr val="tx1"/>
                  </a:solidFill>
                </a:rPr>
                <a:t>de </a:t>
              </a:r>
              <a:r>
                <a:rPr lang="en-US" sz="1300" b="1" dirty="0" err="1">
                  <a:solidFill>
                    <a:schemeClr val="tx1"/>
                  </a:solidFill>
                </a:rPr>
                <a:t>Moivre</a:t>
              </a:r>
              <a:r>
                <a:rPr lang="en-US" sz="1300" dirty="0">
                  <a:solidFill>
                    <a:schemeClr val="tx1"/>
                  </a:solidFill>
                </a:rPr>
                <a:t>, </a:t>
              </a:r>
              <a:r>
                <a:rPr lang="en-US" sz="1300" b="1" dirty="0">
                  <a:solidFill>
                    <a:schemeClr val="tx1"/>
                  </a:solidFill>
                </a:rPr>
                <a:t>Bayes</a:t>
              </a:r>
              <a:r>
                <a:rPr lang="en-US" sz="1300" dirty="0">
                  <a:solidFill>
                    <a:schemeClr val="tx1"/>
                  </a:solidFill>
                </a:rPr>
                <a:t>, </a:t>
              </a:r>
              <a:r>
                <a:rPr lang="en-US" sz="1300" b="1" dirty="0">
                  <a:solidFill>
                    <a:schemeClr val="tx1"/>
                  </a:solidFill>
                </a:rPr>
                <a:t>Laplace</a:t>
              </a:r>
              <a:r>
                <a:rPr lang="en-US" sz="1300" dirty="0">
                  <a:solidFill>
                    <a:schemeClr val="tx1"/>
                  </a:solidFill>
                </a:rPr>
                <a:t>, D </a:t>
              </a:r>
              <a:r>
                <a:rPr lang="en-US" sz="1300" b="1" dirty="0">
                  <a:solidFill>
                    <a:schemeClr val="tx1"/>
                  </a:solidFill>
                </a:rPr>
                <a:t>Bernoulli</a:t>
              </a:r>
              <a:r>
                <a:rPr lang="en-US" sz="1300" dirty="0">
                  <a:solidFill>
                    <a:schemeClr val="tx1"/>
                  </a:solidFill>
                </a:rPr>
                <a:t>, Condorcet, Lubbock, Poisson, </a:t>
              </a:r>
              <a:r>
                <a:rPr lang="en-US" sz="1300" b="1" dirty="0">
                  <a:solidFill>
                    <a:schemeClr val="tx1"/>
                  </a:solidFill>
                </a:rPr>
                <a:t>de Morgan</a:t>
              </a:r>
              <a:r>
                <a:rPr lang="en-US" sz="1300" dirty="0">
                  <a:solidFill>
                    <a:schemeClr val="tx1"/>
                  </a:solidFill>
                </a:rPr>
                <a:t>, Maxwell, Jevons, Boltzmann, Gibbs</a:t>
              </a:r>
            </a:p>
          </p:txBody>
        </p:sp>
        <p:sp>
          <p:nvSpPr>
            <p:cNvPr id="22" name="Title 4 2 1 1 1">
              <a:extLst>
                <a:ext uri="{FF2B5EF4-FFF2-40B4-BE49-F238E27FC236}">
                  <a16:creationId xmlns:a16="http://schemas.microsoft.com/office/drawing/2014/main" id="{EEDA43E5-BE3F-437B-A46E-F65C5FA4EBB8}"/>
                </a:ext>
              </a:extLst>
            </p:cNvPr>
            <p:cNvSpPr txBox="1">
              <a:spLocks/>
            </p:cNvSpPr>
            <p:nvPr/>
          </p:nvSpPr>
          <p:spPr>
            <a:xfrm>
              <a:off x="990599" y="1264496"/>
              <a:ext cx="2666983" cy="335704"/>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fontAlgn="auto">
                <a:spcAft>
                  <a:spcPts val="0"/>
                </a:spcAft>
              </a:pPr>
              <a:r>
                <a:rPr lang="en-US" sz="1300" dirty="0">
                  <a:solidFill>
                    <a:schemeClr val="tx1"/>
                  </a:solidFill>
                </a:rPr>
                <a:t>Classical Probability (150 years)</a:t>
              </a:r>
            </a:p>
          </p:txBody>
        </p:sp>
      </p:grpSp>
      <p:grpSp>
        <p:nvGrpSpPr>
          <p:cNvPr id="28" name="Group 27">
            <a:extLst>
              <a:ext uri="{FF2B5EF4-FFF2-40B4-BE49-F238E27FC236}">
                <a16:creationId xmlns:a16="http://schemas.microsoft.com/office/drawing/2014/main" id="{289EC03D-A98A-406D-B7BD-64188E3D196D}"/>
              </a:ext>
            </a:extLst>
          </p:cNvPr>
          <p:cNvGrpSpPr/>
          <p:nvPr/>
        </p:nvGrpSpPr>
        <p:grpSpPr>
          <a:xfrm>
            <a:off x="6019800" y="1905000"/>
            <a:ext cx="2819400" cy="2144592"/>
            <a:chOff x="6019800" y="2209817"/>
            <a:chExt cx="2819400" cy="2144592"/>
          </a:xfrm>
        </p:grpSpPr>
        <p:sp>
          <p:nvSpPr>
            <p:cNvPr id="20" name="Arrow: Right 19">
              <a:extLst>
                <a:ext uri="{FF2B5EF4-FFF2-40B4-BE49-F238E27FC236}">
                  <a16:creationId xmlns:a16="http://schemas.microsoft.com/office/drawing/2014/main" id="{1D272D1E-E85F-4138-A9FD-2B1400A4D099}"/>
                </a:ext>
              </a:extLst>
            </p:cNvPr>
            <p:cNvSpPr/>
            <p:nvPr/>
          </p:nvSpPr>
          <p:spPr>
            <a:xfrm>
              <a:off x="6096000" y="2209817"/>
              <a:ext cx="2743200" cy="2144592"/>
            </a:xfrm>
            <a:prstGeom prst="rightArrow">
              <a:avLst>
                <a:gd name="adj1" fmla="val 50000"/>
                <a:gd name="adj2" fmla="val 37083"/>
              </a:avLst>
            </a:prstGeom>
            <a:gradFill flip="none" rotWithShape="1">
              <a:gsLst>
                <a:gs pos="35000">
                  <a:srgbClr val="F76742"/>
                </a:gs>
                <a:gs pos="0">
                  <a:schemeClr val="accent1">
                    <a:tint val="100000"/>
                    <a:shade val="100000"/>
                    <a:satMod val="130000"/>
                  </a:schemeClr>
                </a:gs>
                <a:gs pos="77000">
                  <a:schemeClr val="accent1">
                    <a:tint val="50000"/>
                    <a:shade val="100000"/>
                    <a:satMod val="350000"/>
                    <a:alpha val="8000"/>
                  </a:schemeClr>
                </a:gs>
              </a:gsLst>
              <a:path path="circle">
                <a:fillToRect l="100000" t="100000"/>
              </a:path>
              <a:tileRect r="-100000" b="-100000"/>
            </a:gradFill>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300" dirty="0">
                  <a:solidFill>
                    <a:schemeClr val="tx1"/>
                  </a:solidFill>
                </a:rPr>
                <a:t>Poincare, </a:t>
              </a:r>
              <a:r>
                <a:rPr lang="en-US" sz="1300" b="1" dirty="0">
                  <a:solidFill>
                    <a:schemeClr val="tx1"/>
                  </a:solidFill>
                </a:rPr>
                <a:t>Keynes</a:t>
              </a:r>
              <a:r>
                <a:rPr lang="en-US" sz="1300" dirty="0">
                  <a:solidFill>
                    <a:schemeClr val="tx1"/>
                  </a:solidFill>
                </a:rPr>
                <a:t>, Ramsey, </a:t>
              </a:r>
              <a:r>
                <a:rPr lang="en-US" sz="1300" b="1" dirty="0">
                  <a:solidFill>
                    <a:schemeClr val="tx1"/>
                  </a:solidFill>
                </a:rPr>
                <a:t>de </a:t>
              </a:r>
              <a:r>
                <a:rPr lang="en-US" sz="1300" b="1" dirty="0" err="1">
                  <a:solidFill>
                    <a:schemeClr val="tx1"/>
                  </a:solidFill>
                </a:rPr>
                <a:t>Finetti</a:t>
              </a:r>
              <a:r>
                <a:rPr lang="en-US" sz="1300" dirty="0">
                  <a:solidFill>
                    <a:schemeClr val="tx1"/>
                  </a:solidFill>
                </a:rPr>
                <a:t>, </a:t>
              </a:r>
              <a:r>
                <a:rPr lang="en-US" sz="1300" b="1" dirty="0">
                  <a:solidFill>
                    <a:schemeClr val="tx1"/>
                  </a:solidFill>
                </a:rPr>
                <a:t>Jeffreys</a:t>
              </a:r>
              <a:r>
                <a:rPr lang="en-US" sz="1300" dirty="0">
                  <a:solidFill>
                    <a:schemeClr val="tx1"/>
                  </a:solidFill>
                </a:rPr>
                <a:t>, </a:t>
              </a:r>
              <a:r>
                <a:rPr lang="en-US" sz="1300" b="1" dirty="0">
                  <a:solidFill>
                    <a:schemeClr val="tx1"/>
                  </a:solidFill>
                </a:rPr>
                <a:t>RT Cox</a:t>
              </a:r>
              <a:r>
                <a:rPr lang="en-US" sz="1300" dirty="0">
                  <a:solidFill>
                    <a:schemeClr val="tx1"/>
                  </a:solidFill>
                </a:rPr>
                <a:t>, Carnap, Good, </a:t>
              </a:r>
              <a:r>
                <a:rPr lang="en-US" sz="1300" dirty="0" err="1">
                  <a:solidFill>
                    <a:schemeClr val="tx1"/>
                  </a:solidFill>
                </a:rPr>
                <a:t>Polya</a:t>
              </a:r>
              <a:r>
                <a:rPr lang="en-US" sz="1300" dirty="0">
                  <a:solidFill>
                    <a:schemeClr val="tx1"/>
                  </a:solidFill>
                </a:rPr>
                <a:t>, Savage, Zellner, </a:t>
              </a:r>
              <a:r>
                <a:rPr lang="en-US" sz="1300" b="1" dirty="0">
                  <a:solidFill>
                    <a:schemeClr val="tx1"/>
                  </a:solidFill>
                </a:rPr>
                <a:t>Jaynes</a:t>
              </a:r>
              <a:r>
                <a:rPr lang="en-US" sz="1300" dirty="0">
                  <a:solidFill>
                    <a:schemeClr val="tx1"/>
                  </a:solidFill>
                </a:rPr>
                <a:t>, Jeffrey, …</a:t>
              </a:r>
            </a:p>
          </p:txBody>
        </p:sp>
        <p:sp>
          <p:nvSpPr>
            <p:cNvPr id="23" name="Title 4 2 1 1 1">
              <a:extLst>
                <a:ext uri="{FF2B5EF4-FFF2-40B4-BE49-F238E27FC236}">
                  <a16:creationId xmlns:a16="http://schemas.microsoft.com/office/drawing/2014/main" id="{2284C277-609E-4ED3-9B03-D3847ED1E00F}"/>
                </a:ext>
              </a:extLst>
            </p:cNvPr>
            <p:cNvSpPr txBox="1">
              <a:spLocks/>
            </p:cNvSpPr>
            <p:nvPr/>
          </p:nvSpPr>
          <p:spPr>
            <a:xfrm>
              <a:off x="6019800" y="2407048"/>
              <a:ext cx="1981200" cy="335704"/>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fontAlgn="auto">
                <a:spcAft>
                  <a:spcPts val="0"/>
                </a:spcAft>
              </a:pPr>
              <a:r>
                <a:rPr lang="en-US" sz="1300" dirty="0">
                  <a:solidFill>
                    <a:schemeClr val="tx1"/>
                  </a:solidFill>
                </a:rPr>
                <a:t>Bayesian Probability</a:t>
              </a:r>
            </a:p>
          </p:txBody>
        </p:sp>
      </p:grpSp>
      <p:grpSp>
        <p:nvGrpSpPr>
          <p:cNvPr id="27" name="Group 26">
            <a:extLst>
              <a:ext uri="{FF2B5EF4-FFF2-40B4-BE49-F238E27FC236}">
                <a16:creationId xmlns:a16="http://schemas.microsoft.com/office/drawing/2014/main" id="{06F8393A-DA3A-4ABF-A6BF-D1E3191FCE1B}"/>
              </a:ext>
            </a:extLst>
          </p:cNvPr>
          <p:cNvGrpSpPr/>
          <p:nvPr/>
        </p:nvGrpSpPr>
        <p:grpSpPr>
          <a:xfrm>
            <a:off x="3429000" y="4312496"/>
            <a:ext cx="5410200" cy="1250104"/>
            <a:chOff x="3429000" y="4388696"/>
            <a:chExt cx="5410200" cy="1250104"/>
          </a:xfrm>
        </p:grpSpPr>
        <p:sp>
          <p:nvSpPr>
            <p:cNvPr id="18" name="Arrow: Right 17">
              <a:extLst>
                <a:ext uri="{FF2B5EF4-FFF2-40B4-BE49-F238E27FC236}">
                  <a16:creationId xmlns:a16="http://schemas.microsoft.com/office/drawing/2014/main" id="{E5B1A1B4-1D36-4B51-80BD-EFFBD50D326E}"/>
                </a:ext>
              </a:extLst>
            </p:cNvPr>
            <p:cNvSpPr/>
            <p:nvPr/>
          </p:nvSpPr>
          <p:spPr>
            <a:xfrm>
              <a:off x="3512134" y="4430622"/>
              <a:ext cx="5327066" cy="1208178"/>
            </a:xfrm>
            <a:prstGeom prst="rightArrow">
              <a:avLst>
                <a:gd name="adj1" fmla="val 50000"/>
                <a:gd name="adj2" fmla="val 66819"/>
              </a:avLst>
            </a:prstGeom>
            <a:gradFill flip="none" rotWithShape="1">
              <a:gsLst>
                <a:gs pos="0">
                  <a:schemeClr val="accent1">
                    <a:tint val="100000"/>
                    <a:shade val="100000"/>
                    <a:satMod val="130000"/>
                  </a:schemeClr>
                </a:gs>
                <a:gs pos="31000">
                  <a:srgbClr val="FB7D63"/>
                </a:gs>
                <a:gs pos="0">
                  <a:srgbClr val="F76742"/>
                </a:gs>
                <a:gs pos="61000">
                  <a:schemeClr val="accent1">
                    <a:tint val="50000"/>
                    <a:shade val="100000"/>
                    <a:satMod val="350000"/>
                    <a:alpha val="8000"/>
                  </a:schemeClr>
                </a:gs>
              </a:gsLst>
              <a:path path="circle">
                <a:fillToRect l="50000" t="50000" r="50000" b="50000"/>
              </a:path>
              <a:tileRect/>
            </a:gradFill>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300" dirty="0">
                  <a:solidFill>
                    <a:schemeClr val="tx1"/>
                  </a:solidFill>
                </a:rPr>
                <a:t>Cournot, Ellis, Boole, </a:t>
              </a:r>
              <a:r>
                <a:rPr lang="en-US" sz="1300" b="1" dirty="0">
                  <a:solidFill>
                    <a:schemeClr val="tx1"/>
                  </a:solidFill>
                </a:rPr>
                <a:t>Venn</a:t>
              </a:r>
              <a:r>
                <a:rPr lang="en-US" sz="1300" dirty="0">
                  <a:solidFill>
                    <a:schemeClr val="tx1"/>
                  </a:solidFill>
                </a:rPr>
                <a:t>, Chrystal, Galton, </a:t>
              </a:r>
              <a:r>
                <a:rPr lang="en-US" sz="1300" b="1" dirty="0">
                  <a:solidFill>
                    <a:schemeClr val="tx1"/>
                  </a:solidFill>
                </a:rPr>
                <a:t>Fisher</a:t>
              </a:r>
              <a:r>
                <a:rPr lang="en-US" sz="1300" dirty="0">
                  <a:solidFill>
                    <a:schemeClr val="tx1"/>
                  </a:solidFill>
                </a:rPr>
                <a:t>, </a:t>
              </a:r>
              <a:r>
                <a:rPr lang="en-US" sz="1300" b="1" dirty="0">
                  <a:solidFill>
                    <a:schemeClr val="tx1"/>
                  </a:solidFill>
                </a:rPr>
                <a:t>von Mises</a:t>
              </a:r>
              <a:r>
                <a:rPr lang="en-US" sz="1300" dirty="0">
                  <a:solidFill>
                    <a:schemeClr val="tx1"/>
                  </a:solidFill>
                </a:rPr>
                <a:t>, Reichenbach,</a:t>
              </a:r>
              <a:r>
                <a:rPr lang="en-US" sz="1300" b="1" dirty="0">
                  <a:solidFill>
                    <a:schemeClr val="tx1"/>
                  </a:solidFill>
                </a:rPr>
                <a:t> Pearson</a:t>
              </a:r>
              <a:r>
                <a:rPr lang="en-US" sz="1300" dirty="0">
                  <a:solidFill>
                    <a:schemeClr val="tx1"/>
                  </a:solidFill>
                </a:rPr>
                <a:t>,</a:t>
              </a:r>
              <a:r>
                <a:rPr lang="en-US" sz="1300" b="1" dirty="0">
                  <a:solidFill>
                    <a:schemeClr val="tx1"/>
                  </a:solidFill>
                </a:rPr>
                <a:t> Kendall</a:t>
              </a:r>
              <a:r>
                <a:rPr lang="en-US" sz="1300" dirty="0">
                  <a:solidFill>
                    <a:schemeClr val="tx1"/>
                  </a:solidFill>
                </a:rPr>
                <a:t>, </a:t>
              </a:r>
              <a:r>
                <a:rPr lang="en-US" sz="1300" b="1" dirty="0">
                  <a:solidFill>
                    <a:schemeClr val="tx1"/>
                  </a:solidFill>
                </a:rPr>
                <a:t>Cramer</a:t>
              </a:r>
              <a:r>
                <a:rPr lang="en-US" sz="1300" dirty="0">
                  <a:solidFill>
                    <a:schemeClr val="tx1"/>
                  </a:solidFill>
                </a:rPr>
                <a:t>,</a:t>
              </a:r>
              <a:r>
                <a:rPr lang="en-US" sz="1300" b="1" dirty="0">
                  <a:solidFill>
                    <a:schemeClr val="tx1"/>
                  </a:solidFill>
                </a:rPr>
                <a:t> </a:t>
              </a:r>
              <a:r>
                <a:rPr lang="en-US" sz="1300" b="1" dirty="0" err="1">
                  <a:solidFill>
                    <a:schemeClr val="tx1"/>
                  </a:solidFill>
                </a:rPr>
                <a:t>Neyman</a:t>
              </a:r>
              <a:r>
                <a:rPr lang="en-US" sz="1300" dirty="0">
                  <a:solidFill>
                    <a:schemeClr val="tx1"/>
                  </a:solidFill>
                </a:rPr>
                <a:t>,</a:t>
              </a:r>
              <a:r>
                <a:rPr lang="en-US" sz="1300" b="1" dirty="0">
                  <a:solidFill>
                    <a:schemeClr val="tx1"/>
                  </a:solidFill>
                </a:rPr>
                <a:t> Feller</a:t>
              </a:r>
              <a:r>
                <a:rPr lang="en-US" sz="1300" dirty="0">
                  <a:solidFill>
                    <a:schemeClr val="tx1"/>
                  </a:solidFill>
                </a:rPr>
                <a:t>, …</a:t>
              </a:r>
            </a:p>
          </p:txBody>
        </p:sp>
        <p:sp>
          <p:nvSpPr>
            <p:cNvPr id="24" name="Title 4 2 1 1 1">
              <a:extLst>
                <a:ext uri="{FF2B5EF4-FFF2-40B4-BE49-F238E27FC236}">
                  <a16:creationId xmlns:a16="http://schemas.microsoft.com/office/drawing/2014/main" id="{B5F26787-A119-4EC0-AB34-EECE231EA722}"/>
                </a:ext>
              </a:extLst>
            </p:cNvPr>
            <p:cNvSpPr txBox="1">
              <a:spLocks/>
            </p:cNvSpPr>
            <p:nvPr/>
          </p:nvSpPr>
          <p:spPr>
            <a:xfrm>
              <a:off x="3429000" y="4388696"/>
              <a:ext cx="2743200" cy="335704"/>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fontAlgn="auto">
                <a:spcAft>
                  <a:spcPts val="0"/>
                </a:spcAft>
              </a:pPr>
              <a:r>
                <a:rPr lang="en-US" sz="1300" dirty="0">
                  <a:solidFill>
                    <a:schemeClr val="tx1"/>
                  </a:solidFill>
                </a:rPr>
                <a:t>Frequentist Probability (100 years)</a:t>
              </a:r>
            </a:p>
          </p:txBody>
        </p:sp>
      </p:grpSp>
      <p:grpSp>
        <p:nvGrpSpPr>
          <p:cNvPr id="26" name="Group 25">
            <a:extLst>
              <a:ext uri="{FF2B5EF4-FFF2-40B4-BE49-F238E27FC236}">
                <a16:creationId xmlns:a16="http://schemas.microsoft.com/office/drawing/2014/main" id="{56C90E82-1E34-43A2-AC94-87AA9446741C}"/>
              </a:ext>
            </a:extLst>
          </p:cNvPr>
          <p:cNvGrpSpPr/>
          <p:nvPr/>
        </p:nvGrpSpPr>
        <p:grpSpPr>
          <a:xfrm>
            <a:off x="7086600" y="5638800"/>
            <a:ext cx="1524000" cy="1022914"/>
            <a:chOff x="7162800" y="5653730"/>
            <a:chExt cx="1524000" cy="1022914"/>
          </a:xfrm>
        </p:grpSpPr>
        <p:sp>
          <p:nvSpPr>
            <p:cNvPr id="21" name="Arrow: Right 20">
              <a:extLst>
                <a:ext uri="{FF2B5EF4-FFF2-40B4-BE49-F238E27FC236}">
                  <a16:creationId xmlns:a16="http://schemas.microsoft.com/office/drawing/2014/main" id="{42C62A4C-9640-45FE-A2AD-8EB5BBDEE442}"/>
                </a:ext>
              </a:extLst>
            </p:cNvPr>
            <p:cNvSpPr/>
            <p:nvPr/>
          </p:nvSpPr>
          <p:spPr>
            <a:xfrm>
              <a:off x="7236056" y="5680302"/>
              <a:ext cx="1450744" cy="996342"/>
            </a:xfrm>
            <a:prstGeom prst="rightArrow">
              <a:avLst>
                <a:gd name="adj1" fmla="val 50000"/>
                <a:gd name="adj2" fmla="val 33681"/>
              </a:avLst>
            </a:prstGeom>
            <a:gradFill flip="none" rotWithShape="1">
              <a:gsLst>
                <a:gs pos="0">
                  <a:schemeClr val="accent1">
                    <a:tint val="100000"/>
                    <a:shade val="100000"/>
                    <a:satMod val="130000"/>
                  </a:schemeClr>
                </a:gs>
                <a:gs pos="0">
                  <a:srgbClr val="F76742"/>
                </a:gs>
                <a:gs pos="0">
                  <a:schemeClr val="accent1">
                    <a:tint val="50000"/>
                    <a:shade val="100000"/>
                    <a:satMod val="350000"/>
                    <a:alpha val="8000"/>
                  </a:schemeClr>
                </a:gs>
              </a:gsLst>
              <a:path path="circle">
                <a:fillToRect l="50000" t="50000" r="50000" b="50000"/>
              </a:path>
              <a:tileRect/>
            </a:gradFill>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300" b="1" dirty="0">
                  <a:solidFill>
                    <a:schemeClr val="tx1"/>
                  </a:solidFill>
                </a:rPr>
                <a:t>Popper</a:t>
              </a:r>
              <a:r>
                <a:rPr lang="en-US" sz="1300" dirty="0">
                  <a:solidFill>
                    <a:schemeClr val="tx1"/>
                  </a:solidFill>
                </a:rPr>
                <a:t>, Gillies, Fetzer, Miller</a:t>
              </a:r>
            </a:p>
          </p:txBody>
        </p:sp>
        <p:sp>
          <p:nvSpPr>
            <p:cNvPr id="25" name="Title 4 2 1 1 1">
              <a:extLst>
                <a:ext uri="{FF2B5EF4-FFF2-40B4-BE49-F238E27FC236}">
                  <a16:creationId xmlns:a16="http://schemas.microsoft.com/office/drawing/2014/main" id="{83DF3B82-AB9D-4FB0-88D4-D38C367B7E47}"/>
                </a:ext>
              </a:extLst>
            </p:cNvPr>
            <p:cNvSpPr txBox="1">
              <a:spLocks/>
            </p:cNvSpPr>
            <p:nvPr/>
          </p:nvSpPr>
          <p:spPr>
            <a:xfrm>
              <a:off x="7162800" y="5653730"/>
              <a:ext cx="993544" cy="304799"/>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fontAlgn="auto">
                <a:spcAft>
                  <a:spcPts val="0"/>
                </a:spcAft>
              </a:pPr>
              <a:r>
                <a:rPr lang="en-US" sz="1300" dirty="0">
                  <a:solidFill>
                    <a:schemeClr val="tx1"/>
                  </a:solidFill>
                </a:rPr>
                <a:t>Propensity</a:t>
              </a:r>
            </a:p>
          </p:txBody>
        </p:sp>
      </p:grpSp>
      <p:cxnSp>
        <p:nvCxnSpPr>
          <p:cNvPr id="33" name="Straight Connector 32">
            <a:extLst>
              <a:ext uri="{FF2B5EF4-FFF2-40B4-BE49-F238E27FC236}">
                <a16:creationId xmlns:a16="http://schemas.microsoft.com/office/drawing/2014/main" id="{33177DE8-8AFE-48BA-B28C-78301A9C7E78}"/>
              </a:ext>
            </a:extLst>
          </p:cNvPr>
          <p:cNvCxnSpPr>
            <a:cxnSpLocks/>
          </p:cNvCxnSpPr>
          <p:nvPr/>
        </p:nvCxnSpPr>
        <p:spPr>
          <a:xfrm>
            <a:off x="304800" y="4191000"/>
            <a:ext cx="8526585" cy="0"/>
          </a:xfrm>
          <a:prstGeom prst="line">
            <a:avLst/>
          </a:prstGeom>
          <a:ln w="31750" cmpd="sng">
            <a:prstDash val="dash"/>
          </a:ln>
        </p:spPr>
        <p:style>
          <a:lnRef idx="2">
            <a:schemeClr val="accent1"/>
          </a:lnRef>
          <a:fillRef idx="0">
            <a:schemeClr val="accent1"/>
          </a:fillRef>
          <a:effectRef idx="1">
            <a:schemeClr val="accent1"/>
          </a:effectRef>
          <a:fontRef idx="minor">
            <a:schemeClr val="tx1"/>
          </a:fontRef>
        </p:style>
      </p:cxnSp>
      <p:sp>
        <p:nvSpPr>
          <p:cNvPr id="36" name="Content Placeholder 3">
            <a:extLst>
              <a:ext uri="{FF2B5EF4-FFF2-40B4-BE49-F238E27FC236}">
                <a16:creationId xmlns:a16="http://schemas.microsoft.com/office/drawing/2014/main" id="{EFBF18AF-DE2A-4CFF-9D9D-2261E3DF7BAD}"/>
              </a:ext>
            </a:extLst>
          </p:cNvPr>
          <p:cNvSpPr txBox="1">
            <a:spLocks/>
          </p:cNvSpPr>
          <p:nvPr/>
        </p:nvSpPr>
        <p:spPr>
          <a:xfrm>
            <a:off x="228600" y="2514600"/>
            <a:ext cx="4340456" cy="1219200"/>
          </a:xfrm>
          <a:prstGeom prst="rect">
            <a:avLst/>
          </a:prstGeom>
        </p:spPr>
        <p:txBody>
          <a:bodyPr>
            <a:normAutofit/>
          </a:bodyPr>
          <a:lstStyle>
            <a:lvl1pPr marL="342900" indent="-342900" algn="l" defTabSz="457200" rtl="0" eaLnBrk="1" latinLnBrk="0" hangingPunct="1">
              <a:spcBef>
                <a:spcPct val="20000"/>
              </a:spcBef>
              <a:buFont typeface="Arial"/>
              <a:buChar char="•"/>
              <a:defRPr sz="2800" kern="1200">
                <a:solidFill>
                  <a:schemeClr val="accent1">
                    <a:lumMod val="50000"/>
                  </a:schemeClr>
                </a:solidFill>
                <a:latin typeface="Arial"/>
                <a:ea typeface="+mn-ea"/>
                <a:cs typeface="+mn-cs"/>
              </a:defRPr>
            </a:lvl1pPr>
            <a:lvl2pPr marL="742950" indent="-285750" algn="l" defTabSz="457200" rtl="0" eaLnBrk="1" latinLnBrk="0" hangingPunct="1">
              <a:spcBef>
                <a:spcPct val="20000"/>
              </a:spcBef>
              <a:buFont typeface="Arial"/>
              <a:buChar char="–"/>
              <a:defRPr sz="2800" kern="1200">
                <a:solidFill>
                  <a:schemeClr val="accent1">
                    <a:lumMod val="50000"/>
                  </a:schemeClr>
                </a:solidFill>
                <a:latin typeface="Arial"/>
                <a:ea typeface="+mn-ea"/>
                <a:cs typeface="+mn-cs"/>
              </a:defRPr>
            </a:lvl2pPr>
            <a:lvl3pPr marL="1143000" indent="-228600" algn="l" defTabSz="457200" rtl="0" eaLnBrk="1" latinLnBrk="0" hangingPunct="1">
              <a:spcBef>
                <a:spcPct val="20000"/>
              </a:spcBef>
              <a:buFont typeface="Arial"/>
              <a:buChar char="•"/>
              <a:defRPr sz="2400" kern="1200">
                <a:solidFill>
                  <a:schemeClr val="accent1">
                    <a:lumMod val="50000"/>
                  </a:schemeClr>
                </a:solidFill>
                <a:latin typeface="Arial"/>
                <a:ea typeface="+mn-ea"/>
                <a:cs typeface="+mn-cs"/>
              </a:defRPr>
            </a:lvl3pPr>
            <a:lvl4pPr marL="1600200" indent="-228600" algn="l" defTabSz="457200" rtl="0" eaLnBrk="1" latinLnBrk="0" hangingPunct="1">
              <a:spcBef>
                <a:spcPct val="20000"/>
              </a:spcBef>
              <a:buFont typeface="Arial"/>
              <a:buChar char="–"/>
              <a:defRPr sz="2000" kern="1200">
                <a:solidFill>
                  <a:schemeClr val="accent1">
                    <a:lumMod val="50000"/>
                  </a:schemeClr>
                </a:solidFill>
                <a:latin typeface="Arial"/>
                <a:ea typeface="+mn-ea"/>
                <a:cs typeface="+mn-cs"/>
              </a:defRPr>
            </a:lvl4pPr>
            <a:lvl5pPr marL="2057400" indent="-228600" algn="l" defTabSz="457200" rtl="0" eaLnBrk="1" latinLnBrk="0" hangingPunct="1">
              <a:spcBef>
                <a:spcPct val="20000"/>
              </a:spcBef>
              <a:buFont typeface="Arial"/>
              <a:buChar char="»"/>
              <a:defRPr sz="2000" kern="1200">
                <a:solidFill>
                  <a:schemeClr val="accent1">
                    <a:lumMod val="50000"/>
                  </a:schemeClr>
                </a:solidFill>
                <a:latin typeface="Arial"/>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just">
              <a:buNone/>
            </a:pPr>
            <a:r>
              <a:rPr lang="en-US" sz="1200" b="1" dirty="0">
                <a:solidFill>
                  <a:schemeClr val="tx1"/>
                </a:solidFill>
              </a:rPr>
              <a:t>Probability</a:t>
            </a:r>
            <a:r>
              <a:rPr lang="en-US" sz="1200" dirty="0">
                <a:solidFill>
                  <a:schemeClr val="tx1"/>
                </a:solidFill>
              </a:rPr>
              <a:t>: degree of belief</a:t>
            </a:r>
          </a:p>
          <a:p>
            <a:pPr marL="0" indent="0" algn="just">
              <a:buNone/>
            </a:pPr>
            <a:r>
              <a:rPr lang="en-US" sz="1200" b="1" dirty="0">
                <a:solidFill>
                  <a:schemeClr val="tx1"/>
                </a:solidFill>
              </a:rPr>
              <a:t>Prior knowledge</a:t>
            </a:r>
            <a:r>
              <a:rPr lang="en-US" sz="1200" dirty="0">
                <a:solidFill>
                  <a:schemeClr val="tx1"/>
                </a:solidFill>
              </a:rPr>
              <a:t>: allowed in inference</a:t>
            </a:r>
          </a:p>
          <a:p>
            <a:pPr marL="0" indent="0" algn="just">
              <a:buNone/>
            </a:pPr>
            <a:r>
              <a:rPr lang="en-US" sz="1200" b="1" dirty="0">
                <a:solidFill>
                  <a:schemeClr val="tx1"/>
                </a:solidFill>
              </a:rPr>
              <a:t>Popular in</a:t>
            </a:r>
            <a:r>
              <a:rPr lang="en-US" sz="1200" dirty="0">
                <a:solidFill>
                  <a:schemeClr val="tx1"/>
                </a:solidFill>
              </a:rPr>
              <a:t>: Astronomy, Physics, Economics, Geoscience</a:t>
            </a:r>
          </a:p>
          <a:p>
            <a:pPr marL="0" indent="0" algn="just">
              <a:buNone/>
            </a:pPr>
            <a:r>
              <a:rPr lang="en-US" sz="1200" b="1" dirty="0">
                <a:solidFill>
                  <a:schemeClr val="tx1"/>
                </a:solidFill>
              </a:rPr>
              <a:t>Data</a:t>
            </a:r>
            <a:r>
              <a:rPr lang="en-US" sz="1200" dirty="0">
                <a:solidFill>
                  <a:schemeClr val="tx1"/>
                </a:solidFill>
              </a:rPr>
              <a:t>: scarce</a:t>
            </a:r>
          </a:p>
          <a:p>
            <a:pPr marL="0" indent="0" algn="just">
              <a:buNone/>
            </a:pPr>
            <a:endParaRPr lang="en-US" sz="1200" dirty="0">
              <a:solidFill>
                <a:schemeClr val="tx1"/>
              </a:solidFill>
            </a:endParaRPr>
          </a:p>
          <a:p>
            <a:pPr marL="0" indent="0" algn="just">
              <a:buNone/>
            </a:pPr>
            <a:endParaRPr lang="en-US" sz="1200" dirty="0">
              <a:solidFill>
                <a:schemeClr val="tx1"/>
              </a:solidFill>
            </a:endParaRPr>
          </a:p>
        </p:txBody>
      </p:sp>
      <p:sp>
        <p:nvSpPr>
          <p:cNvPr id="38" name="Content Placeholder 3">
            <a:extLst>
              <a:ext uri="{FF2B5EF4-FFF2-40B4-BE49-F238E27FC236}">
                <a16:creationId xmlns:a16="http://schemas.microsoft.com/office/drawing/2014/main" id="{A73ECA68-EE33-4A21-B078-1214D80DB113}"/>
              </a:ext>
            </a:extLst>
          </p:cNvPr>
          <p:cNvSpPr txBox="1">
            <a:spLocks/>
          </p:cNvSpPr>
          <p:nvPr/>
        </p:nvSpPr>
        <p:spPr>
          <a:xfrm>
            <a:off x="228600" y="5638800"/>
            <a:ext cx="4038600" cy="996342"/>
          </a:xfrm>
          <a:prstGeom prst="rect">
            <a:avLst/>
          </a:prstGeom>
        </p:spPr>
        <p:txBody>
          <a:bodyPr>
            <a:normAutofit/>
          </a:bodyPr>
          <a:lstStyle>
            <a:lvl1pPr marL="342900" indent="-342900" algn="l" defTabSz="457200" rtl="0" eaLnBrk="1" latinLnBrk="0" hangingPunct="1">
              <a:spcBef>
                <a:spcPct val="20000"/>
              </a:spcBef>
              <a:buFont typeface="Arial"/>
              <a:buChar char="•"/>
              <a:defRPr sz="2800" kern="1200">
                <a:solidFill>
                  <a:schemeClr val="accent1">
                    <a:lumMod val="50000"/>
                  </a:schemeClr>
                </a:solidFill>
                <a:latin typeface="Arial"/>
                <a:ea typeface="+mn-ea"/>
                <a:cs typeface="+mn-cs"/>
              </a:defRPr>
            </a:lvl1pPr>
            <a:lvl2pPr marL="742950" indent="-285750" algn="l" defTabSz="457200" rtl="0" eaLnBrk="1" latinLnBrk="0" hangingPunct="1">
              <a:spcBef>
                <a:spcPct val="20000"/>
              </a:spcBef>
              <a:buFont typeface="Arial"/>
              <a:buChar char="–"/>
              <a:defRPr sz="2800" kern="1200">
                <a:solidFill>
                  <a:schemeClr val="accent1">
                    <a:lumMod val="50000"/>
                  </a:schemeClr>
                </a:solidFill>
                <a:latin typeface="Arial"/>
                <a:ea typeface="+mn-ea"/>
                <a:cs typeface="+mn-cs"/>
              </a:defRPr>
            </a:lvl2pPr>
            <a:lvl3pPr marL="1143000" indent="-228600" algn="l" defTabSz="457200" rtl="0" eaLnBrk="1" latinLnBrk="0" hangingPunct="1">
              <a:spcBef>
                <a:spcPct val="20000"/>
              </a:spcBef>
              <a:buFont typeface="Arial"/>
              <a:buChar char="•"/>
              <a:defRPr sz="2400" kern="1200">
                <a:solidFill>
                  <a:schemeClr val="accent1">
                    <a:lumMod val="50000"/>
                  </a:schemeClr>
                </a:solidFill>
                <a:latin typeface="Arial"/>
                <a:ea typeface="+mn-ea"/>
                <a:cs typeface="+mn-cs"/>
              </a:defRPr>
            </a:lvl3pPr>
            <a:lvl4pPr marL="1600200" indent="-228600" algn="l" defTabSz="457200" rtl="0" eaLnBrk="1" latinLnBrk="0" hangingPunct="1">
              <a:spcBef>
                <a:spcPct val="20000"/>
              </a:spcBef>
              <a:buFont typeface="Arial"/>
              <a:buChar char="–"/>
              <a:defRPr sz="2000" kern="1200">
                <a:solidFill>
                  <a:schemeClr val="accent1">
                    <a:lumMod val="50000"/>
                  </a:schemeClr>
                </a:solidFill>
                <a:latin typeface="Arial"/>
                <a:ea typeface="+mn-ea"/>
                <a:cs typeface="+mn-cs"/>
              </a:defRPr>
            </a:lvl4pPr>
            <a:lvl5pPr marL="2057400" indent="-228600" algn="l" defTabSz="457200" rtl="0" eaLnBrk="1" latinLnBrk="0" hangingPunct="1">
              <a:spcBef>
                <a:spcPct val="20000"/>
              </a:spcBef>
              <a:buFont typeface="Arial"/>
              <a:buChar char="»"/>
              <a:defRPr sz="2000" kern="1200">
                <a:solidFill>
                  <a:schemeClr val="accent1">
                    <a:lumMod val="50000"/>
                  </a:schemeClr>
                </a:solidFill>
                <a:latin typeface="Arial"/>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just">
              <a:buNone/>
            </a:pPr>
            <a:r>
              <a:rPr lang="en-US" sz="1200" b="1" dirty="0">
                <a:solidFill>
                  <a:schemeClr val="tx1"/>
                </a:solidFill>
              </a:rPr>
              <a:t>Probability</a:t>
            </a:r>
            <a:r>
              <a:rPr lang="en-US" sz="1200" dirty="0">
                <a:solidFill>
                  <a:schemeClr val="tx1"/>
                </a:solidFill>
              </a:rPr>
              <a:t>: relative frequency of occurrence</a:t>
            </a:r>
          </a:p>
          <a:p>
            <a:pPr marL="0" indent="0" algn="just">
              <a:buNone/>
            </a:pPr>
            <a:r>
              <a:rPr lang="en-US" sz="1200" b="1" dirty="0">
                <a:solidFill>
                  <a:schemeClr val="tx1"/>
                </a:solidFill>
              </a:rPr>
              <a:t>Prior knowledge</a:t>
            </a:r>
            <a:r>
              <a:rPr lang="en-US" sz="1200" dirty="0">
                <a:solidFill>
                  <a:schemeClr val="tx1"/>
                </a:solidFill>
              </a:rPr>
              <a:t>: NOT allowed in inference</a:t>
            </a:r>
          </a:p>
          <a:p>
            <a:pPr marL="0" indent="0" algn="just">
              <a:buNone/>
            </a:pPr>
            <a:r>
              <a:rPr lang="en-US" sz="1200" b="1" dirty="0">
                <a:solidFill>
                  <a:schemeClr val="tx1"/>
                </a:solidFill>
              </a:rPr>
              <a:t>Popular in</a:t>
            </a:r>
            <a:r>
              <a:rPr lang="en-US" sz="1200" dirty="0">
                <a:solidFill>
                  <a:schemeClr val="tx1"/>
                </a:solidFill>
              </a:rPr>
              <a:t>: Biology, Statistics, Philosophy</a:t>
            </a:r>
          </a:p>
          <a:p>
            <a:pPr marL="0" indent="0" algn="just">
              <a:buNone/>
            </a:pPr>
            <a:r>
              <a:rPr lang="en-US" sz="1200" b="1" dirty="0">
                <a:solidFill>
                  <a:schemeClr val="tx1"/>
                </a:solidFill>
              </a:rPr>
              <a:t>Data</a:t>
            </a:r>
            <a:r>
              <a:rPr lang="en-US" sz="1200" dirty="0">
                <a:solidFill>
                  <a:schemeClr val="tx1"/>
                </a:solidFill>
              </a:rPr>
              <a:t>: abundant</a:t>
            </a:r>
          </a:p>
        </p:txBody>
      </p:sp>
      <p:grpSp>
        <p:nvGrpSpPr>
          <p:cNvPr id="44" name="Group 43">
            <a:extLst>
              <a:ext uri="{FF2B5EF4-FFF2-40B4-BE49-F238E27FC236}">
                <a16:creationId xmlns:a16="http://schemas.microsoft.com/office/drawing/2014/main" id="{107CABB6-9248-4C23-97C6-F3A7C8E3C2AE}"/>
              </a:ext>
            </a:extLst>
          </p:cNvPr>
          <p:cNvGrpSpPr/>
          <p:nvPr/>
        </p:nvGrpSpPr>
        <p:grpSpPr>
          <a:xfrm>
            <a:off x="7086600" y="990601"/>
            <a:ext cx="1981200" cy="494030"/>
            <a:chOff x="7142902" y="990601"/>
            <a:chExt cx="1981200" cy="494030"/>
          </a:xfrm>
        </p:grpSpPr>
        <p:cxnSp>
          <p:nvCxnSpPr>
            <p:cNvPr id="40" name="Straight Connector 39">
              <a:extLst>
                <a:ext uri="{FF2B5EF4-FFF2-40B4-BE49-F238E27FC236}">
                  <a16:creationId xmlns:a16="http://schemas.microsoft.com/office/drawing/2014/main" id="{C9420537-B3BF-4953-9FA6-969D7017F066}"/>
                </a:ext>
              </a:extLst>
            </p:cNvPr>
            <p:cNvCxnSpPr>
              <a:cxnSpLocks/>
            </p:cNvCxnSpPr>
            <p:nvPr/>
          </p:nvCxnSpPr>
          <p:spPr>
            <a:xfrm>
              <a:off x="7142902" y="990601"/>
              <a:ext cx="0" cy="411903"/>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43" name="Title 4 2 1 1 1">
              <a:extLst>
                <a:ext uri="{FF2B5EF4-FFF2-40B4-BE49-F238E27FC236}">
                  <a16:creationId xmlns:a16="http://schemas.microsoft.com/office/drawing/2014/main" id="{36386167-C524-4A03-B3B6-8A38CA683C88}"/>
                </a:ext>
              </a:extLst>
            </p:cNvPr>
            <p:cNvSpPr txBox="1">
              <a:spLocks/>
            </p:cNvSpPr>
            <p:nvPr/>
          </p:nvSpPr>
          <p:spPr>
            <a:xfrm>
              <a:off x="7142902" y="1148927"/>
              <a:ext cx="1981200" cy="335704"/>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fontAlgn="auto">
                <a:spcAft>
                  <a:spcPts val="0"/>
                </a:spcAft>
              </a:pPr>
              <a:r>
                <a:rPr lang="en-US" sz="1300" dirty="0">
                  <a:solidFill>
                    <a:schemeClr val="tx1"/>
                  </a:solidFill>
                </a:rPr>
                <a:t>First digital computer</a:t>
              </a:r>
            </a:p>
          </p:txBody>
        </p:sp>
      </p:grpSp>
    </p:spTree>
    <p:extLst>
      <p:ext uri="{BB962C8B-B14F-4D97-AF65-F5344CB8AC3E}">
        <p14:creationId xmlns:p14="http://schemas.microsoft.com/office/powerpoint/2010/main" val="169042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500"/>
                                        <p:tgtEl>
                                          <p:spTgt spid="30"/>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nodeType="with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5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500"/>
                                        <p:tgtEl>
                                          <p:spTgt spid="3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3"/>
                                        </p:tgtEl>
                                        <p:attrNameLst>
                                          <p:attrName>style.visibility</p:attrName>
                                        </p:attrNameLst>
                                      </p:cBhvr>
                                      <p:to>
                                        <p:strVal val="visible"/>
                                      </p:to>
                                    </p:set>
                                    <p:animEffect transition="in" filter="fade">
                                      <p:cBhvr>
                                        <p:cTn id="24" dur="500"/>
                                        <p:tgtEl>
                                          <p:spTgt spid="33"/>
                                        </p:tgtEl>
                                      </p:cBhvr>
                                    </p:animEffect>
                                  </p:childTnLst>
                                </p:cTn>
                              </p:par>
                              <p:par>
                                <p:cTn id="25" presetID="10"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500"/>
                                        <p:tgtEl>
                                          <p:spTgt spid="3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00"/>
                                        <p:tgtEl>
                                          <p:spTgt spid="2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36" grpId="0"/>
      <p:bldP spid="3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410759" y="774796"/>
            <a:ext cx="8091322" cy="725846"/>
            <a:chOff x="410759" y="774796"/>
            <a:chExt cx="8091322" cy="725846"/>
          </a:xfrm>
        </p:grpSpPr>
        <p:sp>
          <p:nvSpPr>
            <p:cNvPr id="17" name="Title 4 2 1 1"/>
            <p:cNvSpPr txBox="1">
              <a:spLocks/>
            </p:cNvSpPr>
            <p:nvPr/>
          </p:nvSpPr>
          <p:spPr>
            <a:xfrm>
              <a:off x="410759" y="774796"/>
              <a:ext cx="3429000" cy="72584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b="1" dirty="0">
                  <a:solidFill>
                    <a:schemeClr val="tx1"/>
                  </a:solidFill>
                </a:rPr>
                <a:t>Frequentist Inference</a:t>
              </a:r>
            </a:p>
            <a:p>
              <a:pPr algn="ctr" fontAlgn="auto">
                <a:spcAft>
                  <a:spcPts val="0"/>
                </a:spcAft>
              </a:pPr>
              <a:endParaRPr lang="en-US" sz="500" b="1" dirty="0">
                <a:solidFill>
                  <a:schemeClr val="tx1"/>
                </a:solidFill>
              </a:endParaRPr>
            </a:p>
            <a:p>
              <a:pPr algn="ctr" fontAlgn="auto">
                <a:spcAft>
                  <a:spcPts val="0"/>
                </a:spcAft>
              </a:pPr>
              <a:r>
                <a:rPr lang="en-US" sz="1500" dirty="0">
                  <a:solidFill>
                    <a:schemeClr val="tx1"/>
                  </a:solidFill>
                </a:rPr>
                <a:t>Neyman–Pearson–Wald theory</a:t>
              </a:r>
            </a:p>
          </p:txBody>
        </p:sp>
        <p:sp>
          <p:nvSpPr>
            <p:cNvPr id="29" name="Title 4 2 1 1"/>
            <p:cNvSpPr txBox="1">
              <a:spLocks/>
            </p:cNvSpPr>
            <p:nvPr/>
          </p:nvSpPr>
          <p:spPr>
            <a:xfrm>
              <a:off x="5073081" y="774796"/>
              <a:ext cx="3429000" cy="72584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b="1" dirty="0">
                  <a:solidFill>
                    <a:schemeClr val="tx1"/>
                  </a:solidFill>
                </a:rPr>
                <a:t>Bayesian Inference</a:t>
              </a:r>
            </a:p>
            <a:p>
              <a:pPr algn="ctr" fontAlgn="auto">
                <a:spcAft>
                  <a:spcPts val="0"/>
                </a:spcAft>
              </a:pPr>
              <a:endParaRPr lang="en-US" sz="500" b="1" dirty="0">
                <a:solidFill>
                  <a:schemeClr val="tx1"/>
                </a:solidFill>
              </a:endParaRPr>
            </a:p>
            <a:p>
              <a:pPr algn="ctr" fontAlgn="auto">
                <a:spcAft>
                  <a:spcPts val="0"/>
                </a:spcAft>
              </a:pPr>
              <a:r>
                <a:rPr lang="en-US" sz="1500" dirty="0">
                  <a:solidFill>
                    <a:schemeClr val="tx1"/>
                  </a:solidFill>
                </a:rPr>
                <a:t>Bayesian probability theory</a:t>
              </a:r>
            </a:p>
          </p:txBody>
        </p:sp>
      </p:grpSp>
      <p:grpSp>
        <p:nvGrpSpPr>
          <p:cNvPr id="26" name="Group 25"/>
          <p:cNvGrpSpPr/>
          <p:nvPr/>
        </p:nvGrpSpPr>
        <p:grpSpPr>
          <a:xfrm>
            <a:off x="446319" y="1665950"/>
            <a:ext cx="8239001" cy="3482856"/>
            <a:chOff x="490349" y="1758666"/>
            <a:chExt cx="8239001" cy="3482856"/>
          </a:xfrm>
        </p:grpSpPr>
        <p:grpSp>
          <p:nvGrpSpPr>
            <p:cNvPr id="13" name="Group 12"/>
            <p:cNvGrpSpPr/>
            <p:nvPr/>
          </p:nvGrpSpPr>
          <p:grpSpPr>
            <a:xfrm>
              <a:off x="4831449" y="1758668"/>
              <a:ext cx="3897901" cy="3431708"/>
              <a:chOff x="5019551" y="1758668"/>
              <a:chExt cx="3897901" cy="3431708"/>
            </a:xfrm>
          </p:grpSpPr>
          <p:grpSp>
            <p:nvGrpSpPr>
              <p:cNvPr id="11" name="Group 10"/>
              <p:cNvGrpSpPr/>
              <p:nvPr/>
            </p:nvGrpSpPr>
            <p:grpSpPr>
              <a:xfrm>
                <a:off x="6959326" y="3525242"/>
                <a:ext cx="1958126" cy="1665133"/>
                <a:chOff x="6786258" y="4988829"/>
                <a:chExt cx="1958126" cy="1665133"/>
              </a:xfrm>
            </p:grpSpPr>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69735" y="4988829"/>
                  <a:ext cx="791172" cy="991382"/>
                </a:xfrm>
                <a:prstGeom prst="rect">
                  <a:avLst/>
                </a:prstGeom>
              </p:spPr>
            </p:pic>
            <p:sp>
              <p:nvSpPr>
                <p:cNvPr id="50" name="Title 4 2 1 1"/>
                <p:cNvSpPr txBox="1">
                  <a:spLocks/>
                </p:cNvSpPr>
                <p:nvPr/>
              </p:nvSpPr>
              <p:spPr>
                <a:xfrm>
                  <a:off x="6786258" y="6092543"/>
                  <a:ext cx="1958126" cy="561419"/>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Edwin Jaynes</a:t>
                  </a:r>
                </a:p>
                <a:p>
                  <a:pPr algn="ctr" fontAlgn="auto">
                    <a:spcAft>
                      <a:spcPts val="0"/>
                    </a:spcAft>
                  </a:pPr>
                  <a:r>
                    <a:rPr lang="en-US" sz="1100" dirty="0">
                      <a:solidFill>
                        <a:schemeClr val="tx1"/>
                      </a:solidFill>
                    </a:rPr>
                    <a:t>(1922 – 1998)</a:t>
                  </a:r>
                </a:p>
                <a:p>
                  <a:pPr algn="ctr" fontAlgn="auto">
                    <a:spcAft>
                      <a:spcPts val="0"/>
                    </a:spcAft>
                  </a:pPr>
                  <a:r>
                    <a:rPr lang="en-US" sz="1100" dirty="0">
                      <a:solidFill>
                        <a:schemeClr val="tx1"/>
                      </a:solidFill>
                    </a:rPr>
                    <a:t>Physicist</a:t>
                  </a:r>
                </a:p>
              </p:txBody>
            </p:sp>
          </p:grpSp>
          <p:grpSp>
            <p:nvGrpSpPr>
              <p:cNvPr id="9" name="Group 8"/>
              <p:cNvGrpSpPr/>
              <p:nvPr/>
            </p:nvGrpSpPr>
            <p:grpSpPr>
              <a:xfrm>
                <a:off x="5019551" y="1758668"/>
                <a:ext cx="1949054" cy="1502301"/>
                <a:chOff x="6795330" y="1763223"/>
                <a:chExt cx="1949054" cy="1502301"/>
              </a:xfrm>
            </p:grpSpPr>
            <p:pic>
              <p:nvPicPr>
                <p:cNvPr id="34" name="Picture 3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391047" y="1763223"/>
                  <a:ext cx="757620" cy="925732"/>
                </a:xfrm>
                <a:prstGeom prst="rect">
                  <a:avLst/>
                </a:prstGeom>
              </p:spPr>
            </p:pic>
            <p:sp>
              <p:nvSpPr>
                <p:cNvPr id="51" name="Title 4 2 1 1"/>
                <p:cNvSpPr txBox="1">
                  <a:spLocks/>
                </p:cNvSpPr>
                <p:nvPr/>
              </p:nvSpPr>
              <p:spPr>
                <a:xfrm>
                  <a:off x="6795330" y="2789192"/>
                  <a:ext cx="1949054" cy="476332"/>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Pierre Laplace</a:t>
                  </a:r>
                </a:p>
                <a:p>
                  <a:pPr algn="ctr" fontAlgn="auto">
                    <a:spcAft>
                      <a:spcPts val="0"/>
                    </a:spcAft>
                  </a:pPr>
                  <a:r>
                    <a:rPr lang="en-US" sz="1100" dirty="0">
                      <a:solidFill>
                        <a:schemeClr val="tx1"/>
                      </a:solidFill>
                    </a:rPr>
                    <a:t>(1749 – 1827)</a:t>
                  </a:r>
                </a:p>
                <a:p>
                  <a:pPr algn="ctr" fontAlgn="auto">
                    <a:spcAft>
                      <a:spcPts val="0"/>
                    </a:spcAft>
                  </a:pPr>
                  <a:r>
                    <a:rPr lang="en-US" sz="1100" dirty="0">
                      <a:solidFill>
                        <a:schemeClr val="tx1"/>
                      </a:solidFill>
                    </a:rPr>
                    <a:t>Astronomer / Mathematician</a:t>
                  </a:r>
                </a:p>
              </p:txBody>
            </p:sp>
          </p:grpSp>
          <p:grpSp>
            <p:nvGrpSpPr>
              <p:cNvPr id="10" name="Group 9"/>
              <p:cNvGrpSpPr/>
              <p:nvPr/>
            </p:nvGrpSpPr>
            <p:grpSpPr>
              <a:xfrm>
                <a:off x="6993710" y="1758668"/>
                <a:ext cx="1889358" cy="1544733"/>
                <a:chOff x="6841953" y="3392851"/>
                <a:chExt cx="1889358" cy="1544733"/>
              </a:xfrm>
            </p:grpSpPr>
            <p:pic>
              <p:nvPicPr>
                <p:cNvPr id="33" name="Picture 3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91046" y="3392851"/>
                  <a:ext cx="791172" cy="931222"/>
                </a:xfrm>
                <a:prstGeom prst="rect">
                  <a:avLst/>
                </a:prstGeom>
              </p:spPr>
            </p:pic>
            <p:sp>
              <p:nvSpPr>
                <p:cNvPr id="55" name="Title 4 2 1 1"/>
                <p:cNvSpPr txBox="1">
                  <a:spLocks/>
                </p:cNvSpPr>
                <p:nvPr/>
              </p:nvSpPr>
              <p:spPr>
                <a:xfrm>
                  <a:off x="6841953" y="4376165"/>
                  <a:ext cx="1889358" cy="561419"/>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Harold </a:t>
                  </a:r>
                  <a:r>
                    <a:rPr lang="en-US" sz="1100" b="1" dirty="0" err="1">
                      <a:solidFill>
                        <a:schemeClr val="tx1"/>
                      </a:solidFill>
                    </a:rPr>
                    <a:t>Jeffreys</a:t>
                  </a:r>
                  <a:endParaRPr lang="en-US" sz="1100" b="1" dirty="0">
                    <a:solidFill>
                      <a:schemeClr val="tx1"/>
                    </a:solidFill>
                  </a:endParaRPr>
                </a:p>
                <a:p>
                  <a:pPr algn="ctr" fontAlgn="auto">
                    <a:spcAft>
                      <a:spcPts val="0"/>
                    </a:spcAft>
                  </a:pPr>
                  <a:r>
                    <a:rPr lang="en-US" sz="1100" dirty="0">
                      <a:solidFill>
                        <a:schemeClr val="tx1"/>
                      </a:solidFill>
                    </a:rPr>
                    <a:t>(1891 – 1989)</a:t>
                  </a:r>
                </a:p>
                <a:p>
                  <a:pPr algn="ctr" fontAlgn="auto">
                    <a:spcAft>
                      <a:spcPts val="0"/>
                    </a:spcAft>
                  </a:pPr>
                  <a:r>
                    <a:rPr lang="en-US" sz="1100" dirty="0">
                      <a:solidFill>
                        <a:schemeClr val="tx1"/>
                      </a:solidFill>
                    </a:rPr>
                    <a:t>Astronomer / Geophysicist</a:t>
                  </a:r>
                </a:p>
              </p:txBody>
            </p:sp>
          </p:grpSp>
          <p:grpSp>
            <p:nvGrpSpPr>
              <p:cNvPr id="12" name="Group 11"/>
              <p:cNvGrpSpPr/>
              <p:nvPr/>
            </p:nvGrpSpPr>
            <p:grpSpPr>
              <a:xfrm>
                <a:off x="5243649" y="3528421"/>
                <a:ext cx="1444417" cy="1661955"/>
                <a:chOff x="5400112" y="4984348"/>
                <a:chExt cx="1444417" cy="1661955"/>
              </a:xfrm>
            </p:grpSpPr>
            <p:sp>
              <p:nvSpPr>
                <p:cNvPr id="57" name="Title 4 2 1 1"/>
                <p:cNvSpPr txBox="1">
                  <a:spLocks/>
                </p:cNvSpPr>
                <p:nvPr/>
              </p:nvSpPr>
              <p:spPr>
                <a:xfrm>
                  <a:off x="5400112" y="6084884"/>
                  <a:ext cx="1444417" cy="561419"/>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Richard Cox</a:t>
                  </a:r>
                </a:p>
                <a:p>
                  <a:pPr algn="ctr" fontAlgn="auto">
                    <a:spcAft>
                      <a:spcPts val="0"/>
                    </a:spcAft>
                  </a:pPr>
                  <a:r>
                    <a:rPr lang="en-US" sz="1100" dirty="0">
                      <a:solidFill>
                        <a:schemeClr val="tx1"/>
                      </a:solidFill>
                    </a:rPr>
                    <a:t>(1898 – 1991)</a:t>
                  </a:r>
                </a:p>
                <a:p>
                  <a:pPr algn="ctr" fontAlgn="auto">
                    <a:spcAft>
                      <a:spcPts val="0"/>
                    </a:spcAft>
                  </a:pPr>
                  <a:r>
                    <a:rPr lang="en-US" sz="1100" dirty="0">
                      <a:solidFill>
                        <a:schemeClr val="tx1"/>
                      </a:solidFill>
                    </a:rPr>
                    <a:t>Physicist</a:t>
                  </a:r>
                </a:p>
              </p:txBody>
            </p:sp>
            <p:pic>
              <p:nvPicPr>
                <p:cNvPr id="59" name="Picture 5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771731" y="4984348"/>
                  <a:ext cx="757620" cy="988203"/>
                </a:xfrm>
                <a:prstGeom prst="rect">
                  <a:avLst/>
                </a:prstGeom>
              </p:spPr>
            </p:pic>
          </p:grpSp>
        </p:grpSp>
        <p:grpSp>
          <p:nvGrpSpPr>
            <p:cNvPr id="20" name="Group 19"/>
            <p:cNvGrpSpPr/>
            <p:nvPr/>
          </p:nvGrpSpPr>
          <p:grpSpPr>
            <a:xfrm>
              <a:off x="490349" y="1758666"/>
              <a:ext cx="3322361" cy="3482856"/>
              <a:chOff x="382224" y="1758666"/>
              <a:chExt cx="3322361" cy="3482856"/>
            </a:xfrm>
          </p:grpSpPr>
          <p:grpSp>
            <p:nvGrpSpPr>
              <p:cNvPr id="15" name="Group 14"/>
              <p:cNvGrpSpPr/>
              <p:nvPr/>
            </p:nvGrpSpPr>
            <p:grpSpPr>
              <a:xfrm>
                <a:off x="1918944" y="1758666"/>
                <a:ext cx="1785641" cy="1551856"/>
                <a:chOff x="352386" y="1771602"/>
                <a:chExt cx="1785641" cy="1562833"/>
              </a:xfrm>
            </p:grpSpPr>
            <p:sp>
              <p:nvSpPr>
                <p:cNvPr id="21" name="Title 4 2 1 1"/>
                <p:cNvSpPr txBox="1">
                  <a:spLocks/>
                </p:cNvSpPr>
                <p:nvPr/>
              </p:nvSpPr>
              <p:spPr>
                <a:xfrm>
                  <a:off x="352386" y="2779017"/>
                  <a:ext cx="1785641" cy="555418"/>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Jerzy Neyman</a:t>
                  </a:r>
                </a:p>
                <a:p>
                  <a:pPr algn="ctr" fontAlgn="auto">
                    <a:spcAft>
                      <a:spcPts val="0"/>
                    </a:spcAft>
                  </a:pPr>
                  <a:r>
                    <a:rPr lang="en-US" sz="1100" dirty="0">
                      <a:solidFill>
                        <a:schemeClr val="tx1"/>
                      </a:solidFill>
                    </a:rPr>
                    <a:t>(1894 – 1981)</a:t>
                  </a:r>
                </a:p>
                <a:p>
                  <a:pPr algn="ctr" fontAlgn="auto">
                    <a:spcAft>
                      <a:spcPts val="0"/>
                    </a:spcAft>
                  </a:pPr>
                  <a:r>
                    <a:rPr lang="en-US" sz="1100" dirty="0">
                      <a:solidFill>
                        <a:schemeClr val="tx1"/>
                      </a:solidFill>
                    </a:rPr>
                    <a:t>Statistician / Astronomer</a:t>
                  </a:r>
                </a:p>
              </p:txBody>
            </p:sp>
            <p:pic>
              <p:nvPicPr>
                <p:cNvPr id="19" name="Picture 1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4554" y="1771602"/>
                  <a:ext cx="781307" cy="932280"/>
                </a:xfrm>
                <a:prstGeom prst="rect">
                  <a:avLst/>
                </a:prstGeom>
              </p:spPr>
            </p:pic>
          </p:grpSp>
          <p:grpSp>
            <p:nvGrpSpPr>
              <p:cNvPr id="16" name="Group 15"/>
              <p:cNvGrpSpPr/>
              <p:nvPr/>
            </p:nvGrpSpPr>
            <p:grpSpPr>
              <a:xfrm>
                <a:off x="438209" y="3525242"/>
                <a:ext cx="1414529" cy="1716280"/>
                <a:chOff x="438209" y="3525242"/>
                <a:chExt cx="1414529" cy="1716280"/>
              </a:xfrm>
            </p:grpSpPr>
            <p:pic>
              <p:nvPicPr>
                <p:cNvPr id="23" name="Picture 2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15553" y="3525242"/>
                  <a:ext cx="736854" cy="991382"/>
                </a:xfrm>
                <a:prstGeom prst="rect">
                  <a:avLst/>
                </a:prstGeom>
              </p:spPr>
            </p:pic>
            <p:sp>
              <p:nvSpPr>
                <p:cNvPr id="27" name="Title 4 2 1 1"/>
                <p:cNvSpPr txBox="1">
                  <a:spLocks/>
                </p:cNvSpPr>
                <p:nvPr/>
              </p:nvSpPr>
              <p:spPr>
                <a:xfrm>
                  <a:off x="438209" y="4583678"/>
                  <a:ext cx="1414529" cy="657844"/>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Egon Pearson</a:t>
                  </a:r>
                </a:p>
                <a:p>
                  <a:pPr algn="ctr" fontAlgn="auto">
                    <a:spcAft>
                      <a:spcPts val="0"/>
                    </a:spcAft>
                  </a:pPr>
                  <a:r>
                    <a:rPr lang="en-US" sz="1100" dirty="0">
                      <a:solidFill>
                        <a:schemeClr val="tx1"/>
                      </a:solidFill>
                    </a:rPr>
                    <a:t>(1895 – 1980)</a:t>
                  </a:r>
                </a:p>
                <a:p>
                  <a:pPr algn="ctr" fontAlgn="auto">
                    <a:spcAft>
                      <a:spcPts val="0"/>
                    </a:spcAft>
                  </a:pPr>
                  <a:r>
                    <a:rPr lang="en-US" sz="1100" dirty="0">
                      <a:solidFill>
                        <a:schemeClr val="tx1"/>
                      </a:solidFill>
                    </a:rPr>
                    <a:t>Statistician</a:t>
                  </a:r>
                </a:p>
              </p:txBody>
            </p:sp>
          </p:grpSp>
          <p:grpSp>
            <p:nvGrpSpPr>
              <p:cNvPr id="18" name="Group 17"/>
              <p:cNvGrpSpPr/>
              <p:nvPr/>
            </p:nvGrpSpPr>
            <p:grpSpPr>
              <a:xfrm>
                <a:off x="2104499" y="3525243"/>
                <a:ext cx="1414530" cy="1708726"/>
                <a:chOff x="2104499" y="3525243"/>
                <a:chExt cx="1414530" cy="1708726"/>
              </a:xfrm>
            </p:grpSpPr>
            <p:pic>
              <p:nvPicPr>
                <p:cNvPr id="24" name="Picture 23"/>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421111" y="3525243"/>
                  <a:ext cx="781308" cy="991382"/>
                </a:xfrm>
                <a:prstGeom prst="rect">
                  <a:avLst/>
                </a:prstGeom>
              </p:spPr>
            </p:pic>
            <p:sp>
              <p:nvSpPr>
                <p:cNvPr id="28" name="Title 4 2 1 1"/>
                <p:cNvSpPr txBox="1">
                  <a:spLocks/>
                </p:cNvSpPr>
                <p:nvPr/>
              </p:nvSpPr>
              <p:spPr>
                <a:xfrm>
                  <a:off x="2104499" y="4591230"/>
                  <a:ext cx="1414530" cy="642739"/>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Abraham Wald</a:t>
                  </a:r>
                </a:p>
                <a:p>
                  <a:pPr algn="ctr" fontAlgn="auto">
                    <a:spcAft>
                      <a:spcPts val="0"/>
                    </a:spcAft>
                  </a:pPr>
                  <a:r>
                    <a:rPr lang="en-US" sz="1100" dirty="0">
                      <a:solidFill>
                        <a:schemeClr val="tx1"/>
                      </a:solidFill>
                    </a:rPr>
                    <a:t>(1902 – 1950)</a:t>
                  </a:r>
                </a:p>
                <a:p>
                  <a:pPr algn="ctr" fontAlgn="auto">
                    <a:spcAft>
                      <a:spcPts val="0"/>
                    </a:spcAft>
                  </a:pPr>
                  <a:r>
                    <a:rPr lang="en-US" sz="1100" dirty="0">
                      <a:solidFill>
                        <a:schemeClr val="tx1"/>
                      </a:solidFill>
                    </a:rPr>
                    <a:t>Statistician</a:t>
                  </a:r>
                </a:p>
              </p:txBody>
            </p:sp>
          </p:grpSp>
          <p:grpSp>
            <p:nvGrpSpPr>
              <p:cNvPr id="14" name="Group 13"/>
              <p:cNvGrpSpPr/>
              <p:nvPr/>
            </p:nvGrpSpPr>
            <p:grpSpPr>
              <a:xfrm>
                <a:off x="382224" y="1758668"/>
                <a:ext cx="1524168" cy="1575709"/>
                <a:chOff x="2049769" y="1758668"/>
                <a:chExt cx="1524168" cy="1575709"/>
              </a:xfrm>
            </p:grpSpPr>
            <p:pic>
              <p:nvPicPr>
                <p:cNvPr id="60" name="Picture 59"/>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2421112" y="1758668"/>
                  <a:ext cx="781307" cy="929755"/>
                </a:xfrm>
                <a:prstGeom prst="rect">
                  <a:avLst/>
                </a:prstGeom>
              </p:spPr>
            </p:pic>
            <p:sp>
              <p:nvSpPr>
                <p:cNvPr id="61" name="Title 4 2 1 1"/>
                <p:cNvSpPr txBox="1">
                  <a:spLocks/>
                </p:cNvSpPr>
                <p:nvPr/>
              </p:nvSpPr>
              <p:spPr>
                <a:xfrm>
                  <a:off x="2049769" y="2778959"/>
                  <a:ext cx="1524168" cy="555418"/>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Ronald Fisher</a:t>
                  </a:r>
                </a:p>
                <a:p>
                  <a:pPr algn="ctr" fontAlgn="auto">
                    <a:spcAft>
                      <a:spcPts val="0"/>
                    </a:spcAft>
                  </a:pPr>
                  <a:r>
                    <a:rPr lang="en-US" sz="1100" dirty="0">
                      <a:solidFill>
                        <a:schemeClr val="tx1"/>
                      </a:solidFill>
                    </a:rPr>
                    <a:t>(1890 – 1962)</a:t>
                  </a:r>
                </a:p>
                <a:p>
                  <a:pPr algn="ctr" fontAlgn="auto">
                    <a:spcAft>
                      <a:spcPts val="0"/>
                    </a:spcAft>
                  </a:pPr>
                  <a:r>
                    <a:rPr lang="en-US" sz="1100" dirty="0">
                      <a:solidFill>
                        <a:schemeClr val="tx1"/>
                      </a:solidFill>
                    </a:rPr>
                    <a:t>Statistician / Biologist</a:t>
                  </a:r>
                </a:p>
              </p:txBody>
            </p:sp>
          </p:grpSp>
        </p:grpSp>
      </p:grpSp>
      <p:sp>
        <p:nvSpPr>
          <p:cNvPr id="88" name="Title 4 2 1 1 1 1"/>
          <p:cNvSpPr txBox="1">
            <a:spLocks/>
          </p:cNvSpPr>
          <p:nvPr/>
        </p:nvSpPr>
        <p:spPr>
          <a:xfrm>
            <a:off x="157480" y="5417823"/>
            <a:ext cx="3729000" cy="1192722"/>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dirty="0">
                <a:solidFill>
                  <a:schemeClr val="tx1"/>
                </a:solidFill>
              </a:rPr>
              <a:t>No prior knowledge allowed.</a:t>
            </a:r>
          </a:p>
          <a:p>
            <a:pPr algn="ctr" fontAlgn="auto">
              <a:spcAft>
                <a:spcPts val="0"/>
              </a:spcAft>
            </a:pPr>
            <a:r>
              <a:rPr lang="en-US" sz="1500" dirty="0">
                <a:solidFill>
                  <a:schemeClr val="tx1"/>
                </a:solidFill>
              </a:rPr>
              <a:t>Let the data speak for itself.</a:t>
            </a:r>
          </a:p>
          <a:p>
            <a:pPr algn="ctr" fontAlgn="auto">
              <a:spcAft>
                <a:spcPts val="0"/>
              </a:spcAft>
            </a:pPr>
            <a:r>
              <a:rPr lang="en-US" sz="1500" dirty="0">
                <a:solidFill>
                  <a:schemeClr val="tx1"/>
                </a:solidFill>
              </a:rPr>
              <a:t>- R. A. Fisher</a:t>
            </a:r>
          </a:p>
        </p:txBody>
      </p:sp>
      <p:sp>
        <p:nvSpPr>
          <p:cNvPr id="42" name="Title 4 2 1 1 1 1">
            <a:extLst>
              <a:ext uri="{FF2B5EF4-FFF2-40B4-BE49-F238E27FC236}">
                <a16:creationId xmlns:a16="http://schemas.microsoft.com/office/drawing/2014/main" id="{31DCC8DD-A68B-44E1-A97A-BAC0962D744C}"/>
              </a:ext>
            </a:extLst>
          </p:cNvPr>
          <p:cNvSpPr txBox="1">
            <a:spLocks/>
          </p:cNvSpPr>
          <p:nvPr/>
        </p:nvSpPr>
        <p:spPr>
          <a:xfrm>
            <a:off x="4931299" y="5417823"/>
            <a:ext cx="3729000" cy="1192722"/>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dirty="0">
                <a:solidFill>
                  <a:schemeClr val="tx1"/>
                </a:solidFill>
              </a:rPr>
              <a:t>Prior knowledge has a fundamental role in inference along with Data</a:t>
            </a:r>
          </a:p>
          <a:p>
            <a:pPr algn="ctr" fontAlgn="auto">
              <a:spcAft>
                <a:spcPts val="0"/>
              </a:spcAft>
            </a:pPr>
            <a:r>
              <a:rPr lang="en-US" sz="1500" dirty="0">
                <a:solidFill>
                  <a:schemeClr val="tx1"/>
                </a:solidFill>
              </a:rPr>
              <a:t>(via the Bayes’ Rule)</a:t>
            </a:r>
          </a:p>
        </p:txBody>
      </p:sp>
      <p:sp>
        <p:nvSpPr>
          <p:cNvPr id="45" name="Title 4 1">
            <a:extLst>
              <a:ext uri="{FF2B5EF4-FFF2-40B4-BE49-F238E27FC236}">
                <a16:creationId xmlns:a16="http://schemas.microsoft.com/office/drawing/2014/main" id="{3C79CF62-9EEF-47EA-9790-44A7B36DCEFF}"/>
              </a:ext>
            </a:extLst>
          </p:cNvPr>
          <p:cNvSpPr>
            <a:spLocks noGrp="1"/>
          </p:cNvSpPr>
          <p:nvPr>
            <p:ph type="title"/>
          </p:nvPr>
        </p:nvSpPr>
        <p:spPr>
          <a:xfrm>
            <a:off x="152400" y="152400"/>
            <a:ext cx="8839200" cy="304800"/>
          </a:xfrm>
        </p:spPr>
        <p:txBody>
          <a:bodyPr>
            <a:noAutofit/>
          </a:bodyPr>
          <a:lstStyle/>
          <a:p>
            <a:r>
              <a:rPr lang="en-US" sz="1800" b="1" dirty="0">
                <a:solidFill>
                  <a:schemeClr val="tx1"/>
                </a:solidFill>
              </a:rPr>
              <a:t>Two Philosophically distinct approaches to Scientific inference</a:t>
            </a:r>
            <a:endParaRPr lang="en-US" sz="1700" dirty="0">
              <a:solidFill>
                <a:schemeClr val="tx1"/>
              </a:solidFill>
            </a:endParaRPr>
          </a:p>
        </p:txBody>
      </p:sp>
    </p:spTree>
    <p:extLst>
      <p:ext uri="{BB962C8B-B14F-4D97-AF65-F5344CB8AC3E}">
        <p14:creationId xmlns:p14="http://schemas.microsoft.com/office/powerpoint/2010/main" val="3897442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par>
                                <p:cTn id="8" presetID="10" presetClass="entr" presetSubtype="0" fill="hold"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8"/>
                                        </p:tgtEl>
                                        <p:attrNameLst>
                                          <p:attrName>style.visibility</p:attrName>
                                        </p:attrNameLst>
                                      </p:cBhvr>
                                      <p:to>
                                        <p:strVal val="visible"/>
                                      </p:to>
                                    </p:set>
                                    <p:animEffect transition="in" filter="fade">
                                      <p:cBhvr>
                                        <p:cTn id="13" dur="500"/>
                                        <p:tgtEl>
                                          <p:spTgt spid="8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5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42" grpId="0"/>
      <p:bldP spid="4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410759" y="774796"/>
            <a:ext cx="8091322" cy="725846"/>
            <a:chOff x="410759" y="774796"/>
            <a:chExt cx="8091322" cy="725846"/>
          </a:xfrm>
        </p:grpSpPr>
        <p:sp>
          <p:nvSpPr>
            <p:cNvPr id="17" name="Title 4 2 1 1"/>
            <p:cNvSpPr txBox="1">
              <a:spLocks/>
            </p:cNvSpPr>
            <p:nvPr/>
          </p:nvSpPr>
          <p:spPr>
            <a:xfrm>
              <a:off x="410759" y="774796"/>
              <a:ext cx="3429000" cy="72584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b="1" dirty="0">
                  <a:solidFill>
                    <a:schemeClr val="tx1"/>
                  </a:solidFill>
                </a:rPr>
                <a:t>Frequentist Inference</a:t>
              </a:r>
            </a:p>
            <a:p>
              <a:pPr algn="ctr" fontAlgn="auto">
                <a:spcAft>
                  <a:spcPts val="0"/>
                </a:spcAft>
              </a:pPr>
              <a:endParaRPr lang="en-US" sz="500" b="1" dirty="0">
                <a:solidFill>
                  <a:schemeClr val="tx1"/>
                </a:solidFill>
              </a:endParaRPr>
            </a:p>
            <a:p>
              <a:pPr algn="ctr" fontAlgn="auto">
                <a:spcAft>
                  <a:spcPts val="0"/>
                </a:spcAft>
              </a:pPr>
              <a:r>
                <a:rPr lang="en-US" sz="1500" dirty="0">
                  <a:solidFill>
                    <a:schemeClr val="tx1"/>
                  </a:solidFill>
                </a:rPr>
                <a:t>Neyman–Pearson–Wald theory</a:t>
              </a:r>
            </a:p>
          </p:txBody>
        </p:sp>
        <p:sp>
          <p:nvSpPr>
            <p:cNvPr id="29" name="Title 4 2 1 1"/>
            <p:cNvSpPr txBox="1">
              <a:spLocks/>
            </p:cNvSpPr>
            <p:nvPr/>
          </p:nvSpPr>
          <p:spPr>
            <a:xfrm>
              <a:off x="5073081" y="774796"/>
              <a:ext cx="3429000" cy="72584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b="1" dirty="0">
                  <a:solidFill>
                    <a:schemeClr val="tx1"/>
                  </a:solidFill>
                </a:rPr>
                <a:t>Bayesian Inference</a:t>
              </a:r>
            </a:p>
            <a:p>
              <a:pPr algn="ctr" fontAlgn="auto">
                <a:spcAft>
                  <a:spcPts val="0"/>
                </a:spcAft>
              </a:pPr>
              <a:endParaRPr lang="en-US" sz="500" b="1" dirty="0">
                <a:solidFill>
                  <a:schemeClr val="tx1"/>
                </a:solidFill>
              </a:endParaRPr>
            </a:p>
            <a:p>
              <a:pPr algn="ctr" fontAlgn="auto">
                <a:spcAft>
                  <a:spcPts val="0"/>
                </a:spcAft>
              </a:pPr>
              <a:r>
                <a:rPr lang="en-US" sz="1500" dirty="0">
                  <a:solidFill>
                    <a:schemeClr val="tx1"/>
                  </a:solidFill>
                </a:rPr>
                <a:t>Bayesian probability theory</a:t>
              </a:r>
            </a:p>
          </p:txBody>
        </p:sp>
      </p:grpSp>
      <p:grpSp>
        <p:nvGrpSpPr>
          <p:cNvPr id="26" name="Group 25"/>
          <p:cNvGrpSpPr/>
          <p:nvPr/>
        </p:nvGrpSpPr>
        <p:grpSpPr>
          <a:xfrm>
            <a:off x="446319" y="1665950"/>
            <a:ext cx="8239001" cy="3482856"/>
            <a:chOff x="490349" y="1758666"/>
            <a:chExt cx="8239001" cy="3482856"/>
          </a:xfrm>
        </p:grpSpPr>
        <p:grpSp>
          <p:nvGrpSpPr>
            <p:cNvPr id="13" name="Group 12"/>
            <p:cNvGrpSpPr/>
            <p:nvPr/>
          </p:nvGrpSpPr>
          <p:grpSpPr>
            <a:xfrm>
              <a:off x="4831449" y="1758668"/>
              <a:ext cx="3897901" cy="3431708"/>
              <a:chOff x="5019551" y="1758668"/>
              <a:chExt cx="3897901" cy="3431708"/>
            </a:xfrm>
          </p:grpSpPr>
          <p:grpSp>
            <p:nvGrpSpPr>
              <p:cNvPr id="11" name="Group 10"/>
              <p:cNvGrpSpPr/>
              <p:nvPr/>
            </p:nvGrpSpPr>
            <p:grpSpPr>
              <a:xfrm>
                <a:off x="6959326" y="3525242"/>
                <a:ext cx="1958126" cy="1665133"/>
                <a:chOff x="6786258" y="4988829"/>
                <a:chExt cx="1958126" cy="1665133"/>
              </a:xfrm>
            </p:grpSpPr>
            <p:pic>
              <p:nvPicPr>
                <p:cNvPr id="44" name="Picture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369735" y="4988829"/>
                  <a:ext cx="791172" cy="991382"/>
                </a:xfrm>
                <a:prstGeom prst="rect">
                  <a:avLst/>
                </a:prstGeom>
              </p:spPr>
            </p:pic>
            <p:sp>
              <p:nvSpPr>
                <p:cNvPr id="50" name="Title 4 2 1 1"/>
                <p:cNvSpPr txBox="1">
                  <a:spLocks/>
                </p:cNvSpPr>
                <p:nvPr/>
              </p:nvSpPr>
              <p:spPr>
                <a:xfrm>
                  <a:off x="6786258" y="6092543"/>
                  <a:ext cx="1958126" cy="561419"/>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Edwin Jaynes</a:t>
                  </a:r>
                </a:p>
                <a:p>
                  <a:pPr algn="ctr" fontAlgn="auto">
                    <a:spcAft>
                      <a:spcPts val="0"/>
                    </a:spcAft>
                  </a:pPr>
                  <a:r>
                    <a:rPr lang="en-US" sz="1100" dirty="0">
                      <a:solidFill>
                        <a:schemeClr val="tx1"/>
                      </a:solidFill>
                    </a:rPr>
                    <a:t>(1922 – 1998)</a:t>
                  </a:r>
                </a:p>
                <a:p>
                  <a:pPr algn="ctr" fontAlgn="auto">
                    <a:spcAft>
                      <a:spcPts val="0"/>
                    </a:spcAft>
                  </a:pPr>
                  <a:r>
                    <a:rPr lang="en-US" sz="1100" dirty="0">
                      <a:solidFill>
                        <a:schemeClr val="tx1"/>
                      </a:solidFill>
                    </a:rPr>
                    <a:t>Physicist</a:t>
                  </a:r>
                </a:p>
              </p:txBody>
            </p:sp>
          </p:grpSp>
          <p:grpSp>
            <p:nvGrpSpPr>
              <p:cNvPr id="9" name="Group 8"/>
              <p:cNvGrpSpPr/>
              <p:nvPr/>
            </p:nvGrpSpPr>
            <p:grpSpPr>
              <a:xfrm>
                <a:off x="5019551" y="1758668"/>
                <a:ext cx="1949054" cy="1502301"/>
                <a:chOff x="6795330" y="1763223"/>
                <a:chExt cx="1949054" cy="1502301"/>
              </a:xfrm>
            </p:grpSpPr>
            <p:pic>
              <p:nvPicPr>
                <p:cNvPr id="34" name="Picture 3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91047" y="1763223"/>
                  <a:ext cx="757620" cy="925732"/>
                </a:xfrm>
                <a:prstGeom prst="rect">
                  <a:avLst/>
                </a:prstGeom>
              </p:spPr>
            </p:pic>
            <p:sp>
              <p:nvSpPr>
                <p:cNvPr id="51" name="Title 4 2 1 1"/>
                <p:cNvSpPr txBox="1">
                  <a:spLocks/>
                </p:cNvSpPr>
                <p:nvPr/>
              </p:nvSpPr>
              <p:spPr>
                <a:xfrm>
                  <a:off x="6795330" y="2789192"/>
                  <a:ext cx="1949054" cy="476332"/>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Pierre Laplace</a:t>
                  </a:r>
                </a:p>
                <a:p>
                  <a:pPr algn="ctr" fontAlgn="auto">
                    <a:spcAft>
                      <a:spcPts val="0"/>
                    </a:spcAft>
                  </a:pPr>
                  <a:r>
                    <a:rPr lang="en-US" sz="1100" dirty="0">
                      <a:solidFill>
                        <a:schemeClr val="tx1"/>
                      </a:solidFill>
                    </a:rPr>
                    <a:t>(1749 – 1827)</a:t>
                  </a:r>
                </a:p>
                <a:p>
                  <a:pPr algn="ctr" fontAlgn="auto">
                    <a:spcAft>
                      <a:spcPts val="0"/>
                    </a:spcAft>
                  </a:pPr>
                  <a:r>
                    <a:rPr lang="en-US" sz="1100" dirty="0">
                      <a:solidFill>
                        <a:schemeClr val="tx1"/>
                      </a:solidFill>
                    </a:rPr>
                    <a:t>Astronomer / Mathematician</a:t>
                  </a:r>
                </a:p>
              </p:txBody>
            </p:sp>
          </p:grpSp>
          <p:grpSp>
            <p:nvGrpSpPr>
              <p:cNvPr id="10" name="Group 9"/>
              <p:cNvGrpSpPr/>
              <p:nvPr/>
            </p:nvGrpSpPr>
            <p:grpSpPr>
              <a:xfrm>
                <a:off x="6993710" y="1758668"/>
                <a:ext cx="1889358" cy="1544733"/>
                <a:chOff x="6841953" y="3392851"/>
                <a:chExt cx="1889358" cy="1544733"/>
              </a:xfrm>
            </p:grpSpPr>
            <p:pic>
              <p:nvPicPr>
                <p:cNvPr id="33" name="Picture 3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91046" y="3392851"/>
                  <a:ext cx="791172" cy="931222"/>
                </a:xfrm>
                <a:prstGeom prst="rect">
                  <a:avLst/>
                </a:prstGeom>
              </p:spPr>
            </p:pic>
            <p:sp>
              <p:nvSpPr>
                <p:cNvPr id="55" name="Title 4 2 1 1"/>
                <p:cNvSpPr txBox="1">
                  <a:spLocks/>
                </p:cNvSpPr>
                <p:nvPr/>
              </p:nvSpPr>
              <p:spPr>
                <a:xfrm>
                  <a:off x="6841953" y="4376165"/>
                  <a:ext cx="1889358" cy="561419"/>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Harold </a:t>
                  </a:r>
                  <a:r>
                    <a:rPr lang="en-US" sz="1100" b="1" dirty="0" err="1">
                      <a:solidFill>
                        <a:schemeClr val="tx1"/>
                      </a:solidFill>
                    </a:rPr>
                    <a:t>Jeffreys</a:t>
                  </a:r>
                  <a:endParaRPr lang="en-US" sz="1100" b="1" dirty="0">
                    <a:solidFill>
                      <a:schemeClr val="tx1"/>
                    </a:solidFill>
                  </a:endParaRPr>
                </a:p>
                <a:p>
                  <a:pPr algn="ctr" fontAlgn="auto">
                    <a:spcAft>
                      <a:spcPts val="0"/>
                    </a:spcAft>
                  </a:pPr>
                  <a:r>
                    <a:rPr lang="en-US" sz="1100" dirty="0">
                      <a:solidFill>
                        <a:schemeClr val="tx1"/>
                      </a:solidFill>
                    </a:rPr>
                    <a:t>(1891 – 1989)</a:t>
                  </a:r>
                </a:p>
                <a:p>
                  <a:pPr algn="ctr" fontAlgn="auto">
                    <a:spcAft>
                      <a:spcPts val="0"/>
                    </a:spcAft>
                  </a:pPr>
                  <a:r>
                    <a:rPr lang="en-US" sz="1100" dirty="0">
                      <a:solidFill>
                        <a:schemeClr val="tx1"/>
                      </a:solidFill>
                    </a:rPr>
                    <a:t>Astronomer / Geophysicist</a:t>
                  </a:r>
                </a:p>
              </p:txBody>
            </p:sp>
          </p:grpSp>
          <p:grpSp>
            <p:nvGrpSpPr>
              <p:cNvPr id="12" name="Group 11"/>
              <p:cNvGrpSpPr/>
              <p:nvPr/>
            </p:nvGrpSpPr>
            <p:grpSpPr>
              <a:xfrm>
                <a:off x="5243649" y="3528421"/>
                <a:ext cx="1444417" cy="1661955"/>
                <a:chOff x="5400112" y="4984348"/>
                <a:chExt cx="1444417" cy="1661955"/>
              </a:xfrm>
            </p:grpSpPr>
            <p:sp>
              <p:nvSpPr>
                <p:cNvPr id="57" name="Title 4 2 1 1"/>
                <p:cNvSpPr txBox="1">
                  <a:spLocks/>
                </p:cNvSpPr>
                <p:nvPr/>
              </p:nvSpPr>
              <p:spPr>
                <a:xfrm>
                  <a:off x="5400112" y="6084884"/>
                  <a:ext cx="1444417" cy="561419"/>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Richard Cox</a:t>
                  </a:r>
                </a:p>
                <a:p>
                  <a:pPr algn="ctr" fontAlgn="auto">
                    <a:spcAft>
                      <a:spcPts val="0"/>
                    </a:spcAft>
                  </a:pPr>
                  <a:r>
                    <a:rPr lang="en-US" sz="1100" dirty="0">
                      <a:solidFill>
                        <a:schemeClr val="tx1"/>
                      </a:solidFill>
                    </a:rPr>
                    <a:t>(1898 – 1991)</a:t>
                  </a:r>
                </a:p>
                <a:p>
                  <a:pPr algn="ctr" fontAlgn="auto">
                    <a:spcAft>
                      <a:spcPts val="0"/>
                    </a:spcAft>
                  </a:pPr>
                  <a:r>
                    <a:rPr lang="en-US" sz="1100" dirty="0">
                      <a:solidFill>
                        <a:schemeClr val="tx1"/>
                      </a:solidFill>
                    </a:rPr>
                    <a:t>Physicist</a:t>
                  </a:r>
                </a:p>
              </p:txBody>
            </p:sp>
            <p:pic>
              <p:nvPicPr>
                <p:cNvPr id="59" name="Picture 5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771731" y="4984348"/>
                  <a:ext cx="757620" cy="988203"/>
                </a:xfrm>
                <a:prstGeom prst="rect">
                  <a:avLst/>
                </a:prstGeom>
              </p:spPr>
            </p:pic>
          </p:grpSp>
        </p:grpSp>
        <p:grpSp>
          <p:nvGrpSpPr>
            <p:cNvPr id="20" name="Group 19"/>
            <p:cNvGrpSpPr/>
            <p:nvPr/>
          </p:nvGrpSpPr>
          <p:grpSpPr>
            <a:xfrm>
              <a:off x="490349" y="1758666"/>
              <a:ext cx="3322361" cy="3482856"/>
              <a:chOff x="382224" y="1758666"/>
              <a:chExt cx="3322361" cy="3482856"/>
            </a:xfrm>
          </p:grpSpPr>
          <p:grpSp>
            <p:nvGrpSpPr>
              <p:cNvPr id="15" name="Group 14"/>
              <p:cNvGrpSpPr/>
              <p:nvPr/>
            </p:nvGrpSpPr>
            <p:grpSpPr>
              <a:xfrm>
                <a:off x="1918944" y="1758666"/>
                <a:ext cx="1785641" cy="1551856"/>
                <a:chOff x="352386" y="1771602"/>
                <a:chExt cx="1785641" cy="1562833"/>
              </a:xfrm>
            </p:grpSpPr>
            <p:sp>
              <p:nvSpPr>
                <p:cNvPr id="21" name="Title 4 2 1 1"/>
                <p:cNvSpPr txBox="1">
                  <a:spLocks/>
                </p:cNvSpPr>
                <p:nvPr/>
              </p:nvSpPr>
              <p:spPr>
                <a:xfrm>
                  <a:off x="352386" y="2779017"/>
                  <a:ext cx="1785641" cy="555418"/>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Jerzy Neyman</a:t>
                  </a:r>
                </a:p>
                <a:p>
                  <a:pPr algn="ctr" fontAlgn="auto">
                    <a:spcAft>
                      <a:spcPts val="0"/>
                    </a:spcAft>
                  </a:pPr>
                  <a:r>
                    <a:rPr lang="en-US" sz="1100" dirty="0">
                      <a:solidFill>
                        <a:schemeClr val="tx1"/>
                      </a:solidFill>
                    </a:rPr>
                    <a:t>(1894 – 1981)</a:t>
                  </a:r>
                </a:p>
                <a:p>
                  <a:pPr algn="ctr" fontAlgn="auto">
                    <a:spcAft>
                      <a:spcPts val="0"/>
                    </a:spcAft>
                  </a:pPr>
                  <a:r>
                    <a:rPr lang="en-US" sz="1100" dirty="0">
                      <a:solidFill>
                        <a:schemeClr val="tx1"/>
                      </a:solidFill>
                    </a:rPr>
                    <a:t>Statistician / Astronomer</a:t>
                  </a:r>
                </a:p>
              </p:txBody>
            </p:sp>
            <p:pic>
              <p:nvPicPr>
                <p:cNvPr id="19" name="Picture 18"/>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54554" y="1771602"/>
                  <a:ext cx="781307" cy="932280"/>
                </a:xfrm>
                <a:prstGeom prst="rect">
                  <a:avLst/>
                </a:prstGeom>
              </p:spPr>
            </p:pic>
          </p:grpSp>
          <p:grpSp>
            <p:nvGrpSpPr>
              <p:cNvPr id="16" name="Group 15"/>
              <p:cNvGrpSpPr/>
              <p:nvPr/>
            </p:nvGrpSpPr>
            <p:grpSpPr>
              <a:xfrm>
                <a:off x="438209" y="3525242"/>
                <a:ext cx="1414529" cy="1716280"/>
                <a:chOff x="438209" y="3525242"/>
                <a:chExt cx="1414529" cy="1716280"/>
              </a:xfrm>
            </p:grpSpPr>
            <p:pic>
              <p:nvPicPr>
                <p:cNvPr id="23" name="Picture 22"/>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815553" y="3525242"/>
                  <a:ext cx="736854" cy="991382"/>
                </a:xfrm>
                <a:prstGeom prst="rect">
                  <a:avLst/>
                </a:prstGeom>
              </p:spPr>
            </p:pic>
            <p:sp>
              <p:nvSpPr>
                <p:cNvPr id="27" name="Title 4 2 1 1"/>
                <p:cNvSpPr txBox="1">
                  <a:spLocks/>
                </p:cNvSpPr>
                <p:nvPr/>
              </p:nvSpPr>
              <p:spPr>
                <a:xfrm>
                  <a:off x="438209" y="4583678"/>
                  <a:ext cx="1414529" cy="657844"/>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Egon Pearson</a:t>
                  </a:r>
                </a:p>
                <a:p>
                  <a:pPr algn="ctr" fontAlgn="auto">
                    <a:spcAft>
                      <a:spcPts val="0"/>
                    </a:spcAft>
                  </a:pPr>
                  <a:r>
                    <a:rPr lang="en-US" sz="1100" dirty="0">
                      <a:solidFill>
                        <a:schemeClr val="tx1"/>
                      </a:solidFill>
                    </a:rPr>
                    <a:t>(1895 – 1980)</a:t>
                  </a:r>
                </a:p>
                <a:p>
                  <a:pPr algn="ctr" fontAlgn="auto">
                    <a:spcAft>
                      <a:spcPts val="0"/>
                    </a:spcAft>
                  </a:pPr>
                  <a:r>
                    <a:rPr lang="en-US" sz="1100" dirty="0">
                      <a:solidFill>
                        <a:schemeClr val="tx1"/>
                      </a:solidFill>
                    </a:rPr>
                    <a:t>Statistician</a:t>
                  </a:r>
                </a:p>
              </p:txBody>
            </p:sp>
          </p:grpSp>
          <p:grpSp>
            <p:nvGrpSpPr>
              <p:cNvPr id="18" name="Group 17"/>
              <p:cNvGrpSpPr/>
              <p:nvPr/>
            </p:nvGrpSpPr>
            <p:grpSpPr>
              <a:xfrm>
                <a:off x="2104499" y="3525243"/>
                <a:ext cx="1414530" cy="1708726"/>
                <a:chOff x="2104499" y="3525243"/>
                <a:chExt cx="1414530" cy="1708726"/>
              </a:xfrm>
            </p:grpSpPr>
            <p:pic>
              <p:nvPicPr>
                <p:cNvPr id="24" name="Picture 23"/>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2421111" y="3525243"/>
                  <a:ext cx="781308" cy="991382"/>
                </a:xfrm>
                <a:prstGeom prst="rect">
                  <a:avLst/>
                </a:prstGeom>
              </p:spPr>
            </p:pic>
            <p:sp>
              <p:nvSpPr>
                <p:cNvPr id="28" name="Title 4 2 1 1"/>
                <p:cNvSpPr txBox="1">
                  <a:spLocks/>
                </p:cNvSpPr>
                <p:nvPr/>
              </p:nvSpPr>
              <p:spPr>
                <a:xfrm>
                  <a:off x="2104499" y="4591230"/>
                  <a:ext cx="1414530" cy="642739"/>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Abraham Wald</a:t>
                  </a:r>
                </a:p>
                <a:p>
                  <a:pPr algn="ctr" fontAlgn="auto">
                    <a:spcAft>
                      <a:spcPts val="0"/>
                    </a:spcAft>
                  </a:pPr>
                  <a:r>
                    <a:rPr lang="en-US" sz="1100" dirty="0">
                      <a:solidFill>
                        <a:schemeClr val="tx1"/>
                      </a:solidFill>
                    </a:rPr>
                    <a:t>(1902 – 1950)</a:t>
                  </a:r>
                </a:p>
                <a:p>
                  <a:pPr algn="ctr" fontAlgn="auto">
                    <a:spcAft>
                      <a:spcPts val="0"/>
                    </a:spcAft>
                  </a:pPr>
                  <a:r>
                    <a:rPr lang="en-US" sz="1100" dirty="0">
                      <a:solidFill>
                        <a:schemeClr val="tx1"/>
                      </a:solidFill>
                    </a:rPr>
                    <a:t>Statistician</a:t>
                  </a:r>
                </a:p>
              </p:txBody>
            </p:sp>
          </p:grpSp>
          <p:grpSp>
            <p:nvGrpSpPr>
              <p:cNvPr id="14" name="Group 13"/>
              <p:cNvGrpSpPr/>
              <p:nvPr/>
            </p:nvGrpSpPr>
            <p:grpSpPr>
              <a:xfrm>
                <a:off x="382224" y="1758668"/>
                <a:ext cx="1524168" cy="1575709"/>
                <a:chOff x="2049769" y="1758668"/>
                <a:chExt cx="1524168" cy="1575709"/>
              </a:xfrm>
            </p:grpSpPr>
            <p:pic>
              <p:nvPicPr>
                <p:cNvPr id="60" name="Picture 59"/>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2421112" y="1758668"/>
                  <a:ext cx="781307" cy="929755"/>
                </a:xfrm>
                <a:prstGeom prst="rect">
                  <a:avLst/>
                </a:prstGeom>
              </p:spPr>
            </p:pic>
            <p:sp>
              <p:nvSpPr>
                <p:cNvPr id="61" name="Title 4 2 1 1"/>
                <p:cNvSpPr txBox="1">
                  <a:spLocks/>
                </p:cNvSpPr>
                <p:nvPr/>
              </p:nvSpPr>
              <p:spPr>
                <a:xfrm>
                  <a:off x="2049769" y="2778959"/>
                  <a:ext cx="1524168" cy="555418"/>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100" b="1" dirty="0">
                      <a:solidFill>
                        <a:schemeClr val="tx1"/>
                      </a:solidFill>
                    </a:rPr>
                    <a:t>Ronald Fisher</a:t>
                  </a:r>
                </a:p>
                <a:p>
                  <a:pPr algn="ctr" fontAlgn="auto">
                    <a:spcAft>
                      <a:spcPts val="0"/>
                    </a:spcAft>
                  </a:pPr>
                  <a:r>
                    <a:rPr lang="en-US" sz="1100" dirty="0">
                      <a:solidFill>
                        <a:schemeClr val="tx1"/>
                      </a:solidFill>
                    </a:rPr>
                    <a:t>(1890 – 1962)</a:t>
                  </a:r>
                </a:p>
                <a:p>
                  <a:pPr algn="ctr" fontAlgn="auto">
                    <a:spcAft>
                      <a:spcPts val="0"/>
                    </a:spcAft>
                  </a:pPr>
                  <a:r>
                    <a:rPr lang="en-US" sz="1100" dirty="0">
                      <a:solidFill>
                        <a:schemeClr val="tx1"/>
                      </a:solidFill>
                    </a:rPr>
                    <a:t>Statistician / Biologist</a:t>
                  </a:r>
                </a:p>
              </p:txBody>
            </p:sp>
          </p:grpSp>
        </p:grpSp>
      </p:grpSp>
      <p:sp>
        <p:nvSpPr>
          <p:cNvPr id="88" name="Title 4 2 1 1 1 1"/>
          <p:cNvSpPr txBox="1">
            <a:spLocks/>
          </p:cNvSpPr>
          <p:nvPr/>
        </p:nvSpPr>
        <p:spPr>
          <a:xfrm>
            <a:off x="157480" y="5417823"/>
            <a:ext cx="3729000" cy="1192722"/>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dirty="0">
                <a:solidFill>
                  <a:schemeClr val="tx1"/>
                </a:solidFill>
              </a:rPr>
              <a:t>No prior knowledge allowed.</a:t>
            </a:r>
          </a:p>
          <a:p>
            <a:pPr algn="ctr" fontAlgn="auto">
              <a:spcAft>
                <a:spcPts val="0"/>
              </a:spcAft>
            </a:pPr>
            <a:r>
              <a:rPr lang="en-US" sz="1500" dirty="0">
                <a:solidFill>
                  <a:schemeClr val="tx1"/>
                </a:solidFill>
              </a:rPr>
              <a:t>Let the data speak for itself.</a:t>
            </a:r>
          </a:p>
          <a:p>
            <a:pPr algn="ctr" fontAlgn="auto">
              <a:spcAft>
                <a:spcPts val="0"/>
              </a:spcAft>
            </a:pPr>
            <a:r>
              <a:rPr lang="en-US" sz="1500" dirty="0">
                <a:solidFill>
                  <a:schemeClr val="tx1"/>
                </a:solidFill>
              </a:rPr>
              <a:t>- R. A. Fisher</a:t>
            </a:r>
          </a:p>
        </p:txBody>
      </p:sp>
      <p:sp>
        <p:nvSpPr>
          <p:cNvPr id="45" name="Title 4 1">
            <a:extLst>
              <a:ext uri="{FF2B5EF4-FFF2-40B4-BE49-F238E27FC236}">
                <a16:creationId xmlns:a16="http://schemas.microsoft.com/office/drawing/2014/main" id="{3C79CF62-9EEF-47EA-9790-44A7B36DCEFF}"/>
              </a:ext>
            </a:extLst>
          </p:cNvPr>
          <p:cNvSpPr>
            <a:spLocks noGrp="1"/>
          </p:cNvSpPr>
          <p:nvPr>
            <p:ph type="title"/>
          </p:nvPr>
        </p:nvSpPr>
        <p:spPr>
          <a:xfrm>
            <a:off x="152400" y="152400"/>
            <a:ext cx="8839200" cy="304800"/>
          </a:xfrm>
        </p:spPr>
        <p:txBody>
          <a:bodyPr>
            <a:noAutofit/>
          </a:bodyPr>
          <a:lstStyle/>
          <a:p>
            <a:r>
              <a:rPr lang="en-US" sz="1800" b="1" dirty="0">
                <a:solidFill>
                  <a:schemeClr val="tx1"/>
                </a:solidFill>
              </a:rPr>
              <a:t>Two Philosophically distinct approaches to Scientific inference</a:t>
            </a:r>
            <a:endParaRPr lang="en-US" sz="1700" dirty="0">
              <a:solidFill>
                <a:schemeClr val="tx1"/>
              </a:solidFill>
            </a:endParaRPr>
          </a:p>
        </p:txBody>
      </p:sp>
      <p:grpSp>
        <p:nvGrpSpPr>
          <p:cNvPr id="35" name="Group 34">
            <a:extLst>
              <a:ext uri="{FF2B5EF4-FFF2-40B4-BE49-F238E27FC236}">
                <a16:creationId xmlns:a16="http://schemas.microsoft.com/office/drawing/2014/main" id="{BDD2E2CB-9040-4709-AE62-0AF078CA9409}"/>
              </a:ext>
            </a:extLst>
          </p:cNvPr>
          <p:cNvGrpSpPr/>
          <p:nvPr/>
        </p:nvGrpSpPr>
        <p:grpSpPr>
          <a:xfrm>
            <a:off x="4839693" y="5179024"/>
            <a:ext cx="3847107" cy="1509485"/>
            <a:chOff x="4592744" y="539634"/>
            <a:chExt cx="3847107" cy="1509485"/>
          </a:xfrm>
        </p:grpSpPr>
        <p:pic>
          <p:nvPicPr>
            <p:cNvPr id="36" name="Picture 35">
              <a:extLst>
                <a:ext uri="{FF2B5EF4-FFF2-40B4-BE49-F238E27FC236}">
                  <a16:creationId xmlns:a16="http://schemas.microsoft.com/office/drawing/2014/main" id="{52D9E92E-B95B-46ED-BDF2-B0ABAA272DF3}"/>
                </a:ext>
              </a:extLst>
            </p:cNvPr>
            <p:cNvPicPr>
              <a:picLocks noChangeAspect="1"/>
            </p:cNvPicPr>
            <p:nvPr>
              <p:custDataLst>
                <p:tags r:id="rId1"/>
              </p:custDataLst>
            </p:nvPr>
          </p:nvPicPr>
          <p:blipFill>
            <a:blip r:embed="rId12" cstate="print">
              <a:extLst>
                <a:ext uri="{28A0092B-C50C-407E-A947-70E740481C1C}">
                  <a14:useLocalDpi xmlns:a14="http://schemas.microsoft.com/office/drawing/2010/main" val="0"/>
                </a:ext>
              </a:extLst>
            </a:blip>
            <a:stretch>
              <a:fillRect/>
            </a:stretch>
          </p:blipFill>
          <p:spPr>
            <a:xfrm>
              <a:off x="4791917" y="1069376"/>
              <a:ext cx="3450934" cy="571750"/>
            </a:xfrm>
            <a:prstGeom prst="rect">
              <a:avLst/>
            </a:prstGeom>
          </p:spPr>
        </p:pic>
        <p:sp>
          <p:nvSpPr>
            <p:cNvPr id="37" name="Title 4 2 1 1 1 2">
              <a:extLst>
                <a:ext uri="{FF2B5EF4-FFF2-40B4-BE49-F238E27FC236}">
                  <a16:creationId xmlns:a16="http://schemas.microsoft.com/office/drawing/2014/main" id="{1A8AF951-871C-4BBE-87E7-3B88F23321FC}"/>
                </a:ext>
              </a:extLst>
            </p:cNvPr>
            <p:cNvSpPr txBox="1">
              <a:spLocks/>
            </p:cNvSpPr>
            <p:nvPr/>
          </p:nvSpPr>
          <p:spPr>
            <a:xfrm>
              <a:off x="4706051" y="539634"/>
              <a:ext cx="3287120" cy="55201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fontAlgn="auto">
                <a:spcAft>
                  <a:spcPts val="0"/>
                </a:spcAft>
              </a:pPr>
              <a:r>
                <a:rPr lang="en-US" sz="1500" b="1" dirty="0">
                  <a:solidFill>
                    <a:schemeClr val="tx1"/>
                  </a:solidFill>
                </a:rPr>
                <a:t>Bayes rule:</a:t>
              </a:r>
            </a:p>
          </p:txBody>
        </p:sp>
        <mc:AlternateContent xmlns:mc="http://schemas.openxmlformats.org/markup-compatibility/2006" xmlns:a14="http://schemas.microsoft.com/office/drawing/2010/main">
          <mc:Choice Requires="a14">
            <p:sp>
              <p:nvSpPr>
                <p:cNvPr id="38" name="Rectangle 37">
                  <a:extLst>
                    <a:ext uri="{FF2B5EF4-FFF2-40B4-BE49-F238E27FC236}">
                      <a16:creationId xmlns:a16="http://schemas.microsoft.com/office/drawing/2014/main" id="{73887C75-CB4B-45B8-A0BE-2E019174BFDE}"/>
                    </a:ext>
                  </a:extLst>
                </p:cNvPr>
                <p:cNvSpPr/>
                <p:nvPr/>
              </p:nvSpPr>
              <p:spPr>
                <a:xfrm>
                  <a:off x="6687251" y="1380410"/>
                  <a:ext cx="1080314" cy="668709"/>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limLow>
                          <m:limLowPr>
                            <m:ctrlPr>
                              <a:rPr lang="en-US" sz="2200" i="1" smtClean="0">
                                <a:solidFill>
                                  <a:schemeClr val="tx1"/>
                                </a:solidFill>
                                <a:latin typeface="Cambria Math" panose="02040503050406030204" pitchFamily="18" charset="0"/>
                              </a:rPr>
                            </m:ctrlPr>
                          </m:limLowPr>
                          <m:e>
                            <m:groupChr>
                              <m:groupChrPr>
                                <m:chr m:val="⏟"/>
                                <m:ctrlPr>
                                  <a:rPr lang="en-US" sz="2200" i="1" smtClean="0">
                                    <a:solidFill>
                                      <a:schemeClr val="tx1"/>
                                    </a:solidFill>
                                    <a:latin typeface="Cambria Math" panose="02040503050406030204" pitchFamily="18" charset="0"/>
                                  </a:rPr>
                                </m:ctrlPr>
                              </m:groupChrPr>
                              <m:e>
                                <m:r>
                                  <a:rPr lang="en-US" sz="2200" b="0" i="1" smtClean="0">
                                    <a:solidFill>
                                      <a:schemeClr val="tx1"/>
                                    </a:solidFill>
                                    <a:latin typeface="Cambria Math"/>
                                  </a:rPr>
                                  <m:t>    </m:t>
                                </m:r>
                                <m:r>
                                  <a:rPr lang="en-US" sz="2200" b="0" i="1" smtClean="0">
                                    <a:solidFill>
                                      <a:schemeClr val="tx1"/>
                                    </a:solidFill>
                                    <a:latin typeface="Cambria Math" panose="02040503050406030204" pitchFamily="18" charset="0"/>
                                  </a:rPr>
                                  <m:t>  </m:t>
                                </m:r>
                                <m:r>
                                  <a:rPr lang="en-US" sz="2200" b="0" i="1" smtClean="0">
                                    <a:solidFill>
                                      <a:schemeClr val="tx1"/>
                                    </a:solidFill>
                                    <a:latin typeface="Cambria Math"/>
                                  </a:rPr>
                                  <m:t>        </m:t>
                                </m:r>
                              </m:e>
                            </m:groupChr>
                          </m:e>
                          <m:lim>
                            <m:r>
                              <a:rPr lang="en-US" sz="2200" i="1" dirty="0" smtClean="0">
                                <a:solidFill>
                                  <a:schemeClr val="tx1"/>
                                </a:solidFill>
                                <a:latin typeface="Cambria Math" panose="02040503050406030204" pitchFamily="18" charset="0"/>
                              </a:rPr>
                              <m:t>𝑒</m:t>
                            </m:r>
                            <m:r>
                              <a:rPr lang="en-US" sz="2200" b="0" i="1" dirty="0" smtClean="0">
                                <a:solidFill>
                                  <a:schemeClr val="tx1"/>
                                </a:solidFill>
                                <a:latin typeface="Cambria Math" panose="02040503050406030204" pitchFamily="18" charset="0"/>
                              </a:rPr>
                              <m:t>𝑣𝑖𝑑𝑒𝑛𝑐𝑒</m:t>
                            </m:r>
                          </m:lim>
                        </m:limLow>
                      </m:oMath>
                    </m:oMathPara>
                  </a14:m>
                  <a:endParaRPr lang="en-US" sz="2200" dirty="0">
                    <a:solidFill>
                      <a:schemeClr val="tx1"/>
                    </a:solidFill>
                  </a:endParaRPr>
                </a:p>
              </p:txBody>
            </p:sp>
          </mc:Choice>
          <mc:Fallback xmlns="">
            <p:sp>
              <p:nvSpPr>
                <p:cNvPr id="38" name="Rectangle 37">
                  <a:extLst>
                    <a:ext uri="{FF2B5EF4-FFF2-40B4-BE49-F238E27FC236}">
                      <a16:creationId xmlns:a16="http://schemas.microsoft.com/office/drawing/2014/main" id="{73887C75-CB4B-45B8-A0BE-2E019174BFDE}"/>
                    </a:ext>
                  </a:extLst>
                </p:cNvPr>
                <p:cNvSpPr>
                  <a:spLocks noRot="1" noChangeAspect="1" noMove="1" noResize="1" noEditPoints="1" noAdjustHandles="1" noChangeArrowheads="1" noChangeShapeType="1" noTextEdit="1"/>
                </p:cNvSpPr>
                <p:nvPr/>
              </p:nvSpPr>
              <p:spPr>
                <a:xfrm>
                  <a:off x="6687251" y="1380410"/>
                  <a:ext cx="1080314" cy="668709"/>
                </a:xfrm>
                <a:prstGeom prst="rect">
                  <a:avLst/>
                </a:prstGeom>
                <a:blipFill>
                  <a:blip r:embed="rId13"/>
                  <a:stretch>
                    <a:fillRect b="-367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Rectangle 38">
                  <a:extLst>
                    <a:ext uri="{FF2B5EF4-FFF2-40B4-BE49-F238E27FC236}">
                      <a16:creationId xmlns:a16="http://schemas.microsoft.com/office/drawing/2014/main" id="{AB0C0AF7-C8B0-4CCA-A6FB-AE23B1B56281}"/>
                    </a:ext>
                  </a:extLst>
                </p:cNvPr>
                <p:cNvSpPr/>
                <p:nvPr/>
              </p:nvSpPr>
              <p:spPr>
                <a:xfrm>
                  <a:off x="4592744" y="1255104"/>
                  <a:ext cx="1451038" cy="7058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limLow>
                          <m:limLowPr>
                            <m:ctrlPr>
                              <a:rPr lang="en-US" sz="2200" i="1" smtClean="0">
                                <a:solidFill>
                                  <a:schemeClr val="tx1"/>
                                </a:solidFill>
                                <a:latin typeface="Cambria Math" panose="02040503050406030204" pitchFamily="18" charset="0"/>
                              </a:rPr>
                            </m:ctrlPr>
                          </m:limLowPr>
                          <m:e>
                            <m:groupChr>
                              <m:groupChrPr>
                                <m:chr m:val="⏟"/>
                                <m:ctrlPr>
                                  <a:rPr lang="en-US" sz="2200" i="1" smtClean="0">
                                    <a:solidFill>
                                      <a:schemeClr val="tx1"/>
                                    </a:solidFill>
                                    <a:latin typeface="Cambria Math" panose="02040503050406030204" pitchFamily="18" charset="0"/>
                                  </a:rPr>
                                </m:ctrlPr>
                              </m:groupChrPr>
                              <m:e>
                                <m:r>
                                  <a:rPr lang="en-US" sz="2200" b="0" i="1" smtClean="0">
                                    <a:solidFill>
                                      <a:schemeClr val="tx1"/>
                                    </a:solidFill>
                                    <a:latin typeface="Cambria Math"/>
                                  </a:rPr>
                                  <m:t>    </m:t>
                                </m:r>
                                <m:r>
                                  <a:rPr lang="en-US" sz="2200" b="0" i="1" smtClean="0">
                                    <a:solidFill>
                                      <a:schemeClr val="tx1"/>
                                    </a:solidFill>
                                    <a:latin typeface="Cambria Math" panose="02040503050406030204" pitchFamily="18" charset="0"/>
                                  </a:rPr>
                                  <m:t>     </m:t>
                                </m:r>
                                <m:r>
                                  <a:rPr lang="en-US" sz="2200" b="0" i="1" smtClean="0">
                                    <a:solidFill>
                                      <a:schemeClr val="tx1"/>
                                    </a:solidFill>
                                    <a:latin typeface="Cambria Math"/>
                                  </a:rPr>
                                  <m:t>          </m:t>
                                </m:r>
                              </m:e>
                            </m:groupChr>
                          </m:e>
                          <m:lim>
                            <m:r>
                              <a:rPr lang="en-US" sz="2200" i="1" dirty="0" smtClean="0">
                                <a:solidFill>
                                  <a:schemeClr val="tx1"/>
                                </a:solidFill>
                                <a:latin typeface="Cambria Math" panose="02040503050406030204" pitchFamily="18" charset="0"/>
                              </a:rPr>
                              <m:t>𝑝</m:t>
                            </m:r>
                            <m:r>
                              <a:rPr lang="en-US" sz="2200" b="0" i="1" dirty="0" smtClean="0">
                                <a:solidFill>
                                  <a:schemeClr val="tx1"/>
                                </a:solidFill>
                                <a:latin typeface="Cambria Math" panose="02040503050406030204" pitchFamily="18" charset="0"/>
                              </a:rPr>
                              <m:t>𝑜𝑠𝑡𝑒𝑟𝑖𝑜𝑟</m:t>
                            </m:r>
                          </m:lim>
                        </m:limLow>
                      </m:oMath>
                    </m:oMathPara>
                  </a14:m>
                  <a:endParaRPr lang="en-US" sz="2200" dirty="0">
                    <a:solidFill>
                      <a:schemeClr val="tx1"/>
                    </a:solidFill>
                  </a:endParaRPr>
                </a:p>
              </p:txBody>
            </p:sp>
          </mc:Choice>
          <mc:Fallback xmlns="">
            <p:sp>
              <p:nvSpPr>
                <p:cNvPr id="39" name="Rectangle 38">
                  <a:extLst>
                    <a:ext uri="{FF2B5EF4-FFF2-40B4-BE49-F238E27FC236}">
                      <a16:creationId xmlns:a16="http://schemas.microsoft.com/office/drawing/2014/main" id="{AB0C0AF7-C8B0-4CCA-A6FB-AE23B1B56281}"/>
                    </a:ext>
                  </a:extLst>
                </p:cNvPr>
                <p:cNvSpPr>
                  <a:spLocks noRot="1" noChangeAspect="1" noMove="1" noResize="1" noEditPoints="1" noAdjustHandles="1" noChangeArrowheads="1" noChangeShapeType="1" noTextEdit="1"/>
                </p:cNvSpPr>
                <p:nvPr/>
              </p:nvSpPr>
              <p:spPr>
                <a:xfrm>
                  <a:off x="4592744" y="1255104"/>
                  <a:ext cx="1451038" cy="705899"/>
                </a:xfrm>
                <a:prstGeom prst="rect">
                  <a:avLst/>
                </a:prstGeom>
                <a:blipFill>
                  <a:blip r:embed="rId14"/>
                  <a:stretch>
                    <a:fillRect b="-25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ctangle 39">
                  <a:extLst>
                    <a:ext uri="{FF2B5EF4-FFF2-40B4-BE49-F238E27FC236}">
                      <a16:creationId xmlns:a16="http://schemas.microsoft.com/office/drawing/2014/main" id="{894BA375-7568-4031-9472-40D2B775376D}"/>
                    </a:ext>
                  </a:extLst>
                </p:cNvPr>
                <p:cNvSpPr/>
                <p:nvPr/>
              </p:nvSpPr>
              <p:spPr>
                <a:xfrm>
                  <a:off x="7301399" y="550902"/>
                  <a:ext cx="1138452" cy="67710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600" b="0" i="1" smtClean="0">
                            <a:solidFill>
                              <a:srgbClr val="FF0000"/>
                            </a:solidFill>
                            <a:latin typeface="Cambria Math" panose="02040503050406030204" pitchFamily="18" charset="0"/>
                          </a:rPr>
                          <m:t>𝑝</m:t>
                        </m:r>
                        <m:r>
                          <a:rPr lang="en-US" sz="1600" i="1">
                            <a:solidFill>
                              <a:srgbClr val="FF0000"/>
                            </a:solidFill>
                            <a:latin typeface="Cambria Math" panose="02040503050406030204" pitchFamily="18" charset="0"/>
                          </a:rPr>
                          <m:t>𝑟𝑖𝑜𝑟</m:t>
                        </m:r>
                      </m:oMath>
                    </m:oMathPara>
                  </a14:m>
                  <a:endParaRPr lang="en-US" sz="1600" i="1" dirty="0">
                    <a:solidFill>
                      <a:srgbClr val="FF0000"/>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groupChr>
                          <m:groupChrPr>
                            <m:chr m:val="⏞"/>
                            <m:pos m:val="top"/>
                            <m:vertJc m:val="bot"/>
                            <m:ctrlPr>
                              <a:rPr lang="en-US" sz="2200" i="1" smtClean="0">
                                <a:solidFill>
                                  <a:srgbClr val="FF0000"/>
                                </a:solidFill>
                                <a:latin typeface="Cambria Math" panose="02040503050406030204" pitchFamily="18" charset="0"/>
                              </a:rPr>
                            </m:ctrlPr>
                          </m:groupChrPr>
                          <m:e>
                            <m:r>
                              <m:rPr>
                                <m:brk/>
                              </m:rPr>
                              <a:rPr lang="en-US" sz="2200" b="0" i="1" smtClean="0">
                                <a:solidFill>
                                  <a:srgbClr val="FF0000"/>
                                </a:solidFill>
                                <a:latin typeface="Cambria Math" panose="02040503050406030204" pitchFamily="18" charset="0"/>
                              </a:rPr>
                              <m:t> </m:t>
                            </m:r>
                            <m:r>
                              <a:rPr lang="en-US" sz="2200" b="0" i="1" smtClean="0">
                                <a:solidFill>
                                  <a:srgbClr val="FF0000"/>
                                </a:solidFill>
                                <a:latin typeface="Cambria Math" panose="02040503050406030204" pitchFamily="18" charset="0"/>
                              </a:rPr>
                              <m:t>             </m:t>
                            </m:r>
                          </m:e>
                        </m:groupChr>
                      </m:oMath>
                    </m:oMathPara>
                  </a14:m>
                  <a:endParaRPr lang="en-US" sz="2200" dirty="0">
                    <a:solidFill>
                      <a:srgbClr val="FF0000"/>
                    </a:solidFill>
                  </a:endParaRPr>
                </a:p>
              </p:txBody>
            </p:sp>
          </mc:Choice>
          <mc:Fallback xmlns="">
            <p:sp>
              <p:nvSpPr>
                <p:cNvPr id="40" name="Rectangle 39">
                  <a:extLst>
                    <a:ext uri="{FF2B5EF4-FFF2-40B4-BE49-F238E27FC236}">
                      <a16:creationId xmlns:a16="http://schemas.microsoft.com/office/drawing/2014/main" id="{894BA375-7568-4031-9472-40D2B775376D}"/>
                    </a:ext>
                  </a:extLst>
                </p:cNvPr>
                <p:cNvSpPr>
                  <a:spLocks noRot="1" noChangeAspect="1" noMove="1" noResize="1" noEditPoints="1" noAdjustHandles="1" noChangeArrowheads="1" noChangeShapeType="1" noTextEdit="1"/>
                </p:cNvSpPr>
                <p:nvPr/>
              </p:nvSpPr>
              <p:spPr>
                <a:xfrm>
                  <a:off x="7301399" y="550902"/>
                  <a:ext cx="1138452" cy="677108"/>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58627D82-003E-4E32-B4C4-033807262B71}"/>
                    </a:ext>
                  </a:extLst>
                </p:cNvPr>
                <p:cNvSpPr/>
                <p:nvPr/>
              </p:nvSpPr>
              <p:spPr>
                <a:xfrm>
                  <a:off x="6099662" y="550902"/>
                  <a:ext cx="1388522" cy="67710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600" b="0" i="1" smtClean="0">
                            <a:solidFill>
                              <a:srgbClr val="0000FF"/>
                            </a:solidFill>
                            <a:latin typeface="Cambria Math" panose="02040503050406030204" pitchFamily="18" charset="0"/>
                          </a:rPr>
                          <m:t>𝑙𝑖𝑘𝑒𝑙𝑖h𝑜𝑜𝑑</m:t>
                        </m:r>
                      </m:oMath>
                    </m:oMathPara>
                  </a14:m>
                  <a:endParaRPr lang="en-US" sz="1600" i="1" dirty="0">
                    <a:solidFill>
                      <a:srgbClr val="0000FF"/>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groupChr>
                          <m:groupChrPr>
                            <m:chr m:val="⏞"/>
                            <m:pos m:val="top"/>
                            <m:vertJc m:val="bot"/>
                            <m:ctrlPr>
                              <a:rPr lang="en-US" sz="2200" i="1" smtClean="0">
                                <a:solidFill>
                                  <a:srgbClr val="0000FF"/>
                                </a:solidFill>
                                <a:latin typeface="Cambria Math" panose="02040503050406030204" pitchFamily="18" charset="0"/>
                              </a:rPr>
                            </m:ctrlPr>
                          </m:groupChrPr>
                          <m:e>
                            <m:r>
                              <m:rPr>
                                <m:brk/>
                              </m:rPr>
                              <a:rPr lang="en-US" sz="2200" b="0" i="1" smtClean="0">
                                <a:solidFill>
                                  <a:srgbClr val="0000FF"/>
                                </a:solidFill>
                                <a:latin typeface="Cambria Math" panose="02040503050406030204" pitchFamily="18" charset="0"/>
                              </a:rPr>
                              <m:t> </m:t>
                            </m:r>
                            <m:r>
                              <a:rPr lang="en-US" sz="2200" b="0" i="1" smtClean="0">
                                <a:solidFill>
                                  <a:srgbClr val="0000FF"/>
                                </a:solidFill>
                                <a:latin typeface="Cambria Math" panose="02040503050406030204" pitchFamily="18" charset="0"/>
                              </a:rPr>
                              <m:t>                 </m:t>
                            </m:r>
                          </m:e>
                        </m:groupChr>
                      </m:oMath>
                    </m:oMathPara>
                  </a14:m>
                  <a:endParaRPr lang="en-US" sz="2200" dirty="0">
                    <a:solidFill>
                      <a:srgbClr val="0000FF"/>
                    </a:solidFill>
                  </a:endParaRPr>
                </a:p>
              </p:txBody>
            </p:sp>
          </mc:Choice>
          <mc:Fallback xmlns="">
            <p:sp>
              <p:nvSpPr>
                <p:cNvPr id="41" name="Rectangle 40">
                  <a:extLst>
                    <a:ext uri="{FF2B5EF4-FFF2-40B4-BE49-F238E27FC236}">
                      <a16:creationId xmlns:a16="http://schemas.microsoft.com/office/drawing/2014/main" id="{58627D82-003E-4E32-B4C4-033807262B71}"/>
                    </a:ext>
                  </a:extLst>
                </p:cNvPr>
                <p:cNvSpPr>
                  <a:spLocks noRot="1" noChangeAspect="1" noMove="1" noResize="1" noEditPoints="1" noAdjustHandles="1" noChangeArrowheads="1" noChangeShapeType="1" noTextEdit="1"/>
                </p:cNvSpPr>
                <p:nvPr/>
              </p:nvSpPr>
              <p:spPr>
                <a:xfrm>
                  <a:off x="6099662" y="550902"/>
                  <a:ext cx="1388522" cy="677108"/>
                </a:xfrm>
                <a:prstGeom prst="rect">
                  <a:avLst/>
                </a:prstGeom>
                <a:blipFill>
                  <a:blip r:embed="rId1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7820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le 4 2 1 1 1"/>
          <p:cNvSpPr txBox="1">
            <a:spLocks/>
          </p:cNvSpPr>
          <p:nvPr/>
        </p:nvSpPr>
        <p:spPr>
          <a:xfrm>
            <a:off x="381000" y="838200"/>
            <a:ext cx="8382000" cy="68580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600" dirty="0">
                <a:solidFill>
                  <a:schemeClr val="tx1"/>
                </a:solidFill>
              </a:rPr>
              <a:t>The Monty Hall Problem and Bayes Rule</a:t>
            </a:r>
          </a:p>
          <a:p>
            <a:pPr algn="ctr" fontAlgn="auto">
              <a:spcAft>
                <a:spcPts val="0"/>
              </a:spcAft>
            </a:pPr>
            <a:endParaRPr lang="en-US" sz="500" dirty="0">
              <a:solidFill>
                <a:schemeClr val="tx1"/>
              </a:solidFill>
            </a:endParaRPr>
          </a:p>
          <a:p>
            <a:pPr algn="ctr" fontAlgn="auto">
              <a:spcAft>
                <a:spcPts val="0"/>
              </a:spcAft>
            </a:pPr>
            <a:r>
              <a:rPr lang="en-US" sz="1600" dirty="0">
                <a:solidFill>
                  <a:schemeClr val="tx1"/>
                </a:solidFill>
              </a:rPr>
              <a:t>Steve </a:t>
            </a:r>
            <a:r>
              <a:rPr lang="en-US" sz="1600" dirty="0" err="1">
                <a:solidFill>
                  <a:schemeClr val="tx1"/>
                </a:solidFill>
              </a:rPr>
              <a:t>Selvin</a:t>
            </a:r>
            <a:r>
              <a:rPr lang="en-US" sz="1600" dirty="0">
                <a:solidFill>
                  <a:schemeClr val="tx1"/>
                </a:solidFill>
              </a:rPr>
              <a:t>, 1975, "A problem in probability (letter to the editor)". </a:t>
            </a:r>
            <a:r>
              <a:rPr lang="en-US" sz="1600" i="1" dirty="0">
                <a:solidFill>
                  <a:schemeClr val="tx1"/>
                </a:solidFill>
              </a:rPr>
              <a:t>American Statistician</a:t>
            </a: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00400" y="1832501"/>
            <a:ext cx="2743200" cy="2244199"/>
          </a:xfrm>
          <a:prstGeom prst="rect">
            <a:avLst/>
          </a:prstGeom>
        </p:spPr>
      </p:pic>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57200" y="4648200"/>
            <a:ext cx="2878536" cy="1664476"/>
          </a:xfrm>
          <a:prstGeom prst="rect">
            <a:avLst/>
          </a:prstGeom>
        </p:spPr>
      </p:pic>
      <p:pic>
        <p:nvPicPr>
          <p:cNvPr id="16" name="Picture 1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334000" y="4724400"/>
            <a:ext cx="3352800" cy="1862376"/>
          </a:xfrm>
          <a:prstGeom prst="rect">
            <a:avLst/>
          </a:prstGeom>
        </p:spPr>
      </p:pic>
      <p:sp>
        <p:nvSpPr>
          <p:cNvPr id="19" name="Rectangle 18"/>
          <p:cNvSpPr/>
          <p:nvPr/>
        </p:nvSpPr>
        <p:spPr>
          <a:xfrm>
            <a:off x="152400" y="4246660"/>
            <a:ext cx="8984428" cy="307777"/>
          </a:xfrm>
          <a:prstGeom prst="rect">
            <a:avLst/>
          </a:prstGeom>
        </p:spPr>
        <p:txBody>
          <a:bodyPr wrap="square">
            <a:spAutoFit/>
          </a:bodyPr>
          <a:lstStyle/>
          <a:p>
            <a:r>
              <a:rPr lang="en-US" sz="1400" b="1" dirty="0"/>
              <a:t>Correct answer:</a:t>
            </a:r>
            <a:r>
              <a:rPr lang="en-US" sz="1400" dirty="0"/>
              <a:t> The advantage of switching door, depends on your knowledge about the host’s decision.</a:t>
            </a:r>
          </a:p>
        </p:txBody>
      </p:sp>
      <p:sp>
        <p:nvSpPr>
          <p:cNvPr id="11" name="Title 4 1">
            <a:extLst>
              <a:ext uri="{FF2B5EF4-FFF2-40B4-BE49-F238E27FC236}">
                <a16:creationId xmlns:a16="http://schemas.microsoft.com/office/drawing/2014/main" id="{3766C417-EBBE-471B-A59A-07B67885A35F}"/>
              </a:ext>
            </a:extLst>
          </p:cNvPr>
          <p:cNvSpPr>
            <a:spLocks noGrp="1"/>
          </p:cNvSpPr>
          <p:nvPr>
            <p:ph type="title"/>
          </p:nvPr>
        </p:nvSpPr>
        <p:spPr>
          <a:xfrm>
            <a:off x="152400" y="152400"/>
            <a:ext cx="8839200" cy="304800"/>
          </a:xfrm>
        </p:spPr>
        <p:txBody>
          <a:bodyPr>
            <a:noAutofit/>
          </a:bodyPr>
          <a:lstStyle/>
          <a:p>
            <a:r>
              <a:rPr lang="en-US" sz="1800" b="1" dirty="0">
                <a:solidFill>
                  <a:prstClr val="black"/>
                </a:solidFill>
              </a:rPr>
              <a:t>Digression: Bayes rule - The optimal method of inference</a:t>
            </a:r>
            <a:endParaRPr lang="en-US" sz="1700" dirty="0">
              <a:solidFill>
                <a:schemeClr val="tx1"/>
              </a:solidFill>
            </a:endParaRPr>
          </a:p>
        </p:txBody>
      </p:sp>
    </p:spTree>
    <p:extLst>
      <p:ext uri="{BB962C8B-B14F-4D97-AF65-F5344CB8AC3E}">
        <p14:creationId xmlns:p14="http://schemas.microsoft.com/office/powerpoint/2010/main" val="2893266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nodeType="clickEffect">
                                  <p:stCondLst>
                                    <p:cond delay="0"/>
                                  </p:stCondLst>
                                  <p:childTnLst>
                                    <p:animMotion origin="layout" path="M 0 2.96296E-6 L 0.30833 0.00254 " pathEditMode="relative" rAng="0" ptsTypes="AA">
                                      <p:cBhvr>
                                        <p:cTn id="14" dur="1250" fill="hold"/>
                                        <p:tgtEl>
                                          <p:spTgt spid="7"/>
                                        </p:tgtEl>
                                        <p:attrNameLst>
                                          <p:attrName>ppt_x</p:attrName>
                                          <p:attrName>ppt_y</p:attrName>
                                        </p:attrNameLst>
                                      </p:cBhvr>
                                      <p:rCtr x="15417" y="116"/>
                                    </p:animMotion>
                                  </p:childTnLst>
                                </p:cTn>
                              </p:par>
                              <p:par>
                                <p:cTn id="15" presetID="10" presetClass="entr" presetSubtype="0" fill="hold" nodeType="withEffect">
                                  <p:stCondLst>
                                    <p:cond delay="75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par>
                                <p:cTn id="18" presetID="10" presetClass="entr" presetSubtype="0" fill="hold" nodeType="withEffect">
                                  <p:stCondLst>
                                    <p:cond delay="75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500"/>
                                        <p:tgtEl>
                                          <p:spTgt spid="1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1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le 4 2 1 1 1"/>
          <p:cNvSpPr txBox="1">
            <a:spLocks/>
          </p:cNvSpPr>
          <p:nvPr/>
        </p:nvSpPr>
        <p:spPr>
          <a:xfrm>
            <a:off x="381000" y="838200"/>
            <a:ext cx="8382000" cy="68580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600" dirty="0">
                <a:solidFill>
                  <a:schemeClr val="tx1"/>
                </a:solidFill>
              </a:rPr>
              <a:t>The Monty Hall Problem and Bayes Rule</a:t>
            </a:r>
          </a:p>
          <a:p>
            <a:pPr algn="ctr" fontAlgn="auto">
              <a:spcAft>
                <a:spcPts val="0"/>
              </a:spcAft>
            </a:pPr>
            <a:endParaRPr lang="en-US" sz="500" dirty="0">
              <a:solidFill>
                <a:schemeClr val="tx1"/>
              </a:solidFill>
            </a:endParaRPr>
          </a:p>
          <a:p>
            <a:pPr algn="ctr" fontAlgn="auto">
              <a:spcAft>
                <a:spcPts val="0"/>
              </a:spcAft>
            </a:pPr>
            <a:r>
              <a:rPr lang="en-US" sz="1600" dirty="0">
                <a:solidFill>
                  <a:schemeClr val="tx1"/>
                </a:solidFill>
              </a:rPr>
              <a:t>Steve </a:t>
            </a:r>
            <a:r>
              <a:rPr lang="en-US" sz="1600" dirty="0" err="1">
                <a:solidFill>
                  <a:schemeClr val="tx1"/>
                </a:solidFill>
              </a:rPr>
              <a:t>Selvin</a:t>
            </a:r>
            <a:r>
              <a:rPr lang="en-US" sz="1600" dirty="0">
                <a:solidFill>
                  <a:schemeClr val="tx1"/>
                </a:solidFill>
              </a:rPr>
              <a:t>, 1975, "A problem in probability (letter to the editor)". </a:t>
            </a:r>
            <a:r>
              <a:rPr lang="en-US" sz="1600" i="1" dirty="0">
                <a:solidFill>
                  <a:schemeClr val="tx1"/>
                </a:solidFill>
              </a:rPr>
              <a:t>American Statistician</a:t>
            </a: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 y="4648200"/>
            <a:ext cx="2878536" cy="1664476"/>
          </a:xfrm>
          <a:prstGeom prst="rect">
            <a:avLst/>
          </a:prstGeom>
        </p:spPr>
      </p:pic>
      <p:sp>
        <p:nvSpPr>
          <p:cNvPr id="32" name="Title 4 2 1 1 1"/>
          <p:cNvSpPr txBox="1">
            <a:spLocks/>
          </p:cNvSpPr>
          <p:nvPr/>
        </p:nvSpPr>
        <p:spPr>
          <a:xfrm>
            <a:off x="152400" y="1832500"/>
            <a:ext cx="5645972" cy="2244199"/>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just" fontAlgn="auto">
              <a:spcAft>
                <a:spcPts val="0"/>
              </a:spcAft>
            </a:pPr>
            <a:r>
              <a:rPr lang="en-US" sz="1500" dirty="0">
                <a:solidFill>
                  <a:schemeClr val="tx1"/>
                </a:solidFill>
              </a:rPr>
              <a:t>Suppose you're on a game show, and you're given the choice of three doors: Behind one door is a car; behind the two others, goats. </a:t>
            </a:r>
            <a:r>
              <a:rPr lang="en-US" sz="1500" b="1" dirty="0">
                <a:solidFill>
                  <a:schemeClr val="tx1"/>
                </a:solidFill>
              </a:rPr>
              <a:t>You pick a door, say No. 1</a:t>
            </a:r>
            <a:r>
              <a:rPr lang="en-US" sz="1500" dirty="0">
                <a:solidFill>
                  <a:schemeClr val="tx1"/>
                </a:solidFill>
              </a:rPr>
              <a:t>, and </a:t>
            </a:r>
            <a:r>
              <a:rPr lang="en-US" sz="1500" b="1" dirty="0">
                <a:solidFill>
                  <a:schemeClr val="tx1"/>
                </a:solidFill>
              </a:rPr>
              <a:t>the host opens another door, say No. 3, which has a goat</a:t>
            </a:r>
            <a:r>
              <a:rPr lang="en-US" sz="1500" dirty="0">
                <a:solidFill>
                  <a:schemeClr val="tx1"/>
                </a:solidFill>
              </a:rPr>
              <a:t>. He then says to you, "Do you want to pick door No. 2?" </a:t>
            </a:r>
          </a:p>
          <a:p>
            <a:pPr algn="just" fontAlgn="auto">
              <a:spcAft>
                <a:spcPts val="0"/>
              </a:spcAft>
            </a:pPr>
            <a:endParaRPr lang="en-US" sz="1500" i="1" dirty="0">
              <a:solidFill>
                <a:schemeClr val="tx1"/>
              </a:solidFill>
            </a:endParaRPr>
          </a:p>
          <a:p>
            <a:pPr algn="just" fontAlgn="auto">
              <a:spcAft>
                <a:spcPts val="0"/>
              </a:spcAft>
            </a:pPr>
            <a:endParaRPr lang="en-US" sz="1500" i="1" dirty="0">
              <a:solidFill>
                <a:schemeClr val="tx1"/>
              </a:solidFill>
            </a:endParaRPr>
          </a:p>
          <a:p>
            <a:pPr algn="just" fontAlgn="auto">
              <a:spcAft>
                <a:spcPts val="0"/>
              </a:spcAft>
            </a:pPr>
            <a:r>
              <a:rPr lang="en-US" sz="1500" b="1" i="1" dirty="0">
                <a:solidFill>
                  <a:schemeClr val="tx1"/>
                </a:solidFill>
              </a:rPr>
              <a:t>Question:</a:t>
            </a:r>
          </a:p>
          <a:p>
            <a:pPr algn="just" fontAlgn="auto">
              <a:spcAft>
                <a:spcPts val="0"/>
              </a:spcAft>
            </a:pPr>
            <a:r>
              <a:rPr lang="en-US" sz="1500" b="1" dirty="0">
                <a:solidFill>
                  <a:schemeClr val="tx1"/>
                </a:solidFill>
              </a:rPr>
              <a:t>Is it to your advantage to switch your choice from door 1 to door 2?</a:t>
            </a: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34000" y="4724400"/>
            <a:ext cx="3352800" cy="1862376"/>
          </a:xfrm>
          <a:prstGeom prst="rect">
            <a:avLst/>
          </a:prstGeom>
        </p:spPr>
      </p:pic>
      <p:sp>
        <p:nvSpPr>
          <p:cNvPr id="19" name="Rectangle 18"/>
          <p:cNvSpPr/>
          <p:nvPr/>
        </p:nvSpPr>
        <p:spPr>
          <a:xfrm>
            <a:off x="152400" y="4246660"/>
            <a:ext cx="8984428" cy="307777"/>
          </a:xfrm>
          <a:prstGeom prst="rect">
            <a:avLst/>
          </a:prstGeom>
        </p:spPr>
        <p:txBody>
          <a:bodyPr wrap="square">
            <a:spAutoFit/>
          </a:bodyPr>
          <a:lstStyle/>
          <a:p>
            <a:r>
              <a:rPr lang="en-US" sz="1400" b="1" dirty="0"/>
              <a:t>Correct answer:</a:t>
            </a:r>
            <a:r>
              <a:rPr lang="en-US" sz="1400" dirty="0"/>
              <a:t> The advantage of switching door, depends on your knowledge about the host’s decision.</a:t>
            </a:r>
          </a:p>
        </p:txBody>
      </p:sp>
      <p:sp>
        <p:nvSpPr>
          <p:cNvPr id="11" name="Title 4 1">
            <a:extLst>
              <a:ext uri="{FF2B5EF4-FFF2-40B4-BE49-F238E27FC236}">
                <a16:creationId xmlns:a16="http://schemas.microsoft.com/office/drawing/2014/main" id="{3766C417-EBBE-471B-A59A-07B67885A35F}"/>
              </a:ext>
            </a:extLst>
          </p:cNvPr>
          <p:cNvSpPr>
            <a:spLocks noGrp="1"/>
          </p:cNvSpPr>
          <p:nvPr>
            <p:ph type="title"/>
          </p:nvPr>
        </p:nvSpPr>
        <p:spPr>
          <a:xfrm>
            <a:off x="152400" y="152400"/>
            <a:ext cx="8839200" cy="304800"/>
          </a:xfrm>
        </p:spPr>
        <p:txBody>
          <a:bodyPr>
            <a:noAutofit/>
          </a:bodyPr>
          <a:lstStyle/>
          <a:p>
            <a:r>
              <a:rPr lang="en-US" sz="1800" b="1" dirty="0">
                <a:solidFill>
                  <a:prstClr val="black"/>
                </a:solidFill>
              </a:rPr>
              <a:t>Digression: Bayes rule - The optimal method of inference</a:t>
            </a:r>
            <a:endParaRPr lang="en-US" sz="1700" dirty="0">
              <a:solidFill>
                <a:schemeClr val="tx1"/>
              </a:solidFill>
            </a:endParaRPr>
          </a:p>
        </p:txBody>
      </p:sp>
    </p:spTree>
    <p:extLst>
      <p:ext uri="{BB962C8B-B14F-4D97-AF65-F5344CB8AC3E}">
        <p14:creationId xmlns:p14="http://schemas.microsoft.com/office/powerpoint/2010/main" val="482751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par>
                                <p:cTn id="8" presetID="10" presetClass="entr" presetSubtype="0" fill="hold" nodeType="withEffect">
                                  <p:stCondLst>
                                    <p:cond delay="750"/>
                                  </p:stCondLst>
                                  <p:childTnLst>
                                    <p:set>
                                      <p:cBhvr>
                                        <p:cTn id="9" dur="1" fill="hold">
                                          <p:stCondLst>
                                            <p:cond delay="0"/>
                                          </p:stCondLst>
                                        </p:cTn>
                                        <p:tgtEl>
                                          <p:spTgt spid="32">
                                            <p:txEl>
                                              <p:pRg st="0" end="0"/>
                                            </p:txEl>
                                          </p:spTgt>
                                        </p:tgtEl>
                                        <p:attrNameLst>
                                          <p:attrName>style.visibility</p:attrName>
                                        </p:attrNameLst>
                                      </p:cBhvr>
                                      <p:to>
                                        <p:strVal val="visible"/>
                                      </p:to>
                                    </p:set>
                                    <p:animEffect transition="in" filter="fade">
                                      <p:cBhvr>
                                        <p:cTn id="10" dur="500"/>
                                        <p:tgtEl>
                                          <p:spTgt spid="32">
                                            <p:txEl>
                                              <p:pRg st="0" end="0"/>
                                            </p:txEl>
                                          </p:spTgt>
                                        </p:tgtEl>
                                      </p:cBhvr>
                                    </p:animEffect>
                                  </p:childTnLst>
                                </p:cTn>
                              </p:par>
                              <p:par>
                                <p:cTn id="11" presetID="10" presetClass="entr" presetSubtype="0" fill="hold" grpId="0" nodeType="withEffect">
                                  <p:stCondLst>
                                    <p:cond delay="75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par>
                                <p:cTn id="14" presetID="10" presetClass="entr" presetSubtype="0" fill="hold" nodeType="withEffect">
                                  <p:stCondLst>
                                    <p:cond delay="75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childTnLst>
                                </p:cTn>
                              </p:par>
                              <p:par>
                                <p:cTn id="17" presetID="10" presetClass="entr" presetSubtype="0" fill="hold" nodeType="withEffect">
                                  <p:stCondLst>
                                    <p:cond delay="75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500"/>
                                        <p:tgtEl>
                                          <p:spTgt spid="16"/>
                                        </p:tgtEl>
                                      </p:cBhvr>
                                    </p:animEffect>
                                  </p:childTnLst>
                                </p:cTn>
                              </p:par>
                              <p:par>
                                <p:cTn id="20" presetID="10" presetClass="entr" presetSubtype="0" fill="hold" nodeType="withEffect">
                                  <p:stCondLst>
                                    <p:cond delay="750"/>
                                  </p:stCondLst>
                                  <p:childTnLst>
                                    <p:set>
                                      <p:cBhvr>
                                        <p:cTn id="21" dur="1" fill="hold">
                                          <p:stCondLst>
                                            <p:cond delay="0"/>
                                          </p:stCondLst>
                                        </p:cTn>
                                        <p:tgtEl>
                                          <p:spTgt spid="32">
                                            <p:txEl>
                                              <p:pRg st="3" end="3"/>
                                            </p:txEl>
                                          </p:spTgt>
                                        </p:tgtEl>
                                        <p:attrNameLst>
                                          <p:attrName>style.visibility</p:attrName>
                                        </p:attrNameLst>
                                      </p:cBhvr>
                                      <p:to>
                                        <p:strVal val="visible"/>
                                      </p:to>
                                    </p:set>
                                    <p:animEffect transition="in" filter="fade">
                                      <p:cBhvr>
                                        <p:cTn id="22" dur="500"/>
                                        <p:tgtEl>
                                          <p:spTgt spid="32">
                                            <p:txEl>
                                              <p:pRg st="3" end="3"/>
                                            </p:txEl>
                                          </p:spTgt>
                                        </p:tgtEl>
                                      </p:cBhvr>
                                    </p:animEffect>
                                  </p:childTnLst>
                                </p:cTn>
                              </p:par>
                              <p:par>
                                <p:cTn id="23" presetID="10" presetClass="entr" presetSubtype="0" fill="hold" nodeType="withEffect">
                                  <p:stCondLst>
                                    <p:cond delay="750"/>
                                  </p:stCondLst>
                                  <p:childTnLst>
                                    <p:set>
                                      <p:cBhvr>
                                        <p:cTn id="24" dur="1" fill="hold">
                                          <p:stCondLst>
                                            <p:cond delay="0"/>
                                          </p:stCondLst>
                                        </p:cTn>
                                        <p:tgtEl>
                                          <p:spTgt spid="32">
                                            <p:txEl>
                                              <p:pRg st="4" end="4"/>
                                            </p:txEl>
                                          </p:spTgt>
                                        </p:tgtEl>
                                        <p:attrNameLst>
                                          <p:attrName>style.visibility</p:attrName>
                                        </p:attrNameLst>
                                      </p:cBhvr>
                                      <p:to>
                                        <p:strVal val="visible"/>
                                      </p:to>
                                    </p:set>
                                    <p:animEffect transition="in" filter="fade">
                                      <p:cBhvr>
                                        <p:cTn id="25" dur="500"/>
                                        <p:tgtEl>
                                          <p:spTgt spid="32">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32" grpId="0"/>
      <p:bldP spid="19"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custDataLst>
              <p:tags r:id="rId1"/>
            </p:custDataLst>
          </p:nvPr>
        </p:nvPicPr>
        <p:blipFill>
          <a:blip r:embed="rId4" cstate="print">
            <a:extLst>
              <a:ext uri="{28A0092B-C50C-407E-A947-70E740481C1C}">
                <a14:useLocalDpi xmlns:a14="http://schemas.microsoft.com/office/drawing/2010/main" val="0"/>
              </a:ext>
            </a:extLst>
          </a:blip>
          <a:stretch>
            <a:fillRect/>
          </a:stretch>
        </p:blipFill>
        <p:spPr>
          <a:xfrm>
            <a:off x="2209800" y="2667000"/>
            <a:ext cx="4334262" cy="597407"/>
          </a:xfrm>
          <a:prstGeom prst="rect">
            <a:avLst/>
          </a:prstGeom>
        </p:spPr>
      </p:pic>
      <p:pic>
        <p:nvPicPr>
          <p:cNvPr id="17" name="Picture 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7200" y="4648200"/>
            <a:ext cx="2878536" cy="1664476"/>
          </a:xfrm>
          <a:prstGeom prst="rect">
            <a:avLst/>
          </a:prstGeom>
        </p:spPr>
      </p:pic>
      <p:pic>
        <p:nvPicPr>
          <p:cNvPr id="18" name="Picture 1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334000" y="4724400"/>
            <a:ext cx="3352800" cy="1862376"/>
          </a:xfrm>
          <a:prstGeom prst="rect">
            <a:avLst/>
          </a:prstGeom>
        </p:spPr>
      </p:pic>
      <p:sp>
        <p:nvSpPr>
          <p:cNvPr id="20" name="Rectangle 19"/>
          <p:cNvSpPr/>
          <p:nvPr/>
        </p:nvSpPr>
        <p:spPr>
          <a:xfrm>
            <a:off x="152400" y="850500"/>
            <a:ext cx="8984428" cy="738664"/>
          </a:xfrm>
          <a:prstGeom prst="rect">
            <a:avLst/>
          </a:prstGeom>
        </p:spPr>
        <p:txBody>
          <a:bodyPr wrap="square">
            <a:spAutoFit/>
          </a:bodyPr>
          <a:lstStyle/>
          <a:p>
            <a:r>
              <a:rPr lang="en-US" sz="1400" b="1" dirty="0"/>
              <a:t>Case 1:   Informed Host: Knows where the car is and will not open the door that leads to car.</a:t>
            </a:r>
          </a:p>
          <a:p>
            <a:endParaRPr lang="en-US" sz="1400" b="1" dirty="0"/>
          </a:p>
          <a:p>
            <a:r>
              <a:rPr lang="en-US" sz="1400" dirty="0"/>
              <a:t>You, the guest, choose door 1.</a:t>
            </a:r>
            <a:r>
              <a:rPr lang="en-US" sz="1400" b="1" dirty="0"/>
              <a:t> </a:t>
            </a:r>
            <a:r>
              <a:rPr lang="en-US" sz="1400" dirty="0"/>
              <a:t>The </a:t>
            </a:r>
            <a:r>
              <a:rPr lang="en-US" sz="1400" b="1" dirty="0"/>
              <a:t>Informed</a:t>
            </a:r>
            <a:r>
              <a:rPr lang="en-US" sz="1400" dirty="0"/>
              <a:t> host </a:t>
            </a:r>
            <a:r>
              <a:rPr lang="en-US" sz="1400" b="1" dirty="0"/>
              <a:t>consciously </a:t>
            </a:r>
            <a:r>
              <a:rPr lang="en-US" sz="1400" dirty="0"/>
              <a:t>opens door 3.</a:t>
            </a:r>
          </a:p>
        </p:txBody>
      </p:sp>
      <p:sp>
        <p:nvSpPr>
          <p:cNvPr id="9" name="Title 4 1">
            <a:extLst>
              <a:ext uri="{FF2B5EF4-FFF2-40B4-BE49-F238E27FC236}">
                <a16:creationId xmlns:a16="http://schemas.microsoft.com/office/drawing/2014/main" id="{722C1363-06F4-4284-B7DF-8D6B0A854AAE}"/>
              </a:ext>
            </a:extLst>
          </p:cNvPr>
          <p:cNvSpPr txBox="1">
            <a:spLocks/>
          </p:cNvSpPr>
          <p:nvPr/>
        </p:nvSpPr>
        <p:spPr>
          <a:xfrm>
            <a:off x="152400" y="152400"/>
            <a:ext cx="8839200" cy="30480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fontAlgn="auto">
              <a:spcAft>
                <a:spcPts val="0"/>
              </a:spcAft>
            </a:pPr>
            <a:r>
              <a:rPr lang="en-US" sz="1800" b="1" dirty="0">
                <a:solidFill>
                  <a:prstClr val="black"/>
                </a:solidFill>
              </a:rPr>
              <a:t>Digression: Bayes rule - The optimal method of inference</a:t>
            </a:r>
            <a:endParaRPr lang="en-US" sz="1700" dirty="0">
              <a:solidFill>
                <a:schemeClr val="tx1"/>
              </a:solidFill>
            </a:endParaRPr>
          </a:p>
        </p:txBody>
      </p:sp>
    </p:spTree>
    <p:extLst>
      <p:ext uri="{BB962C8B-B14F-4D97-AF65-F5344CB8AC3E}">
        <p14:creationId xmlns:p14="http://schemas.microsoft.com/office/powerpoint/2010/main" val="35970139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custDataLst>
              <p:tags r:id="rId1"/>
            </p:custDataLst>
          </p:nvPr>
        </p:nvPicPr>
        <p:blipFill>
          <a:blip r:embed="rId7" cstate="print">
            <a:extLst>
              <a:ext uri="{28A0092B-C50C-407E-A947-70E740481C1C}">
                <a14:useLocalDpi xmlns:a14="http://schemas.microsoft.com/office/drawing/2010/main" val="0"/>
              </a:ext>
            </a:extLst>
          </a:blip>
          <a:stretch>
            <a:fillRect/>
          </a:stretch>
        </p:blipFill>
        <p:spPr>
          <a:xfrm>
            <a:off x="1573901" y="3952250"/>
            <a:ext cx="5996198" cy="597332"/>
          </a:xfrm>
          <a:prstGeom prst="rect">
            <a:avLst/>
          </a:prstGeom>
        </p:spPr>
      </p:pic>
      <p:pic>
        <p:nvPicPr>
          <p:cNvPr id="17" name="Picture 16"/>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57200" y="4648200"/>
            <a:ext cx="2878536" cy="1664476"/>
          </a:xfrm>
          <a:prstGeom prst="rect">
            <a:avLst/>
          </a:prstGeom>
        </p:spPr>
      </p:pic>
      <p:pic>
        <p:nvPicPr>
          <p:cNvPr id="18" name="Picture 17"/>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5334000" y="4724400"/>
            <a:ext cx="3352800" cy="1862376"/>
          </a:xfrm>
          <a:prstGeom prst="rect">
            <a:avLst/>
          </a:prstGeom>
        </p:spPr>
      </p:pic>
      <p:sp>
        <p:nvSpPr>
          <p:cNvPr id="20" name="Rectangle 19"/>
          <p:cNvSpPr/>
          <p:nvPr/>
        </p:nvSpPr>
        <p:spPr>
          <a:xfrm>
            <a:off x="152400" y="850500"/>
            <a:ext cx="8984428" cy="738664"/>
          </a:xfrm>
          <a:prstGeom prst="rect">
            <a:avLst/>
          </a:prstGeom>
        </p:spPr>
        <p:txBody>
          <a:bodyPr wrap="square">
            <a:spAutoFit/>
          </a:bodyPr>
          <a:lstStyle/>
          <a:p>
            <a:r>
              <a:rPr lang="en-US" sz="1400" b="1" dirty="0"/>
              <a:t>Case 1:   Informed Host: Knows where the car is and will not open the door that leads to car.</a:t>
            </a:r>
          </a:p>
          <a:p>
            <a:endParaRPr lang="en-US" sz="1400" b="1" dirty="0"/>
          </a:p>
          <a:p>
            <a:r>
              <a:rPr lang="en-US" sz="1400" dirty="0"/>
              <a:t>You, the guest, choose door 1.</a:t>
            </a:r>
            <a:r>
              <a:rPr lang="en-US" sz="1400" b="1" dirty="0"/>
              <a:t> </a:t>
            </a:r>
            <a:r>
              <a:rPr lang="en-US" sz="1400" dirty="0"/>
              <a:t>The </a:t>
            </a:r>
            <a:r>
              <a:rPr lang="en-US" sz="1400" b="1" dirty="0"/>
              <a:t>Informed</a:t>
            </a:r>
            <a:r>
              <a:rPr lang="en-US" sz="1400" dirty="0"/>
              <a:t> host </a:t>
            </a:r>
            <a:r>
              <a:rPr lang="en-US" sz="1400" b="1" dirty="0"/>
              <a:t>consciously </a:t>
            </a:r>
            <a:r>
              <a:rPr lang="en-US" sz="1400" dirty="0"/>
              <a:t>opens door 3.</a:t>
            </a:r>
          </a:p>
        </p:txBody>
      </p:sp>
      <p:sp>
        <p:nvSpPr>
          <p:cNvPr id="21" name="Rectangle 20"/>
          <p:cNvSpPr/>
          <p:nvPr/>
        </p:nvSpPr>
        <p:spPr>
          <a:xfrm>
            <a:off x="159572" y="1680820"/>
            <a:ext cx="8832028" cy="2379626"/>
          </a:xfrm>
          <a:prstGeom prst="rect">
            <a:avLst/>
          </a:prstGeom>
        </p:spPr>
        <p:txBody>
          <a:bodyPr wrap="square">
            <a:spAutoFit/>
          </a:bodyPr>
          <a:lstStyle/>
          <a:p>
            <a:r>
              <a:rPr lang="en-US" sz="1400" b="1" dirty="0"/>
              <a:t>Prior knowledge about the car being behind door 2 ( C2 ):</a:t>
            </a:r>
            <a:endParaRPr lang="en-US" sz="1400" dirty="0"/>
          </a:p>
          <a:p>
            <a:endParaRPr lang="en-US" sz="1400" dirty="0"/>
          </a:p>
          <a:p>
            <a:endParaRPr lang="en-US" sz="1400" b="1" dirty="0"/>
          </a:p>
          <a:p>
            <a:endParaRPr lang="en-US" sz="1400" b="1" dirty="0"/>
          </a:p>
          <a:p>
            <a:r>
              <a:rPr lang="en-US" sz="1400" b="1" dirty="0"/>
              <a:t>New knowledge:</a:t>
            </a:r>
            <a:r>
              <a:rPr lang="en-US" sz="1400" dirty="0"/>
              <a:t> The informed host chooses door 3 ( </a:t>
            </a:r>
            <a:r>
              <a:rPr lang="en-US" sz="1400" b="1" dirty="0"/>
              <a:t>H3</a:t>
            </a:r>
            <a:r>
              <a:rPr lang="en-US" sz="1400" dirty="0"/>
              <a:t> ) ( He knows that the car is behind door 2)</a:t>
            </a:r>
          </a:p>
          <a:p>
            <a:endParaRPr lang="en-US" sz="1400" dirty="0"/>
          </a:p>
          <a:p>
            <a:endParaRPr lang="en-US" sz="1400" dirty="0"/>
          </a:p>
          <a:p>
            <a:endParaRPr lang="en-US" sz="1400" dirty="0"/>
          </a:p>
          <a:p>
            <a:endParaRPr lang="en-US" sz="700" b="1" dirty="0"/>
          </a:p>
          <a:p>
            <a:r>
              <a:rPr lang="en-US" sz="1400" b="1" dirty="0"/>
              <a:t>Update your knowledge about door C2 using Bayes rule:</a:t>
            </a:r>
          </a:p>
          <a:p>
            <a:endParaRPr lang="en-US" sz="1400" dirty="0"/>
          </a:p>
        </p:txBody>
      </p:sp>
      <p:pic>
        <p:nvPicPr>
          <p:cNvPr id="48" name="Picture 47"/>
          <p:cNvPicPr>
            <a:picLocks noChangeAspect="1"/>
          </p:cNvPicPr>
          <p:nvPr>
            <p:custDataLst>
              <p:tags r:id="rId2"/>
            </p:custDataLst>
          </p:nvPr>
        </p:nvPicPr>
        <p:blipFill>
          <a:blip r:embed="rId10" cstate="print">
            <a:extLst>
              <a:ext uri="{28A0092B-C50C-407E-A947-70E740481C1C}">
                <a14:useLocalDpi xmlns:a14="http://schemas.microsoft.com/office/drawing/2010/main" val="0"/>
              </a:ext>
            </a:extLst>
          </a:blip>
          <a:stretch>
            <a:fillRect/>
          </a:stretch>
        </p:blipFill>
        <p:spPr>
          <a:xfrm>
            <a:off x="1391807" y="1985085"/>
            <a:ext cx="5583245" cy="515046"/>
          </a:xfrm>
          <a:prstGeom prst="rect">
            <a:avLst/>
          </a:prstGeom>
        </p:spPr>
      </p:pic>
      <p:pic>
        <p:nvPicPr>
          <p:cNvPr id="44" name="Picture 43"/>
          <p:cNvPicPr>
            <a:picLocks noChangeAspect="1"/>
          </p:cNvPicPr>
          <p:nvPr>
            <p:custDataLst>
              <p:tags r:id="rId3"/>
            </p:custDataLst>
          </p:nvPr>
        </p:nvPicPr>
        <p:blipFill>
          <a:blip r:embed="rId11" cstate="print">
            <a:extLst>
              <a:ext uri="{28A0092B-C50C-407E-A947-70E740481C1C}">
                <a14:useLocalDpi xmlns:a14="http://schemas.microsoft.com/office/drawing/2010/main" val="0"/>
              </a:ext>
            </a:extLst>
          </a:blip>
          <a:stretch>
            <a:fillRect/>
          </a:stretch>
        </p:blipFill>
        <p:spPr>
          <a:xfrm>
            <a:off x="1296878" y="3067881"/>
            <a:ext cx="2038858" cy="252952"/>
          </a:xfrm>
          <a:prstGeom prst="rect">
            <a:avLst/>
          </a:prstGeom>
        </p:spPr>
      </p:pic>
      <p:pic>
        <p:nvPicPr>
          <p:cNvPr id="45" name="Picture 44"/>
          <p:cNvPicPr>
            <a:picLocks noChangeAspect="1"/>
          </p:cNvPicPr>
          <p:nvPr>
            <p:custDataLst>
              <p:tags r:id="rId4"/>
            </p:custDataLst>
          </p:nvPr>
        </p:nvPicPr>
        <p:blipFill>
          <a:blip r:embed="rId12" cstate="print">
            <a:extLst>
              <a:ext uri="{28A0092B-C50C-407E-A947-70E740481C1C}">
                <a14:useLocalDpi xmlns:a14="http://schemas.microsoft.com/office/drawing/2010/main" val="0"/>
              </a:ext>
            </a:extLst>
          </a:blip>
          <a:stretch>
            <a:fillRect/>
          </a:stretch>
        </p:blipFill>
        <p:spPr>
          <a:xfrm>
            <a:off x="5334000" y="2938358"/>
            <a:ext cx="1651810" cy="511998"/>
          </a:xfrm>
          <a:prstGeom prst="rect">
            <a:avLst/>
          </a:prstGeom>
        </p:spPr>
      </p:pic>
      <p:sp>
        <p:nvSpPr>
          <p:cNvPr id="13" name="Title 4 1">
            <a:extLst>
              <a:ext uri="{FF2B5EF4-FFF2-40B4-BE49-F238E27FC236}">
                <a16:creationId xmlns:a16="http://schemas.microsoft.com/office/drawing/2014/main" id="{5998221F-0260-4589-A4C2-FE25D0C85D53}"/>
              </a:ext>
            </a:extLst>
          </p:cNvPr>
          <p:cNvSpPr>
            <a:spLocks noGrp="1"/>
          </p:cNvSpPr>
          <p:nvPr>
            <p:ph type="title"/>
          </p:nvPr>
        </p:nvSpPr>
        <p:spPr>
          <a:xfrm>
            <a:off x="152400" y="152400"/>
            <a:ext cx="8839200" cy="304800"/>
          </a:xfrm>
        </p:spPr>
        <p:txBody>
          <a:bodyPr>
            <a:noAutofit/>
          </a:bodyPr>
          <a:lstStyle/>
          <a:p>
            <a:r>
              <a:rPr lang="en-US" sz="1800" b="1" dirty="0">
                <a:solidFill>
                  <a:prstClr val="black"/>
                </a:solidFill>
              </a:rPr>
              <a:t>Digression: Bayes rule - The optimal method of inference</a:t>
            </a:r>
            <a:endParaRPr lang="en-US" sz="1700" dirty="0">
              <a:solidFill>
                <a:schemeClr val="tx1"/>
              </a:solidFill>
            </a:endParaRPr>
          </a:p>
        </p:txBody>
      </p:sp>
    </p:spTree>
    <p:extLst>
      <p:ext uri="{BB962C8B-B14F-4D97-AF65-F5344CB8AC3E}">
        <p14:creationId xmlns:p14="http://schemas.microsoft.com/office/powerpoint/2010/main" val="18979062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1">
                                            <p:txEl>
                                              <p:pRg st="0" end="0"/>
                                            </p:txEl>
                                          </p:spTgt>
                                        </p:tgtEl>
                                        <p:attrNameLst>
                                          <p:attrName>style.visibility</p:attrName>
                                        </p:attrNameLst>
                                      </p:cBhvr>
                                      <p:to>
                                        <p:strVal val="visible"/>
                                      </p:to>
                                    </p:set>
                                    <p:animEffect transition="in" filter="fade">
                                      <p:cBhvr>
                                        <p:cTn id="7" dur="500"/>
                                        <p:tgtEl>
                                          <p:spTgt spid="21">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fade">
                                      <p:cBhvr>
                                        <p:cTn id="10" dur="500"/>
                                        <p:tgtEl>
                                          <p:spTgt spid="48"/>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xEl>
                                              <p:pRg st="4" end="4"/>
                                            </p:txEl>
                                          </p:spTgt>
                                        </p:tgtEl>
                                        <p:attrNameLst>
                                          <p:attrName>style.visibility</p:attrName>
                                        </p:attrNameLst>
                                      </p:cBhvr>
                                      <p:to>
                                        <p:strVal val="visible"/>
                                      </p:to>
                                    </p:set>
                                    <p:animEffect transition="in" filter="fade">
                                      <p:cBhvr>
                                        <p:cTn id="13" dur="500"/>
                                        <p:tgtEl>
                                          <p:spTgt spid="21">
                                            <p:txEl>
                                              <p:pRg st="4" end="4"/>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500"/>
                                        <p:tgtEl>
                                          <p:spTgt spid="44"/>
                                        </p:tgtEl>
                                      </p:cBhvr>
                                    </p:animEffect>
                                  </p:childTnLst>
                                </p:cTn>
                              </p:par>
                              <p:par>
                                <p:cTn id="17" presetID="10" presetClass="entr" presetSubtype="0" fill="hold"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500"/>
                                        <p:tgtEl>
                                          <p:spTgt spid="45"/>
                                        </p:tgtEl>
                                      </p:cBhvr>
                                    </p:animEffect>
                                  </p:childTnLst>
                                </p:cTn>
                              </p:par>
                              <p:par>
                                <p:cTn id="20" presetID="10" presetClass="entr" presetSubtype="0" fill="hold" nodeType="withEffect">
                                  <p:stCondLst>
                                    <p:cond delay="0"/>
                                  </p:stCondLst>
                                  <p:childTnLst>
                                    <p:set>
                                      <p:cBhvr>
                                        <p:cTn id="21" dur="1" fill="hold">
                                          <p:stCondLst>
                                            <p:cond delay="0"/>
                                          </p:stCondLst>
                                        </p:cTn>
                                        <p:tgtEl>
                                          <p:spTgt spid="21">
                                            <p:txEl>
                                              <p:pRg st="9" end="9"/>
                                            </p:txEl>
                                          </p:spTgt>
                                        </p:tgtEl>
                                        <p:attrNameLst>
                                          <p:attrName>style.visibility</p:attrName>
                                        </p:attrNameLst>
                                      </p:cBhvr>
                                      <p:to>
                                        <p:strVal val="visible"/>
                                      </p:to>
                                    </p:set>
                                    <p:animEffect transition="in" filter="fade">
                                      <p:cBhvr>
                                        <p:cTn id="22" dur="500"/>
                                        <p:tgtEl>
                                          <p:spTgt spid="21">
                                            <p:txEl>
                                              <p:pRg st="9" end="9"/>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p:cNvPicPr>
            <a:picLocks noChangeAspect="1"/>
          </p:cNvPicPr>
          <p:nvPr>
            <p:custDataLst>
              <p:tags r:id="rId1"/>
            </p:custDataLst>
          </p:nvPr>
        </p:nvPicPr>
        <p:blipFill>
          <a:blip r:embed="rId9" cstate="print">
            <a:extLst>
              <a:ext uri="{28A0092B-C50C-407E-A947-70E740481C1C}">
                <a14:useLocalDpi xmlns:a14="http://schemas.microsoft.com/office/drawing/2010/main" val="0"/>
              </a:ext>
            </a:extLst>
          </a:blip>
          <a:stretch>
            <a:fillRect/>
          </a:stretch>
        </p:blipFill>
        <p:spPr>
          <a:xfrm>
            <a:off x="1573901" y="3952250"/>
            <a:ext cx="5996198" cy="597332"/>
          </a:xfrm>
          <a:prstGeom prst="rect">
            <a:avLst/>
          </a:prstGeom>
        </p:spPr>
      </p:pic>
      <p:pic>
        <p:nvPicPr>
          <p:cNvPr id="17" name="Picture 16"/>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457200" y="4648200"/>
            <a:ext cx="2878536" cy="1664476"/>
          </a:xfrm>
          <a:prstGeom prst="rect">
            <a:avLst/>
          </a:prstGeom>
        </p:spPr>
      </p:pic>
      <p:pic>
        <p:nvPicPr>
          <p:cNvPr id="18" name="Picture 17"/>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5334000" y="4724400"/>
            <a:ext cx="3352800" cy="1862376"/>
          </a:xfrm>
          <a:prstGeom prst="rect">
            <a:avLst/>
          </a:prstGeom>
        </p:spPr>
      </p:pic>
      <p:sp>
        <p:nvSpPr>
          <p:cNvPr id="20" name="Rectangle 19"/>
          <p:cNvSpPr/>
          <p:nvPr/>
        </p:nvSpPr>
        <p:spPr>
          <a:xfrm>
            <a:off x="152400" y="850500"/>
            <a:ext cx="8984428" cy="738664"/>
          </a:xfrm>
          <a:prstGeom prst="rect">
            <a:avLst/>
          </a:prstGeom>
        </p:spPr>
        <p:txBody>
          <a:bodyPr wrap="square">
            <a:spAutoFit/>
          </a:bodyPr>
          <a:lstStyle/>
          <a:p>
            <a:r>
              <a:rPr lang="en-US" sz="1400" b="1" dirty="0"/>
              <a:t>Case 1:   Informed Host: Knows where the car is and will not open the door that leads to car.</a:t>
            </a:r>
          </a:p>
          <a:p>
            <a:endParaRPr lang="en-US" sz="1400" b="1" dirty="0"/>
          </a:p>
          <a:p>
            <a:r>
              <a:rPr lang="en-US" sz="1400" dirty="0"/>
              <a:t>You, the guest, choose door 1.</a:t>
            </a:r>
            <a:r>
              <a:rPr lang="en-US" sz="1400" b="1" dirty="0"/>
              <a:t> </a:t>
            </a:r>
            <a:r>
              <a:rPr lang="en-US" sz="1400" dirty="0"/>
              <a:t>The </a:t>
            </a:r>
            <a:r>
              <a:rPr lang="en-US" sz="1400" b="1" dirty="0"/>
              <a:t>Informed</a:t>
            </a:r>
            <a:r>
              <a:rPr lang="en-US" sz="1400" dirty="0"/>
              <a:t> host </a:t>
            </a:r>
            <a:r>
              <a:rPr lang="en-US" sz="1400" b="1" dirty="0"/>
              <a:t>consciously </a:t>
            </a:r>
            <a:r>
              <a:rPr lang="en-US" sz="1400" dirty="0"/>
              <a:t>opens door 3 (knowing the car is behind #2).</a:t>
            </a:r>
          </a:p>
        </p:txBody>
      </p:sp>
      <p:sp>
        <p:nvSpPr>
          <p:cNvPr id="21" name="Rectangle 20"/>
          <p:cNvSpPr/>
          <p:nvPr/>
        </p:nvSpPr>
        <p:spPr>
          <a:xfrm>
            <a:off x="159572" y="1680820"/>
            <a:ext cx="8832028" cy="2379626"/>
          </a:xfrm>
          <a:prstGeom prst="rect">
            <a:avLst/>
          </a:prstGeom>
        </p:spPr>
        <p:txBody>
          <a:bodyPr wrap="square">
            <a:spAutoFit/>
          </a:bodyPr>
          <a:lstStyle/>
          <a:p>
            <a:r>
              <a:rPr lang="en-US" sz="1400" b="1" dirty="0"/>
              <a:t>Prior knowledge about the car being behind door 2 ( C2 ):</a:t>
            </a:r>
            <a:endParaRPr lang="en-US" sz="1400" dirty="0"/>
          </a:p>
          <a:p>
            <a:endParaRPr lang="en-US" sz="1400" dirty="0"/>
          </a:p>
          <a:p>
            <a:endParaRPr lang="en-US" sz="1400" b="1" dirty="0"/>
          </a:p>
          <a:p>
            <a:endParaRPr lang="en-US" sz="1400" b="1" dirty="0"/>
          </a:p>
          <a:p>
            <a:r>
              <a:rPr lang="en-US" sz="1400" b="1" dirty="0"/>
              <a:t>New knowledge:</a:t>
            </a:r>
            <a:r>
              <a:rPr lang="en-US" sz="1400" dirty="0"/>
              <a:t> The informed host chooses door 3 ( </a:t>
            </a:r>
            <a:r>
              <a:rPr lang="en-US" sz="1400" b="1" dirty="0"/>
              <a:t>H3</a:t>
            </a:r>
            <a:r>
              <a:rPr lang="en-US" sz="1400" dirty="0"/>
              <a:t> ) ( He knows that the car is behind door 2)</a:t>
            </a:r>
          </a:p>
          <a:p>
            <a:endParaRPr lang="en-US" sz="1400" dirty="0"/>
          </a:p>
          <a:p>
            <a:endParaRPr lang="en-US" sz="1400" dirty="0"/>
          </a:p>
          <a:p>
            <a:endParaRPr lang="en-US" sz="1400" dirty="0"/>
          </a:p>
          <a:p>
            <a:endParaRPr lang="en-US" sz="700" b="1" dirty="0"/>
          </a:p>
          <a:p>
            <a:r>
              <a:rPr lang="en-US" sz="1400" b="1" dirty="0"/>
              <a:t>Update your knowledge about door C2 using Bayes rule:</a:t>
            </a:r>
          </a:p>
          <a:p>
            <a:endParaRPr lang="en-US" sz="1400" dirty="0"/>
          </a:p>
        </p:txBody>
      </p:sp>
      <p:pic>
        <p:nvPicPr>
          <p:cNvPr id="48" name="Picture 47"/>
          <p:cNvPicPr>
            <a:picLocks noChangeAspect="1"/>
          </p:cNvPicPr>
          <p:nvPr>
            <p:custDataLst>
              <p:tags r:id="rId2"/>
            </p:custDataLst>
          </p:nvPr>
        </p:nvPicPr>
        <p:blipFill>
          <a:blip r:embed="rId12" cstate="print">
            <a:extLst>
              <a:ext uri="{28A0092B-C50C-407E-A947-70E740481C1C}">
                <a14:useLocalDpi xmlns:a14="http://schemas.microsoft.com/office/drawing/2010/main" val="0"/>
              </a:ext>
            </a:extLst>
          </a:blip>
          <a:stretch>
            <a:fillRect/>
          </a:stretch>
        </p:blipFill>
        <p:spPr>
          <a:xfrm>
            <a:off x="1391807" y="1985085"/>
            <a:ext cx="5583245" cy="515046"/>
          </a:xfrm>
          <a:prstGeom prst="rect">
            <a:avLst/>
          </a:prstGeom>
        </p:spPr>
      </p:pic>
      <p:pic>
        <p:nvPicPr>
          <p:cNvPr id="44" name="Picture 43"/>
          <p:cNvPicPr>
            <a:picLocks noChangeAspect="1"/>
          </p:cNvPicPr>
          <p:nvPr>
            <p:custDataLst>
              <p:tags r:id="rId3"/>
            </p:custDataLst>
          </p:nvPr>
        </p:nvPicPr>
        <p:blipFill>
          <a:blip r:embed="rId13" cstate="print">
            <a:extLst>
              <a:ext uri="{28A0092B-C50C-407E-A947-70E740481C1C}">
                <a14:useLocalDpi xmlns:a14="http://schemas.microsoft.com/office/drawing/2010/main" val="0"/>
              </a:ext>
            </a:extLst>
          </a:blip>
          <a:stretch>
            <a:fillRect/>
          </a:stretch>
        </p:blipFill>
        <p:spPr>
          <a:xfrm>
            <a:off x="1296878" y="3067881"/>
            <a:ext cx="2038858" cy="252952"/>
          </a:xfrm>
          <a:prstGeom prst="rect">
            <a:avLst/>
          </a:prstGeom>
        </p:spPr>
      </p:pic>
      <p:pic>
        <p:nvPicPr>
          <p:cNvPr id="45" name="Picture 44"/>
          <p:cNvPicPr>
            <a:picLocks noChangeAspect="1"/>
          </p:cNvPicPr>
          <p:nvPr>
            <p:custDataLst>
              <p:tags r:id="rId4"/>
            </p:custDataLst>
          </p:nvPr>
        </p:nvPicPr>
        <p:blipFill>
          <a:blip r:embed="rId14" cstate="print">
            <a:extLst>
              <a:ext uri="{28A0092B-C50C-407E-A947-70E740481C1C}">
                <a14:useLocalDpi xmlns:a14="http://schemas.microsoft.com/office/drawing/2010/main" val="0"/>
              </a:ext>
            </a:extLst>
          </a:blip>
          <a:stretch>
            <a:fillRect/>
          </a:stretch>
        </p:blipFill>
        <p:spPr>
          <a:xfrm>
            <a:off x="5334000" y="2938358"/>
            <a:ext cx="1651810" cy="511998"/>
          </a:xfrm>
          <a:prstGeom prst="rect">
            <a:avLst/>
          </a:prstGeom>
        </p:spPr>
      </p:pic>
      <p:grpSp>
        <p:nvGrpSpPr>
          <p:cNvPr id="11" name="Group 10"/>
          <p:cNvGrpSpPr/>
          <p:nvPr/>
        </p:nvGrpSpPr>
        <p:grpSpPr>
          <a:xfrm>
            <a:off x="685800" y="1566061"/>
            <a:ext cx="7814690" cy="3768590"/>
            <a:chOff x="645605" y="1905000"/>
            <a:chExt cx="7814690" cy="3768590"/>
          </a:xfrm>
        </p:grpSpPr>
        <p:grpSp>
          <p:nvGrpSpPr>
            <p:cNvPr id="12" name="Group 11"/>
            <p:cNvGrpSpPr/>
            <p:nvPr/>
          </p:nvGrpSpPr>
          <p:grpSpPr>
            <a:xfrm>
              <a:off x="645605" y="1905000"/>
              <a:ext cx="7814690" cy="3768590"/>
              <a:chOff x="645605" y="1905000"/>
              <a:chExt cx="7814690" cy="3768590"/>
            </a:xfrm>
          </p:grpSpPr>
          <p:sp>
            <p:nvSpPr>
              <p:cNvPr id="16" name="Rounded Rectangle 15"/>
              <p:cNvSpPr/>
              <p:nvPr/>
            </p:nvSpPr>
            <p:spPr>
              <a:xfrm>
                <a:off x="645605" y="1905000"/>
                <a:ext cx="7814690" cy="3768590"/>
              </a:xfrm>
              <a:prstGeom prst="roundRect">
                <a:avLst/>
              </a:prstGeom>
              <a:solidFill>
                <a:srgbClr val="FCE7E0">
                  <a:alpha val="93000"/>
                </a:srgbClr>
              </a:solidFill>
              <a:ln>
                <a:solidFill>
                  <a:schemeClr val="accent1">
                    <a:shade val="95000"/>
                    <a:satMod val="105000"/>
                    <a:alpha val="68000"/>
                  </a:schemeClr>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dirty="0">
                  <a:solidFill>
                    <a:schemeClr val="tx1"/>
                  </a:solidFill>
                </a:endParaRPr>
              </a:p>
            </p:txBody>
          </p:sp>
          <p:pic>
            <p:nvPicPr>
              <p:cNvPr id="19" name="Picture 18"/>
              <p:cNvPicPr>
                <a:picLocks noChangeAspect="1"/>
              </p:cNvPicPr>
              <p:nvPr>
                <p:custDataLst>
                  <p:tags r:id="rId5"/>
                </p:custDataLst>
              </p:nvPr>
            </p:nvPicPr>
            <p:blipFill>
              <a:blip r:embed="rId15" cstate="print">
                <a:extLst>
                  <a:ext uri="{28A0092B-C50C-407E-A947-70E740481C1C}">
                    <a14:useLocalDpi xmlns:a14="http://schemas.microsoft.com/office/drawing/2010/main" val="0"/>
                  </a:ext>
                </a:extLst>
              </a:blip>
              <a:stretch>
                <a:fillRect/>
              </a:stretch>
            </p:blipFill>
            <p:spPr>
              <a:xfrm>
                <a:off x="6246421" y="3593582"/>
                <a:ext cx="1831620" cy="515046"/>
              </a:xfrm>
              <a:prstGeom prst="rect">
                <a:avLst/>
              </a:prstGeom>
            </p:spPr>
          </p:pic>
          <p:pic>
            <p:nvPicPr>
              <p:cNvPr id="22" name="Picture 21"/>
              <p:cNvPicPr>
                <a:picLocks noChangeAspect="1"/>
              </p:cNvPicPr>
              <p:nvPr>
                <p:custDataLst>
                  <p:tags r:id="rId6"/>
                </p:custDataLst>
              </p:nvPr>
            </p:nvPicPr>
            <p:blipFill>
              <a:blip r:embed="rId16" cstate="print">
                <a:extLst>
                  <a:ext uri="{28A0092B-C50C-407E-A947-70E740481C1C}">
                    <a14:useLocalDpi xmlns:a14="http://schemas.microsoft.com/office/drawing/2010/main" val="0"/>
                  </a:ext>
                </a:extLst>
              </a:blip>
              <a:stretch>
                <a:fillRect/>
              </a:stretch>
            </p:blipFill>
            <p:spPr>
              <a:xfrm>
                <a:off x="1524000" y="3607416"/>
                <a:ext cx="1225144" cy="515046"/>
              </a:xfrm>
              <a:prstGeom prst="rect">
                <a:avLst/>
              </a:prstGeom>
            </p:spPr>
          </p:pic>
        </p:grpSp>
        <p:pic>
          <p:nvPicPr>
            <p:cNvPr id="13" name="Picture 12"/>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3132732" y="2957057"/>
              <a:ext cx="2878536" cy="1664476"/>
            </a:xfrm>
            <a:prstGeom prst="rect">
              <a:avLst/>
            </a:prstGeom>
          </p:spPr>
        </p:pic>
        <p:sp>
          <p:nvSpPr>
            <p:cNvPr id="14" name="Rounded Rectangle 13"/>
            <p:cNvSpPr/>
            <p:nvPr/>
          </p:nvSpPr>
          <p:spPr>
            <a:xfrm>
              <a:off x="4064955" y="2819401"/>
              <a:ext cx="1946313" cy="1941680"/>
            </a:xfrm>
            <a:prstGeom prst="roundRect">
              <a:avLst/>
            </a:prstGeom>
            <a:no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a:p>
              <a:pPr algn="ctr"/>
              <a:endParaRPr lang="en-US" dirty="0"/>
            </a:p>
          </p:txBody>
        </p:sp>
        <p:sp>
          <p:nvSpPr>
            <p:cNvPr id="15" name="Rounded Rectangle 14"/>
            <p:cNvSpPr/>
            <p:nvPr/>
          </p:nvSpPr>
          <p:spPr>
            <a:xfrm>
              <a:off x="3021971" y="2818455"/>
              <a:ext cx="940430" cy="1941680"/>
            </a:xfrm>
            <a:prstGeom prst="roundRect">
              <a:avLst/>
            </a:prstGeom>
            <a:no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a:p>
              <a:pPr algn="ctr"/>
              <a:endParaRPr lang="en-US" dirty="0"/>
            </a:p>
          </p:txBody>
        </p:sp>
      </p:grpSp>
      <p:grpSp>
        <p:nvGrpSpPr>
          <p:cNvPr id="23" name="Group 22"/>
          <p:cNvGrpSpPr/>
          <p:nvPr/>
        </p:nvGrpSpPr>
        <p:grpSpPr>
          <a:xfrm>
            <a:off x="5112917" y="2618118"/>
            <a:ext cx="838200" cy="1664476"/>
            <a:chOff x="5029200" y="2957057"/>
            <a:chExt cx="838200" cy="1664476"/>
          </a:xfrm>
        </p:grpSpPr>
        <p:cxnSp>
          <p:nvCxnSpPr>
            <p:cNvPr id="24" name="Straight Connector 23"/>
            <p:cNvCxnSpPr/>
            <p:nvPr/>
          </p:nvCxnSpPr>
          <p:spPr>
            <a:xfrm>
              <a:off x="5029200" y="2957057"/>
              <a:ext cx="838200" cy="1664476"/>
            </a:xfrm>
            <a:prstGeom prst="line">
              <a:avLst/>
            </a:prstGeom>
            <a:ln>
              <a:solidFill>
                <a:srgbClr val="FF0000"/>
              </a:solidFill>
            </a:ln>
          </p:spPr>
          <p:style>
            <a:lnRef idx="3">
              <a:schemeClr val="accent1"/>
            </a:lnRef>
            <a:fillRef idx="0">
              <a:schemeClr val="accent1"/>
            </a:fillRef>
            <a:effectRef idx="2">
              <a:schemeClr val="accent1"/>
            </a:effectRef>
            <a:fontRef idx="minor">
              <a:schemeClr val="tx1"/>
            </a:fontRef>
          </p:style>
        </p:cxnSp>
        <p:cxnSp>
          <p:nvCxnSpPr>
            <p:cNvPr id="25" name="Straight Connector 24"/>
            <p:cNvCxnSpPr/>
            <p:nvPr/>
          </p:nvCxnSpPr>
          <p:spPr>
            <a:xfrm flipH="1">
              <a:off x="5029201" y="2957057"/>
              <a:ext cx="833632" cy="1664476"/>
            </a:xfrm>
            <a:prstGeom prst="line">
              <a:avLst/>
            </a:prstGeom>
            <a:ln>
              <a:solidFill>
                <a:srgbClr val="FF0000"/>
              </a:solidFill>
            </a:ln>
          </p:spPr>
          <p:style>
            <a:lnRef idx="3">
              <a:schemeClr val="accent1"/>
            </a:lnRef>
            <a:fillRef idx="0">
              <a:schemeClr val="accent1"/>
            </a:fillRef>
            <a:effectRef idx="2">
              <a:schemeClr val="accent1"/>
            </a:effectRef>
            <a:fontRef idx="minor">
              <a:schemeClr val="tx1"/>
            </a:fontRef>
          </p:style>
        </p:cxnSp>
      </p:grpSp>
      <p:grpSp>
        <p:nvGrpSpPr>
          <p:cNvPr id="26" name="Group 25"/>
          <p:cNvGrpSpPr/>
          <p:nvPr/>
        </p:nvGrpSpPr>
        <p:grpSpPr>
          <a:xfrm>
            <a:off x="7159535" y="3273956"/>
            <a:ext cx="267372" cy="476420"/>
            <a:chOff x="5029200" y="2957057"/>
            <a:chExt cx="838200" cy="1664476"/>
          </a:xfrm>
        </p:grpSpPr>
        <p:cxnSp>
          <p:nvCxnSpPr>
            <p:cNvPr id="27" name="Straight Connector 26"/>
            <p:cNvCxnSpPr/>
            <p:nvPr/>
          </p:nvCxnSpPr>
          <p:spPr>
            <a:xfrm>
              <a:off x="5029200" y="2957057"/>
              <a:ext cx="838200" cy="1664476"/>
            </a:xfrm>
            <a:prstGeom prst="line">
              <a:avLst/>
            </a:prstGeom>
            <a:ln>
              <a:solidFill>
                <a:srgbClr val="FF0000"/>
              </a:solidFill>
            </a:ln>
          </p:spPr>
          <p:style>
            <a:lnRef idx="3">
              <a:schemeClr val="accent1"/>
            </a:lnRef>
            <a:fillRef idx="0">
              <a:schemeClr val="accent1"/>
            </a:fillRef>
            <a:effectRef idx="2">
              <a:schemeClr val="accent1"/>
            </a:effectRef>
            <a:fontRef idx="minor">
              <a:schemeClr val="tx1"/>
            </a:fontRef>
          </p:style>
        </p:cxnSp>
        <p:cxnSp>
          <p:nvCxnSpPr>
            <p:cNvPr id="28" name="Straight Connector 27"/>
            <p:cNvCxnSpPr/>
            <p:nvPr/>
          </p:nvCxnSpPr>
          <p:spPr>
            <a:xfrm flipH="1">
              <a:off x="5029201" y="2957057"/>
              <a:ext cx="833632" cy="1664476"/>
            </a:xfrm>
            <a:prstGeom prst="line">
              <a:avLst/>
            </a:prstGeom>
            <a:ln>
              <a:solidFill>
                <a:srgbClr val="FF0000"/>
              </a:solidFill>
            </a:ln>
          </p:spPr>
          <p:style>
            <a:lnRef idx="3">
              <a:schemeClr val="accent1"/>
            </a:lnRef>
            <a:fillRef idx="0">
              <a:schemeClr val="accent1"/>
            </a:fillRef>
            <a:effectRef idx="2">
              <a:schemeClr val="accent1"/>
            </a:effectRef>
            <a:fontRef idx="minor">
              <a:schemeClr val="tx1"/>
            </a:fontRef>
          </p:style>
        </p:cxnSp>
      </p:grpSp>
      <p:sp>
        <p:nvSpPr>
          <p:cNvPr id="29" name="Title 4 1">
            <a:extLst>
              <a:ext uri="{FF2B5EF4-FFF2-40B4-BE49-F238E27FC236}">
                <a16:creationId xmlns:a16="http://schemas.microsoft.com/office/drawing/2014/main" id="{E8F0842C-40B1-4987-9626-9EE669285BED}"/>
              </a:ext>
            </a:extLst>
          </p:cNvPr>
          <p:cNvSpPr>
            <a:spLocks noGrp="1"/>
          </p:cNvSpPr>
          <p:nvPr>
            <p:ph type="title"/>
          </p:nvPr>
        </p:nvSpPr>
        <p:spPr>
          <a:xfrm>
            <a:off x="152400" y="152400"/>
            <a:ext cx="8839200" cy="304800"/>
          </a:xfrm>
        </p:spPr>
        <p:txBody>
          <a:bodyPr>
            <a:noAutofit/>
          </a:bodyPr>
          <a:lstStyle/>
          <a:p>
            <a:r>
              <a:rPr lang="en-US" sz="1800" b="1" dirty="0">
                <a:solidFill>
                  <a:prstClr val="black"/>
                </a:solidFill>
              </a:rPr>
              <a:t>Digression: Bayes rule - The optimal method of inference</a:t>
            </a:r>
            <a:endParaRPr lang="en-US" sz="1700" dirty="0">
              <a:solidFill>
                <a:schemeClr val="tx1"/>
              </a:solidFill>
            </a:endParaRPr>
          </a:p>
        </p:txBody>
      </p:sp>
    </p:spTree>
    <p:extLst>
      <p:ext uri="{BB962C8B-B14F-4D97-AF65-F5344CB8AC3E}">
        <p14:creationId xmlns:p14="http://schemas.microsoft.com/office/powerpoint/2010/main" val="20525139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par>
                                <p:cTn id="13" presetID="10"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p:cNvPicPr>
            <a:picLocks noChangeAspect="1"/>
          </p:cNvPicPr>
          <p:nvPr>
            <p:custDataLst>
              <p:tags r:id="rId1"/>
            </p:custDataLst>
          </p:nvPr>
        </p:nvPicPr>
        <p:blipFill>
          <a:blip r:embed="rId7" cstate="print">
            <a:extLst>
              <a:ext uri="{28A0092B-C50C-407E-A947-70E740481C1C}">
                <a14:useLocalDpi xmlns:a14="http://schemas.microsoft.com/office/drawing/2010/main" val="0"/>
              </a:ext>
            </a:extLst>
          </a:blip>
          <a:stretch>
            <a:fillRect/>
          </a:stretch>
        </p:blipFill>
        <p:spPr>
          <a:xfrm>
            <a:off x="1493900" y="3968571"/>
            <a:ext cx="6156199" cy="597332"/>
          </a:xfrm>
          <a:prstGeom prst="rect">
            <a:avLst/>
          </a:prstGeom>
        </p:spPr>
      </p:pic>
      <p:pic>
        <p:nvPicPr>
          <p:cNvPr id="17" name="Picture 16"/>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57200" y="4648200"/>
            <a:ext cx="2878536" cy="1664476"/>
          </a:xfrm>
          <a:prstGeom prst="rect">
            <a:avLst/>
          </a:prstGeom>
        </p:spPr>
      </p:pic>
      <p:pic>
        <p:nvPicPr>
          <p:cNvPr id="18" name="Picture 17"/>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5334000" y="4724400"/>
            <a:ext cx="3352800" cy="1862376"/>
          </a:xfrm>
          <a:prstGeom prst="rect">
            <a:avLst/>
          </a:prstGeom>
        </p:spPr>
      </p:pic>
      <p:sp>
        <p:nvSpPr>
          <p:cNvPr id="20" name="Rectangle 19"/>
          <p:cNvSpPr/>
          <p:nvPr/>
        </p:nvSpPr>
        <p:spPr>
          <a:xfrm>
            <a:off x="152400" y="850500"/>
            <a:ext cx="8984428" cy="738664"/>
          </a:xfrm>
          <a:prstGeom prst="rect">
            <a:avLst/>
          </a:prstGeom>
        </p:spPr>
        <p:txBody>
          <a:bodyPr wrap="square">
            <a:spAutoFit/>
          </a:bodyPr>
          <a:lstStyle/>
          <a:p>
            <a:r>
              <a:rPr lang="en-US" sz="1400" b="1" dirty="0"/>
              <a:t>Case 1:   Uninformed Host</a:t>
            </a:r>
          </a:p>
          <a:p>
            <a:endParaRPr lang="en-US" sz="1400" b="1" dirty="0"/>
          </a:p>
          <a:p>
            <a:r>
              <a:rPr lang="en-US" sz="1400" dirty="0"/>
              <a:t>You, the guest, choose door 1.</a:t>
            </a:r>
            <a:r>
              <a:rPr lang="en-US" sz="1400" b="1" dirty="0"/>
              <a:t> </a:t>
            </a:r>
            <a:r>
              <a:rPr lang="en-US" sz="1400" dirty="0"/>
              <a:t>The </a:t>
            </a:r>
            <a:r>
              <a:rPr lang="en-US" sz="1400" b="1" dirty="0"/>
              <a:t>Uninformed</a:t>
            </a:r>
            <a:r>
              <a:rPr lang="en-US" sz="1400" dirty="0"/>
              <a:t> host </a:t>
            </a:r>
            <a:r>
              <a:rPr lang="en-US" sz="1400" b="1" dirty="0"/>
              <a:t>randomly </a:t>
            </a:r>
            <a:r>
              <a:rPr lang="en-US" sz="1400" dirty="0"/>
              <a:t>opens door 3 (knowing nothing a priori).</a:t>
            </a:r>
          </a:p>
        </p:txBody>
      </p:sp>
      <p:sp>
        <p:nvSpPr>
          <p:cNvPr id="21" name="Rectangle 20"/>
          <p:cNvSpPr/>
          <p:nvPr/>
        </p:nvSpPr>
        <p:spPr>
          <a:xfrm>
            <a:off x="159572" y="1680820"/>
            <a:ext cx="8832028" cy="2354491"/>
          </a:xfrm>
          <a:prstGeom prst="rect">
            <a:avLst/>
          </a:prstGeom>
        </p:spPr>
        <p:txBody>
          <a:bodyPr wrap="square">
            <a:spAutoFit/>
          </a:bodyPr>
          <a:lstStyle/>
          <a:p>
            <a:r>
              <a:rPr lang="en-US" sz="1400" b="1" dirty="0"/>
              <a:t>Prior knowledge about the car being behind door 2:</a:t>
            </a:r>
            <a:endParaRPr lang="en-US" sz="1400" dirty="0"/>
          </a:p>
          <a:p>
            <a:endParaRPr lang="en-US" sz="1400" dirty="0"/>
          </a:p>
          <a:p>
            <a:endParaRPr lang="en-US" sz="1400" b="1" dirty="0"/>
          </a:p>
          <a:p>
            <a:endParaRPr lang="en-US" sz="1400" b="1" dirty="0"/>
          </a:p>
          <a:p>
            <a:r>
              <a:rPr lang="en-US" sz="1400" b="1" dirty="0"/>
              <a:t>New knowledge:</a:t>
            </a:r>
            <a:r>
              <a:rPr lang="en-US" sz="1400" dirty="0"/>
              <a:t> The </a:t>
            </a:r>
            <a:r>
              <a:rPr lang="en-US" sz="1400" b="1" dirty="0"/>
              <a:t>Un</a:t>
            </a:r>
            <a:r>
              <a:rPr lang="en-US" sz="1400" dirty="0"/>
              <a:t>informed host chooses door 3 ( </a:t>
            </a:r>
            <a:r>
              <a:rPr lang="en-US" sz="1400" b="1" dirty="0"/>
              <a:t>H3</a:t>
            </a:r>
            <a:r>
              <a:rPr lang="en-US" sz="1400" dirty="0"/>
              <a:t> ) ( He does </a:t>
            </a:r>
            <a:r>
              <a:rPr lang="en-US" sz="1400" b="1" dirty="0"/>
              <a:t>not</a:t>
            </a:r>
            <a:r>
              <a:rPr lang="en-US" sz="1400" dirty="0"/>
              <a:t> know where the car is)</a:t>
            </a:r>
          </a:p>
          <a:p>
            <a:endParaRPr lang="en-US" sz="1400" dirty="0"/>
          </a:p>
          <a:p>
            <a:endParaRPr lang="en-US" sz="1400" dirty="0"/>
          </a:p>
          <a:p>
            <a:endParaRPr lang="en-US" sz="1400" dirty="0"/>
          </a:p>
          <a:p>
            <a:endParaRPr lang="en-US" sz="700" dirty="0"/>
          </a:p>
          <a:p>
            <a:r>
              <a:rPr lang="en-US" sz="1400" b="1" dirty="0"/>
              <a:t>Update your knowledge about door C2 using Bayes rule:</a:t>
            </a:r>
          </a:p>
          <a:p>
            <a:endParaRPr lang="en-US" sz="1400" dirty="0"/>
          </a:p>
        </p:txBody>
      </p:sp>
      <p:pic>
        <p:nvPicPr>
          <p:cNvPr id="6" name="Picture 5"/>
          <p:cNvPicPr>
            <a:picLocks noChangeAspect="1"/>
          </p:cNvPicPr>
          <p:nvPr>
            <p:custDataLst>
              <p:tags r:id="rId2"/>
            </p:custDataLst>
          </p:nvPr>
        </p:nvPicPr>
        <p:blipFill>
          <a:blip r:embed="rId10" cstate="print">
            <a:extLst>
              <a:ext uri="{28A0092B-C50C-407E-A947-70E740481C1C}">
                <a14:useLocalDpi xmlns:a14="http://schemas.microsoft.com/office/drawing/2010/main" val="0"/>
              </a:ext>
            </a:extLst>
          </a:blip>
          <a:stretch>
            <a:fillRect/>
          </a:stretch>
        </p:blipFill>
        <p:spPr>
          <a:xfrm>
            <a:off x="1391807" y="2938358"/>
            <a:ext cx="2090667" cy="511999"/>
          </a:xfrm>
          <a:prstGeom prst="rect">
            <a:avLst/>
          </a:prstGeom>
        </p:spPr>
      </p:pic>
      <p:pic>
        <p:nvPicPr>
          <p:cNvPr id="23" name="Picture 22"/>
          <p:cNvPicPr>
            <a:picLocks noChangeAspect="1"/>
          </p:cNvPicPr>
          <p:nvPr>
            <p:custDataLst>
              <p:tags r:id="rId3"/>
            </p:custDataLst>
          </p:nvPr>
        </p:nvPicPr>
        <p:blipFill>
          <a:blip r:embed="rId11" cstate="print">
            <a:extLst>
              <a:ext uri="{28A0092B-C50C-407E-A947-70E740481C1C}">
                <a14:useLocalDpi xmlns:a14="http://schemas.microsoft.com/office/drawing/2010/main" val="0"/>
              </a:ext>
            </a:extLst>
          </a:blip>
          <a:stretch>
            <a:fillRect/>
          </a:stretch>
        </p:blipFill>
        <p:spPr>
          <a:xfrm>
            <a:off x="1391807" y="1985085"/>
            <a:ext cx="5583245" cy="515046"/>
          </a:xfrm>
          <a:prstGeom prst="rect">
            <a:avLst/>
          </a:prstGeom>
        </p:spPr>
      </p:pic>
      <p:pic>
        <p:nvPicPr>
          <p:cNvPr id="24" name="Picture 23"/>
          <p:cNvPicPr>
            <a:picLocks noChangeAspect="1"/>
          </p:cNvPicPr>
          <p:nvPr>
            <p:custDataLst>
              <p:tags r:id="rId4"/>
            </p:custDataLst>
          </p:nvPr>
        </p:nvPicPr>
        <p:blipFill>
          <a:blip r:embed="rId12" cstate="print">
            <a:extLst>
              <a:ext uri="{28A0092B-C50C-407E-A947-70E740481C1C}">
                <a14:useLocalDpi xmlns:a14="http://schemas.microsoft.com/office/drawing/2010/main" val="0"/>
              </a:ext>
            </a:extLst>
          </a:blip>
          <a:stretch>
            <a:fillRect/>
          </a:stretch>
        </p:blipFill>
        <p:spPr>
          <a:xfrm>
            <a:off x="5334000" y="2938358"/>
            <a:ext cx="1651810" cy="511998"/>
          </a:xfrm>
          <a:prstGeom prst="rect">
            <a:avLst/>
          </a:prstGeom>
        </p:spPr>
      </p:pic>
      <p:sp>
        <p:nvSpPr>
          <p:cNvPr id="14" name="Title 4 1">
            <a:extLst>
              <a:ext uri="{FF2B5EF4-FFF2-40B4-BE49-F238E27FC236}">
                <a16:creationId xmlns:a16="http://schemas.microsoft.com/office/drawing/2014/main" id="{9B3BEB18-B019-46BC-B4E9-DC6FB2991D9A}"/>
              </a:ext>
            </a:extLst>
          </p:cNvPr>
          <p:cNvSpPr txBox="1">
            <a:spLocks/>
          </p:cNvSpPr>
          <p:nvPr/>
        </p:nvSpPr>
        <p:spPr>
          <a:xfrm>
            <a:off x="152400" y="152400"/>
            <a:ext cx="8839200" cy="30480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fontAlgn="auto">
              <a:spcAft>
                <a:spcPts val="0"/>
              </a:spcAft>
            </a:pPr>
            <a:r>
              <a:rPr lang="en-US" sz="1800" b="1" dirty="0">
                <a:solidFill>
                  <a:prstClr val="black"/>
                </a:solidFill>
              </a:rPr>
              <a:t>Digression: Bayes rule - The optimal method of inference</a:t>
            </a:r>
            <a:endParaRPr lang="en-US" sz="1700" dirty="0">
              <a:solidFill>
                <a:schemeClr val="tx1"/>
              </a:solidFill>
            </a:endParaRPr>
          </a:p>
        </p:txBody>
      </p:sp>
    </p:spTree>
    <p:extLst>
      <p:ext uri="{BB962C8B-B14F-4D97-AF65-F5344CB8AC3E}">
        <p14:creationId xmlns:p14="http://schemas.microsoft.com/office/powerpoint/2010/main" val="32283791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xEl>
                                              <p:pRg st="0" end="0"/>
                                            </p:txEl>
                                          </p:spTgt>
                                        </p:tgtEl>
                                        <p:attrNameLst>
                                          <p:attrName>style.visibility</p:attrName>
                                        </p:attrNameLst>
                                      </p:cBhvr>
                                      <p:to>
                                        <p:strVal val="visible"/>
                                      </p:to>
                                    </p:set>
                                    <p:animEffect transition="in" filter="fade">
                                      <p:cBhvr>
                                        <p:cTn id="10" dur="500"/>
                                        <p:tgtEl>
                                          <p:spTgt spid="21">
                                            <p:txEl>
                                              <p:pRg st="0" end="0"/>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1">
                                            <p:txEl>
                                              <p:pRg st="4" end="4"/>
                                            </p:txEl>
                                          </p:spTgt>
                                        </p:tgtEl>
                                        <p:attrNameLst>
                                          <p:attrName>style.visibility</p:attrName>
                                        </p:attrNameLst>
                                      </p:cBhvr>
                                      <p:to>
                                        <p:strVal val="visible"/>
                                      </p:to>
                                    </p:set>
                                    <p:animEffect transition="in" filter="fade">
                                      <p:cBhvr>
                                        <p:cTn id="16" dur="500"/>
                                        <p:tgtEl>
                                          <p:spTgt spid="21">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1">
                                            <p:txEl>
                                              <p:pRg st="9" end="9"/>
                                            </p:txEl>
                                          </p:spTgt>
                                        </p:tgtEl>
                                        <p:attrNameLst>
                                          <p:attrName>style.visibility</p:attrName>
                                        </p:attrNameLst>
                                      </p:cBhvr>
                                      <p:to>
                                        <p:strVal val="visible"/>
                                      </p:to>
                                    </p:set>
                                    <p:animEffect transition="in" filter="fade">
                                      <p:cBhvr>
                                        <p:cTn id="25" dur="500"/>
                                        <p:tgtEl>
                                          <p:spTgt spid="21">
                                            <p:txEl>
                                              <p:pRg st="9" end="9"/>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3000" y="990600"/>
            <a:ext cx="6858000" cy="5597390"/>
          </a:xfrm>
          <a:prstGeom prst="rect">
            <a:avLst/>
          </a:prstGeom>
        </p:spPr>
      </p:pic>
      <p:pic>
        <p:nvPicPr>
          <p:cNvPr id="7" name="Picture 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29200" y="987802"/>
            <a:ext cx="3432429" cy="2801493"/>
          </a:xfrm>
          <a:prstGeom prst="rect">
            <a:avLst/>
          </a:prstGeom>
        </p:spPr>
      </p:pic>
      <p:grpSp>
        <p:nvGrpSpPr>
          <p:cNvPr id="9" name="Group 8"/>
          <p:cNvGrpSpPr/>
          <p:nvPr/>
        </p:nvGrpSpPr>
        <p:grpSpPr>
          <a:xfrm>
            <a:off x="7010399" y="2388548"/>
            <a:ext cx="700514" cy="1841851"/>
            <a:chOff x="7010399" y="2388548"/>
            <a:chExt cx="700514" cy="1841851"/>
          </a:xfrm>
        </p:grpSpPr>
        <mc:AlternateContent xmlns:mc="http://schemas.openxmlformats.org/markup-compatibility/2006" xmlns:a14="http://schemas.microsoft.com/office/drawing/2010/main">
          <mc:Choice Requires="a14">
            <p:sp>
              <p:nvSpPr>
                <p:cNvPr id="8" name="TextBox 7"/>
                <p:cNvSpPr txBox="1"/>
                <p:nvPr/>
              </p:nvSpPr>
              <p:spPr>
                <a:xfrm>
                  <a:off x="7010399" y="2388548"/>
                  <a:ext cx="700513" cy="3015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500" b="0" i="1" smtClean="0">
                            <a:latin typeface="Cambria Math" panose="02040503050406030204" pitchFamily="18" charset="0"/>
                          </a:rPr>
                          <m:t>𝑝</m:t>
                        </m:r>
                        <m:r>
                          <a:rPr lang="en-US" sz="1500" b="0" i="1" smtClean="0">
                            <a:latin typeface="Cambria Math" panose="02040503050406030204" pitchFamily="18" charset="0"/>
                          </a:rPr>
                          <m:t>=</m:t>
                        </m:r>
                        <m:f>
                          <m:fPr>
                            <m:type m:val="skw"/>
                            <m:ctrlPr>
                              <a:rPr lang="en-US" sz="1500" i="1" smtClean="0">
                                <a:latin typeface="Cambria Math" panose="02040503050406030204" pitchFamily="18" charset="0"/>
                              </a:rPr>
                            </m:ctrlPr>
                          </m:fPr>
                          <m:num>
                            <m:r>
                              <a:rPr lang="en-US" sz="1500" b="0" i="1" smtClean="0">
                                <a:latin typeface="Cambria Math" panose="02040503050406030204" pitchFamily="18" charset="0"/>
                              </a:rPr>
                              <m:t>2</m:t>
                            </m:r>
                          </m:num>
                          <m:den>
                            <m:r>
                              <a:rPr lang="en-US" sz="1500" b="0" i="1" smtClean="0">
                                <a:latin typeface="Cambria Math" panose="02040503050406030204" pitchFamily="18" charset="0"/>
                              </a:rPr>
                              <m:t>3</m:t>
                            </m:r>
                          </m:den>
                        </m:f>
                      </m:oMath>
                    </m:oMathPara>
                  </a14:m>
                  <a:endParaRPr lang="en-US" sz="1500" dirty="0"/>
                </a:p>
              </p:txBody>
            </p:sp>
          </mc:Choice>
          <mc:Fallback xmlns="">
            <p:sp>
              <p:nvSpPr>
                <p:cNvPr id="8" name="TextBox 7"/>
                <p:cNvSpPr txBox="1">
                  <a:spLocks noRot="1" noChangeAspect="1" noMove="1" noResize="1" noEditPoints="1" noAdjustHandles="1" noChangeArrowheads="1" noChangeShapeType="1" noTextEdit="1"/>
                </p:cNvSpPr>
                <p:nvPr/>
              </p:nvSpPr>
              <p:spPr>
                <a:xfrm>
                  <a:off x="7010399" y="2388548"/>
                  <a:ext cx="700513" cy="301557"/>
                </a:xfrm>
                <a:prstGeom prst="rect">
                  <a:avLst/>
                </a:prstGeom>
                <a:blipFill>
                  <a:blip r:embed="rId5"/>
                  <a:stretch>
                    <a:fillRect l="-5217" t="-159184" r="-84348" b="-24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7010400" y="3928842"/>
                  <a:ext cx="700513" cy="3015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500" b="0" i="1" smtClean="0">
                            <a:latin typeface="Cambria Math" panose="02040503050406030204" pitchFamily="18" charset="0"/>
                          </a:rPr>
                          <m:t>𝑝</m:t>
                        </m:r>
                        <m:r>
                          <a:rPr lang="en-US" sz="1500" b="0" i="1" smtClean="0">
                            <a:latin typeface="Cambria Math" panose="02040503050406030204" pitchFamily="18" charset="0"/>
                          </a:rPr>
                          <m:t>=</m:t>
                        </m:r>
                        <m:f>
                          <m:fPr>
                            <m:type m:val="skw"/>
                            <m:ctrlPr>
                              <a:rPr lang="en-US" sz="1500" i="1" smtClean="0">
                                <a:latin typeface="Cambria Math" panose="02040503050406030204" pitchFamily="18" charset="0"/>
                              </a:rPr>
                            </m:ctrlPr>
                          </m:fPr>
                          <m:num>
                            <m:r>
                              <a:rPr lang="en-US" sz="1500" b="0" i="1" smtClean="0">
                                <a:latin typeface="Cambria Math" panose="02040503050406030204" pitchFamily="18" charset="0"/>
                              </a:rPr>
                              <m:t>1</m:t>
                            </m:r>
                          </m:num>
                          <m:den>
                            <m:r>
                              <a:rPr lang="en-US" sz="1500" b="0" i="1" smtClean="0">
                                <a:latin typeface="Cambria Math" panose="02040503050406030204" pitchFamily="18" charset="0"/>
                              </a:rPr>
                              <m:t>3</m:t>
                            </m:r>
                          </m:den>
                        </m:f>
                      </m:oMath>
                    </m:oMathPara>
                  </a14:m>
                  <a:endParaRPr lang="en-US" sz="1500" dirty="0"/>
                </a:p>
              </p:txBody>
            </p:sp>
          </mc:Choice>
          <mc:Fallback xmlns="">
            <p:sp>
              <p:nvSpPr>
                <p:cNvPr id="16" name="TextBox 15"/>
                <p:cNvSpPr txBox="1">
                  <a:spLocks noRot="1" noChangeAspect="1" noMove="1" noResize="1" noEditPoints="1" noAdjustHandles="1" noChangeArrowheads="1" noChangeShapeType="1" noTextEdit="1"/>
                </p:cNvSpPr>
                <p:nvPr/>
              </p:nvSpPr>
              <p:spPr>
                <a:xfrm>
                  <a:off x="7010400" y="3928842"/>
                  <a:ext cx="700513" cy="301557"/>
                </a:xfrm>
                <a:prstGeom prst="rect">
                  <a:avLst/>
                </a:prstGeom>
                <a:blipFill>
                  <a:blip r:embed="rId6"/>
                  <a:stretch>
                    <a:fillRect l="-5217" t="-154000" r="-84348" b="-238000"/>
                  </a:stretch>
                </a:blipFill>
              </p:spPr>
              <p:txBody>
                <a:bodyPr/>
                <a:lstStyle/>
                <a:p>
                  <a:r>
                    <a:rPr lang="en-US">
                      <a:noFill/>
                    </a:rPr>
                    <a:t> </a:t>
                  </a:r>
                </a:p>
              </p:txBody>
            </p:sp>
          </mc:Fallback>
        </mc:AlternateContent>
      </p:grpSp>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029200" y="3928842"/>
            <a:ext cx="3432429" cy="2801493"/>
          </a:xfrm>
          <a:prstGeom prst="rect">
            <a:avLst/>
          </a:prstGeom>
        </p:spPr>
      </p:pic>
      <p:pic>
        <p:nvPicPr>
          <p:cNvPr id="11" name="Picture 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45605" y="3928842"/>
            <a:ext cx="3432429" cy="2801493"/>
          </a:xfrm>
          <a:prstGeom prst="rect">
            <a:avLst/>
          </a:prstGeom>
        </p:spPr>
      </p:pic>
      <p:sp>
        <p:nvSpPr>
          <p:cNvPr id="13" name="Title 4 1">
            <a:extLst>
              <a:ext uri="{FF2B5EF4-FFF2-40B4-BE49-F238E27FC236}">
                <a16:creationId xmlns:a16="http://schemas.microsoft.com/office/drawing/2014/main" id="{795D8991-5FE1-479F-85E9-FCA0FEAAD509}"/>
              </a:ext>
            </a:extLst>
          </p:cNvPr>
          <p:cNvSpPr txBox="1">
            <a:spLocks/>
          </p:cNvSpPr>
          <p:nvPr/>
        </p:nvSpPr>
        <p:spPr>
          <a:xfrm>
            <a:off x="152400" y="152400"/>
            <a:ext cx="8839200" cy="30480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fontAlgn="auto">
              <a:spcAft>
                <a:spcPts val="0"/>
              </a:spcAft>
            </a:pPr>
            <a:r>
              <a:rPr lang="en-US" sz="1800" b="1" dirty="0">
                <a:solidFill>
                  <a:prstClr val="black"/>
                </a:solidFill>
              </a:rPr>
              <a:t>Digression: Bayes rule - The optimal method of inference</a:t>
            </a:r>
            <a:endParaRPr lang="en-US" sz="1700" dirty="0">
              <a:solidFill>
                <a:schemeClr val="tx1"/>
              </a:solidFill>
            </a:endParaRPr>
          </a:p>
        </p:txBody>
      </p:sp>
    </p:spTree>
    <p:extLst>
      <p:ext uri="{BB962C8B-B14F-4D97-AF65-F5344CB8AC3E}">
        <p14:creationId xmlns:p14="http://schemas.microsoft.com/office/powerpoint/2010/main" val="35015722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0"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6" presetClass="emph" presetSubtype="0" fill="hold" nodeType="clickEffect">
                                  <p:stCondLst>
                                    <p:cond delay="0"/>
                                  </p:stCondLst>
                                  <p:childTnLst>
                                    <p:animScale>
                                      <p:cBhvr>
                                        <p:cTn id="13" dur="650" fill="hold"/>
                                        <p:tgtEl>
                                          <p:spTgt spid="6"/>
                                        </p:tgtEl>
                                      </p:cBhvr>
                                      <p:by x="50000" y="50000"/>
                                    </p:animScale>
                                  </p:childTnLst>
                                </p:cTn>
                              </p:par>
                              <p:par>
                                <p:cTn id="14" presetID="42" presetClass="path" presetSubtype="0" fill="hold" nodeType="withEffect">
                                  <p:stCondLst>
                                    <p:cond delay="0"/>
                                  </p:stCondLst>
                                  <p:childTnLst>
                                    <p:animMotion origin="layout" path="M 0 3.7037E-6 L -0.24167 -0.20811 " pathEditMode="relative" rAng="0" ptsTypes="AA">
                                      <p:cBhvr>
                                        <p:cTn id="15" dur="650" fill="hold"/>
                                        <p:tgtEl>
                                          <p:spTgt spid="6"/>
                                        </p:tgtEl>
                                        <p:attrNameLst>
                                          <p:attrName>ppt_x</p:attrName>
                                          <p:attrName>ppt_y</p:attrName>
                                        </p:attrNameLst>
                                      </p:cBhvr>
                                      <p:rCtr x="-12083" y="-10417"/>
                                    </p:animMotion>
                                  </p:childTnLst>
                                </p:cTn>
                              </p:par>
                              <p:par>
                                <p:cTn id="16" presetID="10" presetClass="exit" presetSubtype="0" fill="hold" nodeType="withEffect">
                                  <p:stCondLst>
                                    <p:cond delay="0"/>
                                  </p:stCondLst>
                                  <p:childTnLst>
                                    <p:animEffect transition="out" filter="fade">
                                      <p:cBhvr>
                                        <p:cTn id="17" dur="100"/>
                                        <p:tgtEl>
                                          <p:spTgt spid="9"/>
                                        </p:tgtEl>
                                      </p:cBhvr>
                                    </p:animEffect>
                                    <p:set>
                                      <p:cBhvr>
                                        <p:cTn id="18" dur="1" fill="hold">
                                          <p:stCondLst>
                                            <p:cond delay="99"/>
                                          </p:stCondLst>
                                        </p:cTn>
                                        <p:tgtEl>
                                          <p:spTgt spid="9"/>
                                        </p:tgtEl>
                                        <p:attrNameLst>
                                          <p:attrName>style.visibility</p:attrName>
                                        </p:attrNameLst>
                                      </p:cBhvr>
                                      <p:to>
                                        <p:strVal val="hidden"/>
                                      </p:to>
                                    </p:set>
                                  </p:childTnLst>
                                </p:cTn>
                              </p:par>
                              <p:par>
                                <p:cTn id="19" presetID="10" presetClass="entr" presetSubtype="0" fill="hold" nodeType="withEffect">
                                  <p:stCondLst>
                                    <p:cond delay="5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nodeType="withEffect">
                                  <p:stCondLst>
                                    <p:cond delay="50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nodeType="withEffect">
                                  <p:stCondLst>
                                    <p:cond delay="5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1"/>
          <p:cNvSpPr>
            <a:spLocks noGrp="1"/>
          </p:cNvSpPr>
          <p:nvPr>
            <p:ph type="title"/>
          </p:nvPr>
        </p:nvSpPr>
        <p:spPr>
          <a:xfrm>
            <a:off x="152400" y="152400"/>
            <a:ext cx="8839200" cy="304800"/>
          </a:xfrm>
        </p:spPr>
        <p:txBody>
          <a:bodyPr>
            <a:noAutofit/>
          </a:bodyPr>
          <a:lstStyle/>
          <a:p>
            <a:r>
              <a:rPr lang="en-US" sz="1800" b="1" dirty="0">
                <a:solidFill>
                  <a:prstClr val="black"/>
                </a:solidFill>
              </a:rPr>
              <a:t>There is only one type of uncertainty in the world – epistemic</a:t>
            </a:r>
            <a:endParaRPr lang="en-US" sz="1700" dirty="0">
              <a:solidFill>
                <a:schemeClr val="tx1"/>
              </a:solidFill>
            </a:endParaRPr>
          </a:p>
        </p:txBody>
      </p:sp>
      <p:sp>
        <p:nvSpPr>
          <p:cNvPr id="34" name="Title 4 2 1 1 1 2">
            <a:extLst>
              <a:ext uri="{FF2B5EF4-FFF2-40B4-BE49-F238E27FC236}">
                <a16:creationId xmlns:a16="http://schemas.microsoft.com/office/drawing/2014/main" id="{A05C122D-4AA6-4180-B549-205E42D6154A}"/>
              </a:ext>
            </a:extLst>
          </p:cNvPr>
          <p:cNvSpPr txBox="1">
            <a:spLocks/>
          </p:cNvSpPr>
          <p:nvPr/>
        </p:nvSpPr>
        <p:spPr>
          <a:xfrm>
            <a:off x="152686" y="914400"/>
            <a:ext cx="8838914" cy="83820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dirty="0">
                <a:solidFill>
                  <a:schemeClr val="tx1"/>
                </a:solidFill>
              </a:rPr>
              <a:t>Suppose you have </a:t>
            </a:r>
            <a:r>
              <a:rPr lang="en-US" sz="1500" b="1" dirty="0">
                <a:solidFill>
                  <a:schemeClr val="tx1"/>
                </a:solidFill>
              </a:rPr>
              <a:t>blurred</a:t>
            </a:r>
            <a:r>
              <a:rPr lang="en-US" sz="1500" dirty="0">
                <a:solidFill>
                  <a:schemeClr val="tx1"/>
                </a:solidFill>
              </a:rPr>
              <a:t> vision.</a:t>
            </a:r>
          </a:p>
          <a:p>
            <a:pPr algn="ctr" fontAlgn="auto">
              <a:spcAft>
                <a:spcPts val="0"/>
              </a:spcAft>
            </a:pPr>
            <a:r>
              <a:rPr lang="en-US" sz="1500" dirty="0">
                <a:solidFill>
                  <a:schemeClr val="tx1"/>
                </a:solidFill>
              </a:rPr>
              <a:t>You throw a die </a:t>
            </a:r>
            <a:r>
              <a:rPr lang="en-US" sz="1500" b="1" dirty="0">
                <a:solidFill>
                  <a:schemeClr val="tx1"/>
                </a:solidFill>
              </a:rPr>
              <a:t>once and</a:t>
            </a:r>
            <a:r>
              <a:rPr lang="en-US" sz="1500" dirty="0">
                <a:solidFill>
                  <a:schemeClr val="tx1"/>
                </a:solidFill>
              </a:rPr>
              <a:t> read your observation (possibly wrong reading). </a:t>
            </a:r>
          </a:p>
          <a:p>
            <a:pPr algn="ctr" fontAlgn="auto">
              <a:spcAft>
                <a:spcPts val="0"/>
              </a:spcAft>
            </a:pPr>
            <a:r>
              <a:rPr lang="en-US" sz="1500" dirty="0">
                <a:solidFill>
                  <a:schemeClr val="tx1"/>
                </a:solidFill>
              </a:rPr>
              <a:t>What is the </a:t>
            </a:r>
            <a:r>
              <a:rPr lang="en-US" sz="1500" b="1" dirty="0">
                <a:solidFill>
                  <a:schemeClr val="tx1"/>
                </a:solidFill>
              </a:rPr>
              <a:t>type of uncertainty</a:t>
            </a:r>
            <a:r>
              <a:rPr lang="en-US" sz="1500" dirty="0">
                <a:solidFill>
                  <a:schemeClr val="tx1"/>
                </a:solidFill>
              </a:rPr>
              <a:t> in your observation? </a:t>
            </a:r>
          </a:p>
        </p:txBody>
      </p:sp>
      <p:grpSp>
        <p:nvGrpSpPr>
          <p:cNvPr id="7" name="Group 6">
            <a:extLst>
              <a:ext uri="{FF2B5EF4-FFF2-40B4-BE49-F238E27FC236}">
                <a16:creationId xmlns:a16="http://schemas.microsoft.com/office/drawing/2014/main" id="{43A2C34E-F52F-4DF7-9BFC-100DABFE931D}"/>
              </a:ext>
            </a:extLst>
          </p:cNvPr>
          <p:cNvGrpSpPr/>
          <p:nvPr/>
        </p:nvGrpSpPr>
        <p:grpSpPr>
          <a:xfrm>
            <a:off x="-76200" y="1981200"/>
            <a:ext cx="9192403" cy="1600200"/>
            <a:chOff x="-149071" y="1752601"/>
            <a:chExt cx="9192403" cy="1600200"/>
          </a:xfrm>
        </p:grpSpPr>
        <p:grpSp>
          <p:nvGrpSpPr>
            <p:cNvPr id="36" name="Group 35">
              <a:extLst>
                <a:ext uri="{FF2B5EF4-FFF2-40B4-BE49-F238E27FC236}">
                  <a16:creationId xmlns:a16="http://schemas.microsoft.com/office/drawing/2014/main" id="{20E4A4DB-7297-4C80-83B0-495B87DE154C}"/>
                </a:ext>
              </a:extLst>
            </p:cNvPr>
            <p:cNvGrpSpPr/>
            <p:nvPr/>
          </p:nvGrpSpPr>
          <p:grpSpPr>
            <a:xfrm>
              <a:off x="460529" y="1752601"/>
              <a:ext cx="8222941" cy="381000"/>
              <a:chOff x="502802" y="774643"/>
              <a:chExt cx="8222941" cy="730467"/>
            </a:xfrm>
          </p:grpSpPr>
          <p:sp>
            <p:nvSpPr>
              <p:cNvPr id="37" name="Title 4 2 1 1">
                <a:extLst>
                  <a:ext uri="{FF2B5EF4-FFF2-40B4-BE49-F238E27FC236}">
                    <a16:creationId xmlns:a16="http://schemas.microsoft.com/office/drawing/2014/main" id="{2BDB9615-7C87-416A-A4A7-FE320213E12F}"/>
                  </a:ext>
                </a:extLst>
              </p:cNvPr>
              <p:cNvSpPr txBox="1">
                <a:spLocks/>
              </p:cNvSpPr>
              <p:nvPr/>
            </p:nvSpPr>
            <p:spPr>
              <a:xfrm>
                <a:off x="502802" y="774643"/>
                <a:ext cx="3429000" cy="72584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b="1" dirty="0">
                    <a:solidFill>
                      <a:schemeClr val="tx1"/>
                    </a:solidFill>
                  </a:rPr>
                  <a:t>Frequentist Inference</a:t>
                </a:r>
              </a:p>
            </p:txBody>
          </p:sp>
          <p:sp>
            <p:nvSpPr>
              <p:cNvPr id="38" name="Title 4 2 1 1">
                <a:extLst>
                  <a:ext uri="{FF2B5EF4-FFF2-40B4-BE49-F238E27FC236}">
                    <a16:creationId xmlns:a16="http://schemas.microsoft.com/office/drawing/2014/main" id="{5FA9B36E-EDCE-4E16-8A3A-C44E89C99A23}"/>
                  </a:ext>
                </a:extLst>
              </p:cNvPr>
              <p:cNvSpPr txBox="1">
                <a:spLocks/>
              </p:cNvSpPr>
              <p:nvPr/>
            </p:nvSpPr>
            <p:spPr>
              <a:xfrm>
                <a:off x="5296743" y="779264"/>
                <a:ext cx="3429000" cy="72584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b="1" dirty="0">
                    <a:solidFill>
                      <a:schemeClr val="tx1"/>
                    </a:solidFill>
                  </a:rPr>
                  <a:t>Bayesian Inference</a:t>
                </a:r>
              </a:p>
            </p:txBody>
          </p:sp>
        </p:grpSp>
        <p:sp>
          <p:nvSpPr>
            <p:cNvPr id="41" name="Title 4 2 1 1 1">
              <a:extLst>
                <a:ext uri="{FF2B5EF4-FFF2-40B4-BE49-F238E27FC236}">
                  <a16:creationId xmlns:a16="http://schemas.microsoft.com/office/drawing/2014/main" id="{49858545-B32B-4EA7-8DCB-87B83E334D34}"/>
                </a:ext>
              </a:extLst>
            </p:cNvPr>
            <p:cNvSpPr txBox="1">
              <a:spLocks/>
            </p:cNvSpPr>
            <p:nvPr/>
          </p:nvSpPr>
          <p:spPr>
            <a:xfrm>
              <a:off x="-149071" y="2458719"/>
              <a:ext cx="4648200" cy="894082"/>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400" dirty="0">
                  <a:solidFill>
                    <a:schemeClr val="tx1"/>
                  </a:solidFill>
                </a:rPr>
                <a:t>The uncertainty is due to my </a:t>
              </a:r>
              <a:r>
                <a:rPr lang="en-US" sz="1400" b="1" dirty="0">
                  <a:solidFill>
                    <a:schemeClr val="tx1"/>
                  </a:solidFill>
                </a:rPr>
                <a:t>lack of knowledge. </a:t>
              </a:r>
            </a:p>
            <a:p>
              <a:pPr algn="ctr" fontAlgn="auto">
                <a:spcAft>
                  <a:spcPts val="0"/>
                </a:spcAft>
              </a:pPr>
              <a:r>
                <a:rPr lang="en-US" sz="1400" dirty="0">
                  <a:solidFill>
                    <a:schemeClr val="tx1"/>
                  </a:solidFill>
                </a:rPr>
                <a:t>I </a:t>
              </a:r>
              <a:r>
                <a:rPr lang="en-US" sz="1400" b="1" dirty="0">
                  <a:solidFill>
                    <a:schemeClr val="tx1"/>
                  </a:solidFill>
                </a:rPr>
                <a:t>can</a:t>
              </a:r>
              <a:r>
                <a:rPr lang="en-US" sz="1400" dirty="0">
                  <a:solidFill>
                    <a:schemeClr val="tx1"/>
                  </a:solidFill>
                </a:rPr>
                <a:t> </a:t>
              </a:r>
              <a:r>
                <a:rPr lang="en-US" sz="1400" b="1" dirty="0">
                  <a:solidFill>
                    <a:schemeClr val="tx1"/>
                  </a:solidFill>
                </a:rPr>
                <a:t>reduce</a:t>
              </a:r>
              <a:r>
                <a:rPr lang="en-US" sz="1400" dirty="0">
                  <a:solidFill>
                    <a:schemeClr val="tx1"/>
                  </a:solidFill>
                </a:rPr>
                <a:t> </a:t>
              </a:r>
              <a:r>
                <a:rPr lang="en-US" sz="1400" b="1" dirty="0">
                  <a:solidFill>
                    <a:schemeClr val="tx1"/>
                  </a:solidFill>
                </a:rPr>
                <a:t>uncertainty</a:t>
              </a:r>
              <a:r>
                <a:rPr lang="en-US" sz="1400" dirty="0">
                  <a:solidFill>
                    <a:schemeClr val="tx1"/>
                  </a:solidFill>
                </a:rPr>
                <a:t> with better vision</a:t>
              </a:r>
              <a:r>
                <a:rPr lang="en-US" sz="1400" b="1" dirty="0">
                  <a:solidFill>
                    <a:schemeClr val="tx1"/>
                  </a:solidFill>
                </a:rPr>
                <a:t>.</a:t>
              </a:r>
            </a:p>
            <a:p>
              <a:pPr algn="ctr" fontAlgn="auto">
                <a:spcAft>
                  <a:spcPts val="0"/>
                </a:spcAft>
              </a:pPr>
              <a:r>
                <a:rPr lang="en-US" sz="1400" dirty="0">
                  <a:solidFill>
                    <a:schemeClr val="tx1"/>
                  </a:solidFill>
                </a:rPr>
                <a:t> Therefore,</a:t>
              </a:r>
              <a:r>
                <a:rPr lang="en-US" sz="1400" b="1" dirty="0">
                  <a:solidFill>
                    <a:schemeClr val="tx1"/>
                  </a:solidFill>
                </a:rPr>
                <a:t> </a:t>
              </a:r>
              <a:r>
                <a:rPr lang="en-US" sz="1400" dirty="0">
                  <a:solidFill>
                    <a:schemeClr val="tx1"/>
                  </a:solidFill>
                </a:rPr>
                <a:t>the </a:t>
              </a:r>
              <a:r>
                <a:rPr lang="en-US" sz="1400" b="1" dirty="0">
                  <a:solidFill>
                    <a:schemeClr val="tx1"/>
                  </a:solidFill>
                </a:rPr>
                <a:t>uncertainty </a:t>
              </a:r>
              <a:r>
                <a:rPr lang="en-US" sz="1400" dirty="0">
                  <a:solidFill>
                    <a:schemeClr val="tx1"/>
                  </a:solidFill>
                </a:rPr>
                <a:t>is </a:t>
              </a:r>
              <a:r>
                <a:rPr lang="en-US" sz="1400" b="1" dirty="0">
                  <a:solidFill>
                    <a:schemeClr val="tx1"/>
                  </a:solidFill>
                </a:rPr>
                <a:t>epistemic</a:t>
              </a:r>
              <a:r>
                <a:rPr lang="en-US" sz="1400" dirty="0">
                  <a:solidFill>
                    <a:schemeClr val="tx1"/>
                  </a:solidFill>
                </a:rPr>
                <a:t>.</a:t>
              </a:r>
            </a:p>
          </p:txBody>
        </p:sp>
        <p:sp>
          <p:nvSpPr>
            <p:cNvPr id="11" name="Title 4 2 1 1 1">
              <a:extLst>
                <a:ext uri="{FF2B5EF4-FFF2-40B4-BE49-F238E27FC236}">
                  <a16:creationId xmlns:a16="http://schemas.microsoft.com/office/drawing/2014/main" id="{B84CD759-A30E-4E64-8180-78D3DDD7D224}"/>
                </a:ext>
              </a:extLst>
            </p:cNvPr>
            <p:cNvSpPr txBox="1">
              <a:spLocks/>
            </p:cNvSpPr>
            <p:nvPr/>
          </p:nvSpPr>
          <p:spPr>
            <a:xfrm>
              <a:off x="4395132" y="2458719"/>
              <a:ext cx="4648200" cy="894082"/>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400" dirty="0">
                  <a:solidFill>
                    <a:schemeClr val="tx1"/>
                  </a:solidFill>
                </a:rPr>
                <a:t>The uncertainty is due to my </a:t>
              </a:r>
              <a:r>
                <a:rPr lang="en-US" sz="1400" b="1" dirty="0">
                  <a:solidFill>
                    <a:schemeClr val="tx1"/>
                  </a:solidFill>
                </a:rPr>
                <a:t>lack of knowledge. </a:t>
              </a:r>
            </a:p>
            <a:p>
              <a:pPr algn="ctr" fontAlgn="auto">
                <a:spcAft>
                  <a:spcPts val="0"/>
                </a:spcAft>
              </a:pPr>
              <a:r>
                <a:rPr lang="en-US" sz="1400" dirty="0">
                  <a:solidFill>
                    <a:schemeClr val="tx1"/>
                  </a:solidFill>
                </a:rPr>
                <a:t>I </a:t>
              </a:r>
              <a:r>
                <a:rPr lang="en-US" sz="1400" b="1" dirty="0">
                  <a:solidFill>
                    <a:schemeClr val="tx1"/>
                  </a:solidFill>
                </a:rPr>
                <a:t>can</a:t>
              </a:r>
              <a:r>
                <a:rPr lang="en-US" sz="1400" dirty="0">
                  <a:solidFill>
                    <a:schemeClr val="tx1"/>
                  </a:solidFill>
                </a:rPr>
                <a:t> </a:t>
              </a:r>
              <a:r>
                <a:rPr lang="en-US" sz="1400" b="1" dirty="0">
                  <a:solidFill>
                    <a:schemeClr val="tx1"/>
                  </a:solidFill>
                </a:rPr>
                <a:t>reduce</a:t>
              </a:r>
              <a:r>
                <a:rPr lang="en-US" sz="1400" dirty="0">
                  <a:solidFill>
                    <a:schemeClr val="tx1"/>
                  </a:solidFill>
                </a:rPr>
                <a:t> </a:t>
              </a:r>
              <a:r>
                <a:rPr lang="en-US" sz="1400" b="1" dirty="0">
                  <a:solidFill>
                    <a:schemeClr val="tx1"/>
                  </a:solidFill>
                </a:rPr>
                <a:t>uncertainty</a:t>
              </a:r>
              <a:r>
                <a:rPr lang="en-US" sz="1400" dirty="0">
                  <a:solidFill>
                    <a:schemeClr val="tx1"/>
                  </a:solidFill>
                </a:rPr>
                <a:t> with better vision</a:t>
              </a:r>
              <a:r>
                <a:rPr lang="en-US" sz="1400" b="1" dirty="0">
                  <a:solidFill>
                    <a:schemeClr val="tx1"/>
                  </a:solidFill>
                </a:rPr>
                <a:t>.</a:t>
              </a:r>
            </a:p>
            <a:p>
              <a:pPr algn="ctr" fontAlgn="auto">
                <a:spcAft>
                  <a:spcPts val="0"/>
                </a:spcAft>
              </a:pPr>
              <a:r>
                <a:rPr lang="en-US" sz="1400" dirty="0">
                  <a:solidFill>
                    <a:schemeClr val="tx1"/>
                  </a:solidFill>
                </a:rPr>
                <a:t> Therefore,</a:t>
              </a:r>
              <a:r>
                <a:rPr lang="en-US" sz="1400" b="1" dirty="0">
                  <a:solidFill>
                    <a:schemeClr val="tx1"/>
                  </a:solidFill>
                </a:rPr>
                <a:t> </a:t>
              </a:r>
              <a:r>
                <a:rPr lang="en-US" sz="1400" dirty="0">
                  <a:solidFill>
                    <a:schemeClr val="tx1"/>
                  </a:solidFill>
                </a:rPr>
                <a:t>the </a:t>
              </a:r>
              <a:r>
                <a:rPr lang="en-US" sz="1400" b="1" dirty="0">
                  <a:solidFill>
                    <a:schemeClr val="tx1"/>
                  </a:solidFill>
                </a:rPr>
                <a:t>uncertainty </a:t>
              </a:r>
              <a:r>
                <a:rPr lang="en-US" sz="1400" dirty="0">
                  <a:solidFill>
                    <a:schemeClr val="tx1"/>
                  </a:solidFill>
                </a:rPr>
                <a:t>is </a:t>
              </a:r>
              <a:r>
                <a:rPr lang="en-US" sz="1400" b="1" dirty="0">
                  <a:solidFill>
                    <a:schemeClr val="tx1"/>
                  </a:solidFill>
                </a:rPr>
                <a:t>epistemic</a:t>
              </a:r>
              <a:r>
                <a:rPr lang="en-US" sz="1400" dirty="0">
                  <a:solidFill>
                    <a:schemeClr val="tx1"/>
                  </a:solidFill>
                </a:rPr>
                <a:t>.</a:t>
              </a:r>
            </a:p>
          </p:txBody>
        </p:sp>
      </p:grpSp>
      <p:pic>
        <p:nvPicPr>
          <p:cNvPr id="12" name="Picture 11">
            <a:extLst>
              <a:ext uri="{FF2B5EF4-FFF2-40B4-BE49-F238E27FC236}">
                <a16:creationId xmlns:a16="http://schemas.microsoft.com/office/drawing/2014/main" id="{5C698C20-BA06-4C84-87DD-2E1BF9DD30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43156" y="4325142"/>
            <a:ext cx="2057687" cy="2095792"/>
          </a:xfrm>
          <a:prstGeom prst="rect">
            <a:avLst/>
          </a:prstGeom>
        </p:spPr>
      </p:pic>
    </p:spTree>
    <p:extLst>
      <p:ext uri="{BB962C8B-B14F-4D97-AF65-F5344CB8AC3E}">
        <p14:creationId xmlns:p14="http://schemas.microsoft.com/office/powerpoint/2010/main" val="1196328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1"/>
          <p:cNvSpPr>
            <a:spLocks noGrp="1"/>
          </p:cNvSpPr>
          <p:nvPr>
            <p:ph type="title"/>
          </p:nvPr>
        </p:nvSpPr>
        <p:spPr>
          <a:xfrm>
            <a:off x="152400" y="152400"/>
            <a:ext cx="8839200" cy="304800"/>
          </a:xfrm>
        </p:spPr>
        <p:txBody>
          <a:bodyPr>
            <a:noAutofit/>
          </a:bodyPr>
          <a:lstStyle/>
          <a:p>
            <a:r>
              <a:rPr lang="en-US" sz="1800" b="1" dirty="0">
                <a:solidFill>
                  <a:prstClr val="black"/>
                </a:solidFill>
              </a:rPr>
              <a:t>There is only one type of uncertainty in the world – epistemic</a:t>
            </a:r>
            <a:endParaRPr lang="en-US" sz="1700" dirty="0">
              <a:solidFill>
                <a:schemeClr val="tx1"/>
              </a:solidFill>
            </a:endParaRPr>
          </a:p>
        </p:txBody>
      </p:sp>
      <p:pic>
        <p:nvPicPr>
          <p:cNvPr id="6" name="Picture 5">
            <a:extLst>
              <a:ext uri="{FF2B5EF4-FFF2-40B4-BE49-F238E27FC236}">
                <a16:creationId xmlns:a16="http://schemas.microsoft.com/office/drawing/2014/main" id="{072CF64C-2AA3-4B11-806B-DC4E5AB287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43156" y="4325142"/>
            <a:ext cx="2057687" cy="2095792"/>
          </a:xfrm>
          <a:prstGeom prst="rect">
            <a:avLst/>
          </a:prstGeom>
        </p:spPr>
      </p:pic>
      <p:sp>
        <p:nvSpPr>
          <p:cNvPr id="34" name="Title 4 2 1 1 1 2">
            <a:extLst>
              <a:ext uri="{FF2B5EF4-FFF2-40B4-BE49-F238E27FC236}">
                <a16:creationId xmlns:a16="http://schemas.microsoft.com/office/drawing/2014/main" id="{A05C122D-4AA6-4180-B549-205E42D6154A}"/>
              </a:ext>
            </a:extLst>
          </p:cNvPr>
          <p:cNvSpPr txBox="1">
            <a:spLocks/>
          </p:cNvSpPr>
          <p:nvPr/>
        </p:nvSpPr>
        <p:spPr>
          <a:xfrm>
            <a:off x="152686" y="914400"/>
            <a:ext cx="8838914" cy="83820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dirty="0">
                <a:solidFill>
                  <a:schemeClr val="tx1"/>
                </a:solidFill>
              </a:rPr>
              <a:t>Suppose you have </a:t>
            </a:r>
            <a:r>
              <a:rPr lang="en-US" sz="1500" b="1" dirty="0">
                <a:solidFill>
                  <a:schemeClr val="tx1"/>
                </a:solidFill>
              </a:rPr>
              <a:t>perfect</a:t>
            </a:r>
            <a:r>
              <a:rPr lang="en-US" sz="1500" dirty="0">
                <a:solidFill>
                  <a:schemeClr val="tx1"/>
                </a:solidFill>
              </a:rPr>
              <a:t> vision.</a:t>
            </a:r>
          </a:p>
          <a:p>
            <a:pPr algn="ctr" fontAlgn="auto">
              <a:spcAft>
                <a:spcPts val="0"/>
              </a:spcAft>
            </a:pPr>
            <a:r>
              <a:rPr lang="en-US" sz="1500" dirty="0">
                <a:solidFill>
                  <a:schemeClr val="tx1"/>
                </a:solidFill>
              </a:rPr>
              <a:t>You throw a die </a:t>
            </a:r>
            <a:r>
              <a:rPr lang="en-US" sz="1500" b="1" dirty="0">
                <a:solidFill>
                  <a:schemeClr val="tx1"/>
                </a:solidFill>
              </a:rPr>
              <a:t>multiple times and</a:t>
            </a:r>
            <a:r>
              <a:rPr lang="en-US" sz="1500" dirty="0">
                <a:solidFill>
                  <a:schemeClr val="tx1"/>
                </a:solidFill>
              </a:rPr>
              <a:t> read your observations. </a:t>
            </a:r>
          </a:p>
          <a:p>
            <a:pPr algn="ctr" fontAlgn="auto">
              <a:spcAft>
                <a:spcPts val="0"/>
              </a:spcAft>
            </a:pPr>
            <a:r>
              <a:rPr lang="en-US" sz="1500" dirty="0">
                <a:solidFill>
                  <a:schemeClr val="tx1"/>
                </a:solidFill>
              </a:rPr>
              <a:t>What is the </a:t>
            </a:r>
            <a:r>
              <a:rPr lang="en-US" sz="1500" b="1" dirty="0">
                <a:solidFill>
                  <a:schemeClr val="tx1"/>
                </a:solidFill>
              </a:rPr>
              <a:t>type of uncertainty (source of variability)</a:t>
            </a:r>
            <a:r>
              <a:rPr lang="en-US" sz="1500" dirty="0">
                <a:solidFill>
                  <a:schemeClr val="tx1"/>
                </a:solidFill>
              </a:rPr>
              <a:t> in your observations?</a:t>
            </a:r>
          </a:p>
        </p:txBody>
      </p:sp>
      <p:grpSp>
        <p:nvGrpSpPr>
          <p:cNvPr id="3" name="Group 2">
            <a:extLst>
              <a:ext uri="{FF2B5EF4-FFF2-40B4-BE49-F238E27FC236}">
                <a16:creationId xmlns:a16="http://schemas.microsoft.com/office/drawing/2014/main" id="{39BF619F-01CA-4985-BEC0-BE3FEC599F37}"/>
              </a:ext>
            </a:extLst>
          </p:cNvPr>
          <p:cNvGrpSpPr/>
          <p:nvPr/>
        </p:nvGrpSpPr>
        <p:grpSpPr>
          <a:xfrm>
            <a:off x="-76200" y="1981200"/>
            <a:ext cx="4648200" cy="1600200"/>
            <a:chOff x="-76200" y="1981200"/>
            <a:chExt cx="4648200" cy="1600200"/>
          </a:xfrm>
        </p:grpSpPr>
        <p:sp>
          <p:nvSpPr>
            <p:cNvPr id="37" name="Title 4 2 1 1">
              <a:extLst>
                <a:ext uri="{FF2B5EF4-FFF2-40B4-BE49-F238E27FC236}">
                  <a16:creationId xmlns:a16="http://schemas.microsoft.com/office/drawing/2014/main" id="{2BDB9615-7C87-416A-A4A7-FE320213E12F}"/>
                </a:ext>
              </a:extLst>
            </p:cNvPr>
            <p:cNvSpPr txBox="1">
              <a:spLocks/>
            </p:cNvSpPr>
            <p:nvPr/>
          </p:nvSpPr>
          <p:spPr>
            <a:xfrm>
              <a:off x="533400" y="1981200"/>
              <a:ext cx="3429000" cy="37859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b="1" dirty="0">
                  <a:solidFill>
                    <a:schemeClr val="tx1"/>
                  </a:solidFill>
                </a:rPr>
                <a:t>Frequentist Inference</a:t>
              </a:r>
            </a:p>
          </p:txBody>
        </p:sp>
        <p:sp>
          <p:nvSpPr>
            <p:cNvPr id="41" name="Title 4 2 1 1 1">
              <a:extLst>
                <a:ext uri="{FF2B5EF4-FFF2-40B4-BE49-F238E27FC236}">
                  <a16:creationId xmlns:a16="http://schemas.microsoft.com/office/drawing/2014/main" id="{49858545-B32B-4EA7-8DCB-87B83E334D34}"/>
                </a:ext>
              </a:extLst>
            </p:cNvPr>
            <p:cNvSpPr txBox="1">
              <a:spLocks/>
            </p:cNvSpPr>
            <p:nvPr/>
          </p:nvSpPr>
          <p:spPr>
            <a:xfrm>
              <a:off x="-76200" y="2687318"/>
              <a:ext cx="4648200" cy="894082"/>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400" dirty="0">
                  <a:solidFill>
                    <a:schemeClr val="tx1"/>
                  </a:solidFill>
                </a:rPr>
                <a:t>The uncertainty is </a:t>
              </a:r>
              <a:r>
                <a:rPr lang="en-US" sz="1400" b="1" dirty="0">
                  <a:solidFill>
                    <a:schemeClr val="tx1"/>
                  </a:solidFill>
                </a:rPr>
                <a:t>inherent in the experiment. </a:t>
              </a:r>
            </a:p>
            <a:p>
              <a:pPr algn="ctr" fontAlgn="auto">
                <a:spcAft>
                  <a:spcPts val="0"/>
                </a:spcAft>
              </a:pPr>
              <a:r>
                <a:rPr lang="en-US" sz="1400" dirty="0">
                  <a:solidFill>
                    <a:schemeClr val="tx1"/>
                  </a:solidFill>
                </a:rPr>
                <a:t>I </a:t>
              </a:r>
              <a:r>
                <a:rPr lang="en-US" sz="1400" b="1" dirty="0">
                  <a:solidFill>
                    <a:schemeClr val="tx1"/>
                  </a:solidFill>
                </a:rPr>
                <a:t>cannot</a:t>
              </a:r>
              <a:r>
                <a:rPr lang="en-US" sz="1400" dirty="0">
                  <a:solidFill>
                    <a:schemeClr val="tx1"/>
                  </a:solidFill>
                </a:rPr>
                <a:t> </a:t>
              </a:r>
              <a:r>
                <a:rPr lang="en-US" sz="1400" b="1" dirty="0">
                  <a:solidFill>
                    <a:schemeClr val="tx1"/>
                  </a:solidFill>
                </a:rPr>
                <a:t>reduce</a:t>
              </a:r>
              <a:r>
                <a:rPr lang="en-US" sz="1400" dirty="0">
                  <a:solidFill>
                    <a:schemeClr val="tx1"/>
                  </a:solidFill>
                </a:rPr>
                <a:t> uncertainty any further</a:t>
              </a:r>
              <a:r>
                <a:rPr lang="en-US" sz="1400" b="1" dirty="0">
                  <a:solidFill>
                    <a:schemeClr val="tx1"/>
                  </a:solidFill>
                </a:rPr>
                <a:t>.</a:t>
              </a:r>
            </a:p>
            <a:p>
              <a:pPr algn="ctr" fontAlgn="auto">
                <a:spcAft>
                  <a:spcPts val="0"/>
                </a:spcAft>
              </a:pPr>
              <a:r>
                <a:rPr lang="en-US" sz="1400" dirty="0">
                  <a:solidFill>
                    <a:schemeClr val="tx1"/>
                  </a:solidFill>
                </a:rPr>
                <a:t> Therefore,</a:t>
              </a:r>
              <a:r>
                <a:rPr lang="en-US" sz="1400" b="1" dirty="0">
                  <a:solidFill>
                    <a:schemeClr val="tx1"/>
                  </a:solidFill>
                </a:rPr>
                <a:t> </a:t>
              </a:r>
              <a:r>
                <a:rPr lang="en-US" sz="1400" dirty="0">
                  <a:solidFill>
                    <a:schemeClr val="tx1"/>
                  </a:solidFill>
                </a:rPr>
                <a:t>the </a:t>
              </a:r>
              <a:r>
                <a:rPr lang="en-US" sz="1400" b="1" dirty="0">
                  <a:solidFill>
                    <a:schemeClr val="tx1"/>
                  </a:solidFill>
                </a:rPr>
                <a:t>uncertainty </a:t>
              </a:r>
              <a:r>
                <a:rPr lang="en-US" sz="1400" dirty="0">
                  <a:solidFill>
                    <a:schemeClr val="tx1"/>
                  </a:solidFill>
                </a:rPr>
                <a:t>is </a:t>
              </a:r>
              <a:r>
                <a:rPr lang="en-US" sz="1400" b="1" dirty="0">
                  <a:solidFill>
                    <a:schemeClr val="tx1"/>
                  </a:solidFill>
                </a:rPr>
                <a:t>aleatoric</a:t>
              </a:r>
              <a:r>
                <a:rPr lang="en-US" sz="1400" dirty="0">
                  <a:solidFill>
                    <a:schemeClr val="tx1"/>
                  </a:solidFill>
                </a:rPr>
                <a:t>.</a:t>
              </a:r>
            </a:p>
          </p:txBody>
        </p:sp>
      </p:grpSp>
      <p:grpSp>
        <p:nvGrpSpPr>
          <p:cNvPr id="4" name="Group 3">
            <a:extLst>
              <a:ext uri="{FF2B5EF4-FFF2-40B4-BE49-F238E27FC236}">
                <a16:creationId xmlns:a16="http://schemas.microsoft.com/office/drawing/2014/main" id="{0663A78B-80FC-48C0-90DB-3BA13CE70F29}"/>
              </a:ext>
            </a:extLst>
          </p:cNvPr>
          <p:cNvGrpSpPr/>
          <p:nvPr/>
        </p:nvGrpSpPr>
        <p:grpSpPr>
          <a:xfrm>
            <a:off x="4468003" y="1983610"/>
            <a:ext cx="4648200" cy="2207390"/>
            <a:chOff x="4468003" y="1983610"/>
            <a:chExt cx="4648200" cy="2145984"/>
          </a:xfrm>
        </p:grpSpPr>
        <p:sp>
          <p:nvSpPr>
            <p:cNvPr id="38" name="Title 4 2 1 1">
              <a:extLst>
                <a:ext uri="{FF2B5EF4-FFF2-40B4-BE49-F238E27FC236}">
                  <a16:creationId xmlns:a16="http://schemas.microsoft.com/office/drawing/2014/main" id="{5FA9B36E-EDCE-4E16-8A3A-C44E89C99A23}"/>
                </a:ext>
              </a:extLst>
            </p:cNvPr>
            <p:cNvSpPr txBox="1">
              <a:spLocks/>
            </p:cNvSpPr>
            <p:nvPr/>
          </p:nvSpPr>
          <p:spPr>
            <a:xfrm>
              <a:off x="5327341" y="1983610"/>
              <a:ext cx="3429000" cy="37859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b="1" dirty="0">
                  <a:solidFill>
                    <a:schemeClr val="tx1"/>
                  </a:solidFill>
                </a:rPr>
                <a:t>Bayesian Inference</a:t>
              </a:r>
            </a:p>
          </p:txBody>
        </p:sp>
        <p:sp>
          <p:nvSpPr>
            <p:cNvPr id="11" name="Title 4 2 1 1 1">
              <a:extLst>
                <a:ext uri="{FF2B5EF4-FFF2-40B4-BE49-F238E27FC236}">
                  <a16:creationId xmlns:a16="http://schemas.microsoft.com/office/drawing/2014/main" id="{B84CD759-A30E-4E64-8180-78D3DDD7D224}"/>
                </a:ext>
              </a:extLst>
            </p:cNvPr>
            <p:cNvSpPr txBox="1">
              <a:spLocks/>
            </p:cNvSpPr>
            <p:nvPr/>
          </p:nvSpPr>
          <p:spPr>
            <a:xfrm>
              <a:off x="4468003" y="2687318"/>
              <a:ext cx="4648200" cy="144227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400" dirty="0">
                  <a:solidFill>
                    <a:schemeClr val="tx1"/>
                  </a:solidFill>
                </a:rPr>
                <a:t>The uncertainty is due to my </a:t>
              </a:r>
              <a:r>
                <a:rPr lang="en-US" sz="1400" b="1" dirty="0">
                  <a:solidFill>
                    <a:schemeClr val="tx1"/>
                  </a:solidFill>
                </a:rPr>
                <a:t>lack of knowledge:</a:t>
              </a:r>
            </a:p>
            <a:p>
              <a:pPr marL="342900" indent="-342900" algn="ctr" fontAlgn="auto">
                <a:spcAft>
                  <a:spcPts val="0"/>
                </a:spcAft>
                <a:buAutoNum type="arabicPeriod"/>
              </a:pPr>
              <a:r>
                <a:rPr lang="en-US" sz="1400" dirty="0">
                  <a:solidFill>
                    <a:schemeClr val="tx1"/>
                  </a:solidFill>
                </a:rPr>
                <a:t>Wrong / </a:t>
              </a:r>
              <a:r>
                <a:rPr lang="en-US" sz="1400" b="1" dirty="0">
                  <a:solidFill>
                    <a:schemeClr val="tx1"/>
                  </a:solidFill>
                </a:rPr>
                <a:t>inadequate</a:t>
              </a:r>
              <a:r>
                <a:rPr lang="en-US" sz="1400" dirty="0">
                  <a:solidFill>
                    <a:schemeClr val="tx1"/>
                  </a:solidFill>
                </a:rPr>
                <a:t> model.</a:t>
              </a:r>
            </a:p>
            <a:p>
              <a:pPr marL="342900" indent="-342900" algn="ctr" fontAlgn="auto">
                <a:spcAft>
                  <a:spcPts val="0"/>
                </a:spcAft>
                <a:buAutoNum type="arabicPeriod"/>
              </a:pPr>
              <a:r>
                <a:rPr lang="en-US" sz="1400" dirty="0">
                  <a:solidFill>
                    <a:schemeClr val="tx1"/>
                  </a:solidFill>
                </a:rPr>
                <a:t>Lack of sufficiently-detailed data</a:t>
              </a:r>
            </a:p>
            <a:p>
              <a:pPr algn="ctr" fontAlgn="auto">
                <a:spcAft>
                  <a:spcPts val="0"/>
                </a:spcAft>
              </a:pPr>
              <a:r>
                <a:rPr lang="en-US" sz="1400" dirty="0">
                  <a:solidFill>
                    <a:schemeClr val="tx1"/>
                  </a:solidFill>
                </a:rPr>
                <a:t>	which leads to inadequate model.</a:t>
              </a:r>
            </a:p>
            <a:p>
              <a:pPr algn="ctr" fontAlgn="auto">
                <a:spcAft>
                  <a:spcPts val="0"/>
                </a:spcAft>
              </a:pPr>
              <a:endParaRPr lang="en-US" sz="1400" b="1" dirty="0">
                <a:solidFill>
                  <a:schemeClr val="tx1"/>
                </a:solidFill>
              </a:endParaRPr>
            </a:p>
            <a:p>
              <a:pPr algn="ctr" fontAlgn="auto">
                <a:spcAft>
                  <a:spcPts val="0"/>
                </a:spcAft>
              </a:pPr>
              <a:r>
                <a:rPr lang="en-US" sz="1400" dirty="0">
                  <a:solidFill>
                    <a:schemeClr val="tx1"/>
                  </a:solidFill>
                </a:rPr>
                <a:t>I </a:t>
              </a:r>
              <a:r>
                <a:rPr lang="en-US" sz="1400" b="1" dirty="0">
                  <a:solidFill>
                    <a:schemeClr val="tx1"/>
                  </a:solidFill>
                </a:rPr>
                <a:t>can</a:t>
              </a:r>
              <a:r>
                <a:rPr lang="en-US" sz="1400" dirty="0">
                  <a:solidFill>
                    <a:schemeClr val="tx1"/>
                  </a:solidFill>
                </a:rPr>
                <a:t> </a:t>
              </a:r>
              <a:r>
                <a:rPr lang="en-US" sz="1400" b="1" dirty="0">
                  <a:solidFill>
                    <a:schemeClr val="tx1"/>
                  </a:solidFill>
                </a:rPr>
                <a:t>reduce</a:t>
              </a:r>
              <a:r>
                <a:rPr lang="en-US" sz="1400" dirty="0">
                  <a:solidFill>
                    <a:schemeClr val="tx1"/>
                  </a:solidFill>
                </a:rPr>
                <a:t> </a:t>
              </a:r>
              <a:r>
                <a:rPr lang="en-US" sz="1400" b="1" dirty="0">
                  <a:solidFill>
                    <a:schemeClr val="tx1"/>
                  </a:solidFill>
                </a:rPr>
                <a:t>uncertainty</a:t>
              </a:r>
              <a:r>
                <a:rPr lang="en-US" sz="1400" dirty="0">
                  <a:solidFill>
                    <a:schemeClr val="tx1"/>
                  </a:solidFill>
                </a:rPr>
                <a:t> with better data / model</a:t>
              </a:r>
              <a:r>
                <a:rPr lang="en-US" sz="1400" b="1" dirty="0">
                  <a:solidFill>
                    <a:schemeClr val="tx1"/>
                  </a:solidFill>
                </a:rPr>
                <a:t>.</a:t>
              </a:r>
            </a:p>
            <a:p>
              <a:pPr algn="ctr" fontAlgn="auto">
                <a:spcAft>
                  <a:spcPts val="0"/>
                </a:spcAft>
              </a:pPr>
              <a:r>
                <a:rPr lang="en-US" sz="1400" dirty="0">
                  <a:solidFill>
                    <a:schemeClr val="tx1"/>
                  </a:solidFill>
                </a:rPr>
                <a:t> Therefore,</a:t>
              </a:r>
              <a:r>
                <a:rPr lang="en-US" sz="1400" b="1" dirty="0">
                  <a:solidFill>
                    <a:schemeClr val="tx1"/>
                  </a:solidFill>
                </a:rPr>
                <a:t> </a:t>
              </a:r>
              <a:r>
                <a:rPr lang="en-US" sz="1400" dirty="0">
                  <a:solidFill>
                    <a:schemeClr val="tx1"/>
                  </a:solidFill>
                </a:rPr>
                <a:t>the </a:t>
              </a:r>
              <a:r>
                <a:rPr lang="en-US" sz="1400" b="1" dirty="0">
                  <a:solidFill>
                    <a:schemeClr val="tx1"/>
                  </a:solidFill>
                </a:rPr>
                <a:t>uncertainty </a:t>
              </a:r>
              <a:r>
                <a:rPr lang="en-US" sz="1400" dirty="0">
                  <a:solidFill>
                    <a:schemeClr val="tx1"/>
                  </a:solidFill>
                </a:rPr>
                <a:t>is </a:t>
              </a:r>
              <a:r>
                <a:rPr lang="en-US" sz="1400" b="1" dirty="0">
                  <a:solidFill>
                    <a:schemeClr val="tx1"/>
                  </a:solidFill>
                </a:rPr>
                <a:t>epistemic</a:t>
              </a:r>
              <a:r>
                <a:rPr lang="en-US" sz="1400" dirty="0">
                  <a:solidFill>
                    <a:schemeClr val="tx1"/>
                  </a:solidFill>
                </a:rPr>
                <a:t>.</a:t>
              </a:r>
            </a:p>
          </p:txBody>
        </p:sp>
      </p:grpSp>
    </p:spTree>
    <p:extLst>
      <p:ext uri="{BB962C8B-B14F-4D97-AF65-F5344CB8AC3E}">
        <p14:creationId xmlns:p14="http://schemas.microsoft.com/office/powerpoint/2010/main" val="1379778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1"/>
          <p:cNvSpPr>
            <a:spLocks noGrp="1"/>
          </p:cNvSpPr>
          <p:nvPr>
            <p:ph type="title"/>
          </p:nvPr>
        </p:nvSpPr>
        <p:spPr>
          <a:xfrm>
            <a:off x="152400" y="152400"/>
            <a:ext cx="8839200" cy="304800"/>
          </a:xfrm>
        </p:spPr>
        <p:txBody>
          <a:bodyPr>
            <a:noAutofit/>
          </a:bodyPr>
          <a:lstStyle/>
          <a:p>
            <a:r>
              <a:rPr lang="en-US" sz="1800" b="1" dirty="0">
                <a:solidFill>
                  <a:prstClr val="black"/>
                </a:solidFill>
              </a:rPr>
              <a:t>There is only one type of uncertainty in the world – epistemic</a:t>
            </a:r>
            <a:endParaRPr lang="en-US" sz="1700" dirty="0">
              <a:solidFill>
                <a:schemeClr val="tx1"/>
              </a:solidFill>
            </a:endParaRPr>
          </a:p>
        </p:txBody>
      </p:sp>
      <p:sp>
        <p:nvSpPr>
          <p:cNvPr id="34" name="Title 4 2 1 1 1 2">
            <a:extLst>
              <a:ext uri="{FF2B5EF4-FFF2-40B4-BE49-F238E27FC236}">
                <a16:creationId xmlns:a16="http://schemas.microsoft.com/office/drawing/2014/main" id="{A05C122D-4AA6-4180-B549-205E42D6154A}"/>
              </a:ext>
            </a:extLst>
          </p:cNvPr>
          <p:cNvSpPr txBox="1">
            <a:spLocks/>
          </p:cNvSpPr>
          <p:nvPr/>
        </p:nvSpPr>
        <p:spPr>
          <a:xfrm>
            <a:off x="152686" y="914400"/>
            <a:ext cx="8838914" cy="83820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dirty="0">
                <a:solidFill>
                  <a:schemeClr val="tx1"/>
                </a:solidFill>
              </a:rPr>
              <a:t>Suppose you have </a:t>
            </a:r>
            <a:r>
              <a:rPr lang="en-US" sz="1500" b="1" dirty="0">
                <a:solidFill>
                  <a:schemeClr val="tx1"/>
                </a:solidFill>
              </a:rPr>
              <a:t>perfect</a:t>
            </a:r>
            <a:r>
              <a:rPr lang="en-US" sz="1500" dirty="0">
                <a:solidFill>
                  <a:schemeClr val="tx1"/>
                </a:solidFill>
              </a:rPr>
              <a:t> vision.</a:t>
            </a:r>
          </a:p>
          <a:p>
            <a:pPr algn="ctr" fontAlgn="auto">
              <a:spcAft>
                <a:spcPts val="0"/>
              </a:spcAft>
            </a:pPr>
            <a:r>
              <a:rPr lang="en-US" sz="1500" dirty="0">
                <a:solidFill>
                  <a:schemeClr val="tx1"/>
                </a:solidFill>
              </a:rPr>
              <a:t>You throw a die </a:t>
            </a:r>
            <a:r>
              <a:rPr lang="en-US" sz="1500" b="1" dirty="0">
                <a:solidFill>
                  <a:schemeClr val="tx1"/>
                </a:solidFill>
              </a:rPr>
              <a:t>multiple times and</a:t>
            </a:r>
            <a:r>
              <a:rPr lang="en-US" sz="1500" dirty="0">
                <a:solidFill>
                  <a:schemeClr val="tx1"/>
                </a:solidFill>
              </a:rPr>
              <a:t> read your observations. </a:t>
            </a:r>
          </a:p>
          <a:p>
            <a:pPr algn="ctr" fontAlgn="auto">
              <a:spcAft>
                <a:spcPts val="0"/>
              </a:spcAft>
            </a:pPr>
            <a:r>
              <a:rPr lang="en-US" sz="1500" dirty="0">
                <a:solidFill>
                  <a:schemeClr val="tx1"/>
                </a:solidFill>
              </a:rPr>
              <a:t>What is the </a:t>
            </a:r>
            <a:r>
              <a:rPr lang="en-US" sz="1500" b="1" dirty="0">
                <a:solidFill>
                  <a:schemeClr val="tx1"/>
                </a:solidFill>
              </a:rPr>
              <a:t>type of uncertainty (source of variability)</a:t>
            </a:r>
            <a:r>
              <a:rPr lang="en-US" sz="1500" dirty="0">
                <a:solidFill>
                  <a:schemeClr val="tx1"/>
                </a:solidFill>
              </a:rPr>
              <a:t> in your observations?</a:t>
            </a:r>
          </a:p>
        </p:txBody>
      </p:sp>
      <p:grpSp>
        <p:nvGrpSpPr>
          <p:cNvPr id="3" name="Group 2">
            <a:extLst>
              <a:ext uri="{FF2B5EF4-FFF2-40B4-BE49-F238E27FC236}">
                <a16:creationId xmlns:a16="http://schemas.microsoft.com/office/drawing/2014/main" id="{39BF619F-01CA-4985-BEC0-BE3FEC599F37}"/>
              </a:ext>
            </a:extLst>
          </p:cNvPr>
          <p:cNvGrpSpPr/>
          <p:nvPr/>
        </p:nvGrpSpPr>
        <p:grpSpPr>
          <a:xfrm>
            <a:off x="-76200" y="1981200"/>
            <a:ext cx="4648200" cy="1600200"/>
            <a:chOff x="-76200" y="1981200"/>
            <a:chExt cx="4648200" cy="1600200"/>
          </a:xfrm>
        </p:grpSpPr>
        <p:sp>
          <p:nvSpPr>
            <p:cNvPr id="37" name="Title 4 2 1 1">
              <a:extLst>
                <a:ext uri="{FF2B5EF4-FFF2-40B4-BE49-F238E27FC236}">
                  <a16:creationId xmlns:a16="http://schemas.microsoft.com/office/drawing/2014/main" id="{2BDB9615-7C87-416A-A4A7-FE320213E12F}"/>
                </a:ext>
              </a:extLst>
            </p:cNvPr>
            <p:cNvSpPr txBox="1">
              <a:spLocks/>
            </p:cNvSpPr>
            <p:nvPr/>
          </p:nvSpPr>
          <p:spPr>
            <a:xfrm>
              <a:off x="533400" y="1981200"/>
              <a:ext cx="3429000" cy="37859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b="1" dirty="0">
                  <a:solidFill>
                    <a:schemeClr val="tx1"/>
                  </a:solidFill>
                </a:rPr>
                <a:t>Frequentist Inference</a:t>
              </a:r>
            </a:p>
          </p:txBody>
        </p:sp>
        <p:sp>
          <p:nvSpPr>
            <p:cNvPr id="41" name="Title 4 2 1 1 1">
              <a:extLst>
                <a:ext uri="{FF2B5EF4-FFF2-40B4-BE49-F238E27FC236}">
                  <a16:creationId xmlns:a16="http://schemas.microsoft.com/office/drawing/2014/main" id="{49858545-B32B-4EA7-8DCB-87B83E334D34}"/>
                </a:ext>
              </a:extLst>
            </p:cNvPr>
            <p:cNvSpPr txBox="1">
              <a:spLocks/>
            </p:cNvSpPr>
            <p:nvPr/>
          </p:nvSpPr>
          <p:spPr>
            <a:xfrm>
              <a:off x="-76200" y="2687318"/>
              <a:ext cx="4648200" cy="894082"/>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400" dirty="0">
                  <a:solidFill>
                    <a:schemeClr val="tx1"/>
                  </a:solidFill>
                </a:rPr>
                <a:t>The uncertainty is </a:t>
              </a:r>
              <a:r>
                <a:rPr lang="en-US" sz="1400" b="1" dirty="0">
                  <a:solidFill>
                    <a:schemeClr val="tx1"/>
                  </a:solidFill>
                </a:rPr>
                <a:t>inherent in the experiment. </a:t>
              </a:r>
            </a:p>
            <a:p>
              <a:pPr algn="ctr" fontAlgn="auto">
                <a:spcAft>
                  <a:spcPts val="0"/>
                </a:spcAft>
              </a:pPr>
              <a:r>
                <a:rPr lang="en-US" sz="1400" dirty="0">
                  <a:solidFill>
                    <a:schemeClr val="tx1"/>
                  </a:solidFill>
                </a:rPr>
                <a:t>I </a:t>
              </a:r>
              <a:r>
                <a:rPr lang="en-US" sz="1400" b="1" dirty="0">
                  <a:solidFill>
                    <a:schemeClr val="tx1"/>
                  </a:solidFill>
                </a:rPr>
                <a:t>cannot</a:t>
              </a:r>
              <a:r>
                <a:rPr lang="en-US" sz="1400" dirty="0">
                  <a:solidFill>
                    <a:schemeClr val="tx1"/>
                  </a:solidFill>
                </a:rPr>
                <a:t> </a:t>
              </a:r>
              <a:r>
                <a:rPr lang="en-US" sz="1400" b="1" dirty="0">
                  <a:solidFill>
                    <a:schemeClr val="tx1"/>
                  </a:solidFill>
                </a:rPr>
                <a:t>reduce</a:t>
              </a:r>
              <a:r>
                <a:rPr lang="en-US" sz="1400" dirty="0">
                  <a:solidFill>
                    <a:schemeClr val="tx1"/>
                  </a:solidFill>
                </a:rPr>
                <a:t> uncertainty any further</a:t>
              </a:r>
              <a:r>
                <a:rPr lang="en-US" sz="1400" b="1" dirty="0">
                  <a:solidFill>
                    <a:schemeClr val="tx1"/>
                  </a:solidFill>
                </a:rPr>
                <a:t>.</a:t>
              </a:r>
            </a:p>
            <a:p>
              <a:pPr algn="ctr" fontAlgn="auto">
                <a:spcAft>
                  <a:spcPts val="0"/>
                </a:spcAft>
              </a:pPr>
              <a:r>
                <a:rPr lang="en-US" sz="1400" dirty="0">
                  <a:solidFill>
                    <a:schemeClr val="tx1"/>
                  </a:solidFill>
                </a:rPr>
                <a:t> Therefore,</a:t>
              </a:r>
              <a:r>
                <a:rPr lang="en-US" sz="1400" b="1" dirty="0">
                  <a:solidFill>
                    <a:schemeClr val="tx1"/>
                  </a:solidFill>
                </a:rPr>
                <a:t> </a:t>
              </a:r>
              <a:r>
                <a:rPr lang="en-US" sz="1400" dirty="0">
                  <a:solidFill>
                    <a:schemeClr val="tx1"/>
                  </a:solidFill>
                </a:rPr>
                <a:t>the </a:t>
              </a:r>
              <a:r>
                <a:rPr lang="en-US" sz="1400" b="1" dirty="0">
                  <a:solidFill>
                    <a:schemeClr val="tx1"/>
                  </a:solidFill>
                </a:rPr>
                <a:t>uncertainty </a:t>
              </a:r>
              <a:r>
                <a:rPr lang="en-US" sz="1400" dirty="0">
                  <a:solidFill>
                    <a:schemeClr val="tx1"/>
                  </a:solidFill>
                </a:rPr>
                <a:t>is </a:t>
              </a:r>
              <a:r>
                <a:rPr lang="en-US" sz="1400" b="1" dirty="0">
                  <a:solidFill>
                    <a:schemeClr val="tx1"/>
                  </a:solidFill>
                </a:rPr>
                <a:t>aleatoric</a:t>
              </a:r>
              <a:r>
                <a:rPr lang="en-US" sz="1400" dirty="0">
                  <a:solidFill>
                    <a:schemeClr val="tx1"/>
                  </a:solidFill>
                </a:rPr>
                <a:t>.</a:t>
              </a:r>
            </a:p>
          </p:txBody>
        </p:sp>
      </p:grpSp>
      <p:grpSp>
        <p:nvGrpSpPr>
          <p:cNvPr id="4" name="Group 3">
            <a:extLst>
              <a:ext uri="{FF2B5EF4-FFF2-40B4-BE49-F238E27FC236}">
                <a16:creationId xmlns:a16="http://schemas.microsoft.com/office/drawing/2014/main" id="{0663A78B-80FC-48C0-90DB-3BA13CE70F29}"/>
              </a:ext>
            </a:extLst>
          </p:cNvPr>
          <p:cNvGrpSpPr/>
          <p:nvPr/>
        </p:nvGrpSpPr>
        <p:grpSpPr>
          <a:xfrm>
            <a:off x="4468003" y="1983610"/>
            <a:ext cx="4648200" cy="2207390"/>
            <a:chOff x="4468003" y="1983610"/>
            <a:chExt cx="4648200" cy="2145984"/>
          </a:xfrm>
        </p:grpSpPr>
        <p:sp>
          <p:nvSpPr>
            <p:cNvPr id="38" name="Title 4 2 1 1">
              <a:extLst>
                <a:ext uri="{FF2B5EF4-FFF2-40B4-BE49-F238E27FC236}">
                  <a16:creationId xmlns:a16="http://schemas.microsoft.com/office/drawing/2014/main" id="{5FA9B36E-EDCE-4E16-8A3A-C44E89C99A23}"/>
                </a:ext>
              </a:extLst>
            </p:cNvPr>
            <p:cNvSpPr txBox="1">
              <a:spLocks/>
            </p:cNvSpPr>
            <p:nvPr/>
          </p:nvSpPr>
          <p:spPr>
            <a:xfrm>
              <a:off x="5327341" y="1983610"/>
              <a:ext cx="3429000" cy="378590"/>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500" b="1" dirty="0">
                  <a:solidFill>
                    <a:schemeClr val="tx1"/>
                  </a:solidFill>
                </a:rPr>
                <a:t>Bayesian Inference</a:t>
              </a:r>
            </a:p>
          </p:txBody>
        </p:sp>
        <p:sp>
          <p:nvSpPr>
            <p:cNvPr id="11" name="Title 4 2 1 1 1">
              <a:extLst>
                <a:ext uri="{FF2B5EF4-FFF2-40B4-BE49-F238E27FC236}">
                  <a16:creationId xmlns:a16="http://schemas.microsoft.com/office/drawing/2014/main" id="{B84CD759-A30E-4E64-8180-78D3DDD7D224}"/>
                </a:ext>
              </a:extLst>
            </p:cNvPr>
            <p:cNvSpPr txBox="1">
              <a:spLocks/>
            </p:cNvSpPr>
            <p:nvPr/>
          </p:nvSpPr>
          <p:spPr>
            <a:xfrm>
              <a:off x="4468003" y="2687318"/>
              <a:ext cx="4648200" cy="1442276"/>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algn="ctr" fontAlgn="auto">
                <a:spcAft>
                  <a:spcPts val="0"/>
                </a:spcAft>
              </a:pPr>
              <a:r>
                <a:rPr lang="en-US" sz="1400" dirty="0">
                  <a:solidFill>
                    <a:schemeClr val="tx1"/>
                  </a:solidFill>
                </a:rPr>
                <a:t>The uncertainty is due to my </a:t>
              </a:r>
              <a:r>
                <a:rPr lang="en-US" sz="1400" b="1" dirty="0">
                  <a:solidFill>
                    <a:schemeClr val="tx1"/>
                  </a:solidFill>
                </a:rPr>
                <a:t>lack of knowledge:</a:t>
              </a:r>
            </a:p>
            <a:p>
              <a:pPr marL="342900" indent="-342900" algn="ctr" fontAlgn="auto">
                <a:spcAft>
                  <a:spcPts val="0"/>
                </a:spcAft>
                <a:buAutoNum type="arabicPeriod"/>
              </a:pPr>
              <a:r>
                <a:rPr lang="en-US" sz="1400" dirty="0">
                  <a:solidFill>
                    <a:schemeClr val="tx1"/>
                  </a:solidFill>
                </a:rPr>
                <a:t>Wrong / </a:t>
              </a:r>
              <a:r>
                <a:rPr lang="en-US" sz="1400" b="1" dirty="0">
                  <a:solidFill>
                    <a:schemeClr val="tx1"/>
                  </a:solidFill>
                </a:rPr>
                <a:t>inadequate</a:t>
              </a:r>
              <a:r>
                <a:rPr lang="en-US" sz="1400" dirty="0">
                  <a:solidFill>
                    <a:schemeClr val="tx1"/>
                  </a:solidFill>
                </a:rPr>
                <a:t> model.</a:t>
              </a:r>
            </a:p>
            <a:p>
              <a:pPr marL="342900" indent="-342900" algn="ctr" fontAlgn="auto">
                <a:spcAft>
                  <a:spcPts val="0"/>
                </a:spcAft>
                <a:buAutoNum type="arabicPeriod"/>
              </a:pPr>
              <a:r>
                <a:rPr lang="en-US" sz="1400" dirty="0">
                  <a:solidFill>
                    <a:schemeClr val="tx1"/>
                  </a:solidFill>
                </a:rPr>
                <a:t>Lack of sufficiently-detailed data</a:t>
              </a:r>
            </a:p>
            <a:p>
              <a:pPr algn="ctr" fontAlgn="auto">
                <a:spcAft>
                  <a:spcPts val="0"/>
                </a:spcAft>
              </a:pPr>
              <a:r>
                <a:rPr lang="en-US" sz="1400" dirty="0">
                  <a:solidFill>
                    <a:schemeClr val="tx1"/>
                  </a:solidFill>
                </a:rPr>
                <a:t>	which leads to inadequate model.</a:t>
              </a:r>
            </a:p>
            <a:p>
              <a:pPr algn="ctr" fontAlgn="auto">
                <a:spcAft>
                  <a:spcPts val="0"/>
                </a:spcAft>
              </a:pPr>
              <a:endParaRPr lang="en-US" sz="1400" b="1" dirty="0">
                <a:solidFill>
                  <a:schemeClr val="tx1"/>
                </a:solidFill>
              </a:endParaRPr>
            </a:p>
            <a:p>
              <a:pPr algn="ctr" fontAlgn="auto">
                <a:spcAft>
                  <a:spcPts val="0"/>
                </a:spcAft>
              </a:pPr>
              <a:r>
                <a:rPr lang="en-US" sz="1400" dirty="0">
                  <a:solidFill>
                    <a:schemeClr val="tx1"/>
                  </a:solidFill>
                </a:rPr>
                <a:t>I </a:t>
              </a:r>
              <a:r>
                <a:rPr lang="en-US" sz="1400" b="1" dirty="0">
                  <a:solidFill>
                    <a:schemeClr val="tx1"/>
                  </a:solidFill>
                </a:rPr>
                <a:t>can</a:t>
              </a:r>
              <a:r>
                <a:rPr lang="en-US" sz="1400" dirty="0">
                  <a:solidFill>
                    <a:schemeClr val="tx1"/>
                  </a:solidFill>
                </a:rPr>
                <a:t> </a:t>
              </a:r>
              <a:r>
                <a:rPr lang="en-US" sz="1400" b="1" dirty="0">
                  <a:solidFill>
                    <a:schemeClr val="tx1"/>
                  </a:solidFill>
                </a:rPr>
                <a:t>reduce</a:t>
              </a:r>
              <a:r>
                <a:rPr lang="en-US" sz="1400" dirty="0">
                  <a:solidFill>
                    <a:schemeClr val="tx1"/>
                  </a:solidFill>
                </a:rPr>
                <a:t> </a:t>
              </a:r>
              <a:r>
                <a:rPr lang="en-US" sz="1400" b="1" dirty="0">
                  <a:solidFill>
                    <a:schemeClr val="tx1"/>
                  </a:solidFill>
                </a:rPr>
                <a:t>uncertainty</a:t>
              </a:r>
              <a:r>
                <a:rPr lang="en-US" sz="1400" dirty="0">
                  <a:solidFill>
                    <a:schemeClr val="tx1"/>
                  </a:solidFill>
                </a:rPr>
                <a:t> with better data / model</a:t>
              </a:r>
              <a:r>
                <a:rPr lang="en-US" sz="1400" b="1" dirty="0">
                  <a:solidFill>
                    <a:schemeClr val="tx1"/>
                  </a:solidFill>
                </a:rPr>
                <a:t>.</a:t>
              </a:r>
            </a:p>
            <a:p>
              <a:pPr algn="ctr" fontAlgn="auto">
                <a:spcAft>
                  <a:spcPts val="0"/>
                </a:spcAft>
              </a:pPr>
              <a:r>
                <a:rPr lang="en-US" sz="1400" dirty="0">
                  <a:solidFill>
                    <a:schemeClr val="tx1"/>
                  </a:solidFill>
                </a:rPr>
                <a:t> Therefore,</a:t>
              </a:r>
              <a:r>
                <a:rPr lang="en-US" sz="1400" b="1" dirty="0">
                  <a:solidFill>
                    <a:schemeClr val="tx1"/>
                  </a:solidFill>
                </a:rPr>
                <a:t> </a:t>
              </a:r>
              <a:r>
                <a:rPr lang="en-US" sz="1400" dirty="0">
                  <a:solidFill>
                    <a:schemeClr val="tx1"/>
                  </a:solidFill>
                </a:rPr>
                <a:t>the </a:t>
              </a:r>
              <a:r>
                <a:rPr lang="en-US" sz="1400" b="1" dirty="0">
                  <a:solidFill>
                    <a:schemeClr val="tx1"/>
                  </a:solidFill>
                </a:rPr>
                <a:t>uncertainty </a:t>
              </a:r>
              <a:r>
                <a:rPr lang="en-US" sz="1400" dirty="0">
                  <a:solidFill>
                    <a:schemeClr val="tx1"/>
                  </a:solidFill>
                </a:rPr>
                <a:t>is </a:t>
              </a:r>
              <a:r>
                <a:rPr lang="en-US" sz="1400" b="1" dirty="0">
                  <a:solidFill>
                    <a:schemeClr val="tx1"/>
                  </a:solidFill>
                </a:rPr>
                <a:t>epistemic</a:t>
              </a:r>
              <a:r>
                <a:rPr lang="en-US" sz="1400" dirty="0">
                  <a:solidFill>
                    <a:schemeClr val="tx1"/>
                  </a:solidFill>
                </a:rPr>
                <a:t>.</a:t>
              </a:r>
            </a:p>
          </p:txBody>
        </p:sp>
      </p:grpSp>
      <p:graphicFrame>
        <p:nvGraphicFramePr>
          <p:cNvPr id="12" name="Diagram 11">
            <a:extLst>
              <a:ext uri="{FF2B5EF4-FFF2-40B4-BE49-F238E27FC236}">
                <a16:creationId xmlns:a16="http://schemas.microsoft.com/office/drawing/2014/main" id="{783A200A-32E9-43DE-A33F-DED251412333}"/>
              </a:ext>
            </a:extLst>
          </p:cNvPr>
          <p:cNvGraphicFramePr>
            <a:graphicFrameLocks noChangeAspect="1"/>
          </p:cNvGraphicFramePr>
          <p:nvPr/>
        </p:nvGraphicFramePr>
        <p:xfrm>
          <a:off x="-4267200" y="3810607"/>
          <a:ext cx="13927092" cy="28949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3" name="Diagram 12">
            <a:extLst>
              <a:ext uri="{FF2B5EF4-FFF2-40B4-BE49-F238E27FC236}">
                <a16:creationId xmlns:a16="http://schemas.microsoft.com/office/drawing/2014/main" id="{E3CF1E0A-30A5-4290-BD92-B11DADDF6CA5}"/>
              </a:ext>
            </a:extLst>
          </p:cNvPr>
          <p:cNvGraphicFramePr>
            <a:graphicFrameLocks noChangeAspect="1"/>
          </p:cNvGraphicFramePr>
          <p:nvPr/>
        </p:nvGraphicFramePr>
        <p:xfrm>
          <a:off x="6689240" y="4419391"/>
          <a:ext cx="2489396" cy="2021863"/>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4" name="Diagram 13">
            <a:extLst>
              <a:ext uri="{FF2B5EF4-FFF2-40B4-BE49-F238E27FC236}">
                <a16:creationId xmlns:a16="http://schemas.microsoft.com/office/drawing/2014/main" id="{1F264DBD-110C-4DB7-AD78-616513281F57}"/>
              </a:ext>
            </a:extLst>
          </p:cNvPr>
          <p:cNvGraphicFramePr>
            <a:graphicFrameLocks noChangeAspect="1"/>
          </p:cNvGraphicFramePr>
          <p:nvPr/>
        </p:nvGraphicFramePr>
        <p:xfrm>
          <a:off x="4402462" y="4419391"/>
          <a:ext cx="2489396" cy="2021863"/>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aphicFrame>
        <p:nvGraphicFramePr>
          <p:cNvPr id="15" name="Diagram 14">
            <a:extLst>
              <a:ext uri="{FF2B5EF4-FFF2-40B4-BE49-F238E27FC236}">
                <a16:creationId xmlns:a16="http://schemas.microsoft.com/office/drawing/2014/main" id="{56C20950-D3A5-4EA5-97EC-6DE1EE40DDC5}"/>
              </a:ext>
            </a:extLst>
          </p:cNvPr>
          <p:cNvGraphicFramePr>
            <a:graphicFrameLocks noChangeAspect="1"/>
          </p:cNvGraphicFramePr>
          <p:nvPr/>
        </p:nvGraphicFramePr>
        <p:xfrm>
          <a:off x="34724" y="3588877"/>
          <a:ext cx="1482713" cy="1204245"/>
        </p:xfrm>
        <a:graphic>
          <a:graphicData uri="http://schemas.openxmlformats.org/drawingml/2006/diagram">
            <dgm:relIds xmlns:dgm="http://schemas.openxmlformats.org/drawingml/2006/diagram" xmlns:r="http://schemas.openxmlformats.org/officeDocument/2006/relationships" r:dm="rId18" r:lo="rId19" r:qs="rId20" r:cs="rId21"/>
          </a:graphicData>
        </a:graphic>
      </p:graphicFrame>
    </p:spTree>
    <p:extLst>
      <p:ext uri="{BB962C8B-B14F-4D97-AF65-F5344CB8AC3E}">
        <p14:creationId xmlns:p14="http://schemas.microsoft.com/office/powerpoint/2010/main" val="2020232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Graphic spid="13" grpId="0">
        <p:bldAsOne/>
      </p:bldGraphic>
      <p:bldGraphic spid="14" grpId="0">
        <p:bldAsOne/>
      </p:bldGraphic>
      <p:bldGraphic spid="15" grpId="0">
        <p:bldAsOne/>
      </p:bldGraphic>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1"/>
          <p:cNvSpPr>
            <a:spLocks noGrp="1"/>
          </p:cNvSpPr>
          <p:nvPr>
            <p:ph type="title"/>
          </p:nvPr>
        </p:nvSpPr>
        <p:spPr>
          <a:xfrm>
            <a:off x="152400" y="228601"/>
            <a:ext cx="8839200" cy="468875"/>
          </a:xfrm>
        </p:spPr>
        <p:txBody>
          <a:bodyPr>
            <a:normAutofit/>
          </a:bodyPr>
          <a:lstStyle/>
          <a:p>
            <a:r>
              <a:rPr lang="en-US" sz="2000" b="1" dirty="0">
                <a:solidFill>
                  <a:schemeClr val="tx1"/>
                </a:solidFill>
              </a:rPr>
              <a:t>Observations, random variables, and the likelihood principle</a:t>
            </a:r>
          </a:p>
        </p:txBody>
      </p:sp>
      <p:grpSp>
        <p:nvGrpSpPr>
          <p:cNvPr id="8" name="Group 7"/>
          <p:cNvGrpSpPr/>
          <p:nvPr/>
        </p:nvGrpSpPr>
        <p:grpSpPr>
          <a:xfrm>
            <a:off x="152400" y="832660"/>
            <a:ext cx="8839200" cy="857830"/>
            <a:chOff x="152400" y="832660"/>
            <a:chExt cx="8839200" cy="857830"/>
          </a:xfrm>
        </p:grpSpPr>
        <mc:AlternateContent xmlns:mc="http://schemas.openxmlformats.org/markup-compatibility/2006" xmlns:a14="http://schemas.microsoft.com/office/drawing/2010/main">
          <mc:Choice Requires="a14">
            <p:sp>
              <p:nvSpPr>
                <p:cNvPr id="22" name="Title 4 2 1 1 1"/>
                <p:cNvSpPr txBox="1">
                  <a:spLocks/>
                </p:cNvSpPr>
                <p:nvPr/>
              </p:nvSpPr>
              <p:spPr>
                <a:xfrm>
                  <a:off x="152400" y="832660"/>
                  <a:ext cx="8839200" cy="458219"/>
                </a:xfrm>
                <a:prstGeom prst="rect">
                  <a:avLst/>
                </a:prstGeom>
              </p:spPr>
              <p:txBody>
                <a:bodyPr vert="horz" lIns="91440" tIns="45720" rIns="91440" bIns="45720" rtlCol="0" anchor="ctr">
                  <a:no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pPr fontAlgn="auto">
                    <a:spcAft>
                      <a:spcPts val="0"/>
                    </a:spcAft>
                  </a:pPr>
                  <a:r>
                    <a:rPr lang="en-US" sz="1500" dirty="0">
                      <a:solidFill>
                        <a:schemeClr val="tx1"/>
                      </a:solidFill>
                    </a:rPr>
                    <a:t>Suppose we observe the following data of </a:t>
                  </a:r>
                  <a14:m>
                    <m:oMath xmlns:m="http://schemas.openxmlformats.org/officeDocument/2006/math">
                      <m:r>
                        <a:rPr lang="en-US" sz="1500" b="0" i="1" smtClean="0">
                          <a:solidFill>
                            <a:schemeClr val="tx1"/>
                          </a:solidFill>
                          <a:latin typeface="Cambria Math" panose="02040503050406030204" pitchFamily="18" charset="0"/>
                        </a:rPr>
                        <m:t>𝑛</m:t>
                      </m:r>
                    </m:oMath>
                  </a14:m>
                  <a:r>
                    <a:rPr lang="en-US" sz="1500" dirty="0">
                      <a:solidFill>
                        <a:schemeClr val="tx1"/>
                      </a:solidFill>
                    </a:rPr>
                    <a:t> events, each described by </a:t>
                  </a:r>
                  <a14:m>
                    <m:oMath xmlns:m="http://schemas.openxmlformats.org/officeDocument/2006/math">
                      <m:r>
                        <a:rPr lang="en-US" sz="1500" i="1" dirty="0" smtClean="0">
                          <a:solidFill>
                            <a:schemeClr val="tx1"/>
                          </a:solidFill>
                          <a:latin typeface="Cambria Math" panose="02040503050406030204" pitchFamily="18" charset="0"/>
                        </a:rPr>
                        <m:t>𝑚</m:t>
                      </m:r>
                    </m:oMath>
                  </a14:m>
                  <a:r>
                    <a:rPr lang="en-US" sz="1500" dirty="0">
                      <a:solidFill>
                        <a:schemeClr val="tx1"/>
                      </a:solidFill>
                    </a:rPr>
                    <a:t> variables,</a:t>
                  </a:r>
                </a:p>
              </p:txBody>
            </p:sp>
          </mc:Choice>
          <mc:Fallback xmlns="">
            <p:sp>
              <p:nvSpPr>
                <p:cNvPr id="22" name="Title 4 2 1 1 1"/>
                <p:cNvSpPr txBox="1">
                  <a:spLocks noRot="1" noChangeAspect="1" noMove="1" noResize="1" noEditPoints="1" noAdjustHandles="1" noChangeArrowheads="1" noChangeShapeType="1" noTextEdit="1"/>
                </p:cNvSpPr>
                <p:nvPr/>
              </p:nvSpPr>
              <p:spPr>
                <a:xfrm>
                  <a:off x="152400" y="832660"/>
                  <a:ext cx="8839200" cy="458219"/>
                </a:xfrm>
                <a:prstGeom prst="rect">
                  <a:avLst/>
                </a:prstGeom>
                <a:blipFill>
                  <a:blip r:embed="rId8"/>
                  <a:stretch>
                    <a:fillRect l="-276"/>
                  </a:stretch>
                </a:blipFill>
              </p:spPr>
              <p:txBody>
                <a:bodyPr/>
                <a:lstStyle/>
                <a:p>
                  <a:r>
                    <a:rPr lang="en-US">
                      <a:noFill/>
                    </a:rPr>
                    <a:t> </a:t>
                  </a:r>
                </a:p>
              </p:txBody>
            </p:sp>
          </mc:Fallback>
        </mc:AlternateContent>
        <p:pic>
          <p:nvPicPr>
            <p:cNvPr id="4" name="Picture 3"/>
            <p:cNvPicPr>
              <a:picLocks noChangeAspect="1"/>
            </p:cNvPicPr>
            <p:nvPr>
              <p:custDataLst>
                <p:tags r:id="rId3"/>
              </p:custDataLst>
            </p:nvPr>
          </p:nvPicPr>
          <p:blipFill>
            <a:blip r:embed="rId9" cstate="print">
              <a:extLst>
                <a:ext uri="{28A0092B-C50C-407E-A947-70E740481C1C}">
                  <a14:useLocalDpi xmlns:a14="http://schemas.microsoft.com/office/drawing/2010/main" val="0"/>
                </a:ext>
              </a:extLst>
            </a:blip>
            <a:stretch>
              <a:fillRect/>
            </a:stretch>
          </p:blipFill>
          <p:spPr>
            <a:xfrm>
              <a:off x="3362857" y="1437538"/>
              <a:ext cx="2418286" cy="252952"/>
            </a:xfrm>
            <a:prstGeom prst="rect">
              <a:avLst/>
            </a:prstGeom>
          </p:spPr>
        </p:pic>
      </p:grpSp>
      <mc:AlternateContent xmlns:mc="http://schemas.openxmlformats.org/markup-compatibility/2006" xmlns:a14="http://schemas.microsoft.com/office/drawing/2010/main">
        <mc:Choice Requires="a14">
          <p:sp>
            <p:nvSpPr>
              <p:cNvPr id="7" name="Rounded Rectangle 6"/>
              <p:cNvSpPr/>
              <p:nvPr/>
            </p:nvSpPr>
            <p:spPr>
              <a:xfrm>
                <a:off x="309623" y="4724400"/>
                <a:ext cx="8524754" cy="1447800"/>
              </a:xfrm>
              <a:prstGeom prst="roundRect">
                <a:avLst/>
              </a:prstGeom>
              <a:solidFill>
                <a:schemeClr val="accent1">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800" b="1" dirty="0">
                    <a:solidFill>
                      <a:schemeClr val="tx1"/>
                    </a:solidFill>
                  </a:rPr>
                  <a:t>Philosophical counterfactual assumption in statistical modeling</a:t>
                </a:r>
                <a:endParaRPr lang="en-US" sz="1800" dirty="0">
                  <a:solidFill>
                    <a:schemeClr val="tx1"/>
                  </a:solidFill>
                </a:endParaRPr>
              </a:p>
              <a:p>
                <a:pPr algn="ctr"/>
                <a:r>
                  <a:rPr lang="en-US" sz="1600" dirty="0">
                    <a:solidFill>
                      <a:schemeClr val="tx1"/>
                    </a:solidFill>
                  </a:rPr>
                  <a:t>(John Stuart Mill, A system of Logic, Ratiocinative and Inductive, 1843)</a:t>
                </a:r>
              </a:p>
              <a:p>
                <a:pPr algn="ctr"/>
                <a:endParaRPr lang="en-US" sz="500" dirty="0">
                  <a:solidFill>
                    <a:schemeClr val="tx1"/>
                  </a:solidFill>
                </a:endParaRPr>
              </a:p>
              <a:p>
                <a:pPr algn="ctr"/>
                <a:r>
                  <a:rPr lang="en-US" sz="1600" dirty="0">
                    <a:solidFill>
                      <a:schemeClr val="tx1"/>
                    </a:solidFill>
                  </a:rPr>
                  <a:t>Even though we have observed dataset </a:t>
                </a:r>
                <a14:m>
                  <m:oMath xmlns:m="http://schemas.openxmlformats.org/officeDocument/2006/math">
                    <m:r>
                      <a:rPr lang="en-US" sz="1600" b="0" i="1" smtClean="0">
                        <a:solidFill>
                          <a:schemeClr val="tx1"/>
                        </a:solidFill>
                        <a:latin typeface="Cambria Math" panose="02040503050406030204" pitchFamily="18" charset="0"/>
                      </a:rPr>
                      <m:t>𝒟</m:t>
                    </m:r>
                  </m:oMath>
                </a14:m>
                <a:r>
                  <a:rPr lang="en-US" sz="1600" dirty="0">
                    <a:solidFill>
                      <a:schemeClr val="tx1"/>
                    </a:solidFill>
                  </a:rPr>
                  <a:t>, the experiment outcome could be different if repeated.</a:t>
                </a:r>
              </a:p>
              <a:p>
                <a:pPr algn="ctr"/>
                <a:r>
                  <a:rPr lang="en-US" sz="1600" dirty="0">
                    <a:solidFill>
                      <a:schemeClr val="tx1"/>
                    </a:solidFill>
                  </a:rPr>
                  <a:t>In other words, </a:t>
                </a:r>
                <a14:m>
                  <m:oMath xmlns:m="http://schemas.openxmlformats.org/officeDocument/2006/math">
                    <m:r>
                      <a:rPr lang="en-US" sz="1600" b="1" i="1" dirty="0" smtClean="0">
                        <a:solidFill>
                          <a:schemeClr val="tx1"/>
                        </a:solidFill>
                        <a:latin typeface="Cambria Math" panose="02040503050406030204" pitchFamily="18" charset="0"/>
                      </a:rPr>
                      <m:t>𝑫</m:t>
                    </m:r>
                  </m:oMath>
                </a14:m>
                <a:r>
                  <a:rPr lang="en-US" sz="1600" dirty="0">
                    <a:solidFill>
                      <a:schemeClr val="tx1"/>
                    </a:solidFill>
                  </a:rPr>
                  <a:t> is a </a:t>
                </a:r>
                <a:r>
                  <a:rPr lang="en-US" sz="1600" b="1" dirty="0">
                    <a:solidFill>
                      <a:schemeClr val="tx1"/>
                    </a:solidFill>
                  </a:rPr>
                  <a:t>random variable</a:t>
                </a:r>
                <a:r>
                  <a:rPr lang="en-US" sz="1600" dirty="0">
                    <a:solidFill>
                      <a:schemeClr val="tx1"/>
                    </a:solidFill>
                  </a:rPr>
                  <a:t>; a real-valued function with a </a:t>
                </a:r>
                <a:r>
                  <a:rPr lang="en-US" sz="1600" b="1" dirty="0">
                    <a:solidFill>
                      <a:schemeClr val="tx1"/>
                    </a:solidFill>
                  </a:rPr>
                  <a:t>sample space</a:t>
                </a:r>
                <a:r>
                  <a:rPr lang="en-US" sz="1600" dirty="0">
                    <a:solidFill>
                      <a:schemeClr val="tx1"/>
                    </a:solidFill>
                  </a:rPr>
                  <a:t> as its domain.</a:t>
                </a:r>
                <a:endParaRPr lang="en-US" sz="1600" b="1" dirty="0">
                  <a:solidFill>
                    <a:schemeClr val="tx1"/>
                  </a:solidFill>
                </a:endParaRPr>
              </a:p>
            </p:txBody>
          </p:sp>
        </mc:Choice>
        <mc:Fallback xmlns="">
          <p:sp>
            <p:nvSpPr>
              <p:cNvPr id="7" name="Rounded Rectangle 6"/>
              <p:cNvSpPr>
                <a:spLocks noRot="1" noChangeAspect="1" noMove="1" noResize="1" noEditPoints="1" noAdjustHandles="1" noChangeArrowheads="1" noChangeShapeType="1" noTextEdit="1"/>
              </p:cNvSpPr>
              <p:nvPr/>
            </p:nvSpPr>
            <p:spPr>
              <a:xfrm>
                <a:off x="309623" y="4724400"/>
                <a:ext cx="8524754" cy="1447800"/>
              </a:xfrm>
              <a:prstGeom prst="round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34C96DE7-7F82-A9EF-F8CA-A329F72F0EDD}"/>
                  </a:ext>
                </a:extLst>
              </p:cNvPr>
              <p:cNvGraphicFramePr>
                <a:graphicFrameLocks noGrp="1"/>
              </p:cNvGraphicFramePr>
              <p:nvPr/>
            </p:nvGraphicFramePr>
            <p:xfrm>
              <a:off x="1510898" y="2276797"/>
              <a:ext cx="6109104" cy="1854200"/>
            </p:xfrm>
            <a:graphic>
              <a:graphicData uri="http://schemas.openxmlformats.org/drawingml/2006/table">
                <a:tbl>
                  <a:tblPr firstRow="1" bandRow="1">
                    <a:tableStyleId>{5C22544A-7EE6-4342-B048-85BDC9FD1C3A}</a:tableStyleId>
                  </a:tblPr>
                  <a:tblGrid>
                    <a:gridCol w="1018184">
                      <a:extLst>
                        <a:ext uri="{9D8B030D-6E8A-4147-A177-3AD203B41FA5}">
                          <a16:colId xmlns:a16="http://schemas.microsoft.com/office/drawing/2014/main" val="1487370783"/>
                        </a:ext>
                      </a:extLst>
                    </a:gridCol>
                    <a:gridCol w="1018184">
                      <a:extLst>
                        <a:ext uri="{9D8B030D-6E8A-4147-A177-3AD203B41FA5}">
                          <a16:colId xmlns:a16="http://schemas.microsoft.com/office/drawing/2014/main" val="809618420"/>
                        </a:ext>
                      </a:extLst>
                    </a:gridCol>
                    <a:gridCol w="1018184">
                      <a:extLst>
                        <a:ext uri="{9D8B030D-6E8A-4147-A177-3AD203B41FA5}">
                          <a16:colId xmlns:a16="http://schemas.microsoft.com/office/drawing/2014/main" val="3098290038"/>
                        </a:ext>
                      </a:extLst>
                    </a:gridCol>
                    <a:gridCol w="1018184">
                      <a:extLst>
                        <a:ext uri="{9D8B030D-6E8A-4147-A177-3AD203B41FA5}">
                          <a16:colId xmlns:a16="http://schemas.microsoft.com/office/drawing/2014/main" val="2127371794"/>
                        </a:ext>
                      </a:extLst>
                    </a:gridCol>
                    <a:gridCol w="1018184">
                      <a:extLst>
                        <a:ext uri="{9D8B030D-6E8A-4147-A177-3AD203B41FA5}">
                          <a16:colId xmlns:a16="http://schemas.microsoft.com/office/drawing/2014/main" val="3561738494"/>
                        </a:ext>
                      </a:extLst>
                    </a:gridCol>
                    <a:gridCol w="1018184">
                      <a:extLst>
                        <a:ext uri="{9D8B030D-6E8A-4147-A177-3AD203B41FA5}">
                          <a16:colId xmlns:a16="http://schemas.microsoft.com/office/drawing/2014/main" val="3030355027"/>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𝐷𝐴𝑇𝐴</m:t>
                                </m:r>
                              </m:oMath>
                            </m:oMathPara>
                          </a14:m>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1" i="1" dirty="0" smtClean="0">
                                    <a:latin typeface="Cambria Math" panose="02040503050406030204" pitchFamily="18" charset="0"/>
                                  </a:rPr>
                                  <m:t>𝑿</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b="1" i="1" dirty="0" smtClean="0">
                                    <a:latin typeface="Cambria Math" panose="02040503050406030204" pitchFamily="18" charset="0"/>
                                  </a:rPr>
                                  <m:t>𝒀</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b="1" i="1" dirty="0" smtClean="0">
                                    <a:latin typeface="Cambria Math" panose="02040503050406030204" pitchFamily="18" charset="0"/>
                                  </a:rPr>
                                  <m:t>𝒁</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b="1" i="1" dirty="0" smtClean="0">
                                    <a:latin typeface="Cambria Math" panose="02040503050406030204" pitchFamily="18" charset="0"/>
                                  </a:rPr>
                                  <m:t>𝒕</m:t>
                                </m:r>
                              </m:oMath>
                            </m:oMathPara>
                          </a14:m>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𝜙</m:t>
                                </m:r>
                              </m:oMath>
                            </m:oMathPara>
                          </a14:m>
                          <a:endParaRPr lang="en-US" dirty="0"/>
                        </a:p>
                      </a:txBody>
                      <a:tcPr/>
                    </a:tc>
                    <a:extLst>
                      <a:ext uri="{0D108BD9-81ED-4DB2-BD59-A6C34878D82A}">
                        <a16:rowId xmlns:a16="http://schemas.microsoft.com/office/drawing/2014/main" val="2994161241"/>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𝑫</m:t>
                                    </m:r>
                                  </m:e>
                                  <m:sub>
                                    <m:r>
                                      <a:rPr lang="en-US" b="1" i="1" dirty="0" smtClean="0">
                                        <a:latin typeface="Cambria Math" panose="02040503050406030204" pitchFamily="18" charset="0"/>
                                      </a:rPr>
                                      <m:t>𝟏</m:t>
                                    </m:r>
                                  </m:sub>
                                </m:sSub>
                              </m:oMath>
                            </m:oMathPara>
                          </a14:m>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𝑦</m:t>
                                    </m:r>
                                  </m:e>
                                  <m:sub>
                                    <m:r>
                                      <a:rPr lang="en-US" b="0" i="1" dirty="0" smtClean="0">
                                        <a:latin typeface="Cambria Math" panose="02040503050406030204" pitchFamily="18" charset="0"/>
                                      </a:rPr>
                                      <m:t>1</m:t>
                                    </m:r>
                                  </m:sub>
                                </m:sSub>
                              </m:oMath>
                            </m:oMathPara>
                          </a14:m>
                          <a:endParaRPr lang="en-US" b="0"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𝑧</m:t>
                                    </m:r>
                                  </m:e>
                                  <m:sub>
                                    <m:r>
                                      <a:rPr lang="en-US" b="0" i="1" dirty="0" smtClean="0">
                                        <a:latin typeface="Cambria Math" panose="02040503050406030204" pitchFamily="18" charset="0"/>
                                      </a:rPr>
                                      <m:t>1</m:t>
                                    </m:r>
                                  </m:sub>
                                </m:sSub>
                              </m:oMath>
                            </m:oMathPara>
                          </a14:m>
                          <a:endParaRPr lang="en-US" b="0"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𝑡</m:t>
                                    </m:r>
                                  </m:e>
                                  <m:sub>
                                    <m:r>
                                      <a:rPr lang="en-US" b="0" i="1" dirty="0" smtClean="0">
                                        <a:latin typeface="Cambria Math" panose="02040503050406030204" pitchFamily="18" charset="0"/>
                                      </a:rPr>
                                      <m:t>1</m:t>
                                    </m:r>
                                  </m:sub>
                                </m:sSub>
                              </m:oMath>
                            </m:oMathPara>
                          </a14:m>
                          <a:endParaRPr lang="en-US" b="0"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1</m:t>
                                    </m:r>
                                  </m:sub>
                                </m:sSub>
                              </m:oMath>
                            </m:oMathPara>
                          </a14:m>
                          <a:endParaRPr lang="en-US" b="0" dirty="0"/>
                        </a:p>
                      </a:txBody>
                      <a:tcPr/>
                    </a:tc>
                    <a:extLst>
                      <a:ext uri="{0D108BD9-81ED-4DB2-BD59-A6C34878D82A}">
                        <a16:rowId xmlns:a16="http://schemas.microsoft.com/office/drawing/2014/main" val="2692342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𝑫</m:t>
                                    </m:r>
                                  </m:e>
                                  <m:sub>
                                    <m:r>
                                      <a:rPr lang="en-US" b="1" i="1" dirty="0" smtClean="0">
                                        <a:latin typeface="Cambria Math" panose="02040503050406030204" pitchFamily="18" charset="0"/>
                                      </a:rPr>
                                      <m:t>𝟐</m:t>
                                    </m:r>
                                  </m:sub>
                                </m:sSub>
                              </m:oMath>
                            </m:oMathPara>
                          </a14:m>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2</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𝑦</m:t>
                                    </m:r>
                                  </m:e>
                                  <m:sub>
                                    <m:r>
                                      <a:rPr lang="en-US" b="0" i="1" dirty="0" smtClean="0">
                                        <a:latin typeface="Cambria Math" panose="02040503050406030204" pitchFamily="18" charset="0"/>
                                      </a:rPr>
                                      <m:t>2</m:t>
                                    </m:r>
                                  </m:sub>
                                </m:sSub>
                              </m:oMath>
                            </m:oMathPara>
                          </a14:m>
                          <a:endParaRPr lang="en-US" b="0"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𝑧</m:t>
                                    </m:r>
                                  </m:e>
                                  <m:sub>
                                    <m:r>
                                      <a:rPr lang="en-US" b="0" i="1" dirty="0" smtClean="0">
                                        <a:latin typeface="Cambria Math" panose="02040503050406030204" pitchFamily="18" charset="0"/>
                                      </a:rPr>
                                      <m:t>2</m:t>
                                    </m:r>
                                  </m:sub>
                                </m:sSub>
                              </m:oMath>
                            </m:oMathPara>
                          </a14:m>
                          <a:endParaRPr lang="en-US" b="0"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𝑡</m:t>
                                    </m:r>
                                  </m:e>
                                  <m:sub>
                                    <m:r>
                                      <a:rPr lang="en-US" b="0" i="1" dirty="0" smtClean="0">
                                        <a:latin typeface="Cambria Math" panose="02040503050406030204" pitchFamily="18" charset="0"/>
                                      </a:rPr>
                                      <m:t>2</m:t>
                                    </m:r>
                                  </m:sub>
                                </m:sSub>
                              </m:oMath>
                            </m:oMathPara>
                          </a14:m>
                          <a:endParaRPr lang="en-US" b="0"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2</m:t>
                                    </m:r>
                                  </m:sub>
                                </m:sSub>
                              </m:oMath>
                            </m:oMathPara>
                          </a14:m>
                          <a:endParaRPr lang="en-US" b="0" dirty="0"/>
                        </a:p>
                      </a:txBody>
                      <a:tcPr/>
                    </a:tc>
                    <a:extLst>
                      <a:ext uri="{0D108BD9-81ED-4DB2-BD59-A6C34878D82A}">
                        <a16:rowId xmlns:a16="http://schemas.microsoft.com/office/drawing/2014/main" val="3964471546"/>
                      </a:ext>
                    </a:extLst>
                  </a:tr>
                  <a:tr h="370840">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3898468473"/>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𝑫</m:t>
                                    </m:r>
                                  </m:e>
                                  <m:sub>
                                    <m:r>
                                      <a:rPr lang="en-US" b="1" i="1" dirty="0" smtClean="0">
                                        <a:latin typeface="Cambria Math" panose="02040503050406030204" pitchFamily="18" charset="0"/>
                                      </a:rPr>
                                      <m:t>𝒏</m:t>
                                    </m:r>
                                  </m:sub>
                                </m:sSub>
                              </m:oMath>
                            </m:oMathPara>
                          </a14:m>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𝑦</m:t>
                                    </m:r>
                                  </m:e>
                                  <m:sub>
                                    <m:r>
                                      <a:rPr lang="en-US" b="0" i="1" dirty="0" smtClean="0">
                                        <a:latin typeface="Cambria Math" panose="02040503050406030204" pitchFamily="18" charset="0"/>
                                      </a:rPr>
                                      <m:t>𝑛</m:t>
                                    </m:r>
                                  </m:sub>
                                </m:sSub>
                              </m:oMath>
                            </m:oMathPara>
                          </a14:m>
                          <a:endParaRPr lang="en-US" b="0"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𝑧</m:t>
                                    </m:r>
                                  </m:e>
                                  <m:sub>
                                    <m:r>
                                      <a:rPr lang="en-US" b="0" i="1" dirty="0" smtClean="0">
                                        <a:latin typeface="Cambria Math" panose="02040503050406030204" pitchFamily="18" charset="0"/>
                                      </a:rPr>
                                      <m:t>𝑛</m:t>
                                    </m:r>
                                  </m:sub>
                                </m:sSub>
                              </m:oMath>
                            </m:oMathPara>
                          </a14:m>
                          <a:endParaRPr lang="en-US" b="0"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𝑡</m:t>
                                    </m:r>
                                  </m:e>
                                  <m:sub>
                                    <m:r>
                                      <a:rPr lang="en-US" b="0" i="1" dirty="0" smtClean="0">
                                        <a:latin typeface="Cambria Math" panose="02040503050406030204" pitchFamily="18" charset="0"/>
                                      </a:rPr>
                                      <m:t>𝑛</m:t>
                                    </m:r>
                                  </m:sub>
                                </m:sSub>
                              </m:oMath>
                            </m:oMathPara>
                          </a14:m>
                          <a:endParaRPr lang="en-US" b="0"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𝑛</m:t>
                                    </m:r>
                                  </m:sub>
                                </m:sSub>
                              </m:oMath>
                            </m:oMathPara>
                          </a14:m>
                          <a:endParaRPr lang="en-US" b="0" dirty="0"/>
                        </a:p>
                      </a:txBody>
                      <a:tcPr/>
                    </a:tc>
                    <a:extLst>
                      <a:ext uri="{0D108BD9-81ED-4DB2-BD59-A6C34878D82A}">
                        <a16:rowId xmlns:a16="http://schemas.microsoft.com/office/drawing/2014/main" val="2814626172"/>
                      </a:ext>
                    </a:extLst>
                  </a:tr>
                </a:tbl>
              </a:graphicData>
            </a:graphic>
          </p:graphicFrame>
        </mc:Choice>
        <mc:Fallback xmlns="">
          <p:graphicFrame>
            <p:nvGraphicFramePr>
              <p:cNvPr id="6" name="Table 5">
                <a:extLst>
                  <a:ext uri="{FF2B5EF4-FFF2-40B4-BE49-F238E27FC236}">
                    <a16:creationId xmlns:a16="http://schemas.microsoft.com/office/drawing/2014/main" id="{34C96DE7-7F82-A9EF-F8CA-A329F72F0EDD}"/>
                  </a:ext>
                </a:extLst>
              </p:cNvPr>
              <p:cNvGraphicFramePr>
                <a:graphicFrameLocks noGrp="1"/>
              </p:cNvGraphicFramePr>
              <p:nvPr/>
            </p:nvGraphicFramePr>
            <p:xfrm>
              <a:off x="1510898" y="2276797"/>
              <a:ext cx="6109104" cy="1854200"/>
            </p:xfrm>
            <a:graphic>
              <a:graphicData uri="http://schemas.openxmlformats.org/drawingml/2006/table">
                <a:tbl>
                  <a:tblPr firstRow="1" bandRow="1">
                    <a:tableStyleId>{5C22544A-7EE6-4342-B048-85BDC9FD1C3A}</a:tableStyleId>
                  </a:tblPr>
                  <a:tblGrid>
                    <a:gridCol w="1018184">
                      <a:extLst>
                        <a:ext uri="{9D8B030D-6E8A-4147-A177-3AD203B41FA5}">
                          <a16:colId xmlns:a16="http://schemas.microsoft.com/office/drawing/2014/main" val="1487370783"/>
                        </a:ext>
                      </a:extLst>
                    </a:gridCol>
                    <a:gridCol w="1018184">
                      <a:extLst>
                        <a:ext uri="{9D8B030D-6E8A-4147-A177-3AD203B41FA5}">
                          <a16:colId xmlns:a16="http://schemas.microsoft.com/office/drawing/2014/main" val="809618420"/>
                        </a:ext>
                      </a:extLst>
                    </a:gridCol>
                    <a:gridCol w="1018184">
                      <a:extLst>
                        <a:ext uri="{9D8B030D-6E8A-4147-A177-3AD203B41FA5}">
                          <a16:colId xmlns:a16="http://schemas.microsoft.com/office/drawing/2014/main" val="3098290038"/>
                        </a:ext>
                      </a:extLst>
                    </a:gridCol>
                    <a:gridCol w="1018184">
                      <a:extLst>
                        <a:ext uri="{9D8B030D-6E8A-4147-A177-3AD203B41FA5}">
                          <a16:colId xmlns:a16="http://schemas.microsoft.com/office/drawing/2014/main" val="2127371794"/>
                        </a:ext>
                      </a:extLst>
                    </a:gridCol>
                    <a:gridCol w="1018184">
                      <a:extLst>
                        <a:ext uri="{9D8B030D-6E8A-4147-A177-3AD203B41FA5}">
                          <a16:colId xmlns:a16="http://schemas.microsoft.com/office/drawing/2014/main" val="3561738494"/>
                        </a:ext>
                      </a:extLst>
                    </a:gridCol>
                    <a:gridCol w="1018184">
                      <a:extLst>
                        <a:ext uri="{9D8B030D-6E8A-4147-A177-3AD203B41FA5}">
                          <a16:colId xmlns:a16="http://schemas.microsoft.com/office/drawing/2014/main" val="3030355027"/>
                        </a:ext>
                      </a:extLst>
                    </a:gridCol>
                  </a:tblGrid>
                  <a:tr h="370840">
                    <a:tc>
                      <a:txBody>
                        <a:bodyPr/>
                        <a:lstStyle/>
                        <a:p>
                          <a:endParaRPr lang="en-US"/>
                        </a:p>
                      </a:txBody>
                      <a:tcPr>
                        <a:blipFill>
                          <a:blip r:embed="rId11"/>
                          <a:stretch>
                            <a:fillRect l="-599" t="-1639" r="-503593" b="-411475"/>
                          </a:stretch>
                        </a:blipFill>
                      </a:tcPr>
                    </a:tc>
                    <a:tc>
                      <a:txBody>
                        <a:bodyPr/>
                        <a:lstStyle/>
                        <a:p>
                          <a:endParaRPr lang="en-US"/>
                        </a:p>
                      </a:txBody>
                      <a:tcPr>
                        <a:blipFill>
                          <a:blip r:embed="rId11"/>
                          <a:stretch>
                            <a:fillRect l="-100000" t="-1639" r="-400595" b="-411475"/>
                          </a:stretch>
                        </a:blipFill>
                      </a:tcPr>
                    </a:tc>
                    <a:tc>
                      <a:txBody>
                        <a:bodyPr/>
                        <a:lstStyle/>
                        <a:p>
                          <a:endParaRPr lang="en-US"/>
                        </a:p>
                      </a:txBody>
                      <a:tcPr>
                        <a:blipFill>
                          <a:blip r:embed="rId11"/>
                          <a:stretch>
                            <a:fillRect l="-201198" t="-1639" r="-302994" b="-411475"/>
                          </a:stretch>
                        </a:blipFill>
                      </a:tcPr>
                    </a:tc>
                    <a:tc>
                      <a:txBody>
                        <a:bodyPr/>
                        <a:lstStyle/>
                        <a:p>
                          <a:endParaRPr lang="en-US"/>
                        </a:p>
                      </a:txBody>
                      <a:tcPr>
                        <a:blipFill>
                          <a:blip r:embed="rId11"/>
                          <a:stretch>
                            <a:fillRect l="-301198" t="-1639" r="-202994" b="-411475"/>
                          </a:stretch>
                        </a:blipFill>
                      </a:tcPr>
                    </a:tc>
                    <a:tc>
                      <a:txBody>
                        <a:bodyPr/>
                        <a:lstStyle/>
                        <a:p>
                          <a:endParaRPr lang="en-US"/>
                        </a:p>
                      </a:txBody>
                      <a:tcPr>
                        <a:blipFill>
                          <a:blip r:embed="rId11"/>
                          <a:stretch>
                            <a:fillRect l="-398810" t="-1639" r="-101786" b="-411475"/>
                          </a:stretch>
                        </a:blipFill>
                      </a:tcPr>
                    </a:tc>
                    <a:tc>
                      <a:txBody>
                        <a:bodyPr/>
                        <a:lstStyle/>
                        <a:p>
                          <a:endParaRPr lang="en-US"/>
                        </a:p>
                      </a:txBody>
                      <a:tcPr>
                        <a:blipFill>
                          <a:blip r:embed="rId11"/>
                          <a:stretch>
                            <a:fillRect l="-501796" t="-1639" r="-2395" b="-411475"/>
                          </a:stretch>
                        </a:blipFill>
                      </a:tcPr>
                    </a:tc>
                    <a:extLst>
                      <a:ext uri="{0D108BD9-81ED-4DB2-BD59-A6C34878D82A}">
                        <a16:rowId xmlns:a16="http://schemas.microsoft.com/office/drawing/2014/main" val="2994161241"/>
                      </a:ext>
                    </a:extLst>
                  </a:tr>
                  <a:tr h="370840">
                    <a:tc>
                      <a:txBody>
                        <a:bodyPr/>
                        <a:lstStyle/>
                        <a:p>
                          <a:endParaRPr lang="en-US"/>
                        </a:p>
                      </a:txBody>
                      <a:tcPr>
                        <a:blipFill>
                          <a:blip r:embed="rId11"/>
                          <a:stretch>
                            <a:fillRect l="-599" t="-101639" r="-503593" b="-311475"/>
                          </a:stretch>
                        </a:blipFill>
                      </a:tcPr>
                    </a:tc>
                    <a:tc>
                      <a:txBody>
                        <a:bodyPr/>
                        <a:lstStyle/>
                        <a:p>
                          <a:endParaRPr lang="en-US"/>
                        </a:p>
                      </a:txBody>
                      <a:tcPr>
                        <a:blipFill>
                          <a:blip r:embed="rId11"/>
                          <a:stretch>
                            <a:fillRect l="-100000" t="-101639" r="-400595" b="-311475"/>
                          </a:stretch>
                        </a:blipFill>
                      </a:tcPr>
                    </a:tc>
                    <a:tc>
                      <a:txBody>
                        <a:bodyPr/>
                        <a:lstStyle/>
                        <a:p>
                          <a:endParaRPr lang="en-US"/>
                        </a:p>
                      </a:txBody>
                      <a:tcPr>
                        <a:blipFill>
                          <a:blip r:embed="rId11"/>
                          <a:stretch>
                            <a:fillRect l="-201198" t="-101639" r="-302994" b="-311475"/>
                          </a:stretch>
                        </a:blipFill>
                      </a:tcPr>
                    </a:tc>
                    <a:tc>
                      <a:txBody>
                        <a:bodyPr/>
                        <a:lstStyle/>
                        <a:p>
                          <a:endParaRPr lang="en-US"/>
                        </a:p>
                      </a:txBody>
                      <a:tcPr>
                        <a:blipFill>
                          <a:blip r:embed="rId11"/>
                          <a:stretch>
                            <a:fillRect l="-301198" t="-101639" r="-202994" b="-311475"/>
                          </a:stretch>
                        </a:blipFill>
                      </a:tcPr>
                    </a:tc>
                    <a:tc>
                      <a:txBody>
                        <a:bodyPr/>
                        <a:lstStyle/>
                        <a:p>
                          <a:endParaRPr lang="en-US"/>
                        </a:p>
                      </a:txBody>
                      <a:tcPr>
                        <a:blipFill>
                          <a:blip r:embed="rId11"/>
                          <a:stretch>
                            <a:fillRect l="-398810" t="-101639" r="-101786" b="-311475"/>
                          </a:stretch>
                        </a:blipFill>
                      </a:tcPr>
                    </a:tc>
                    <a:tc>
                      <a:txBody>
                        <a:bodyPr/>
                        <a:lstStyle/>
                        <a:p>
                          <a:endParaRPr lang="en-US"/>
                        </a:p>
                      </a:txBody>
                      <a:tcPr>
                        <a:blipFill>
                          <a:blip r:embed="rId11"/>
                          <a:stretch>
                            <a:fillRect l="-501796" t="-101639" r="-2395" b="-311475"/>
                          </a:stretch>
                        </a:blipFill>
                      </a:tcPr>
                    </a:tc>
                    <a:extLst>
                      <a:ext uri="{0D108BD9-81ED-4DB2-BD59-A6C34878D82A}">
                        <a16:rowId xmlns:a16="http://schemas.microsoft.com/office/drawing/2014/main" val="2692342949"/>
                      </a:ext>
                    </a:extLst>
                  </a:tr>
                  <a:tr h="370840">
                    <a:tc>
                      <a:txBody>
                        <a:bodyPr/>
                        <a:lstStyle/>
                        <a:p>
                          <a:endParaRPr lang="en-US"/>
                        </a:p>
                      </a:txBody>
                      <a:tcPr>
                        <a:blipFill>
                          <a:blip r:embed="rId11"/>
                          <a:stretch>
                            <a:fillRect l="-599" t="-201639" r="-503593" b="-211475"/>
                          </a:stretch>
                        </a:blipFill>
                      </a:tcPr>
                    </a:tc>
                    <a:tc>
                      <a:txBody>
                        <a:bodyPr/>
                        <a:lstStyle/>
                        <a:p>
                          <a:endParaRPr lang="en-US"/>
                        </a:p>
                      </a:txBody>
                      <a:tcPr>
                        <a:blipFill>
                          <a:blip r:embed="rId11"/>
                          <a:stretch>
                            <a:fillRect l="-100000" t="-201639" r="-400595" b="-211475"/>
                          </a:stretch>
                        </a:blipFill>
                      </a:tcPr>
                    </a:tc>
                    <a:tc>
                      <a:txBody>
                        <a:bodyPr/>
                        <a:lstStyle/>
                        <a:p>
                          <a:endParaRPr lang="en-US"/>
                        </a:p>
                      </a:txBody>
                      <a:tcPr>
                        <a:blipFill>
                          <a:blip r:embed="rId11"/>
                          <a:stretch>
                            <a:fillRect l="-201198" t="-201639" r="-302994" b="-211475"/>
                          </a:stretch>
                        </a:blipFill>
                      </a:tcPr>
                    </a:tc>
                    <a:tc>
                      <a:txBody>
                        <a:bodyPr/>
                        <a:lstStyle/>
                        <a:p>
                          <a:endParaRPr lang="en-US"/>
                        </a:p>
                      </a:txBody>
                      <a:tcPr>
                        <a:blipFill>
                          <a:blip r:embed="rId11"/>
                          <a:stretch>
                            <a:fillRect l="-301198" t="-201639" r="-202994" b="-211475"/>
                          </a:stretch>
                        </a:blipFill>
                      </a:tcPr>
                    </a:tc>
                    <a:tc>
                      <a:txBody>
                        <a:bodyPr/>
                        <a:lstStyle/>
                        <a:p>
                          <a:endParaRPr lang="en-US"/>
                        </a:p>
                      </a:txBody>
                      <a:tcPr>
                        <a:blipFill>
                          <a:blip r:embed="rId11"/>
                          <a:stretch>
                            <a:fillRect l="-398810" t="-201639" r="-101786" b="-211475"/>
                          </a:stretch>
                        </a:blipFill>
                      </a:tcPr>
                    </a:tc>
                    <a:tc>
                      <a:txBody>
                        <a:bodyPr/>
                        <a:lstStyle/>
                        <a:p>
                          <a:endParaRPr lang="en-US"/>
                        </a:p>
                      </a:txBody>
                      <a:tcPr>
                        <a:blipFill>
                          <a:blip r:embed="rId11"/>
                          <a:stretch>
                            <a:fillRect l="-501796" t="-201639" r="-2395" b="-211475"/>
                          </a:stretch>
                        </a:blipFill>
                      </a:tcPr>
                    </a:tc>
                    <a:extLst>
                      <a:ext uri="{0D108BD9-81ED-4DB2-BD59-A6C34878D82A}">
                        <a16:rowId xmlns:a16="http://schemas.microsoft.com/office/drawing/2014/main" val="3964471546"/>
                      </a:ext>
                    </a:extLst>
                  </a:tr>
                  <a:tr h="370840">
                    <a:tc>
                      <a:txBody>
                        <a:bodyPr/>
                        <a:lstStyle/>
                        <a:p>
                          <a:endParaRPr lang="en-US"/>
                        </a:p>
                      </a:txBody>
                      <a:tcPr>
                        <a:blipFill>
                          <a:blip r:embed="rId11"/>
                          <a:stretch>
                            <a:fillRect l="-599" t="-301639" r="-503593" b="-111475"/>
                          </a:stretch>
                        </a:blipFill>
                      </a:tcPr>
                    </a:tc>
                    <a:tc>
                      <a:txBody>
                        <a:bodyPr/>
                        <a:lstStyle/>
                        <a:p>
                          <a:endParaRPr lang="en-US"/>
                        </a:p>
                      </a:txBody>
                      <a:tcPr>
                        <a:blipFill>
                          <a:blip r:embed="rId11"/>
                          <a:stretch>
                            <a:fillRect l="-100000" t="-301639" r="-400595" b="-111475"/>
                          </a:stretch>
                        </a:blipFill>
                      </a:tcPr>
                    </a:tc>
                    <a:tc>
                      <a:txBody>
                        <a:bodyPr/>
                        <a:lstStyle/>
                        <a:p>
                          <a:endParaRPr lang="en-US"/>
                        </a:p>
                      </a:txBody>
                      <a:tcPr>
                        <a:blipFill>
                          <a:blip r:embed="rId11"/>
                          <a:stretch>
                            <a:fillRect l="-201198" t="-301639" r="-302994" b="-111475"/>
                          </a:stretch>
                        </a:blipFill>
                      </a:tcPr>
                    </a:tc>
                    <a:tc>
                      <a:txBody>
                        <a:bodyPr/>
                        <a:lstStyle/>
                        <a:p>
                          <a:endParaRPr lang="en-US"/>
                        </a:p>
                      </a:txBody>
                      <a:tcPr>
                        <a:blipFill>
                          <a:blip r:embed="rId11"/>
                          <a:stretch>
                            <a:fillRect l="-301198" t="-301639" r="-202994" b="-111475"/>
                          </a:stretch>
                        </a:blipFill>
                      </a:tcPr>
                    </a:tc>
                    <a:tc>
                      <a:txBody>
                        <a:bodyPr/>
                        <a:lstStyle/>
                        <a:p>
                          <a:endParaRPr lang="en-US"/>
                        </a:p>
                      </a:txBody>
                      <a:tcPr>
                        <a:blipFill>
                          <a:blip r:embed="rId11"/>
                          <a:stretch>
                            <a:fillRect l="-398810" t="-301639" r="-101786" b="-111475"/>
                          </a:stretch>
                        </a:blipFill>
                      </a:tcPr>
                    </a:tc>
                    <a:tc>
                      <a:txBody>
                        <a:bodyPr/>
                        <a:lstStyle/>
                        <a:p>
                          <a:endParaRPr lang="en-US"/>
                        </a:p>
                      </a:txBody>
                      <a:tcPr>
                        <a:blipFill>
                          <a:blip r:embed="rId11"/>
                          <a:stretch>
                            <a:fillRect l="-501796" t="-301639" r="-2395" b="-111475"/>
                          </a:stretch>
                        </a:blipFill>
                      </a:tcPr>
                    </a:tc>
                    <a:extLst>
                      <a:ext uri="{0D108BD9-81ED-4DB2-BD59-A6C34878D82A}">
                        <a16:rowId xmlns:a16="http://schemas.microsoft.com/office/drawing/2014/main" val="3898468473"/>
                      </a:ext>
                    </a:extLst>
                  </a:tr>
                  <a:tr h="370840">
                    <a:tc>
                      <a:txBody>
                        <a:bodyPr/>
                        <a:lstStyle/>
                        <a:p>
                          <a:endParaRPr lang="en-US"/>
                        </a:p>
                      </a:txBody>
                      <a:tcPr>
                        <a:blipFill>
                          <a:blip r:embed="rId11"/>
                          <a:stretch>
                            <a:fillRect l="-599" t="-401639" r="-503593" b="-11475"/>
                          </a:stretch>
                        </a:blipFill>
                      </a:tcPr>
                    </a:tc>
                    <a:tc>
                      <a:txBody>
                        <a:bodyPr/>
                        <a:lstStyle/>
                        <a:p>
                          <a:endParaRPr lang="en-US"/>
                        </a:p>
                      </a:txBody>
                      <a:tcPr>
                        <a:blipFill>
                          <a:blip r:embed="rId11"/>
                          <a:stretch>
                            <a:fillRect l="-100000" t="-401639" r="-400595" b="-11475"/>
                          </a:stretch>
                        </a:blipFill>
                      </a:tcPr>
                    </a:tc>
                    <a:tc>
                      <a:txBody>
                        <a:bodyPr/>
                        <a:lstStyle/>
                        <a:p>
                          <a:endParaRPr lang="en-US"/>
                        </a:p>
                      </a:txBody>
                      <a:tcPr>
                        <a:blipFill>
                          <a:blip r:embed="rId11"/>
                          <a:stretch>
                            <a:fillRect l="-201198" t="-401639" r="-302994" b="-11475"/>
                          </a:stretch>
                        </a:blipFill>
                      </a:tcPr>
                    </a:tc>
                    <a:tc>
                      <a:txBody>
                        <a:bodyPr/>
                        <a:lstStyle/>
                        <a:p>
                          <a:endParaRPr lang="en-US"/>
                        </a:p>
                      </a:txBody>
                      <a:tcPr>
                        <a:blipFill>
                          <a:blip r:embed="rId11"/>
                          <a:stretch>
                            <a:fillRect l="-301198" t="-401639" r="-202994" b="-11475"/>
                          </a:stretch>
                        </a:blipFill>
                      </a:tcPr>
                    </a:tc>
                    <a:tc>
                      <a:txBody>
                        <a:bodyPr/>
                        <a:lstStyle/>
                        <a:p>
                          <a:endParaRPr lang="en-US"/>
                        </a:p>
                      </a:txBody>
                      <a:tcPr>
                        <a:blipFill>
                          <a:blip r:embed="rId11"/>
                          <a:stretch>
                            <a:fillRect l="-398810" t="-401639" r="-101786" b="-11475"/>
                          </a:stretch>
                        </a:blipFill>
                      </a:tcPr>
                    </a:tc>
                    <a:tc>
                      <a:txBody>
                        <a:bodyPr/>
                        <a:lstStyle/>
                        <a:p>
                          <a:endParaRPr lang="en-US"/>
                        </a:p>
                      </a:txBody>
                      <a:tcPr>
                        <a:blipFill>
                          <a:blip r:embed="rId11"/>
                          <a:stretch>
                            <a:fillRect l="-501796" t="-401639" r="-2395" b="-11475"/>
                          </a:stretch>
                        </a:blipFill>
                      </a:tcPr>
                    </a:tc>
                    <a:extLst>
                      <a:ext uri="{0D108BD9-81ED-4DB2-BD59-A6C34878D82A}">
                        <a16:rowId xmlns:a16="http://schemas.microsoft.com/office/drawing/2014/main" val="2814626172"/>
                      </a:ext>
                    </a:extLst>
                  </a:tr>
                </a:tbl>
              </a:graphicData>
            </a:graphic>
          </p:graphicFrame>
        </mc:Fallback>
      </mc:AlternateContent>
      <p:grpSp>
        <p:nvGrpSpPr>
          <p:cNvPr id="9" name="Group 8">
            <a:extLst>
              <a:ext uri="{FF2B5EF4-FFF2-40B4-BE49-F238E27FC236}">
                <a16:creationId xmlns:a16="http://schemas.microsoft.com/office/drawing/2014/main" id="{45324FD3-798A-E5B4-6819-CBA16242B171}"/>
              </a:ext>
            </a:extLst>
          </p:cNvPr>
          <p:cNvGrpSpPr/>
          <p:nvPr/>
        </p:nvGrpSpPr>
        <p:grpSpPr>
          <a:xfrm>
            <a:off x="7738181" y="2657797"/>
            <a:ext cx="476932" cy="1473200"/>
            <a:chOff x="1143000" y="2362200"/>
            <a:chExt cx="475909" cy="1473200"/>
          </a:xfrm>
        </p:grpSpPr>
        <p:sp>
          <p:nvSpPr>
            <p:cNvPr id="10" name="Left Brace 9">
              <a:extLst>
                <a:ext uri="{FF2B5EF4-FFF2-40B4-BE49-F238E27FC236}">
                  <a16:creationId xmlns:a16="http://schemas.microsoft.com/office/drawing/2014/main" id="{041D5118-1700-8600-5C73-5684F147ABD3}"/>
                </a:ext>
              </a:extLst>
            </p:cNvPr>
            <p:cNvSpPr/>
            <p:nvPr/>
          </p:nvSpPr>
          <p:spPr>
            <a:xfrm rot="10800000">
              <a:off x="1143000" y="2362200"/>
              <a:ext cx="228600" cy="1473200"/>
            </a:xfrm>
            <a:prstGeom prst="leftBrace">
              <a:avLst>
                <a:gd name="adj1" fmla="val 8333"/>
                <a:gd name="adj2" fmla="val 51272"/>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11" name="Picture 10">
              <a:extLst>
                <a:ext uri="{FF2B5EF4-FFF2-40B4-BE49-F238E27FC236}">
                  <a16:creationId xmlns:a16="http://schemas.microsoft.com/office/drawing/2014/main" id="{0CAFA948-50A4-A4E4-4C9A-C0027B147D2B}"/>
                </a:ext>
              </a:extLst>
            </p:cNvPr>
            <p:cNvPicPr>
              <a:picLocks noChangeAspect="1"/>
            </p:cNvPicPr>
            <p:nvPr>
              <p:custDataLst>
                <p:tags r:id="rId2"/>
              </p:custDataLst>
            </p:nvPr>
          </p:nvPicPr>
          <p:blipFill>
            <a:blip r:embed="rId12" cstate="print">
              <a:extLst>
                <a:ext uri="{28A0092B-C50C-407E-A947-70E740481C1C}">
                  <a14:useLocalDpi xmlns:a14="http://schemas.microsoft.com/office/drawing/2010/main" val="0"/>
                </a:ext>
              </a:extLst>
            </a:blip>
            <a:stretch>
              <a:fillRect/>
            </a:stretch>
          </p:blipFill>
          <p:spPr>
            <a:xfrm>
              <a:off x="1428433" y="2974679"/>
              <a:ext cx="190476" cy="173714"/>
            </a:xfrm>
            <a:prstGeom prst="rect">
              <a:avLst/>
            </a:prstGeom>
          </p:spPr>
        </p:pic>
      </p:grpSp>
      <p:sp>
        <p:nvSpPr>
          <p:cNvPr id="14" name="Left Brace 13">
            <a:extLst>
              <a:ext uri="{FF2B5EF4-FFF2-40B4-BE49-F238E27FC236}">
                <a16:creationId xmlns:a16="http://schemas.microsoft.com/office/drawing/2014/main" id="{EB42C66E-6BA4-BC19-DAF9-A71D92C76558}"/>
              </a:ext>
            </a:extLst>
          </p:cNvPr>
          <p:cNvSpPr/>
          <p:nvPr/>
        </p:nvSpPr>
        <p:spPr>
          <a:xfrm rot="5400000">
            <a:off x="4960108" y="-160403"/>
            <a:ext cx="128358" cy="458182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19" name="Picture 18" descr="\documentclass{article}&#10;\usepackage{amsmath}&#10;\pagestyle{empty}&#10;&#10;\newcommand{\diff}{\operatorname{d}}&#10;\newcommand{\sline}{\rule{\textwidth}{1pt}}&#10;\newcommand{\bs}{\boldsymbol}&#10;&#10;\begin{document}&#10;&#10;$m=5 \text{~attributes, variables, features, or dimensions}$&#10;&#10;\end{document}" title="IguanaTex Bitmap Display">
            <a:extLst>
              <a:ext uri="{FF2B5EF4-FFF2-40B4-BE49-F238E27FC236}">
                <a16:creationId xmlns:a16="http://schemas.microsoft.com/office/drawing/2014/main" id="{E8F9801E-85C3-DF2C-0A25-4A81C6DA8185}"/>
              </a:ext>
            </a:extLst>
          </p:cNvPr>
          <p:cNvPicPr>
            <a:picLocks noChangeAspect="1"/>
          </p:cNvPicPr>
          <p:nvPr>
            <p:custDataLst>
              <p:tags r:id="rId1"/>
            </p:custDataLst>
          </p:nvPr>
        </p:nvPicPr>
        <p:blipFill>
          <a:blip r:embed="rId13">
            <a:extLst>
              <a:ext uri="{28A0092B-C50C-407E-A947-70E740481C1C}">
                <a14:useLocalDpi xmlns:a14="http://schemas.microsoft.com/office/drawing/2010/main" val="0"/>
              </a:ext>
            </a:extLst>
          </a:blip>
          <a:stretch>
            <a:fillRect/>
          </a:stretch>
        </p:blipFill>
        <p:spPr>
          <a:xfrm>
            <a:off x="2229800" y="1783395"/>
            <a:ext cx="5667011" cy="227048"/>
          </a:xfrm>
          <a:prstGeom prst="rect">
            <a:avLst/>
          </a:prstGeom>
        </p:spPr>
      </p:pic>
      <p:sp>
        <p:nvSpPr>
          <p:cNvPr id="20" name="TextBox 19">
            <a:extLst>
              <a:ext uri="{FF2B5EF4-FFF2-40B4-BE49-F238E27FC236}">
                <a16:creationId xmlns:a16="http://schemas.microsoft.com/office/drawing/2014/main" id="{C67B34DB-741E-1E4B-4F4B-1C2455F2CAC0}"/>
              </a:ext>
            </a:extLst>
          </p:cNvPr>
          <p:cNvSpPr txBox="1"/>
          <p:nvPr/>
        </p:nvSpPr>
        <p:spPr>
          <a:xfrm rot="16200000">
            <a:off x="461822" y="3172467"/>
            <a:ext cx="1308531" cy="369332"/>
          </a:xfrm>
          <a:prstGeom prst="rect">
            <a:avLst/>
          </a:prstGeom>
          <a:noFill/>
        </p:spPr>
        <p:txBody>
          <a:bodyPr wrap="square">
            <a:spAutoFit/>
          </a:bodyPr>
          <a:lstStyle/>
          <a:p>
            <a:r>
              <a:rPr lang="en-US" sz="1800" dirty="0">
                <a:solidFill>
                  <a:schemeClr val="tx1"/>
                </a:solidFill>
              </a:rPr>
              <a:t>Data tuples</a:t>
            </a:r>
            <a:endParaRPr lang="en-US" dirty="0"/>
          </a:p>
        </p:txBody>
      </p:sp>
    </p:spTree>
    <p:extLst>
      <p:ext uri="{BB962C8B-B14F-4D97-AF65-F5344CB8AC3E}">
        <p14:creationId xmlns:p14="http://schemas.microsoft.com/office/powerpoint/2010/main" val="56666203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What is a Data Object?</a:t>
            </a:r>
          </a:p>
        </p:txBody>
      </p:sp>
      <p:sp>
        <p:nvSpPr>
          <p:cNvPr id="5" name="Rectangle 4">
            <a:extLst>
              <a:ext uri="{FF2B5EF4-FFF2-40B4-BE49-F238E27FC236}">
                <a16:creationId xmlns:a16="http://schemas.microsoft.com/office/drawing/2014/main" id="{62ACD4D9-676D-4F87-8CBE-879DED31070E}"/>
              </a:ext>
            </a:extLst>
          </p:cNvPr>
          <p:cNvSpPr/>
          <p:nvPr/>
        </p:nvSpPr>
        <p:spPr>
          <a:xfrm>
            <a:off x="335422" y="750456"/>
            <a:ext cx="8473155" cy="3093154"/>
          </a:xfrm>
          <a:prstGeom prst="rect">
            <a:avLst/>
          </a:prstGeom>
        </p:spPr>
        <p:txBody>
          <a:bodyPr wrap="square">
            <a:spAutoFit/>
          </a:bodyPr>
          <a:lstStyle/>
          <a:p>
            <a:pPr algn="just"/>
            <a:r>
              <a:rPr lang="en-US" sz="1500" b="1" dirty="0">
                <a:latin typeface="Arial" panose="020B0604020202020204" pitchFamily="34" charset="0"/>
                <a:cs typeface="Arial" panose="020B0604020202020204" pitchFamily="34" charset="0"/>
              </a:rPr>
              <a:t>Data set</a:t>
            </a:r>
            <a:r>
              <a:rPr lang="en-US" sz="1500" dirty="0">
                <a:latin typeface="Arial" panose="020B0604020202020204" pitchFamily="34" charset="0"/>
                <a:cs typeface="Arial" panose="020B0604020202020204" pitchFamily="34" charset="0"/>
              </a:rPr>
              <a:t>s are made up of </a:t>
            </a:r>
            <a:r>
              <a:rPr lang="en-US" sz="1500" b="1" dirty="0">
                <a:latin typeface="Arial" panose="020B0604020202020204" pitchFamily="34" charset="0"/>
                <a:cs typeface="Arial" panose="020B0604020202020204" pitchFamily="34" charset="0"/>
              </a:rPr>
              <a:t>data objects </a:t>
            </a:r>
            <a:r>
              <a:rPr lang="en-US" sz="1500" dirty="0">
                <a:latin typeface="Arial" panose="020B0604020202020204" pitchFamily="34" charset="0"/>
                <a:cs typeface="Arial" panose="020B0604020202020204" pitchFamily="34" charset="0"/>
              </a:rPr>
              <a:t>(or </a:t>
            </a:r>
            <a:r>
              <a:rPr lang="en-US" sz="1500" b="1" dirty="0">
                <a:latin typeface="Arial" panose="020B0604020202020204" pitchFamily="34" charset="0"/>
                <a:cs typeface="Arial" panose="020B0604020202020204" pitchFamily="34" charset="0"/>
              </a:rPr>
              <a:t>data points</a:t>
            </a:r>
            <a:r>
              <a:rPr lang="en-US" sz="1500" dirty="0">
                <a:latin typeface="Arial" panose="020B0604020202020204" pitchFamily="34" charset="0"/>
                <a:cs typeface="Arial" panose="020B0604020202020204" pitchFamily="34" charset="0"/>
              </a:rPr>
              <a:t>). A data object represents an entity.</a:t>
            </a:r>
          </a:p>
          <a:p>
            <a:pPr algn="just"/>
            <a:endParaRPr lang="en-US" sz="1500" dirty="0">
              <a:latin typeface="Arial" panose="020B0604020202020204" pitchFamily="34" charset="0"/>
              <a:cs typeface="Arial" panose="020B0604020202020204" pitchFamily="34" charset="0"/>
            </a:endParaRPr>
          </a:p>
          <a:p>
            <a:pPr algn="just"/>
            <a:r>
              <a:rPr lang="en-US" sz="1500" dirty="0">
                <a:latin typeface="Arial" panose="020B0604020202020204" pitchFamily="34" charset="0"/>
                <a:cs typeface="Arial" panose="020B0604020202020204" pitchFamily="34" charset="0"/>
              </a:rPr>
              <a:t>Examples:</a:t>
            </a:r>
          </a:p>
          <a:p>
            <a:pPr marL="285750" indent="-285750" algn="just">
              <a:buFont typeface="Arial" panose="020B0604020202020204" pitchFamily="34" charset="0"/>
              <a:buChar char="•"/>
            </a:pPr>
            <a:r>
              <a:rPr lang="en-US" sz="1500" dirty="0">
                <a:latin typeface="Arial" panose="020B0604020202020204" pitchFamily="34" charset="0"/>
                <a:cs typeface="Arial" panose="020B0604020202020204" pitchFamily="34" charset="0"/>
              </a:rPr>
              <a:t>In a sales database, the objects may be customers, store items, and sales</a:t>
            </a:r>
          </a:p>
          <a:p>
            <a:pPr marL="285750" indent="-285750" algn="just">
              <a:buFont typeface="Arial" panose="020B0604020202020204" pitchFamily="34" charset="0"/>
              <a:buChar char="•"/>
            </a:pPr>
            <a:r>
              <a:rPr lang="en-US" sz="1500" dirty="0">
                <a:latin typeface="Arial" panose="020B0604020202020204" pitchFamily="34" charset="0"/>
                <a:cs typeface="Arial" panose="020B0604020202020204" pitchFamily="34" charset="0"/>
              </a:rPr>
              <a:t>In a medical database, the objects may be patients</a:t>
            </a:r>
          </a:p>
          <a:p>
            <a:pPr marL="285750" indent="-285750" algn="just">
              <a:buFont typeface="Arial" panose="020B0604020202020204" pitchFamily="34" charset="0"/>
              <a:buChar char="•"/>
            </a:pPr>
            <a:r>
              <a:rPr lang="en-US" sz="1500" dirty="0">
                <a:latin typeface="Arial" panose="020B0604020202020204" pitchFamily="34" charset="0"/>
                <a:cs typeface="Arial" panose="020B0604020202020204" pitchFamily="34" charset="0"/>
              </a:rPr>
              <a:t>In a university database, the objects may be students, professors, and courses. </a:t>
            </a:r>
          </a:p>
          <a:p>
            <a:pPr algn="just"/>
            <a:endParaRPr lang="en-US" sz="1500" dirty="0">
              <a:latin typeface="Arial" panose="020B0604020202020204" pitchFamily="34" charset="0"/>
              <a:cs typeface="Arial" panose="020B0604020202020204" pitchFamily="34" charset="0"/>
            </a:endParaRPr>
          </a:p>
          <a:p>
            <a:pPr algn="just"/>
            <a:r>
              <a:rPr lang="en-US" sz="1500" b="1" dirty="0">
                <a:latin typeface="Arial" panose="020B0604020202020204" pitchFamily="34" charset="0"/>
                <a:cs typeface="Arial" panose="020B0604020202020204" pitchFamily="34" charset="0"/>
              </a:rPr>
              <a:t>Data objects</a:t>
            </a:r>
            <a:r>
              <a:rPr lang="en-US" sz="1500" dirty="0">
                <a:latin typeface="Arial" panose="020B0604020202020204" pitchFamily="34" charset="0"/>
                <a:cs typeface="Arial" panose="020B0604020202020204" pitchFamily="34" charset="0"/>
              </a:rPr>
              <a:t> are typically </a:t>
            </a:r>
            <a:r>
              <a:rPr lang="en-US" sz="1500" b="1" dirty="0">
                <a:latin typeface="Arial" panose="020B0604020202020204" pitchFamily="34" charset="0"/>
                <a:cs typeface="Arial" panose="020B0604020202020204" pitchFamily="34" charset="0"/>
              </a:rPr>
              <a:t>described by attributes</a:t>
            </a:r>
            <a:r>
              <a:rPr lang="en-US" sz="1500" dirty="0">
                <a:latin typeface="Arial" panose="020B0604020202020204" pitchFamily="34" charset="0"/>
                <a:cs typeface="Arial" panose="020B0604020202020204" pitchFamily="34" charset="0"/>
              </a:rPr>
              <a:t>. </a:t>
            </a:r>
          </a:p>
          <a:p>
            <a:pPr algn="just"/>
            <a:endParaRPr lang="en-US" sz="1500" dirty="0">
              <a:latin typeface="Arial" panose="020B0604020202020204" pitchFamily="34" charset="0"/>
              <a:cs typeface="Arial" panose="020B0604020202020204" pitchFamily="34" charset="0"/>
            </a:endParaRPr>
          </a:p>
          <a:p>
            <a:pPr algn="just"/>
            <a:r>
              <a:rPr lang="en-US" sz="1500" b="1" dirty="0">
                <a:latin typeface="Arial" panose="020B0604020202020204" pitchFamily="34" charset="0"/>
                <a:cs typeface="Arial" panose="020B0604020202020204" pitchFamily="34" charset="0"/>
              </a:rPr>
              <a:t>Synonyms</a:t>
            </a:r>
            <a:r>
              <a:rPr lang="en-US" sz="1500" dirty="0">
                <a:latin typeface="Arial" panose="020B0604020202020204" pitchFamily="34" charset="0"/>
                <a:cs typeface="Arial" panose="020B0604020202020204" pitchFamily="34" charset="0"/>
              </a:rPr>
              <a:t> for </a:t>
            </a:r>
            <a:r>
              <a:rPr lang="en-US" sz="1500" b="1" dirty="0">
                <a:latin typeface="Arial" panose="020B0604020202020204" pitchFamily="34" charset="0"/>
                <a:cs typeface="Arial" panose="020B0604020202020204" pitchFamily="34" charset="0"/>
              </a:rPr>
              <a:t>Data object</a:t>
            </a:r>
            <a:r>
              <a:rPr lang="en-US" sz="1500" dirty="0">
                <a:latin typeface="Arial" panose="020B0604020202020204" pitchFamily="34" charset="0"/>
                <a:cs typeface="Arial" panose="020B0604020202020204" pitchFamily="34" charset="0"/>
              </a:rPr>
              <a:t>: </a:t>
            </a:r>
            <a:r>
              <a:rPr lang="en-US" sz="1500" b="1" dirty="0">
                <a:latin typeface="Arial" panose="020B0604020202020204" pitchFamily="34" charset="0"/>
                <a:cs typeface="Arial" panose="020B0604020202020204" pitchFamily="34" charset="0"/>
              </a:rPr>
              <a:t>sample</a:t>
            </a:r>
            <a:r>
              <a:rPr lang="en-US" sz="1500" dirty="0">
                <a:latin typeface="Arial" panose="020B0604020202020204" pitchFamily="34" charset="0"/>
                <a:cs typeface="Arial" panose="020B0604020202020204" pitchFamily="34" charset="0"/>
              </a:rPr>
              <a:t>, </a:t>
            </a:r>
            <a:r>
              <a:rPr lang="en-US" sz="1500" b="1" dirty="0">
                <a:latin typeface="Arial" panose="020B0604020202020204" pitchFamily="34" charset="0"/>
                <a:cs typeface="Arial" panose="020B0604020202020204" pitchFamily="34" charset="0"/>
              </a:rPr>
              <a:t>example</a:t>
            </a:r>
            <a:r>
              <a:rPr lang="en-US" sz="1500" dirty="0">
                <a:latin typeface="Arial" panose="020B0604020202020204" pitchFamily="34" charset="0"/>
                <a:cs typeface="Arial" panose="020B0604020202020204" pitchFamily="34" charset="0"/>
              </a:rPr>
              <a:t>, </a:t>
            </a:r>
            <a:r>
              <a:rPr lang="en-US" sz="1500" b="1" dirty="0">
                <a:latin typeface="Arial" panose="020B0604020202020204" pitchFamily="34" charset="0"/>
                <a:cs typeface="Arial" panose="020B0604020202020204" pitchFamily="34" charset="0"/>
              </a:rPr>
              <a:t>instance</a:t>
            </a:r>
            <a:r>
              <a:rPr lang="en-US" sz="1500" dirty="0">
                <a:latin typeface="Arial" panose="020B0604020202020204" pitchFamily="34" charset="0"/>
                <a:cs typeface="Arial" panose="020B0604020202020204" pitchFamily="34" charset="0"/>
              </a:rPr>
              <a:t>, </a:t>
            </a:r>
            <a:r>
              <a:rPr lang="en-US" sz="1500" b="1" dirty="0">
                <a:latin typeface="Arial" panose="020B0604020202020204" pitchFamily="34" charset="0"/>
                <a:cs typeface="Arial" panose="020B0604020202020204" pitchFamily="34" charset="0"/>
              </a:rPr>
              <a:t>data point</a:t>
            </a:r>
            <a:r>
              <a:rPr lang="en-US" sz="1500" dirty="0">
                <a:latin typeface="Arial" panose="020B0604020202020204" pitchFamily="34" charset="0"/>
                <a:cs typeface="Arial" panose="020B0604020202020204" pitchFamily="34" charset="0"/>
              </a:rPr>
              <a:t>, or </a:t>
            </a:r>
            <a:r>
              <a:rPr lang="en-US" sz="1500" b="1" dirty="0">
                <a:latin typeface="Arial" panose="020B0604020202020204" pitchFamily="34" charset="0"/>
                <a:cs typeface="Arial" panose="020B0604020202020204" pitchFamily="34" charset="0"/>
              </a:rPr>
              <a:t>observation</a:t>
            </a:r>
            <a:r>
              <a:rPr lang="en-US" sz="1500" dirty="0">
                <a:latin typeface="Arial" panose="020B0604020202020204" pitchFamily="34" charset="0"/>
                <a:cs typeface="Arial" panose="020B0604020202020204" pitchFamily="34" charset="0"/>
              </a:rPr>
              <a:t>. </a:t>
            </a:r>
          </a:p>
          <a:p>
            <a:pPr algn="just"/>
            <a:endParaRPr lang="en-US" sz="1500" dirty="0">
              <a:latin typeface="Arial" panose="020B0604020202020204" pitchFamily="34" charset="0"/>
              <a:cs typeface="Arial" panose="020B0604020202020204" pitchFamily="34" charset="0"/>
            </a:endParaRPr>
          </a:p>
          <a:p>
            <a:pPr algn="just"/>
            <a:r>
              <a:rPr lang="en-US" sz="1500" dirty="0">
                <a:latin typeface="Arial" panose="020B0604020202020204" pitchFamily="34" charset="0"/>
                <a:cs typeface="Arial" panose="020B0604020202020204" pitchFamily="34" charset="0"/>
              </a:rPr>
              <a:t>If the data objects are stored in a database, they are also called </a:t>
            </a:r>
            <a:r>
              <a:rPr lang="en-US" sz="1500" b="1" dirty="0">
                <a:latin typeface="Arial" panose="020B0604020202020204" pitchFamily="34" charset="0"/>
                <a:cs typeface="Arial" panose="020B0604020202020204" pitchFamily="34" charset="0"/>
              </a:rPr>
              <a:t>data tuples</a:t>
            </a:r>
            <a:r>
              <a:rPr lang="en-US" sz="1500" dirty="0">
                <a:latin typeface="Arial" panose="020B0604020202020204" pitchFamily="34" charset="0"/>
                <a:cs typeface="Arial" panose="020B0604020202020204" pitchFamily="34" charset="0"/>
              </a:rPr>
              <a:t>. That is, the </a:t>
            </a:r>
            <a:r>
              <a:rPr lang="en-US" sz="1500" b="1" dirty="0">
                <a:latin typeface="Arial" panose="020B0604020202020204" pitchFamily="34" charset="0"/>
                <a:cs typeface="Arial" panose="020B0604020202020204" pitchFamily="34" charset="0"/>
              </a:rPr>
              <a:t>rows</a:t>
            </a:r>
            <a:r>
              <a:rPr lang="en-US" sz="1500" dirty="0">
                <a:latin typeface="Arial" panose="020B0604020202020204" pitchFamily="34" charset="0"/>
                <a:cs typeface="Arial" panose="020B0604020202020204" pitchFamily="34" charset="0"/>
              </a:rPr>
              <a:t> of a database </a:t>
            </a:r>
            <a:r>
              <a:rPr lang="en-US" sz="1500" b="1" dirty="0">
                <a:latin typeface="Arial" panose="020B0604020202020204" pitchFamily="34" charset="0"/>
                <a:cs typeface="Arial" panose="020B0604020202020204" pitchFamily="34" charset="0"/>
              </a:rPr>
              <a:t>correspond to the data objects</a:t>
            </a:r>
            <a:r>
              <a:rPr lang="en-US" sz="1500" dirty="0">
                <a:latin typeface="Arial" panose="020B0604020202020204" pitchFamily="34" charset="0"/>
                <a:cs typeface="Arial" panose="020B0604020202020204" pitchFamily="34" charset="0"/>
              </a:rPr>
              <a:t>, and the </a:t>
            </a:r>
            <a:r>
              <a:rPr lang="en-US" sz="1500" b="1" dirty="0">
                <a:latin typeface="Arial" panose="020B0604020202020204" pitchFamily="34" charset="0"/>
                <a:cs typeface="Arial" panose="020B0604020202020204" pitchFamily="34" charset="0"/>
              </a:rPr>
              <a:t>columns correspond to the attributes</a:t>
            </a:r>
            <a:r>
              <a:rPr lang="en-US" sz="1500"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33108749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What is a Data Attribute?</a:t>
            </a:r>
          </a:p>
        </p:txBody>
      </p:sp>
      <p:sp>
        <p:nvSpPr>
          <p:cNvPr id="5" name="Rectangle 4">
            <a:extLst>
              <a:ext uri="{FF2B5EF4-FFF2-40B4-BE49-F238E27FC236}">
                <a16:creationId xmlns:a16="http://schemas.microsoft.com/office/drawing/2014/main" id="{62ACD4D9-676D-4F87-8CBE-879DED31070E}"/>
              </a:ext>
            </a:extLst>
          </p:cNvPr>
          <p:cNvSpPr/>
          <p:nvPr/>
        </p:nvSpPr>
        <p:spPr>
          <a:xfrm>
            <a:off x="335422" y="750456"/>
            <a:ext cx="8473155" cy="5170646"/>
          </a:xfrm>
          <a:prstGeom prst="rect">
            <a:avLst/>
          </a:prstGeom>
        </p:spPr>
        <p:txBody>
          <a:bodyPr wrap="square">
            <a:spAutoFit/>
          </a:bodyPr>
          <a:lstStyle/>
          <a:p>
            <a:pPr algn="just"/>
            <a:r>
              <a:rPr lang="en-US" sz="1500" dirty="0">
                <a:latin typeface="Arial" panose="020B0604020202020204" pitchFamily="34" charset="0"/>
                <a:cs typeface="Arial" panose="020B0604020202020204" pitchFamily="34" charset="0"/>
              </a:rPr>
              <a:t>An </a:t>
            </a:r>
            <a:r>
              <a:rPr lang="en-US" sz="1500" b="1" dirty="0">
                <a:latin typeface="Arial" panose="020B0604020202020204" pitchFamily="34" charset="0"/>
                <a:cs typeface="Arial" panose="020B0604020202020204" pitchFamily="34" charset="0"/>
              </a:rPr>
              <a:t>attribute</a:t>
            </a:r>
            <a:r>
              <a:rPr lang="en-US" sz="1500" dirty="0">
                <a:latin typeface="Arial" panose="020B0604020202020204" pitchFamily="34" charset="0"/>
                <a:cs typeface="Arial" panose="020B0604020202020204" pitchFamily="34" charset="0"/>
              </a:rPr>
              <a:t> is a data field, representing a </a:t>
            </a:r>
            <a:r>
              <a:rPr lang="en-US" sz="1500" b="1" dirty="0">
                <a:latin typeface="Arial" panose="020B0604020202020204" pitchFamily="34" charset="0"/>
                <a:cs typeface="Arial" panose="020B0604020202020204" pitchFamily="34" charset="0"/>
              </a:rPr>
              <a:t>characteristic</a:t>
            </a:r>
            <a:r>
              <a:rPr lang="en-US" sz="1500" dirty="0">
                <a:latin typeface="Arial" panose="020B0604020202020204" pitchFamily="34" charset="0"/>
                <a:cs typeface="Arial" panose="020B0604020202020204" pitchFamily="34" charset="0"/>
              </a:rPr>
              <a:t> or </a:t>
            </a:r>
            <a:r>
              <a:rPr lang="en-US" sz="1500" b="1" dirty="0">
                <a:latin typeface="Arial" panose="020B0604020202020204" pitchFamily="34" charset="0"/>
                <a:cs typeface="Arial" panose="020B0604020202020204" pitchFamily="34" charset="0"/>
              </a:rPr>
              <a:t>feature</a:t>
            </a:r>
            <a:r>
              <a:rPr lang="en-US" sz="1500" dirty="0">
                <a:latin typeface="Arial" panose="020B0604020202020204" pitchFamily="34" charset="0"/>
                <a:cs typeface="Arial" panose="020B0604020202020204" pitchFamily="34" charset="0"/>
              </a:rPr>
              <a:t> of a data object. </a:t>
            </a:r>
          </a:p>
          <a:p>
            <a:pPr algn="just"/>
            <a:endParaRPr lang="en-US" sz="1500" dirty="0">
              <a:latin typeface="Arial" panose="020B0604020202020204" pitchFamily="34" charset="0"/>
              <a:cs typeface="Arial" panose="020B0604020202020204" pitchFamily="34" charset="0"/>
            </a:endParaRPr>
          </a:p>
          <a:p>
            <a:pPr algn="just"/>
            <a:r>
              <a:rPr lang="en-US" sz="1500" dirty="0">
                <a:latin typeface="Arial" panose="020B0604020202020204" pitchFamily="34" charset="0"/>
                <a:cs typeface="Arial" panose="020B0604020202020204" pitchFamily="34" charset="0"/>
              </a:rPr>
              <a:t>Common synonyms for attribute are,</a:t>
            </a:r>
          </a:p>
          <a:p>
            <a:pPr marL="285750" indent="-285750" algn="just">
              <a:buFont typeface="Arial" panose="020B0604020202020204" pitchFamily="34" charset="0"/>
              <a:buChar char="•"/>
            </a:pPr>
            <a:r>
              <a:rPr lang="en-US" sz="1500" b="1" dirty="0">
                <a:latin typeface="Arial" panose="020B0604020202020204" pitchFamily="34" charset="0"/>
                <a:cs typeface="Arial" panose="020B0604020202020204" pitchFamily="34" charset="0"/>
              </a:rPr>
              <a:t>dimension</a:t>
            </a:r>
            <a:r>
              <a:rPr lang="en-US" sz="1500" dirty="0">
                <a:latin typeface="Arial" panose="020B0604020202020204" pitchFamily="34" charset="0"/>
                <a:cs typeface="Arial" panose="020B0604020202020204" pitchFamily="34" charset="0"/>
              </a:rPr>
              <a:t> (frequently used in data warehousing), </a:t>
            </a:r>
          </a:p>
          <a:p>
            <a:pPr marL="285750" indent="-285750" algn="just">
              <a:buFont typeface="Arial" panose="020B0604020202020204" pitchFamily="34" charset="0"/>
              <a:buChar char="•"/>
            </a:pPr>
            <a:r>
              <a:rPr lang="en-US" sz="1500" b="1" dirty="0">
                <a:latin typeface="Arial" panose="020B0604020202020204" pitchFamily="34" charset="0"/>
                <a:cs typeface="Arial" panose="020B0604020202020204" pitchFamily="34" charset="0"/>
              </a:rPr>
              <a:t>feature </a:t>
            </a:r>
            <a:r>
              <a:rPr lang="en-US" sz="1500" dirty="0">
                <a:latin typeface="Arial" panose="020B0604020202020204" pitchFamily="34" charset="0"/>
                <a:cs typeface="Arial" panose="020B0604020202020204" pitchFamily="34" charset="0"/>
              </a:rPr>
              <a:t>(frequently used in Machine Learning),</a:t>
            </a:r>
          </a:p>
          <a:p>
            <a:pPr marL="285750" indent="-285750" algn="just">
              <a:buFont typeface="Arial" panose="020B0604020202020204" pitchFamily="34" charset="0"/>
              <a:buChar char="•"/>
            </a:pPr>
            <a:r>
              <a:rPr lang="en-US" sz="1500" b="1" dirty="0">
                <a:latin typeface="Arial" panose="020B0604020202020204" pitchFamily="34" charset="0"/>
                <a:cs typeface="Arial" panose="020B0604020202020204" pitchFamily="34" charset="0"/>
              </a:rPr>
              <a:t>Variable</a:t>
            </a:r>
            <a:r>
              <a:rPr lang="en-US" sz="1500" dirty="0">
                <a:latin typeface="Arial" panose="020B0604020202020204" pitchFamily="34" charset="0"/>
                <a:cs typeface="Arial" panose="020B0604020202020204" pitchFamily="34" charset="0"/>
              </a:rPr>
              <a:t> (frequently used by statisticians),</a:t>
            </a:r>
          </a:p>
          <a:p>
            <a:pPr algn="just"/>
            <a:endParaRPr lang="en-US" sz="1500" dirty="0">
              <a:latin typeface="Arial" panose="020B0604020202020204" pitchFamily="34" charset="0"/>
              <a:cs typeface="Arial" panose="020B0604020202020204" pitchFamily="34" charset="0"/>
            </a:endParaRPr>
          </a:p>
          <a:p>
            <a:pPr algn="just"/>
            <a:r>
              <a:rPr lang="en-US" sz="1500" dirty="0">
                <a:latin typeface="Arial" panose="020B0604020202020204" pitchFamily="34" charset="0"/>
                <a:cs typeface="Arial" panose="020B0604020202020204" pitchFamily="34" charset="0"/>
              </a:rPr>
              <a:t>Example:</a:t>
            </a:r>
          </a:p>
          <a:p>
            <a:pPr algn="just"/>
            <a:endParaRPr lang="en-US" sz="15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sz="1500" dirty="0">
                <a:latin typeface="Arial" panose="020B0604020202020204" pitchFamily="34" charset="0"/>
                <a:cs typeface="Arial" panose="020B0604020202020204" pitchFamily="34" charset="0"/>
              </a:rPr>
              <a:t>Attributes describing a customer object can include, </a:t>
            </a:r>
          </a:p>
          <a:p>
            <a:pPr marL="742950" lvl="1" indent="-285750" algn="just">
              <a:buFont typeface="Arial" panose="020B0604020202020204" pitchFamily="34" charset="0"/>
              <a:buChar char="•"/>
            </a:pPr>
            <a:r>
              <a:rPr lang="en-US" sz="1500" dirty="0">
                <a:latin typeface="Arial" panose="020B0604020202020204" pitchFamily="34" charset="0"/>
                <a:cs typeface="Arial" panose="020B0604020202020204" pitchFamily="34" charset="0"/>
              </a:rPr>
              <a:t>customer ID,</a:t>
            </a:r>
          </a:p>
          <a:p>
            <a:pPr marL="742950" lvl="1" indent="-285750" algn="just">
              <a:buFont typeface="Arial" panose="020B0604020202020204" pitchFamily="34" charset="0"/>
              <a:buChar char="•"/>
            </a:pPr>
            <a:r>
              <a:rPr lang="en-US" sz="1500" dirty="0">
                <a:latin typeface="Arial" panose="020B0604020202020204" pitchFamily="34" charset="0"/>
                <a:cs typeface="Arial" panose="020B0604020202020204" pitchFamily="34" charset="0"/>
              </a:rPr>
              <a:t>name, </a:t>
            </a:r>
          </a:p>
          <a:p>
            <a:pPr marL="742950" lvl="1" indent="-285750" algn="just">
              <a:buFont typeface="Arial" panose="020B0604020202020204" pitchFamily="34" charset="0"/>
              <a:buChar char="•"/>
            </a:pPr>
            <a:r>
              <a:rPr lang="en-US" sz="1500" dirty="0">
                <a:latin typeface="Arial" panose="020B0604020202020204" pitchFamily="34" charset="0"/>
                <a:cs typeface="Arial" panose="020B0604020202020204" pitchFamily="34" charset="0"/>
              </a:rPr>
              <a:t>address. </a:t>
            </a:r>
          </a:p>
          <a:p>
            <a:pPr algn="just"/>
            <a:endParaRPr lang="en-US" sz="1500" dirty="0">
              <a:latin typeface="Arial" panose="020B0604020202020204" pitchFamily="34" charset="0"/>
              <a:cs typeface="Arial" panose="020B0604020202020204" pitchFamily="34" charset="0"/>
            </a:endParaRPr>
          </a:p>
          <a:p>
            <a:pPr algn="just"/>
            <a:r>
              <a:rPr lang="en-US" sz="1500" b="1" dirty="0">
                <a:latin typeface="Arial" panose="020B0604020202020204" pitchFamily="34" charset="0"/>
                <a:cs typeface="Arial" panose="020B0604020202020204" pitchFamily="34" charset="0"/>
              </a:rPr>
              <a:t>Observed values for a given attribute </a:t>
            </a:r>
            <a:r>
              <a:rPr lang="en-US" sz="1500" dirty="0">
                <a:latin typeface="Arial" panose="020B0604020202020204" pitchFamily="34" charset="0"/>
                <a:cs typeface="Arial" panose="020B0604020202020204" pitchFamily="34" charset="0"/>
              </a:rPr>
              <a:t>are frequently known as </a:t>
            </a:r>
            <a:r>
              <a:rPr lang="en-US" sz="1500" b="1" dirty="0">
                <a:latin typeface="Arial" panose="020B0604020202020204" pitchFamily="34" charset="0"/>
                <a:cs typeface="Arial" panose="020B0604020202020204" pitchFamily="34" charset="0"/>
              </a:rPr>
              <a:t>observations</a:t>
            </a:r>
            <a:r>
              <a:rPr lang="en-US" sz="1500" dirty="0">
                <a:latin typeface="Arial" panose="020B0604020202020204" pitchFamily="34" charset="0"/>
                <a:cs typeface="Arial" panose="020B0604020202020204" pitchFamily="34" charset="0"/>
              </a:rPr>
              <a:t>. </a:t>
            </a:r>
          </a:p>
          <a:p>
            <a:pPr algn="just"/>
            <a:endParaRPr lang="en-US" sz="1500" dirty="0">
              <a:latin typeface="Arial" panose="020B0604020202020204" pitchFamily="34" charset="0"/>
              <a:cs typeface="Arial" panose="020B0604020202020204" pitchFamily="34" charset="0"/>
            </a:endParaRPr>
          </a:p>
          <a:p>
            <a:pPr algn="just"/>
            <a:r>
              <a:rPr lang="en-US" sz="1500" dirty="0">
                <a:latin typeface="Arial" panose="020B0604020202020204" pitchFamily="34" charset="0"/>
                <a:cs typeface="Arial" panose="020B0604020202020204" pitchFamily="34" charset="0"/>
              </a:rPr>
              <a:t>A set of attributes used to describe a given object is called an </a:t>
            </a:r>
            <a:r>
              <a:rPr lang="en-US" sz="1500" b="1" dirty="0">
                <a:latin typeface="Arial" panose="020B0604020202020204" pitchFamily="34" charset="0"/>
                <a:cs typeface="Arial" panose="020B0604020202020204" pitchFamily="34" charset="0"/>
              </a:rPr>
              <a:t>attribute vector</a:t>
            </a:r>
            <a:r>
              <a:rPr lang="en-US" sz="1500" dirty="0">
                <a:latin typeface="Arial" panose="020B0604020202020204" pitchFamily="34" charset="0"/>
                <a:cs typeface="Arial" panose="020B0604020202020204" pitchFamily="34" charset="0"/>
              </a:rPr>
              <a:t> (or </a:t>
            </a:r>
            <a:r>
              <a:rPr lang="en-US" sz="1500" b="1" dirty="0">
                <a:latin typeface="Arial" panose="020B0604020202020204" pitchFamily="34" charset="0"/>
                <a:cs typeface="Arial" panose="020B0604020202020204" pitchFamily="34" charset="0"/>
              </a:rPr>
              <a:t>feature vector</a:t>
            </a:r>
            <a:r>
              <a:rPr lang="en-US" sz="1500" dirty="0">
                <a:latin typeface="Arial" panose="020B0604020202020204" pitchFamily="34" charset="0"/>
                <a:cs typeface="Arial" panose="020B0604020202020204" pitchFamily="34" charset="0"/>
              </a:rPr>
              <a:t>).</a:t>
            </a:r>
          </a:p>
          <a:p>
            <a:pPr algn="just"/>
            <a:endParaRPr lang="en-US" sz="1500" dirty="0">
              <a:latin typeface="Arial" panose="020B0604020202020204" pitchFamily="34" charset="0"/>
              <a:cs typeface="Arial" panose="020B0604020202020204" pitchFamily="34" charset="0"/>
            </a:endParaRPr>
          </a:p>
          <a:p>
            <a:pPr algn="just"/>
            <a:r>
              <a:rPr lang="en-US" sz="1500" dirty="0">
                <a:latin typeface="Arial" panose="020B0604020202020204" pitchFamily="34" charset="0"/>
                <a:cs typeface="Arial" panose="020B0604020202020204" pitchFamily="34" charset="0"/>
              </a:rPr>
              <a:t>The </a:t>
            </a:r>
            <a:r>
              <a:rPr lang="en-US" sz="1500" b="1" dirty="0">
                <a:latin typeface="Arial" panose="020B0604020202020204" pitchFamily="34" charset="0"/>
                <a:cs typeface="Arial" panose="020B0604020202020204" pitchFamily="34" charset="0"/>
              </a:rPr>
              <a:t>distribution of data </a:t>
            </a:r>
            <a:r>
              <a:rPr lang="en-US" sz="1500" dirty="0">
                <a:latin typeface="Arial" panose="020B0604020202020204" pitchFamily="34" charset="0"/>
                <a:cs typeface="Arial" panose="020B0604020202020204" pitchFamily="34" charset="0"/>
              </a:rPr>
              <a:t>involving </a:t>
            </a:r>
            <a:r>
              <a:rPr lang="en-US" sz="1500" b="1" dirty="0">
                <a:latin typeface="Arial" panose="020B0604020202020204" pitchFamily="34" charset="0"/>
                <a:cs typeface="Arial" panose="020B0604020202020204" pitchFamily="34" charset="0"/>
              </a:rPr>
              <a:t>one attribute</a:t>
            </a:r>
            <a:r>
              <a:rPr lang="en-US" sz="1500" dirty="0">
                <a:latin typeface="Arial" panose="020B0604020202020204" pitchFamily="34" charset="0"/>
                <a:cs typeface="Arial" panose="020B0604020202020204" pitchFamily="34" charset="0"/>
              </a:rPr>
              <a:t> (or variable) is called </a:t>
            </a:r>
            <a:r>
              <a:rPr lang="en-US" sz="1500" b="1" dirty="0">
                <a:latin typeface="Arial" panose="020B0604020202020204" pitchFamily="34" charset="0"/>
                <a:cs typeface="Arial" panose="020B0604020202020204" pitchFamily="34" charset="0"/>
              </a:rPr>
              <a:t>univariate</a:t>
            </a:r>
            <a:r>
              <a:rPr lang="en-US" sz="1500" dirty="0">
                <a:latin typeface="Arial" panose="020B0604020202020204" pitchFamily="34" charset="0"/>
                <a:cs typeface="Arial" panose="020B0604020202020204" pitchFamily="34" charset="0"/>
              </a:rPr>
              <a:t>.</a:t>
            </a:r>
          </a:p>
          <a:p>
            <a:pPr algn="just"/>
            <a:r>
              <a:rPr lang="en-US" sz="1500" dirty="0">
                <a:latin typeface="Arial" panose="020B0604020202020204" pitchFamily="34" charset="0"/>
                <a:cs typeface="Arial" panose="020B0604020202020204" pitchFamily="34" charset="0"/>
              </a:rPr>
              <a:t>The </a:t>
            </a:r>
            <a:r>
              <a:rPr lang="en-US" sz="1500" b="1" dirty="0">
                <a:latin typeface="Arial" panose="020B0604020202020204" pitchFamily="34" charset="0"/>
                <a:cs typeface="Arial" panose="020B0604020202020204" pitchFamily="34" charset="0"/>
              </a:rPr>
              <a:t>distribution of data </a:t>
            </a:r>
            <a:r>
              <a:rPr lang="en-US" sz="1500" dirty="0">
                <a:latin typeface="Arial" panose="020B0604020202020204" pitchFamily="34" charset="0"/>
                <a:cs typeface="Arial" panose="020B0604020202020204" pitchFamily="34" charset="0"/>
              </a:rPr>
              <a:t>involving </a:t>
            </a:r>
            <a:r>
              <a:rPr lang="en-US" sz="1500" b="1" dirty="0">
                <a:latin typeface="Arial" panose="020B0604020202020204" pitchFamily="34" charset="0"/>
                <a:cs typeface="Arial" panose="020B0604020202020204" pitchFamily="34" charset="0"/>
              </a:rPr>
              <a:t>two attributes</a:t>
            </a:r>
            <a:r>
              <a:rPr lang="en-US" sz="1500" dirty="0">
                <a:latin typeface="Arial" panose="020B0604020202020204" pitchFamily="34" charset="0"/>
                <a:cs typeface="Arial" panose="020B0604020202020204" pitchFamily="34" charset="0"/>
              </a:rPr>
              <a:t> (or variables) is called </a:t>
            </a:r>
            <a:r>
              <a:rPr lang="en-US" sz="1500" b="1" dirty="0">
                <a:latin typeface="Arial" panose="020B0604020202020204" pitchFamily="34" charset="0"/>
                <a:cs typeface="Arial" panose="020B0604020202020204" pitchFamily="34" charset="0"/>
              </a:rPr>
              <a:t>bivariate</a:t>
            </a:r>
            <a:r>
              <a:rPr lang="en-US" sz="1500" dirty="0">
                <a:latin typeface="Arial" panose="020B0604020202020204" pitchFamily="34" charset="0"/>
                <a:cs typeface="Arial" panose="020B0604020202020204" pitchFamily="34" charset="0"/>
              </a:rPr>
              <a:t>.</a:t>
            </a:r>
          </a:p>
          <a:p>
            <a:pPr algn="just"/>
            <a:r>
              <a:rPr lang="en-US" sz="1500" dirty="0">
                <a:latin typeface="Arial" panose="020B0604020202020204" pitchFamily="34" charset="0"/>
                <a:cs typeface="Arial" panose="020B0604020202020204" pitchFamily="34" charset="0"/>
              </a:rPr>
              <a:t>The </a:t>
            </a:r>
            <a:r>
              <a:rPr lang="en-US" sz="1500" b="1" dirty="0">
                <a:latin typeface="Arial" panose="020B0604020202020204" pitchFamily="34" charset="0"/>
                <a:cs typeface="Arial" panose="020B0604020202020204" pitchFamily="34" charset="0"/>
              </a:rPr>
              <a:t>distribution of data </a:t>
            </a:r>
            <a:r>
              <a:rPr lang="en-US" sz="1500" dirty="0">
                <a:latin typeface="Arial" panose="020B0604020202020204" pitchFamily="34" charset="0"/>
                <a:cs typeface="Arial" panose="020B0604020202020204" pitchFamily="34" charset="0"/>
              </a:rPr>
              <a:t>involving </a:t>
            </a:r>
            <a:r>
              <a:rPr lang="en-US" sz="1500" b="1" dirty="0">
                <a:latin typeface="Arial" panose="020B0604020202020204" pitchFamily="34" charset="0"/>
                <a:cs typeface="Arial" panose="020B0604020202020204" pitchFamily="34" charset="0"/>
              </a:rPr>
              <a:t>multiple attributes</a:t>
            </a:r>
            <a:r>
              <a:rPr lang="en-US" sz="1500" dirty="0">
                <a:latin typeface="Arial" panose="020B0604020202020204" pitchFamily="34" charset="0"/>
                <a:cs typeface="Arial" panose="020B0604020202020204" pitchFamily="34" charset="0"/>
              </a:rPr>
              <a:t> (or variables) is called </a:t>
            </a:r>
            <a:r>
              <a:rPr lang="en-US" sz="1500" b="1" dirty="0">
                <a:latin typeface="Arial" panose="020B0604020202020204" pitchFamily="34" charset="0"/>
                <a:cs typeface="Arial" panose="020B0604020202020204" pitchFamily="34" charset="0"/>
              </a:rPr>
              <a:t>multivariate</a:t>
            </a:r>
            <a:r>
              <a:rPr lang="en-US" sz="15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60908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What are the kinds of Data Attribute?</a:t>
            </a:r>
          </a:p>
        </p:txBody>
      </p:sp>
      <p:sp>
        <p:nvSpPr>
          <p:cNvPr id="5" name="Rectangle 4">
            <a:extLst>
              <a:ext uri="{FF2B5EF4-FFF2-40B4-BE49-F238E27FC236}">
                <a16:creationId xmlns:a16="http://schemas.microsoft.com/office/drawing/2014/main" id="{62ACD4D9-676D-4F87-8CBE-879DED31070E}"/>
              </a:ext>
            </a:extLst>
          </p:cNvPr>
          <p:cNvSpPr/>
          <p:nvPr/>
        </p:nvSpPr>
        <p:spPr>
          <a:xfrm>
            <a:off x="335422" y="596800"/>
            <a:ext cx="8473155" cy="6294031"/>
          </a:xfrm>
          <a:prstGeom prst="rect">
            <a:avLst/>
          </a:prstGeom>
        </p:spPr>
        <p:txBody>
          <a:bodyPr wrap="square">
            <a:spAutoFit/>
          </a:bodyPr>
          <a:lstStyle/>
          <a:p>
            <a:pPr marL="285750"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Nominal attributes</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Nominal means “</a:t>
            </a:r>
            <a:r>
              <a:rPr lang="en-US" sz="1300" b="1" dirty="0">
                <a:latin typeface="Arial" panose="020B0604020202020204" pitchFamily="34" charset="0"/>
                <a:cs typeface="Arial" panose="020B0604020202020204" pitchFamily="34" charset="0"/>
              </a:rPr>
              <a:t>relating to names</a:t>
            </a:r>
            <a:r>
              <a:rPr lang="en-US" sz="1300" dirty="0">
                <a:latin typeface="Arial" panose="020B0604020202020204" pitchFamily="34" charset="0"/>
                <a:cs typeface="Arial" panose="020B0604020202020204" pitchFamily="34" charset="0"/>
              </a:rPr>
              <a:t>”. The values of a nominal attribute are </a:t>
            </a:r>
            <a:r>
              <a:rPr lang="en-US" sz="1300" b="1" dirty="0">
                <a:latin typeface="Arial" panose="020B0604020202020204" pitchFamily="34" charset="0"/>
                <a:cs typeface="Arial" panose="020B0604020202020204" pitchFamily="34" charset="0"/>
              </a:rPr>
              <a:t>symbols</a:t>
            </a:r>
            <a:r>
              <a:rPr lang="en-US" sz="1300" dirty="0">
                <a:latin typeface="Arial" panose="020B0604020202020204" pitchFamily="34" charset="0"/>
                <a:cs typeface="Arial" panose="020B0604020202020204" pitchFamily="34" charset="0"/>
              </a:rPr>
              <a:t> or </a:t>
            </a:r>
            <a:r>
              <a:rPr lang="en-US" sz="1300" b="1" dirty="0">
                <a:latin typeface="Arial" panose="020B0604020202020204" pitchFamily="34" charset="0"/>
                <a:cs typeface="Arial" panose="020B0604020202020204" pitchFamily="34" charset="0"/>
              </a:rPr>
              <a:t>names of things</a:t>
            </a:r>
            <a:r>
              <a:rPr lang="en-US" sz="1300" dirty="0">
                <a:latin typeface="Arial" panose="020B0604020202020204" pitchFamily="34" charset="0"/>
                <a:cs typeface="Arial" panose="020B0604020202020204" pitchFamily="34" charset="0"/>
              </a:rPr>
              <a:t>. Each value represents some kind of category, code, or state, and so nominal attributes are also referred to as </a:t>
            </a:r>
            <a:r>
              <a:rPr lang="en-US" sz="1300" b="1" dirty="0">
                <a:latin typeface="Arial" panose="020B0604020202020204" pitchFamily="34" charset="0"/>
                <a:cs typeface="Arial" panose="020B0604020202020204" pitchFamily="34" charset="0"/>
              </a:rPr>
              <a:t>categorical</a:t>
            </a:r>
            <a:r>
              <a:rPr lang="en-US" sz="1300" dirty="0">
                <a:latin typeface="Arial" panose="020B0604020202020204" pitchFamily="34" charset="0"/>
                <a:cs typeface="Arial" panose="020B0604020202020204" pitchFamily="34" charset="0"/>
              </a:rPr>
              <a:t>. The values do not have any meaningful order. In computer science, the values are also known as </a:t>
            </a:r>
            <a:r>
              <a:rPr lang="en-US" sz="1300" b="1" dirty="0">
                <a:latin typeface="Arial" panose="020B0604020202020204" pitchFamily="34" charset="0"/>
                <a:cs typeface="Arial" panose="020B0604020202020204" pitchFamily="34" charset="0"/>
              </a:rPr>
              <a:t>enumerations</a:t>
            </a:r>
            <a:r>
              <a:rPr lang="en-US" sz="1300" dirty="0">
                <a:latin typeface="Arial" panose="020B0604020202020204" pitchFamily="34" charset="0"/>
                <a:cs typeface="Arial" panose="020B0604020202020204" pitchFamily="34" charset="0"/>
              </a:rPr>
              <a:t>.</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Example: </a:t>
            </a:r>
            <a:r>
              <a:rPr lang="en-US" sz="1300" dirty="0" err="1">
                <a:latin typeface="Arial" panose="020B0604020202020204" pitchFamily="34" charset="0"/>
                <a:cs typeface="Arial" panose="020B0604020202020204" pitchFamily="34" charset="0"/>
              </a:rPr>
              <a:t>hairColor</a:t>
            </a:r>
            <a:r>
              <a:rPr lang="en-US" sz="1300" dirty="0">
                <a:latin typeface="Arial" panose="020B0604020202020204" pitchFamily="34" charset="0"/>
                <a:cs typeface="Arial" panose="020B0604020202020204" pitchFamily="34" charset="0"/>
              </a:rPr>
              <a:t>, </a:t>
            </a:r>
            <a:r>
              <a:rPr lang="en-US" sz="1300" dirty="0" err="1">
                <a:latin typeface="Arial" panose="020B0604020202020204" pitchFamily="34" charset="0"/>
                <a:cs typeface="Arial" panose="020B0604020202020204" pitchFamily="34" charset="0"/>
              </a:rPr>
              <a:t>maritalStatus</a:t>
            </a:r>
            <a:r>
              <a:rPr lang="en-US" sz="1300" dirty="0">
                <a:latin typeface="Arial" panose="020B0604020202020204" pitchFamily="34" charset="0"/>
                <a:cs typeface="Arial" panose="020B0604020202020204" pitchFamily="34" charset="0"/>
              </a:rPr>
              <a:t>, gender, occupation, …</a:t>
            </a:r>
          </a:p>
          <a:p>
            <a:pPr algn="just"/>
            <a:endParaRPr lang="en-US" sz="13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300" b="1" dirty="0">
                <a:latin typeface="Arial" panose="020B0604020202020204" pitchFamily="34" charset="0"/>
                <a:cs typeface="Arial" panose="020B0604020202020204" pitchFamily="34" charset="0"/>
              </a:rPr>
              <a:t>Binary Attributes</a:t>
            </a:r>
          </a:p>
          <a:p>
            <a:pPr marL="742950" lvl="1" indent="-285750">
              <a:buFont typeface="Arial" panose="020B0604020202020204" pitchFamily="34" charset="0"/>
              <a:buChar char="•"/>
            </a:pPr>
            <a:endParaRPr lang="en-US" sz="1300" b="0" i="0" u="none" strike="noStrike" baseline="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300" b="0" i="0" u="none" strike="noStrike" baseline="0" dirty="0">
                <a:latin typeface="Arial" panose="020B0604020202020204" pitchFamily="34" charset="0"/>
                <a:cs typeface="Arial" panose="020B0604020202020204" pitchFamily="34" charset="0"/>
              </a:rPr>
              <a:t>A </a:t>
            </a:r>
            <a:r>
              <a:rPr lang="en-US" sz="1300" b="1" i="0" u="none" strike="noStrike" baseline="0" dirty="0">
                <a:latin typeface="Arial" panose="020B0604020202020204" pitchFamily="34" charset="0"/>
                <a:cs typeface="Arial" panose="020B0604020202020204" pitchFamily="34" charset="0"/>
              </a:rPr>
              <a:t>binary attribute </a:t>
            </a:r>
            <a:r>
              <a:rPr lang="en-US" sz="1300" b="0" i="0" u="none" strike="noStrike" baseline="0" dirty="0">
                <a:latin typeface="Arial" panose="020B0604020202020204" pitchFamily="34" charset="0"/>
                <a:cs typeface="Arial" panose="020B0604020202020204" pitchFamily="34" charset="0"/>
              </a:rPr>
              <a:t>is </a:t>
            </a:r>
            <a:r>
              <a:rPr lang="en-US" sz="1300" b="1" i="0" u="none" strike="noStrike" baseline="0" dirty="0">
                <a:latin typeface="Arial" panose="020B0604020202020204" pitchFamily="34" charset="0"/>
                <a:cs typeface="Arial" panose="020B0604020202020204" pitchFamily="34" charset="0"/>
              </a:rPr>
              <a:t>a nominal attribute</a:t>
            </a:r>
            <a:r>
              <a:rPr lang="en-US" sz="1300" b="0" i="0" u="none" strike="noStrike" baseline="0" dirty="0">
                <a:latin typeface="Arial" panose="020B0604020202020204" pitchFamily="34" charset="0"/>
                <a:cs typeface="Arial" panose="020B0604020202020204" pitchFamily="34" charset="0"/>
              </a:rPr>
              <a:t> with only two categories or states: 0 or 1, where 0 typically means that the attribute is absent, and 1 means that it is present. Binary attributes are referred to as </a:t>
            </a:r>
            <a:r>
              <a:rPr lang="en-US" sz="1300" b="1" i="0" u="none" strike="noStrike" baseline="0" dirty="0">
                <a:latin typeface="Arial" panose="020B0604020202020204" pitchFamily="34" charset="0"/>
                <a:cs typeface="Arial" panose="020B0604020202020204" pitchFamily="34" charset="0"/>
              </a:rPr>
              <a:t>Boolean </a:t>
            </a:r>
            <a:r>
              <a:rPr lang="en-US" sz="1300" b="0" i="0" u="none" strike="noStrike" baseline="0" dirty="0">
                <a:latin typeface="Arial" panose="020B0604020202020204" pitchFamily="34" charset="0"/>
                <a:cs typeface="Arial" panose="020B0604020202020204" pitchFamily="34" charset="0"/>
              </a:rPr>
              <a:t>if the two states correspond to </a:t>
            </a:r>
            <a:r>
              <a:rPr lang="en-US" sz="1300" b="0" i="1" u="none" strike="noStrike" baseline="0" dirty="0">
                <a:latin typeface="Arial" panose="020B0604020202020204" pitchFamily="34" charset="0"/>
                <a:cs typeface="Arial" panose="020B0604020202020204" pitchFamily="34" charset="0"/>
              </a:rPr>
              <a:t>true </a:t>
            </a:r>
            <a:r>
              <a:rPr lang="en-US" sz="1300" b="0" i="0" u="none" strike="noStrike" baseline="0" dirty="0">
                <a:latin typeface="Arial" panose="020B0604020202020204" pitchFamily="34" charset="0"/>
                <a:cs typeface="Arial" panose="020B0604020202020204" pitchFamily="34" charset="0"/>
              </a:rPr>
              <a:t>and </a:t>
            </a:r>
            <a:r>
              <a:rPr lang="en-US" sz="1300" b="0" i="1" u="none" strike="noStrike" baseline="0" dirty="0">
                <a:latin typeface="Arial" panose="020B0604020202020204" pitchFamily="34" charset="0"/>
                <a:cs typeface="Arial" panose="020B0604020202020204" pitchFamily="34" charset="0"/>
              </a:rPr>
              <a:t>false</a:t>
            </a:r>
            <a:r>
              <a:rPr lang="en-US" sz="1300" b="0" i="0" u="none" strike="noStrike" baseline="0" dirty="0">
                <a:latin typeface="Arial" panose="020B0604020202020204" pitchFamily="34" charset="0"/>
                <a:cs typeface="Arial" panose="020B0604020202020204" pitchFamily="34" charset="0"/>
              </a:rPr>
              <a:t>.</a:t>
            </a:r>
          </a:p>
          <a:p>
            <a:pPr marL="742950" lvl="1" indent="-285750">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300" dirty="0">
                <a:latin typeface="Arial" panose="020B0604020202020204" pitchFamily="34" charset="0"/>
                <a:cs typeface="Arial" panose="020B0604020202020204" pitchFamily="34" charset="0"/>
              </a:rPr>
              <a:t>Example: The “smoker” attribute in a patient data object.</a:t>
            </a:r>
          </a:p>
          <a:p>
            <a:pPr algn="just"/>
            <a:endParaRPr lang="en-US" sz="13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Ordinal Attributes</a:t>
            </a:r>
          </a:p>
          <a:p>
            <a:pPr marL="285750"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An ordinal attribute is an attribute with possible values that </a:t>
            </a:r>
            <a:r>
              <a:rPr lang="en-US" sz="1300" b="1" dirty="0">
                <a:latin typeface="Arial" panose="020B0604020202020204" pitchFamily="34" charset="0"/>
                <a:cs typeface="Arial" panose="020B0604020202020204" pitchFamily="34" charset="0"/>
              </a:rPr>
              <a:t>have a meaningful order or ranking among them</a:t>
            </a:r>
            <a:r>
              <a:rPr lang="en-US" sz="1300" dirty="0">
                <a:latin typeface="Arial" panose="020B0604020202020204" pitchFamily="34" charset="0"/>
                <a:cs typeface="Arial" panose="020B0604020202020204" pitchFamily="34" charset="0"/>
              </a:rPr>
              <a:t>, but the </a:t>
            </a:r>
            <a:r>
              <a:rPr lang="en-US" sz="1300" b="1" dirty="0">
                <a:latin typeface="Arial" panose="020B0604020202020204" pitchFamily="34" charset="0"/>
                <a:cs typeface="Arial" panose="020B0604020202020204" pitchFamily="34" charset="0"/>
              </a:rPr>
              <a:t>magnitude between successive values is NOT known.</a:t>
            </a:r>
          </a:p>
          <a:p>
            <a:pPr marL="742950" lvl="1"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Example: </a:t>
            </a: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Starbucks coffee cup size: small, medium, </a:t>
            </a:r>
            <a:r>
              <a:rPr lang="en-US" sz="1300" dirty="0" err="1">
                <a:latin typeface="Arial" panose="020B0604020202020204" pitchFamily="34" charset="0"/>
                <a:cs typeface="Arial" panose="020B0604020202020204" pitchFamily="34" charset="0"/>
              </a:rPr>
              <a:t>grande</a:t>
            </a: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School grading system: F,D,C,B,A</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Ordinal attributes are useful for registering </a:t>
            </a:r>
            <a:r>
              <a:rPr lang="en-US" sz="1300" b="1" dirty="0">
                <a:latin typeface="Arial" panose="020B0604020202020204" pitchFamily="34" charset="0"/>
                <a:cs typeface="Arial" panose="020B0604020202020204" pitchFamily="34" charset="0"/>
              </a:rPr>
              <a:t>subjective assessments of qualities</a:t>
            </a:r>
            <a:r>
              <a:rPr lang="en-US" sz="1300" dirty="0">
                <a:latin typeface="Arial" panose="020B0604020202020204" pitchFamily="34" charset="0"/>
                <a:cs typeface="Arial" panose="020B0604020202020204" pitchFamily="34" charset="0"/>
              </a:rPr>
              <a:t> that cannot be measured objectively; thus, </a:t>
            </a:r>
            <a:r>
              <a:rPr lang="en-US" sz="1300" b="1" dirty="0">
                <a:latin typeface="Arial" panose="020B0604020202020204" pitchFamily="34" charset="0"/>
                <a:cs typeface="Arial" panose="020B0604020202020204" pitchFamily="34" charset="0"/>
              </a:rPr>
              <a:t>ordinal attributes are often used in surveys for ratings</a:t>
            </a:r>
            <a:r>
              <a:rPr lang="en-US" sz="1300" dirty="0">
                <a:latin typeface="Arial" panose="020B0604020202020204" pitchFamily="34" charset="0"/>
                <a:cs typeface="Arial" panose="020B0604020202020204" pitchFamily="34" charset="0"/>
              </a:rPr>
              <a:t>. For example, customer satisfaction in a survey can have the following ordinal categories: 0: very dissatisfied, 1: somewhat dissatisfied, 2: neutral, 3: satisfied, and 4: very satisfied.</a:t>
            </a:r>
          </a:p>
        </p:txBody>
      </p:sp>
    </p:spTree>
    <p:extLst>
      <p:ext uri="{BB962C8B-B14F-4D97-AF65-F5344CB8AC3E}">
        <p14:creationId xmlns:p14="http://schemas.microsoft.com/office/powerpoint/2010/main" val="1937717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What are the kinds of Data Attribute?</a:t>
            </a:r>
          </a:p>
        </p:txBody>
      </p:sp>
      <p:sp>
        <p:nvSpPr>
          <p:cNvPr id="5" name="Rectangle 4">
            <a:extLst>
              <a:ext uri="{FF2B5EF4-FFF2-40B4-BE49-F238E27FC236}">
                <a16:creationId xmlns:a16="http://schemas.microsoft.com/office/drawing/2014/main" id="{62ACD4D9-676D-4F87-8CBE-879DED31070E}"/>
              </a:ext>
            </a:extLst>
          </p:cNvPr>
          <p:cNvSpPr/>
          <p:nvPr/>
        </p:nvSpPr>
        <p:spPr>
          <a:xfrm>
            <a:off x="335422" y="596800"/>
            <a:ext cx="8473155" cy="3293209"/>
          </a:xfrm>
          <a:prstGeom prst="rect">
            <a:avLst/>
          </a:prstGeom>
        </p:spPr>
        <p:txBody>
          <a:bodyPr wrap="square">
            <a:spAutoFit/>
          </a:bodyPr>
          <a:lstStyle/>
          <a:p>
            <a:pPr marL="285750"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Numeric Attributes</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A numeric attribute is quantitative; that is, it is a measurable quantity, represented in integer or real values. </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Example: room temperature, volume, air density, …</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Numeric attributes can be </a:t>
            </a:r>
            <a:r>
              <a:rPr lang="en-US" sz="1300" b="1" dirty="0">
                <a:latin typeface="Arial" panose="020B0604020202020204" pitchFamily="34" charset="0"/>
                <a:cs typeface="Arial" panose="020B0604020202020204" pitchFamily="34" charset="0"/>
              </a:rPr>
              <a:t>location</a:t>
            </a:r>
            <a:r>
              <a:rPr lang="en-US" sz="1300" dirty="0">
                <a:latin typeface="Arial" panose="020B0604020202020204" pitchFamily="34" charset="0"/>
                <a:cs typeface="Arial" panose="020B0604020202020204" pitchFamily="34" charset="0"/>
              </a:rPr>
              <a:t> (</a:t>
            </a:r>
            <a:r>
              <a:rPr lang="en-US" sz="1300" b="1" dirty="0">
                <a:latin typeface="Arial" panose="020B0604020202020204" pitchFamily="34" charset="0"/>
                <a:cs typeface="Arial" panose="020B0604020202020204" pitchFamily="34" charset="0"/>
              </a:rPr>
              <a:t>interval-scaled)</a:t>
            </a:r>
            <a:r>
              <a:rPr lang="en-US" sz="1300" dirty="0">
                <a:latin typeface="Arial" panose="020B0604020202020204" pitchFamily="34" charset="0"/>
                <a:cs typeface="Arial" panose="020B0604020202020204" pitchFamily="34" charset="0"/>
              </a:rPr>
              <a:t> or </a:t>
            </a:r>
            <a:r>
              <a:rPr lang="en-US" sz="1300" b="1" dirty="0">
                <a:latin typeface="Arial" panose="020B0604020202020204" pitchFamily="34" charset="0"/>
                <a:cs typeface="Arial" panose="020B0604020202020204" pitchFamily="34" charset="0"/>
              </a:rPr>
              <a:t>scale</a:t>
            </a:r>
            <a:r>
              <a:rPr lang="en-US" sz="1300" dirty="0">
                <a:latin typeface="Arial" panose="020B0604020202020204" pitchFamily="34" charset="0"/>
                <a:cs typeface="Arial" panose="020B0604020202020204" pitchFamily="34" charset="0"/>
              </a:rPr>
              <a:t> (</a:t>
            </a:r>
            <a:r>
              <a:rPr lang="en-US" sz="1300" b="1" dirty="0">
                <a:latin typeface="Arial" panose="020B0604020202020204" pitchFamily="34" charset="0"/>
                <a:cs typeface="Arial" panose="020B0604020202020204" pitchFamily="34" charset="0"/>
              </a:rPr>
              <a:t>ratio-scaled) attributes</a:t>
            </a:r>
            <a:r>
              <a:rPr lang="en-US" sz="1300" dirty="0">
                <a:latin typeface="Arial" panose="020B0604020202020204" pitchFamily="34" charset="0"/>
                <a:cs typeface="Arial" panose="020B0604020202020204" pitchFamily="34" charset="0"/>
              </a:rPr>
              <a:t>.</a:t>
            </a:r>
          </a:p>
          <a:p>
            <a:pPr algn="just"/>
            <a:endParaRPr lang="en-US" sz="1300" dirty="0">
              <a:latin typeface="Arial" panose="020B0604020202020204" pitchFamily="34" charset="0"/>
              <a:cs typeface="Arial" panose="020B0604020202020204" pitchFamily="34" charset="0"/>
            </a:endParaRPr>
          </a:p>
          <a:p>
            <a:pPr marL="1200150" lvl="2" indent="-285750">
              <a:buFont typeface="Arial" panose="020B0604020202020204" pitchFamily="34" charset="0"/>
              <a:buChar char="•"/>
            </a:pPr>
            <a:r>
              <a:rPr lang="en-US" sz="1300" b="1" dirty="0">
                <a:latin typeface="Arial" panose="020B0604020202020204" pitchFamily="34" charset="0"/>
                <a:cs typeface="Arial" panose="020B0604020202020204" pitchFamily="34" charset="0"/>
              </a:rPr>
              <a:t>Location Attributes </a:t>
            </a:r>
            <a:r>
              <a:rPr lang="en-US" sz="1300" dirty="0">
                <a:latin typeface="Arial" panose="020B0604020202020204" pitchFamily="34" charset="0"/>
                <a:cs typeface="Arial" panose="020B0604020202020204" pitchFamily="34" charset="0"/>
              </a:rPr>
              <a:t>do not have a starting value (or zero-point). For example, location of trees in a forest does not a reference point. The temperature in Celsius or Fahrenheit is also a location attribute.</a:t>
            </a:r>
          </a:p>
          <a:p>
            <a:pPr marL="1200150" lvl="2" indent="-285750">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buFont typeface="Arial" panose="020B0604020202020204" pitchFamily="34" charset="0"/>
              <a:buChar char="•"/>
            </a:pPr>
            <a:r>
              <a:rPr lang="en-US" sz="1300" b="1" dirty="0">
                <a:latin typeface="Arial" panose="020B0604020202020204" pitchFamily="34" charset="0"/>
                <a:cs typeface="Arial" panose="020B0604020202020204" pitchFamily="34" charset="0"/>
              </a:rPr>
              <a:t>Scale Attributes</a:t>
            </a:r>
            <a:r>
              <a:rPr lang="en-US" sz="1300" dirty="0">
                <a:latin typeface="Arial" panose="020B0604020202020204" pitchFamily="34" charset="0"/>
                <a:cs typeface="Arial" panose="020B0604020202020204" pitchFamily="34" charset="0"/>
              </a:rPr>
              <a:t>, unlike location attributes, do have a zeros point, for example, the time since an event, or the temperature in Kelvins.</a:t>
            </a:r>
            <a:endParaRPr lang="en-US" sz="1300" b="1" dirty="0">
              <a:latin typeface="Arial" panose="020B0604020202020204" pitchFamily="34" charset="0"/>
              <a:cs typeface="Arial" panose="020B0604020202020204" pitchFamily="34" charset="0"/>
            </a:endParaRPr>
          </a:p>
          <a:p>
            <a:pPr lvl="1"/>
            <a:endParaRPr lang="en-US" sz="1300" b="0" i="0" u="none" strike="noStrike" baseline="0" dirty="0">
              <a:latin typeface="Arial" panose="020B0604020202020204" pitchFamily="34" charset="0"/>
              <a:cs typeface="Arial" panose="020B0604020202020204" pitchFamily="34" charset="0"/>
            </a:endParaRPr>
          </a:p>
        </p:txBody>
      </p:sp>
      <p:sp>
        <p:nvSpPr>
          <p:cNvPr id="4" name="Title 4 1">
            <a:extLst>
              <a:ext uri="{FF2B5EF4-FFF2-40B4-BE49-F238E27FC236}">
                <a16:creationId xmlns:a16="http://schemas.microsoft.com/office/drawing/2014/main" id="{D22E8D6B-DDA9-4429-897D-D5B861EDDD77}"/>
              </a:ext>
            </a:extLst>
          </p:cNvPr>
          <p:cNvSpPr txBox="1">
            <a:spLocks/>
          </p:cNvSpPr>
          <p:nvPr/>
        </p:nvSpPr>
        <p:spPr>
          <a:xfrm>
            <a:off x="148832" y="3810841"/>
            <a:ext cx="8839200" cy="380999"/>
          </a:xfrm>
          <a:prstGeom prst="rect">
            <a:avLst/>
          </a:prstGeom>
        </p:spPr>
        <p:txBody>
          <a:bodyPr vert="horz" lIns="91440" tIns="45720" rIns="91440" bIns="45720" rtlCol="0" anchor="ctr">
            <a:normAutofit/>
          </a:bodyPr>
          <a:lstStyle>
            <a:lvl1pPr algn="l" defTabSz="457200" rtl="0" eaLnBrk="1" latinLnBrk="0" hangingPunct="1">
              <a:spcBef>
                <a:spcPct val="0"/>
              </a:spcBef>
              <a:buNone/>
              <a:defRPr sz="3600" kern="1200">
                <a:solidFill>
                  <a:schemeClr val="accent1">
                    <a:lumMod val="50000"/>
                  </a:schemeClr>
                </a:solidFill>
                <a:latin typeface="Arial"/>
                <a:ea typeface="+mj-ea"/>
                <a:cs typeface="+mj-cs"/>
              </a:defRPr>
            </a:lvl1pPr>
          </a:lstStyle>
          <a:p>
            <a:r>
              <a:rPr lang="en-US" sz="1800" b="1">
                <a:solidFill>
                  <a:schemeClr val="tx1"/>
                </a:solidFill>
              </a:rPr>
              <a:t>Data Attribute classification based on the values</a:t>
            </a:r>
            <a:endParaRPr lang="en-US" sz="1800" b="1" dirty="0">
              <a:solidFill>
                <a:schemeClr val="tx1"/>
              </a:solidFill>
            </a:endParaRPr>
          </a:p>
        </p:txBody>
      </p:sp>
      <p:sp>
        <p:nvSpPr>
          <p:cNvPr id="6" name="Rectangle 5">
            <a:extLst>
              <a:ext uri="{FF2B5EF4-FFF2-40B4-BE49-F238E27FC236}">
                <a16:creationId xmlns:a16="http://schemas.microsoft.com/office/drawing/2014/main" id="{48E10670-E492-478D-B67D-6DE8A2B23984}"/>
              </a:ext>
            </a:extLst>
          </p:cNvPr>
          <p:cNvSpPr/>
          <p:nvPr/>
        </p:nvSpPr>
        <p:spPr>
          <a:xfrm>
            <a:off x="344808" y="4243158"/>
            <a:ext cx="8473155" cy="2092881"/>
          </a:xfrm>
          <a:prstGeom prst="rect">
            <a:avLst/>
          </a:prstGeom>
        </p:spPr>
        <p:txBody>
          <a:bodyPr wrap="square">
            <a:spAutoFit/>
          </a:bodyPr>
          <a:lstStyle/>
          <a:p>
            <a:pPr marL="285750"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Continuous Attributes</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An attribute that can take an </a:t>
            </a:r>
            <a:r>
              <a:rPr lang="en-US" sz="1300" b="1" dirty="0">
                <a:latin typeface="Arial" panose="020B0604020202020204" pitchFamily="34" charset="0"/>
                <a:cs typeface="Arial" panose="020B0604020202020204" pitchFamily="34" charset="0"/>
              </a:rPr>
              <a:t>uncountably infinite </a:t>
            </a:r>
            <a:r>
              <a:rPr lang="en-US" sz="1300" dirty="0">
                <a:latin typeface="Arial" panose="020B0604020202020204" pitchFamily="34" charset="0"/>
                <a:cs typeface="Arial" panose="020B0604020202020204" pitchFamily="34" charset="0"/>
              </a:rPr>
              <a:t>number of possible values is </a:t>
            </a:r>
            <a:r>
              <a:rPr lang="en-US" sz="1300" b="1" dirty="0">
                <a:latin typeface="Arial" panose="020B0604020202020204" pitchFamily="34" charset="0"/>
                <a:cs typeface="Arial" panose="020B0604020202020204" pitchFamily="34" charset="0"/>
              </a:rPr>
              <a:t>continuous</a:t>
            </a:r>
            <a:r>
              <a:rPr lang="en-US" sz="1300" dirty="0">
                <a:latin typeface="Arial" panose="020B0604020202020204" pitchFamily="34" charset="0"/>
                <a:cs typeface="Arial" panose="020B0604020202020204" pitchFamily="34" charset="0"/>
              </a:rPr>
              <a:t>. Most numeric attributes are also continuous.  </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285750" marR="0" lvl="0" indent="-2857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Discrete Attributes</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An attribute that can take only a </a:t>
            </a:r>
            <a:r>
              <a:rPr lang="en-US" sz="1300" b="1" dirty="0">
                <a:latin typeface="Arial" panose="020B0604020202020204" pitchFamily="34" charset="0"/>
                <a:cs typeface="Arial" panose="020B0604020202020204" pitchFamily="34" charset="0"/>
              </a:rPr>
              <a:t>finite</a:t>
            </a:r>
            <a:r>
              <a:rPr lang="en-US" sz="1300" dirty="0">
                <a:latin typeface="Arial" panose="020B0604020202020204" pitchFamily="34" charset="0"/>
                <a:cs typeface="Arial" panose="020B0604020202020204" pitchFamily="34" charset="0"/>
              </a:rPr>
              <a:t> or a </a:t>
            </a:r>
            <a:r>
              <a:rPr lang="en-US" sz="1300" b="1" dirty="0">
                <a:latin typeface="Arial" panose="020B0604020202020204" pitchFamily="34" charset="0"/>
                <a:cs typeface="Arial" panose="020B0604020202020204" pitchFamily="34" charset="0"/>
              </a:rPr>
              <a:t>countably infinite </a:t>
            </a:r>
            <a:r>
              <a:rPr lang="en-US" sz="1300" dirty="0">
                <a:latin typeface="Arial" panose="020B0604020202020204" pitchFamily="34" charset="0"/>
                <a:cs typeface="Arial" panose="020B0604020202020204" pitchFamily="34" charset="0"/>
              </a:rPr>
              <a:t>number of possible values is </a:t>
            </a:r>
            <a:r>
              <a:rPr lang="en-US" sz="1300" b="1" dirty="0">
                <a:latin typeface="Arial" panose="020B0604020202020204" pitchFamily="34" charset="0"/>
                <a:cs typeface="Arial" panose="020B0604020202020204" pitchFamily="34" charset="0"/>
              </a:rPr>
              <a:t>discrete</a:t>
            </a:r>
            <a:r>
              <a:rPr lang="en-US" sz="1300" dirty="0">
                <a:latin typeface="Arial" panose="020B0604020202020204" pitchFamily="34" charset="0"/>
                <a:cs typeface="Arial" panose="020B0604020202020204" pitchFamily="34" charset="0"/>
              </a:rPr>
              <a:t>. Integer numeric attributes are common examples of discrete variables. Ordinal and binary attributes are also discrete.</a:t>
            </a:r>
          </a:p>
        </p:txBody>
      </p:sp>
    </p:spTree>
    <p:extLst>
      <p:ext uri="{BB962C8B-B14F-4D97-AF65-F5344CB8AC3E}">
        <p14:creationId xmlns:p14="http://schemas.microsoft.com/office/powerpoint/2010/main" val="30253485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Basic Data Summarization Techniques</a:t>
            </a:r>
          </a:p>
        </p:txBody>
      </p:sp>
      <p:sp>
        <p:nvSpPr>
          <p:cNvPr id="5" name="Rectangle 4">
            <a:extLst>
              <a:ext uri="{FF2B5EF4-FFF2-40B4-BE49-F238E27FC236}">
                <a16:creationId xmlns:a16="http://schemas.microsoft.com/office/drawing/2014/main" id="{62ACD4D9-676D-4F87-8CBE-879DED31070E}"/>
              </a:ext>
            </a:extLst>
          </p:cNvPr>
          <p:cNvSpPr/>
          <p:nvPr/>
        </p:nvSpPr>
        <p:spPr>
          <a:xfrm>
            <a:off x="335422" y="596800"/>
            <a:ext cx="8473155" cy="3893374"/>
          </a:xfrm>
          <a:prstGeom prst="rect">
            <a:avLst/>
          </a:prstGeom>
        </p:spPr>
        <p:txBody>
          <a:bodyPr wrap="square">
            <a:spAutoFit/>
          </a:bodyPr>
          <a:lstStyle/>
          <a:p>
            <a:pPr marL="285750"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Measuring the Central Tendency (mean, median+)</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The most common and effective numeric measure of the “center” of a set of data is the (</a:t>
            </a:r>
            <a:r>
              <a:rPr lang="en-US" sz="1300" b="1" dirty="0">
                <a:latin typeface="Arial" panose="020B0604020202020204" pitchFamily="34" charset="0"/>
                <a:cs typeface="Arial" panose="020B0604020202020204" pitchFamily="34" charset="0"/>
              </a:rPr>
              <a:t>arithmetic</a:t>
            </a:r>
            <a:r>
              <a:rPr lang="en-US" sz="1300" dirty="0">
                <a:latin typeface="Arial" panose="020B0604020202020204" pitchFamily="34" charset="0"/>
                <a:cs typeface="Arial" panose="020B0604020202020204" pitchFamily="34" charset="0"/>
              </a:rPr>
              <a:t>) </a:t>
            </a:r>
            <a:r>
              <a:rPr lang="en-US" sz="1300" b="1" dirty="0">
                <a:latin typeface="Arial" panose="020B0604020202020204" pitchFamily="34" charset="0"/>
                <a:cs typeface="Arial" panose="020B0604020202020204" pitchFamily="34" charset="0"/>
              </a:rPr>
              <a:t>mean</a:t>
            </a:r>
            <a:r>
              <a:rPr lang="en-US" sz="1300" dirty="0">
                <a:latin typeface="Arial" panose="020B0604020202020204" pitchFamily="34" charset="0"/>
                <a:cs typeface="Arial" panose="020B0604020202020204" pitchFamily="34" charset="0"/>
              </a:rPr>
              <a:t>.  The mean </a:t>
            </a:r>
            <a:r>
              <a:rPr lang="en-US" sz="1300" b="1" dirty="0">
                <a:latin typeface="Arial" panose="020B0604020202020204" pitchFamily="34" charset="0"/>
                <a:cs typeface="Arial" panose="020B0604020202020204" pitchFamily="34" charset="0"/>
              </a:rPr>
              <a:t>statistic</a:t>
            </a:r>
            <a:r>
              <a:rPr lang="en-US" sz="1300" dirty="0">
                <a:latin typeface="Arial" panose="020B0604020202020204" pitchFamily="34" charset="0"/>
                <a:cs typeface="Arial" panose="020B0604020202020204" pitchFamily="34" charset="0"/>
              </a:rPr>
              <a:t> is extremely useful method of summarizing </a:t>
            </a:r>
            <a:r>
              <a:rPr lang="en-US" sz="1300" b="1" dirty="0">
                <a:latin typeface="Arial" panose="020B0604020202020204" pitchFamily="34" charset="0"/>
                <a:cs typeface="Arial" panose="020B0604020202020204" pitchFamily="34" charset="0"/>
              </a:rPr>
              <a:t>symmetric </a:t>
            </a:r>
            <a:r>
              <a:rPr lang="en-US" sz="1300" dirty="0">
                <a:latin typeface="Arial" panose="020B0604020202020204" pitchFamily="34" charset="0"/>
                <a:cs typeface="Arial" panose="020B0604020202020204" pitchFamily="34" charset="0"/>
              </a:rPr>
              <a:t>data.</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When data is skewed or asymmetric, the </a:t>
            </a:r>
            <a:r>
              <a:rPr lang="en-US" sz="1300" b="1" dirty="0">
                <a:latin typeface="Arial" panose="020B0604020202020204" pitchFamily="34" charset="0"/>
                <a:cs typeface="Arial" panose="020B0604020202020204" pitchFamily="34" charset="0"/>
              </a:rPr>
              <a:t>median</a:t>
            </a:r>
            <a:r>
              <a:rPr lang="en-US" sz="1300" dirty="0">
                <a:latin typeface="Arial" panose="020B0604020202020204" pitchFamily="34" charset="0"/>
                <a:cs typeface="Arial" panose="020B0604020202020204" pitchFamily="34" charset="0"/>
              </a:rPr>
              <a:t> statistic provides a less biased summary of data. Median is simply the is the middle value in a set of ordered data values.</a:t>
            </a:r>
          </a:p>
          <a:p>
            <a:pPr marL="285750" marR="0" lvl="0" indent="-2857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3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285750" marR="0" lvl="0" indent="-2857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3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3" name="Picture 2" descr="Text&#10;&#10;Description automatically generated">
            <a:extLst>
              <a:ext uri="{FF2B5EF4-FFF2-40B4-BE49-F238E27FC236}">
                <a16:creationId xmlns:a16="http://schemas.microsoft.com/office/drawing/2014/main" id="{6D9D2DA5-52CD-45CE-BF05-F44BB7D832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3243" y="4236092"/>
            <a:ext cx="7397511" cy="2267717"/>
          </a:xfrm>
          <a:prstGeom prst="rect">
            <a:avLst/>
          </a:prstGeom>
        </p:spPr>
      </p:pic>
      <p:pic>
        <p:nvPicPr>
          <p:cNvPr id="6" name="Picture 5" descr="A picture containing dark, night sky&#10;&#10;Description automatically generated">
            <a:extLst>
              <a:ext uri="{FF2B5EF4-FFF2-40B4-BE49-F238E27FC236}">
                <a16:creationId xmlns:a16="http://schemas.microsoft.com/office/drawing/2014/main" id="{1FD3A669-8865-468A-A19D-D5262A60DE7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96424" y="1660303"/>
            <a:ext cx="3017764" cy="1191415"/>
          </a:xfrm>
          <a:prstGeom prst="rect">
            <a:avLst/>
          </a:prstGeom>
        </p:spPr>
      </p:pic>
      <p:sp>
        <p:nvSpPr>
          <p:cNvPr id="12" name="TextBox 11">
            <a:extLst>
              <a:ext uri="{FF2B5EF4-FFF2-40B4-BE49-F238E27FC236}">
                <a16:creationId xmlns:a16="http://schemas.microsoft.com/office/drawing/2014/main" id="{8BF28D22-F195-4F91-8585-FEA9A86EF176}"/>
              </a:ext>
            </a:extLst>
          </p:cNvPr>
          <p:cNvSpPr txBox="1"/>
          <p:nvPr/>
        </p:nvSpPr>
        <p:spPr>
          <a:xfrm>
            <a:off x="3594128" y="3028444"/>
            <a:ext cx="1854158" cy="369332"/>
          </a:xfrm>
          <a:prstGeom prst="rect">
            <a:avLst/>
          </a:prstGeom>
          <a:noFill/>
        </p:spPr>
        <p:txBody>
          <a:bodyPr wrap="square">
            <a:spAutoFit/>
          </a:bodyPr>
          <a:lstStyle/>
          <a:p>
            <a:r>
              <a:rPr lang="en-US" sz="1800" dirty="0">
                <a:solidFill>
                  <a:schemeClr val="tx1"/>
                </a:solidFill>
              </a:rPr>
              <a:t>Arithmetic mean</a:t>
            </a:r>
            <a:endParaRPr lang="en-US" dirty="0"/>
          </a:p>
        </p:txBody>
      </p:sp>
    </p:spTree>
    <p:extLst>
      <p:ext uri="{BB962C8B-B14F-4D97-AF65-F5344CB8AC3E}">
        <p14:creationId xmlns:p14="http://schemas.microsoft.com/office/powerpoint/2010/main" val="41110825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Basic Data Summarization Techniques</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62ACD4D9-676D-4F87-8CBE-879DED31070E}"/>
                  </a:ext>
                </a:extLst>
              </p:cNvPr>
              <p:cNvSpPr/>
              <p:nvPr/>
            </p:nvSpPr>
            <p:spPr>
              <a:xfrm>
                <a:off x="335422" y="596800"/>
                <a:ext cx="8473155" cy="5924699"/>
              </a:xfrm>
              <a:prstGeom prst="rect">
                <a:avLst/>
              </a:prstGeom>
            </p:spPr>
            <p:txBody>
              <a:bodyPr wrap="square">
                <a:spAutoFit/>
              </a:bodyPr>
              <a:lstStyle/>
              <a:p>
                <a:pPr marL="285750"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Measuring the dispersion of data (variance, interquartile range)</a:t>
                </a:r>
              </a:p>
              <a:p>
                <a:pPr marL="285750"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Variance</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The most common and effective numeric measure of the “dispersion” of the values of an attribute in a dataset is the (square root of) </a:t>
                </a:r>
                <a:r>
                  <a:rPr lang="en-US" sz="1300" b="1" dirty="0">
                    <a:latin typeface="Arial" panose="020B0604020202020204" pitchFamily="34" charset="0"/>
                    <a:cs typeface="Arial" panose="020B0604020202020204" pitchFamily="34" charset="0"/>
                  </a:rPr>
                  <a:t>variance</a:t>
                </a:r>
                <a:r>
                  <a:rPr lang="en-US" sz="1300" dirty="0">
                    <a:latin typeface="Arial" panose="020B0604020202020204" pitchFamily="34" charset="0"/>
                    <a:cs typeface="Arial" panose="020B0604020202020204" pitchFamily="34" charset="0"/>
                  </a:rPr>
                  <a:t>. Variance is an extremely useful statistic for quantifying uncertainty in data.</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Let </a:t>
                </a:r>
                <a14:m>
                  <m:oMath xmlns:m="http://schemas.openxmlformats.org/officeDocument/2006/math">
                    <m:sSub>
                      <m:sSubPr>
                        <m:ctrlPr>
                          <a:rPr lang="en-US" sz="1500" i="1" dirty="0">
                            <a:latin typeface="Cambria Math" panose="02040503050406030204" pitchFamily="18" charset="0"/>
                            <a:cs typeface="Arial" panose="020B0604020202020204" pitchFamily="34" charset="0"/>
                          </a:rPr>
                        </m:ctrlPr>
                      </m:sSubPr>
                      <m:e>
                        <m:r>
                          <a:rPr lang="en-US" sz="1500" i="1" dirty="0">
                            <a:latin typeface="Cambria Math" panose="02040503050406030204" pitchFamily="18" charset="0"/>
                            <a:cs typeface="Arial" panose="020B0604020202020204" pitchFamily="34" charset="0"/>
                          </a:rPr>
                          <m:t>𝑥</m:t>
                        </m:r>
                      </m:e>
                      <m:sub>
                        <m:r>
                          <a:rPr lang="en-US" sz="1500" i="1" dirty="0">
                            <a:latin typeface="Cambria Math" panose="02040503050406030204" pitchFamily="18" charset="0"/>
                            <a:cs typeface="Arial" panose="020B0604020202020204" pitchFamily="34" charset="0"/>
                          </a:rPr>
                          <m:t>1</m:t>
                        </m:r>
                      </m:sub>
                    </m:sSub>
                    <m:r>
                      <a:rPr lang="en-US" sz="1500" i="1" dirty="0">
                        <a:latin typeface="Cambria Math" panose="02040503050406030204" pitchFamily="18" charset="0"/>
                        <a:cs typeface="Arial" panose="020B0604020202020204" pitchFamily="34" charset="0"/>
                      </a:rPr>
                      <m:t>,</m:t>
                    </m:r>
                    <m:sSub>
                      <m:sSubPr>
                        <m:ctrlPr>
                          <a:rPr lang="en-US" sz="1500" i="1" dirty="0">
                            <a:latin typeface="Cambria Math" panose="02040503050406030204" pitchFamily="18" charset="0"/>
                            <a:cs typeface="Arial" panose="020B0604020202020204" pitchFamily="34" charset="0"/>
                          </a:rPr>
                        </m:ctrlPr>
                      </m:sSubPr>
                      <m:e>
                        <m:r>
                          <a:rPr lang="en-US" sz="1500" i="1" dirty="0">
                            <a:latin typeface="Cambria Math" panose="02040503050406030204" pitchFamily="18" charset="0"/>
                            <a:cs typeface="Arial" panose="020B0604020202020204" pitchFamily="34" charset="0"/>
                          </a:rPr>
                          <m:t>𝑥</m:t>
                        </m:r>
                      </m:e>
                      <m:sub>
                        <m:r>
                          <a:rPr lang="en-US" sz="1500" i="1" dirty="0">
                            <a:latin typeface="Cambria Math" panose="02040503050406030204" pitchFamily="18" charset="0"/>
                            <a:cs typeface="Arial" panose="020B0604020202020204" pitchFamily="34" charset="0"/>
                          </a:rPr>
                          <m:t>2</m:t>
                        </m:r>
                      </m:sub>
                    </m:sSub>
                    <m:r>
                      <a:rPr lang="en-US" sz="1500" i="1" dirty="0">
                        <a:latin typeface="Cambria Math" panose="02040503050406030204" pitchFamily="18" charset="0"/>
                        <a:cs typeface="Arial" panose="020B0604020202020204" pitchFamily="34" charset="0"/>
                      </a:rPr>
                      <m:t>, …,</m:t>
                    </m:r>
                    <m:sSub>
                      <m:sSubPr>
                        <m:ctrlPr>
                          <a:rPr lang="en-US" sz="1500" i="1" dirty="0">
                            <a:latin typeface="Cambria Math" panose="02040503050406030204" pitchFamily="18" charset="0"/>
                            <a:cs typeface="Arial" panose="020B0604020202020204" pitchFamily="34" charset="0"/>
                          </a:rPr>
                        </m:ctrlPr>
                      </m:sSubPr>
                      <m:e>
                        <m:r>
                          <a:rPr lang="en-US" sz="1500" i="1" dirty="0" err="1">
                            <a:latin typeface="Cambria Math" panose="02040503050406030204" pitchFamily="18" charset="0"/>
                            <a:cs typeface="Arial" panose="020B0604020202020204" pitchFamily="34" charset="0"/>
                          </a:rPr>
                          <m:t>𝑥</m:t>
                        </m:r>
                      </m:e>
                      <m:sub>
                        <m:r>
                          <a:rPr lang="en-US" sz="1500" i="1" dirty="0" err="1">
                            <a:latin typeface="Cambria Math" panose="02040503050406030204" pitchFamily="18" charset="0"/>
                            <a:cs typeface="Arial" panose="020B0604020202020204" pitchFamily="34" charset="0"/>
                          </a:rPr>
                          <m:t>𝑁</m:t>
                        </m:r>
                      </m:sub>
                    </m:sSub>
                  </m:oMath>
                </a14:m>
                <a:r>
                  <a:rPr lang="en-US" sz="1500" dirty="0">
                    <a:latin typeface="Arial" panose="020B0604020202020204" pitchFamily="34" charset="0"/>
                    <a:cs typeface="Arial" panose="020B0604020202020204" pitchFamily="34" charset="0"/>
                  </a:rPr>
                  <a:t> </a:t>
                </a:r>
                <a:r>
                  <a:rPr lang="en-US" sz="1300" dirty="0">
                    <a:latin typeface="Arial" panose="020B0604020202020204" pitchFamily="34" charset="0"/>
                    <a:cs typeface="Arial" panose="020B0604020202020204" pitchFamily="34" charset="0"/>
                  </a:rPr>
                  <a:t>be a set of observations for a given numeric attribute, </a:t>
                </a:r>
                <a14:m>
                  <m:oMath xmlns:m="http://schemas.openxmlformats.org/officeDocument/2006/math">
                    <m:r>
                      <a:rPr lang="en-US" sz="1300" i="1" dirty="0">
                        <a:latin typeface="Cambria Math" panose="02040503050406030204" pitchFamily="18" charset="0"/>
                        <a:cs typeface="Arial" panose="020B0604020202020204" pitchFamily="34" charset="0"/>
                      </a:rPr>
                      <m:t>𝑋</m:t>
                    </m:r>
                  </m:oMath>
                </a14:m>
                <a:r>
                  <a:rPr lang="en-US" sz="1300" dirty="0">
                    <a:latin typeface="Arial" panose="020B0604020202020204" pitchFamily="34" charset="0"/>
                    <a:cs typeface="Arial" panose="020B0604020202020204" pitchFamily="34" charset="0"/>
                  </a:rPr>
                  <a:t>. Then, variance is simply average of the dispersion (distance-squared) of data from its center (mean </a:t>
                </a:r>
                <a14:m>
                  <m:oMath xmlns:m="http://schemas.openxmlformats.org/officeDocument/2006/math">
                    <m:r>
                      <a:rPr lang="en-US" sz="1300" b="1" i="1" smtClean="0">
                        <a:latin typeface="Cambria Math" panose="02040503050406030204" pitchFamily="18" charset="0"/>
                        <a:cs typeface="Arial" panose="020B0604020202020204" pitchFamily="34" charset="0"/>
                      </a:rPr>
                      <m:t>𝝁</m:t>
                    </m:r>
                  </m:oMath>
                </a14:m>
                <a:r>
                  <a:rPr lang="en-US" sz="1300" dirty="0">
                    <a:latin typeface="Arial" panose="020B0604020202020204" pitchFamily="34" charset="0"/>
                    <a:cs typeface="Arial" panose="020B0604020202020204" pitchFamily="34" charset="0"/>
                  </a:rPr>
                  <a:t>).</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Just like the mean of an attribute, variance is also sensitive to the presence of outliers. As such, other measures of the spread of data are also commonly used when there is a suspicion for the presence of outliers.</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The square-root of variance has the special name </a:t>
                </a:r>
                <a:r>
                  <a:rPr lang="en-US" sz="1300" b="1" dirty="0">
                    <a:latin typeface="Arial" panose="020B0604020202020204" pitchFamily="34" charset="0"/>
                    <a:cs typeface="Arial" panose="020B0604020202020204" pitchFamily="34" charset="0"/>
                  </a:rPr>
                  <a:t>Standard Deviation</a:t>
                </a:r>
                <a:r>
                  <a:rPr lang="en-US" sz="1300" dirty="0">
                    <a:latin typeface="Arial" panose="020B0604020202020204" pitchFamily="34" charset="0"/>
                    <a:cs typeface="Arial" panose="020B0604020202020204" pitchFamily="34" charset="0"/>
                  </a:rPr>
                  <a:t> in statistics and is one of the most effective measures of spread of data </a:t>
                </a:r>
                <a:r>
                  <a:rPr lang="en-US" sz="1300" b="1" dirty="0">
                    <a:latin typeface="Arial" panose="020B0604020202020204" pitchFamily="34" charset="0"/>
                    <a:cs typeface="Arial" panose="020B0604020202020204" pitchFamily="34" charset="0"/>
                  </a:rPr>
                  <a:t>around the mean</a:t>
                </a:r>
                <a:r>
                  <a:rPr lang="en-US" sz="1300" dirty="0">
                    <a:latin typeface="Arial" panose="020B0604020202020204" pitchFamily="34" charset="0"/>
                    <a:cs typeface="Arial" panose="020B0604020202020204" pitchFamily="34" charset="0"/>
                  </a:rPr>
                  <a:t>. As such, </a:t>
                </a:r>
                <a:r>
                  <a:rPr lang="en-US" sz="1300" b="1" dirty="0">
                    <a:latin typeface="Arial" panose="020B0604020202020204" pitchFamily="34" charset="0"/>
                    <a:cs typeface="Arial" panose="020B0604020202020204" pitchFamily="34" charset="0"/>
                  </a:rPr>
                  <a:t>it should be used and reported only when mean is used to quantify the central tendency of data.</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lvl="1" algn="just"/>
                <a:endParaRPr lang="en-US" sz="1300" b="1" dirty="0">
                  <a:latin typeface="Arial" panose="020B0604020202020204" pitchFamily="34" charset="0"/>
                  <a:cs typeface="Arial" panose="020B0604020202020204" pitchFamily="34" charset="0"/>
                </a:endParaRPr>
              </a:p>
            </p:txBody>
          </p:sp>
        </mc:Choice>
        <mc:Fallback xmlns="">
          <p:sp>
            <p:nvSpPr>
              <p:cNvPr id="5" name="Rectangle 4">
                <a:extLst>
                  <a:ext uri="{FF2B5EF4-FFF2-40B4-BE49-F238E27FC236}">
                    <a16:creationId xmlns:a16="http://schemas.microsoft.com/office/drawing/2014/main" id="{62ACD4D9-676D-4F87-8CBE-879DED31070E}"/>
                  </a:ext>
                </a:extLst>
              </p:cNvPr>
              <p:cNvSpPr>
                <a:spLocks noRot="1" noChangeAspect="1" noMove="1" noResize="1" noEditPoints="1" noAdjustHandles="1" noChangeArrowheads="1" noChangeShapeType="1" noTextEdit="1"/>
              </p:cNvSpPr>
              <p:nvPr/>
            </p:nvSpPr>
            <p:spPr>
              <a:xfrm>
                <a:off x="335422" y="596800"/>
                <a:ext cx="8473155" cy="5924699"/>
              </a:xfrm>
              <a:prstGeom prst="rect">
                <a:avLst/>
              </a:prstGeom>
              <a:blipFill>
                <a:blip r:embed="rId3"/>
                <a:stretch>
                  <a:fillRect t="-103" r="-144"/>
                </a:stretch>
              </a:blipFill>
            </p:spPr>
            <p:txBody>
              <a:bodyPr/>
              <a:lstStyle/>
              <a:p>
                <a:r>
                  <a:rPr lang="en-US">
                    <a:noFill/>
                  </a:rPr>
                  <a:t> </a:t>
                </a:r>
              </a:p>
            </p:txBody>
          </p:sp>
        </mc:Fallback>
      </mc:AlternateContent>
      <p:pic>
        <p:nvPicPr>
          <p:cNvPr id="9" name="Graphic 8">
            <a:extLst>
              <a:ext uri="{FF2B5EF4-FFF2-40B4-BE49-F238E27FC236}">
                <a16:creationId xmlns:a16="http://schemas.microsoft.com/office/drawing/2014/main" id="{CEC1D958-9925-4344-AB17-D33EF70A620A}"/>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3529" y="4441366"/>
            <a:ext cx="2327560" cy="323272"/>
          </a:xfrm>
          <a:prstGeom prst="rect">
            <a:avLst/>
          </a:prstGeom>
        </p:spPr>
      </p:pic>
      <p:pic>
        <p:nvPicPr>
          <p:cNvPr id="11" name="Graphic 10">
            <a:extLst>
              <a:ext uri="{FF2B5EF4-FFF2-40B4-BE49-F238E27FC236}">
                <a16:creationId xmlns:a16="http://schemas.microsoft.com/office/drawing/2014/main" id="{47ABD1F3-164D-49AC-AB04-45B36CE0DCA7}"/>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663529" y="4859483"/>
            <a:ext cx="3816942" cy="1554482"/>
          </a:xfrm>
          <a:prstGeom prst="rect">
            <a:avLst/>
          </a:prstGeom>
        </p:spPr>
      </p:pic>
    </p:spTree>
    <p:extLst>
      <p:ext uri="{BB962C8B-B14F-4D97-AF65-F5344CB8AC3E}">
        <p14:creationId xmlns:p14="http://schemas.microsoft.com/office/powerpoint/2010/main" val="39207829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Basic Data Summarization Techniques</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62ACD4D9-676D-4F87-8CBE-879DED31070E}"/>
                  </a:ext>
                </a:extLst>
              </p:cNvPr>
              <p:cNvSpPr/>
              <p:nvPr/>
            </p:nvSpPr>
            <p:spPr>
              <a:xfrm>
                <a:off x="335422" y="596800"/>
                <a:ext cx="8473155" cy="6723507"/>
              </a:xfrm>
              <a:prstGeom prst="rect">
                <a:avLst/>
              </a:prstGeom>
            </p:spPr>
            <p:txBody>
              <a:bodyPr wrap="square">
                <a:spAutoFit/>
              </a:bodyPr>
              <a:lstStyle/>
              <a:p>
                <a:pPr marL="285750"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Measuring the dispersion of data (variance, interquartile range)</a:t>
                </a:r>
              </a:p>
              <a:p>
                <a:pPr marL="285750"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Variance</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The most common and effective numeric measure of the “dispersion” of the values of an attribute in a dataset is the (square root of) </a:t>
                </a:r>
                <a:r>
                  <a:rPr lang="en-US" sz="1300" b="1" dirty="0">
                    <a:latin typeface="Arial" panose="020B0604020202020204" pitchFamily="34" charset="0"/>
                    <a:cs typeface="Arial" panose="020B0604020202020204" pitchFamily="34" charset="0"/>
                  </a:rPr>
                  <a:t>variance</a:t>
                </a:r>
                <a:r>
                  <a:rPr lang="en-US" sz="1300" dirty="0">
                    <a:latin typeface="Arial" panose="020B0604020202020204" pitchFamily="34" charset="0"/>
                    <a:cs typeface="Arial" panose="020B0604020202020204" pitchFamily="34" charset="0"/>
                  </a:rPr>
                  <a:t>. Variance is an extremely useful statistic for quantifying uncertainty in data.</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Let </a:t>
                </a:r>
                <a14:m>
                  <m:oMath xmlns:m="http://schemas.openxmlformats.org/officeDocument/2006/math">
                    <m:sSub>
                      <m:sSubPr>
                        <m:ctrlPr>
                          <a:rPr lang="en-US" sz="1500" i="1" dirty="0">
                            <a:latin typeface="Cambria Math" panose="02040503050406030204" pitchFamily="18" charset="0"/>
                            <a:cs typeface="Arial" panose="020B0604020202020204" pitchFamily="34" charset="0"/>
                          </a:rPr>
                        </m:ctrlPr>
                      </m:sSubPr>
                      <m:e>
                        <m:r>
                          <a:rPr lang="en-US" sz="1500" i="1" dirty="0">
                            <a:latin typeface="Cambria Math" panose="02040503050406030204" pitchFamily="18" charset="0"/>
                            <a:cs typeface="Arial" panose="020B0604020202020204" pitchFamily="34" charset="0"/>
                          </a:rPr>
                          <m:t>𝑥</m:t>
                        </m:r>
                      </m:e>
                      <m:sub>
                        <m:r>
                          <a:rPr lang="en-US" sz="1500" i="1" dirty="0">
                            <a:latin typeface="Cambria Math" panose="02040503050406030204" pitchFamily="18" charset="0"/>
                            <a:cs typeface="Arial" panose="020B0604020202020204" pitchFamily="34" charset="0"/>
                          </a:rPr>
                          <m:t>1</m:t>
                        </m:r>
                      </m:sub>
                    </m:sSub>
                    <m:r>
                      <a:rPr lang="en-US" sz="1500" i="1" dirty="0">
                        <a:latin typeface="Cambria Math" panose="02040503050406030204" pitchFamily="18" charset="0"/>
                        <a:cs typeface="Arial" panose="020B0604020202020204" pitchFamily="34" charset="0"/>
                      </a:rPr>
                      <m:t>,</m:t>
                    </m:r>
                    <m:sSub>
                      <m:sSubPr>
                        <m:ctrlPr>
                          <a:rPr lang="en-US" sz="1500" i="1" dirty="0">
                            <a:latin typeface="Cambria Math" panose="02040503050406030204" pitchFamily="18" charset="0"/>
                            <a:cs typeface="Arial" panose="020B0604020202020204" pitchFamily="34" charset="0"/>
                          </a:rPr>
                        </m:ctrlPr>
                      </m:sSubPr>
                      <m:e>
                        <m:r>
                          <a:rPr lang="en-US" sz="1500" i="1" dirty="0">
                            <a:latin typeface="Cambria Math" panose="02040503050406030204" pitchFamily="18" charset="0"/>
                            <a:cs typeface="Arial" panose="020B0604020202020204" pitchFamily="34" charset="0"/>
                          </a:rPr>
                          <m:t>𝑥</m:t>
                        </m:r>
                      </m:e>
                      <m:sub>
                        <m:r>
                          <a:rPr lang="en-US" sz="1500" i="1" dirty="0">
                            <a:latin typeface="Cambria Math" panose="02040503050406030204" pitchFamily="18" charset="0"/>
                            <a:cs typeface="Arial" panose="020B0604020202020204" pitchFamily="34" charset="0"/>
                          </a:rPr>
                          <m:t>2</m:t>
                        </m:r>
                      </m:sub>
                    </m:sSub>
                    <m:r>
                      <a:rPr lang="en-US" sz="1500" i="1" dirty="0">
                        <a:latin typeface="Cambria Math" panose="02040503050406030204" pitchFamily="18" charset="0"/>
                        <a:cs typeface="Arial" panose="020B0604020202020204" pitchFamily="34" charset="0"/>
                      </a:rPr>
                      <m:t>, …,</m:t>
                    </m:r>
                    <m:sSub>
                      <m:sSubPr>
                        <m:ctrlPr>
                          <a:rPr lang="en-US" sz="1500" i="1" dirty="0">
                            <a:latin typeface="Cambria Math" panose="02040503050406030204" pitchFamily="18" charset="0"/>
                            <a:cs typeface="Arial" panose="020B0604020202020204" pitchFamily="34" charset="0"/>
                          </a:rPr>
                        </m:ctrlPr>
                      </m:sSubPr>
                      <m:e>
                        <m:r>
                          <a:rPr lang="en-US" sz="1500" i="1" dirty="0" err="1">
                            <a:latin typeface="Cambria Math" panose="02040503050406030204" pitchFamily="18" charset="0"/>
                            <a:cs typeface="Arial" panose="020B0604020202020204" pitchFamily="34" charset="0"/>
                          </a:rPr>
                          <m:t>𝑥</m:t>
                        </m:r>
                      </m:e>
                      <m:sub>
                        <m:r>
                          <a:rPr lang="en-US" sz="1500" i="1" dirty="0" err="1">
                            <a:latin typeface="Cambria Math" panose="02040503050406030204" pitchFamily="18" charset="0"/>
                            <a:cs typeface="Arial" panose="020B0604020202020204" pitchFamily="34" charset="0"/>
                          </a:rPr>
                          <m:t>𝑁</m:t>
                        </m:r>
                      </m:sub>
                    </m:sSub>
                  </m:oMath>
                </a14:m>
                <a:r>
                  <a:rPr lang="en-US" sz="1500" dirty="0">
                    <a:latin typeface="Arial" panose="020B0604020202020204" pitchFamily="34" charset="0"/>
                    <a:cs typeface="Arial" panose="020B0604020202020204" pitchFamily="34" charset="0"/>
                  </a:rPr>
                  <a:t> </a:t>
                </a:r>
                <a:r>
                  <a:rPr lang="en-US" sz="1300" dirty="0">
                    <a:latin typeface="Arial" panose="020B0604020202020204" pitchFamily="34" charset="0"/>
                    <a:cs typeface="Arial" panose="020B0604020202020204" pitchFamily="34" charset="0"/>
                  </a:rPr>
                  <a:t>be a set of observations for a given numeric attribute, </a:t>
                </a:r>
                <a14:m>
                  <m:oMath xmlns:m="http://schemas.openxmlformats.org/officeDocument/2006/math">
                    <m:r>
                      <a:rPr lang="en-US" sz="1300" i="1" dirty="0">
                        <a:latin typeface="Cambria Math" panose="02040503050406030204" pitchFamily="18" charset="0"/>
                        <a:cs typeface="Arial" panose="020B0604020202020204" pitchFamily="34" charset="0"/>
                      </a:rPr>
                      <m:t>𝑋</m:t>
                    </m:r>
                  </m:oMath>
                </a14:m>
                <a:r>
                  <a:rPr lang="en-US" sz="1300" dirty="0">
                    <a:latin typeface="Arial" panose="020B0604020202020204" pitchFamily="34" charset="0"/>
                    <a:cs typeface="Arial" panose="020B0604020202020204" pitchFamily="34" charset="0"/>
                  </a:rPr>
                  <a:t>. Then, variance is simply average of the dispersion (distance-squared) of data from its center (mean </a:t>
                </a:r>
                <a14:m>
                  <m:oMath xmlns:m="http://schemas.openxmlformats.org/officeDocument/2006/math">
                    <m:r>
                      <a:rPr lang="en-US" sz="1300" b="1" i="1" smtClean="0">
                        <a:latin typeface="Cambria Math" panose="02040503050406030204" pitchFamily="18" charset="0"/>
                        <a:cs typeface="Arial" panose="020B0604020202020204" pitchFamily="34" charset="0"/>
                      </a:rPr>
                      <m:t>𝝁</m:t>
                    </m:r>
                  </m:oMath>
                </a14:m>
                <a:r>
                  <a:rPr lang="en-US" sz="1300" dirty="0">
                    <a:latin typeface="Arial" panose="020B0604020202020204" pitchFamily="34" charset="0"/>
                    <a:cs typeface="Arial" panose="020B0604020202020204" pitchFamily="34" charset="0"/>
                  </a:rPr>
                  <a:t>).</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Just like the mean of an attribute, variance is also sensitive to the presence of outliers. As such, other measures of the spread of data are also commonly used when there is a suspicion for the presence of outliers.</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The square-root of variance has the special name </a:t>
                </a:r>
                <a:r>
                  <a:rPr lang="en-US" sz="1300" b="1" dirty="0">
                    <a:latin typeface="Arial" panose="020B0604020202020204" pitchFamily="34" charset="0"/>
                    <a:cs typeface="Arial" panose="020B0604020202020204" pitchFamily="34" charset="0"/>
                  </a:rPr>
                  <a:t>Standard Deviation</a:t>
                </a:r>
                <a:r>
                  <a:rPr lang="en-US" sz="1300" dirty="0">
                    <a:latin typeface="Arial" panose="020B0604020202020204" pitchFamily="34" charset="0"/>
                    <a:cs typeface="Arial" panose="020B0604020202020204" pitchFamily="34" charset="0"/>
                  </a:rPr>
                  <a:t> in statistics and is one of the most effective measures of spread of data </a:t>
                </a:r>
                <a:r>
                  <a:rPr lang="en-US" sz="1300" b="1" dirty="0">
                    <a:latin typeface="Arial" panose="020B0604020202020204" pitchFamily="34" charset="0"/>
                    <a:cs typeface="Arial" panose="020B0604020202020204" pitchFamily="34" charset="0"/>
                  </a:rPr>
                  <a:t>around the mean</a:t>
                </a:r>
                <a:r>
                  <a:rPr lang="en-US" sz="1300" dirty="0">
                    <a:latin typeface="Arial" panose="020B0604020202020204" pitchFamily="34" charset="0"/>
                    <a:cs typeface="Arial" panose="020B0604020202020204" pitchFamily="34" charset="0"/>
                  </a:rPr>
                  <a:t>. As such, </a:t>
                </a:r>
                <a:r>
                  <a:rPr lang="en-US" sz="1300" b="1" dirty="0">
                    <a:latin typeface="Arial" panose="020B0604020202020204" pitchFamily="34" charset="0"/>
                    <a:cs typeface="Arial" panose="020B0604020202020204" pitchFamily="34" charset="0"/>
                  </a:rPr>
                  <a:t>it should be used and reported only when mean is used to quantify the central tendency of data.</a:t>
                </a:r>
              </a:p>
              <a:p>
                <a:pPr marL="1200150" lvl="2" indent="-285750" algn="just">
                  <a:buFont typeface="Arial" panose="020B0604020202020204" pitchFamily="34" charset="0"/>
                  <a:buChar char="•"/>
                </a:pPr>
                <a:endParaRPr lang="en-US" sz="1300" b="1" i="0" u="none" strike="noStrike" baseline="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Remark</a:t>
                </a:r>
                <a:r>
                  <a:rPr lang="en-US" sz="1300" dirty="0">
                    <a:latin typeface="Arial" panose="020B0604020202020204" pitchFamily="34" charset="0"/>
                    <a:cs typeface="Arial" panose="020B0604020202020204" pitchFamily="34" charset="0"/>
                  </a:rPr>
                  <a:t>: </a:t>
                </a:r>
                <a:r>
                  <a:rPr lang="en-US" sz="1300" b="0" i="0" u="none" strike="noStrike" baseline="0" dirty="0">
                    <a:latin typeface="Arial" panose="020B0604020202020204" pitchFamily="34" charset="0"/>
                    <a:cs typeface="Arial" panose="020B0604020202020204" pitchFamily="34" charset="0"/>
                  </a:rPr>
                  <a:t>An observation is unlikely to be more than several standard deviations away from the mean. Mathematically, using Chebyshev’s inequality, it can be shown that at least </a:t>
                </a:r>
                <a14:m>
                  <m:oMath xmlns:m="http://schemas.openxmlformats.org/officeDocument/2006/math">
                    <m:d>
                      <m:dPr>
                        <m:ctrlPr>
                          <a:rPr lang="en-US" sz="1300" b="0" i="1" u="none" strike="noStrike" baseline="0" dirty="0" smtClean="0">
                            <a:latin typeface="Cambria Math" panose="02040503050406030204" pitchFamily="18" charset="0"/>
                            <a:cs typeface="Arial" panose="020B0604020202020204" pitchFamily="34" charset="0"/>
                          </a:rPr>
                        </m:ctrlPr>
                      </m:dPr>
                      <m:e>
                        <m:r>
                          <a:rPr lang="en-US" sz="1300" b="0" i="1" u="none" strike="noStrike" baseline="0" dirty="0" smtClean="0">
                            <a:latin typeface="Cambria Math" panose="02040503050406030204" pitchFamily="18" charset="0"/>
                            <a:cs typeface="Arial" panose="020B0604020202020204" pitchFamily="34" charset="0"/>
                          </a:rPr>
                          <m:t>1−</m:t>
                        </m:r>
                        <m:f>
                          <m:fPr>
                            <m:ctrlPr>
                              <a:rPr lang="en-US" sz="1300" b="0" i="1" u="none" strike="noStrike" baseline="0" dirty="0" smtClean="0">
                                <a:latin typeface="Cambria Math" panose="02040503050406030204" pitchFamily="18" charset="0"/>
                                <a:cs typeface="Arial" panose="020B0604020202020204" pitchFamily="34" charset="0"/>
                              </a:rPr>
                            </m:ctrlPr>
                          </m:fPr>
                          <m:num>
                            <m:r>
                              <a:rPr lang="en-US" sz="1300" b="0" i="1" u="none" strike="noStrike" baseline="0" dirty="0" smtClean="0">
                                <a:latin typeface="Cambria Math" panose="02040503050406030204" pitchFamily="18" charset="0"/>
                                <a:cs typeface="Arial" panose="020B0604020202020204" pitchFamily="34" charset="0"/>
                              </a:rPr>
                              <m:t>1</m:t>
                            </m:r>
                          </m:num>
                          <m:den>
                            <m:sSup>
                              <m:sSupPr>
                                <m:ctrlPr>
                                  <a:rPr lang="en-US" sz="1300" b="0" i="1" u="none" strike="noStrike" baseline="0" dirty="0" smtClean="0">
                                    <a:latin typeface="Cambria Math" panose="02040503050406030204" pitchFamily="18" charset="0"/>
                                    <a:cs typeface="Arial" panose="020B0604020202020204" pitchFamily="34" charset="0"/>
                                  </a:rPr>
                                </m:ctrlPr>
                              </m:sSupPr>
                              <m:e>
                                <m:r>
                                  <a:rPr lang="en-US" sz="1300" b="0" i="1" u="none" strike="noStrike" baseline="0" dirty="0" smtClean="0">
                                    <a:latin typeface="Cambria Math" panose="02040503050406030204" pitchFamily="18" charset="0"/>
                                    <a:cs typeface="Arial" panose="020B0604020202020204" pitchFamily="34" charset="0"/>
                                  </a:rPr>
                                  <m:t>𝑘</m:t>
                                </m:r>
                              </m:e>
                              <m:sup>
                                <m:r>
                                  <a:rPr lang="en-US" sz="1300" b="0" i="1" u="none" strike="noStrike" baseline="0" dirty="0" smtClean="0">
                                    <a:latin typeface="Cambria Math" panose="02040503050406030204" pitchFamily="18" charset="0"/>
                                    <a:cs typeface="Arial" panose="020B0604020202020204" pitchFamily="34" charset="0"/>
                                  </a:rPr>
                                  <m:t>2</m:t>
                                </m:r>
                              </m:sup>
                            </m:sSup>
                          </m:den>
                        </m:f>
                      </m:e>
                    </m:d>
                    <m:r>
                      <a:rPr lang="en-US" sz="1300" i="1" dirty="0" smtClean="0">
                        <a:latin typeface="Cambria Math" panose="02040503050406030204" pitchFamily="18" charset="0"/>
                        <a:cs typeface="Arial" panose="020B0604020202020204" pitchFamily="34" charset="0"/>
                      </a:rPr>
                      <m:t>×</m:t>
                    </m:r>
                    <m:r>
                      <a:rPr lang="en-US" sz="1300" i="1" dirty="0">
                        <a:latin typeface="Cambria Math" panose="02040503050406030204" pitchFamily="18" charset="0"/>
                        <a:cs typeface="Arial" panose="020B0604020202020204" pitchFamily="34" charset="0"/>
                      </a:rPr>
                      <m:t> 100</m:t>
                    </m:r>
                    <m:r>
                      <a:rPr lang="en-US" sz="1300" i="1" dirty="0" smtClean="0">
                        <a:latin typeface="Cambria Math" panose="02040503050406030204" pitchFamily="18" charset="0"/>
                        <a:cs typeface="Arial" panose="020B0604020202020204" pitchFamily="34" charset="0"/>
                      </a:rPr>
                      <m:t>%</m:t>
                    </m:r>
                  </m:oMath>
                </a14:m>
                <a:r>
                  <a:rPr lang="en-US" sz="1300" dirty="0">
                    <a:latin typeface="Arial" panose="020B0604020202020204" pitchFamily="34" charset="0"/>
                    <a:cs typeface="Arial" panose="020B0604020202020204" pitchFamily="34" charset="0"/>
                  </a:rPr>
                  <a:t> of the observations are no more than </a:t>
                </a:r>
                <a14:m>
                  <m:oMath xmlns:m="http://schemas.openxmlformats.org/officeDocument/2006/math">
                    <m:r>
                      <a:rPr lang="en-US" sz="1300" b="0" i="1" u="none" strike="noStrike" baseline="0" dirty="0" smtClean="0">
                        <a:latin typeface="Cambria Math" panose="02040503050406030204" pitchFamily="18" charset="0"/>
                        <a:cs typeface="Arial" panose="020B0604020202020204" pitchFamily="34" charset="0"/>
                      </a:rPr>
                      <m:t>𝑘</m:t>
                    </m:r>
                  </m:oMath>
                </a14:m>
                <a:r>
                  <a:rPr lang="en-US" sz="1300" b="0" i="1" u="none" strike="noStrike" baseline="0" dirty="0">
                    <a:latin typeface="Arial" panose="020B0604020202020204" pitchFamily="34" charset="0"/>
                    <a:cs typeface="Arial" panose="020B0604020202020204" pitchFamily="34" charset="0"/>
                  </a:rPr>
                  <a:t> </a:t>
                </a:r>
                <a:r>
                  <a:rPr lang="en-US" sz="1300" b="0" i="0" u="none" strike="noStrike" baseline="0" dirty="0">
                    <a:latin typeface="Arial" panose="020B0604020202020204" pitchFamily="34" charset="0"/>
                    <a:cs typeface="Arial" panose="020B0604020202020204" pitchFamily="34" charset="0"/>
                  </a:rPr>
                  <a:t>standard deviations from the mean. In</a:t>
                </a:r>
                <a:r>
                  <a:rPr lang="en-US" sz="1300" b="0" i="0" u="none" strike="noStrike" dirty="0">
                    <a:latin typeface="Arial" panose="020B0604020202020204" pitchFamily="34" charset="0"/>
                    <a:cs typeface="Arial" panose="020B0604020202020204" pitchFamily="34" charset="0"/>
                  </a:rPr>
                  <a:t> other words, at most </a:t>
                </a:r>
                <a14:m>
                  <m:oMath xmlns:m="http://schemas.openxmlformats.org/officeDocument/2006/math">
                    <m:f>
                      <m:fPr>
                        <m:ctrlPr>
                          <a:rPr lang="en-US" sz="1300" i="1" dirty="0">
                            <a:latin typeface="Cambria Math" panose="02040503050406030204" pitchFamily="18" charset="0"/>
                            <a:cs typeface="Arial" panose="020B0604020202020204" pitchFamily="34" charset="0"/>
                          </a:rPr>
                        </m:ctrlPr>
                      </m:fPr>
                      <m:num>
                        <m:r>
                          <a:rPr lang="en-US" sz="1300" i="1" dirty="0">
                            <a:latin typeface="Cambria Math" panose="02040503050406030204" pitchFamily="18" charset="0"/>
                            <a:cs typeface="Arial" panose="020B0604020202020204" pitchFamily="34" charset="0"/>
                          </a:rPr>
                          <m:t>1</m:t>
                        </m:r>
                      </m:num>
                      <m:den>
                        <m:sSup>
                          <m:sSupPr>
                            <m:ctrlPr>
                              <a:rPr lang="en-US" sz="1300" i="1" dirty="0">
                                <a:latin typeface="Cambria Math" panose="02040503050406030204" pitchFamily="18" charset="0"/>
                                <a:cs typeface="Arial" panose="020B0604020202020204" pitchFamily="34" charset="0"/>
                              </a:rPr>
                            </m:ctrlPr>
                          </m:sSupPr>
                          <m:e>
                            <m:r>
                              <a:rPr lang="en-US" sz="1300" i="1" dirty="0">
                                <a:latin typeface="Cambria Math" panose="02040503050406030204" pitchFamily="18" charset="0"/>
                                <a:cs typeface="Arial" panose="020B0604020202020204" pitchFamily="34" charset="0"/>
                              </a:rPr>
                              <m:t>𝑘</m:t>
                            </m:r>
                          </m:e>
                          <m:sup>
                            <m:r>
                              <a:rPr lang="en-US" sz="1300" i="1" dirty="0">
                                <a:latin typeface="Cambria Math" panose="02040503050406030204" pitchFamily="18" charset="0"/>
                                <a:cs typeface="Arial" panose="020B0604020202020204" pitchFamily="34" charset="0"/>
                              </a:rPr>
                              <m:t>2</m:t>
                            </m:r>
                          </m:sup>
                        </m:sSup>
                      </m:den>
                    </m:f>
                  </m:oMath>
                </a14:m>
                <a:r>
                  <a:rPr lang="en-US" sz="1300" dirty="0">
                    <a:latin typeface="Arial" panose="020B0604020202020204" pitchFamily="34" charset="0"/>
                    <a:cs typeface="Arial" panose="020B0604020202020204" pitchFamily="34" charset="0"/>
                  </a:rPr>
                  <a:t> fraction of the observations can be farther than </a:t>
                </a:r>
                <a14:m>
                  <m:oMath xmlns:m="http://schemas.openxmlformats.org/officeDocument/2006/math">
                    <m:r>
                      <a:rPr lang="en-US" sz="1300" i="1" dirty="0">
                        <a:latin typeface="Cambria Math" panose="02040503050406030204" pitchFamily="18" charset="0"/>
                        <a:cs typeface="Arial" panose="020B0604020202020204" pitchFamily="34" charset="0"/>
                      </a:rPr>
                      <m:t>𝑘</m:t>
                    </m:r>
                  </m:oMath>
                </a14:m>
                <a:r>
                  <a:rPr lang="en-US" sz="1300" i="1" dirty="0">
                    <a:latin typeface="Arial" panose="020B0604020202020204" pitchFamily="34" charset="0"/>
                    <a:cs typeface="Arial" panose="020B0604020202020204" pitchFamily="34" charset="0"/>
                  </a:rPr>
                  <a:t> </a:t>
                </a:r>
                <a:r>
                  <a:rPr lang="en-US" sz="1300" dirty="0">
                    <a:latin typeface="Arial" panose="020B0604020202020204" pitchFamily="34" charset="0"/>
                    <a:cs typeface="Arial" panose="020B0604020202020204" pitchFamily="34" charset="0"/>
                  </a:rPr>
                  <a:t>standard deviations from the mean. </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lvl="1" algn="just"/>
                <a:endParaRPr lang="en-US" sz="1300" b="1" dirty="0">
                  <a:latin typeface="Arial" panose="020B0604020202020204" pitchFamily="34" charset="0"/>
                  <a:cs typeface="Arial" panose="020B0604020202020204" pitchFamily="34" charset="0"/>
                </a:endParaRPr>
              </a:p>
            </p:txBody>
          </p:sp>
        </mc:Choice>
        <mc:Fallback xmlns="">
          <p:sp>
            <p:nvSpPr>
              <p:cNvPr id="5" name="Rectangle 4">
                <a:extLst>
                  <a:ext uri="{FF2B5EF4-FFF2-40B4-BE49-F238E27FC236}">
                    <a16:creationId xmlns:a16="http://schemas.microsoft.com/office/drawing/2014/main" id="{62ACD4D9-676D-4F87-8CBE-879DED31070E}"/>
                  </a:ext>
                </a:extLst>
              </p:cNvPr>
              <p:cNvSpPr>
                <a:spLocks noRot="1" noChangeAspect="1" noMove="1" noResize="1" noEditPoints="1" noAdjustHandles="1" noChangeArrowheads="1" noChangeShapeType="1" noTextEdit="1"/>
              </p:cNvSpPr>
              <p:nvPr/>
            </p:nvSpPr>
            <p:spPr>
              <a:xfrm>
                <a:off x="335422" y="596800"/>
                <a:ext cx="8473155" cy="6723507"/>
              </a:xfrm>
              <a:prstGeom prst="rect">
                <a:avLst/>
              </a:prstGeom>
              <a:blipFill>
                <a:blip r:embed="rId3"/>
                <a:stretch>
                  <a:fillRect t="-91" r="-144"/>
                </a:stretch>
              </a:blipFill>
            </p:spPr>
            <p:txBody>
              <a:bodyPr/>
              <a:lstStyle/>
              <a:p>
                <a:r>
                  <a:rPr lang="en-US">
                    <a:noFill/>
                  </a:rPr>
                  <a:t> </a:t>
                </a:r>
              </a:p>
            </p:txBody>
          </p:sp>
        </mc:Fallback>
      </mc:AlternateContent>
    </p:spTree>
    <p:extLst>
      <p:ext uri="{BB962C8B-B14F-4D97-AF65-F5344CB8AC3E}">
        <p14:creationId xmlns:p14="http://schemas.microsoft.com/office/powerpoint/2010/main" val="10803477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Basic Data Summarization Techniques</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62ACD4D9-676D-4F87-8CBE-879DED31070E}"/>
                  </a:ext>
                </a:extLst>
              </p:cNvPr>
              <p:cNvSpPr/>
              <p:nvPr/>
            </p:nvSpPr>
            <p:spPr>
              <a:xfrm>
                <a:off x="335422" y="596800"/>
                <a:ext cx="8473155" cy="5093702"/>
              </a:xfrm>
              <a:prstGeom prst="rect">
                <a:avLst/>
              </a:prstGeom>
            </p:spPr>
            <p:txBody>
              <a:bodyPr wrap="square">
                <a:spAutoFit/>
              </a:bodyPr>
              <a:lstStyle/>
              <a:p>
                <a:pPr marL="285750"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Measuring the dispersion of data (variance, interquartile range)</a:t>
                </a:r>
              </a:p>
              <a:p>
                <a:pPr marL="285750"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Range</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Let </a:t>
                </a:r>
                <a14:m>
                  <m:oMath xmlns:m="http://schemas.openxmlformats.org/officeDocument/2006/math">
                    <m:sSub>
                      <m:sSubPr>
                        <m:ctrlPr>
                          <a:rPr lang="en-US" sz="1300" i="1" dirty="0" smtClean="0">
                            <a:latin typeface="Cambria Math" panose="02040503050406030204" pitchFamily="18" charset="0"/>
                            <a:cs typeface="Arial" panose="020B0604020202020204" pitchFamily="34" charset="0"/>
                          </a:rPr>
                        </m:ctrlPr>
                      </m:sSubPr>
                      <m:e>
                        <m:r>
                          <a:rPr lang="en-US" sz="1300" i="1" dirty="0" smtClean="0">
                            <a:latin typeface="Cambria Math" panose="02040503050406030204" pitchFamily="18" charset="0"/>
                            <a:cs typeface="Arial" panose="020B0604020202020204" pitchFamily="34" charset="0"/>
                          </a:rPr>
                          <m:t>𝑥</m:t>
                        </m:r>
                      </m:e>
                      <m:sub>
                        <m:r>
                          <a:rPr lang="en-US" sz="1300" i="1" dirty="0" smtClean="0">
                            <a:latin typeface="Cambria Math" panose="02040503050406030204" pitchFamily="18" charset="0"/>
                            <a:cs typeface="Arial" panose="020B0604020202020204" pitchFamily="34" charset="0"/>
                          </a:rPr>
                          <m:t>1</m:t>
                        </m:r>
                      </m:sub>
                    </m:sSub>
                    <m:r>
                      <a:rPr lang="en-US" sz="1300" i="1" dirty="0" smtClean="0">
                        <a:latin typeface="Cambria Math" panose="02040503050406030204" pitchFamily="18" charset="0"/>
                        <a:cs typeface="Arial" panose="020B0604020202020204" pitchFamily="34" charset="0"/>
                      </a:rPr>
                      <m:t>,</m:t>
                    </m:r>
                    <m:sSub>
                      <m:sSubPr>
                        <m:ctrlPr>
                          <a:rPr lang="en-US" sz="1300" b="0" i="1" dirty="0" smtClean="0">
                            <a:latin typeface="Cambria Math" panose="02040503050406030204" pitchFamily="18" charset="0"/>
                            <a:cs typeface="Arial" panose="020B0604020202020204" pitchFamily="34" charset="0"/>
                          </a:rPr>
                        </m:ctrlPr>
                      </m:sSubPr>
                      <m:e>
                        <m:r>
                          <a:rPr lang="en-US" sz="1300" i="1" dirty="0" smtClean="0">
                            <a:latin typeface="Cambria Math" panose="02040503050406030204" pitchFamily="18" charset="0"/>
                            <a:cs typeface="Arial" panose="020B0604020202020204" pitchFamily="34" charset="0"/>
                          </a:rPr>
                          <m:t>𝑥</m:t>
                        </m:r>
                      </m:e>
                      <m:sub>
                        <m:r>
                          <a:rPr lang="en-US" sz="1300" i="1" dirty="0" smtClean="0">
                            <a:latin typeface="Cambria Math" panose="02040503050406030204" pitchFamily="18" charset="0"/>
                            <a:cs typeface="Arial" panose="020B0604020202020204" pitchFamily="34" charset="0"/>
                          </a:rPr>
                          <m:t>2</m:t>
                        </m:r>
                      </m:sub>
                    </m:sSub>
                    <m:r>
                      <a:rPr lang="en-US" sz="1300" i="1" dirty="0" smtClean="0">
                        <a:latin typeface="Cambria Math" panose="02040503050406030204" pitchFamily="18" charset="0"/>
                        <a:cs typeface="Arial" panose="020B0604020202020204" pitchFamily="34" charset="0"/>
                      </a:rPr>
                      <m:t>, </m:t>
                    </m:r>
                    <m:r>
                      <a:rPr lang="en-US" sz="1300" b="0" i="1" dirty="0" smtClean="0">
                        <a:latin typeface="Cambria Math" panose="02040503050406030204" pitchFamily="18" charset="0"/>
                        <a:cs typeface="Arial" panose="020B0604020202020204" pitchFamily="34" charset="0"/>
                      </a:rPr>
                      <m:t>…</m:t>
                    </m:r>
                    <m:r>
                      <a:rPr lang="en-US" sz="1300" i="1" dirty="0" smtClean="0">
                        <a:latin typeface="Cambria Math" panose="02040503050406030204" pitchFamily="18" charset="0"/>
                        <a:cs typeface="Arial" panose="020B0604020202020204" pitchFamily="34" charset="0"/>
                      </a:rPr>
                      <m:t>,</m:t>
                    </m:r>
                    <m:sSub>
                      <m:sSubPr>
                        <m:ctrlPr>
                          <a:rPr lang="en-US" sz="1300" b="0" i="1" dirty="0" smtClean="0">
                            <a:latin typeface="Cambria Math" panose="02040503050406030204" pitchFamily="18" charset="0"/>
                            <a:cs typeface="Arial" panose="020B0604020202020204" pitchFamily="34" charset="0"/>
                          </a:rPr>
                        </m:ctrlPr>
                      </m:sSubPr>
                      <m:e>
                        <m:r>
                          <a:rPr lang="en-US" sz="1300" i="1" dirty="0" err="1" smtClean="0">
                            <a:latin typeface="Cambria Math" panose="02040503050406030204" pitchFamily="18" charset="0"/>
                            <a:cs typeface="Arial" panose="020B0604020202020204" pitchFamily="34" charset="0"/>
                          </a:rPr>
                          <m:t>𝑥</m:t>
                        </m:r>
                      </m:e>
                      <m:sub>
                        <m:r>
                          <a:rPr lang="en-US" sz="1300" i="1" dirty="0" err="1" smtClean="0">
                            <a:latin typeface="Cambria Math" panose="02040503050406030204" pitchFamily="18" charset="0"/>
                            <a:cs typeface="Arial" panose="020B0604020202020204" pitchFamily="34" charset="0"/>
                          </a:rPr>
                          <m:t>𝑁</m:t>
                        </m:r>
                      </m:sub>
                    </m:sSub>
                  </m:oMath>
                </a14:m>
                <a:r>
                  <a:rPr lang="en-US" sz="1300" dirty="0">
                    <a:latin typeface="Arial" panose="020B0604020202020204" pitchFamily="34" charset="0"/>
                    <a:cs typeface="Arial" panose="020B0604020202020204" pitchFamily="34" charset="0"/>
                  </a:rPr>
                  <a:t> be a set of observations for a given numeric attribute, </a:t>
                </a:r>
                <a14:m>
                  <m:oMath xmlns:m="http://schemas.openxmlformats.org/officeDocument/2006/math">
                    <m:r>
                      <a:rPr lang="en-US" sz="1300" i="1" dirty="0" smtClean="0">
                        <a:latin typeface="Cambria Math" panose="02040503050406030204" pitchFamily="18" charset="0"/>
                        <a:cs typeface="Arial" panose="020B0604020202020204" pitchFamily="34" charset="0"/>
                      </a:rPr>
                      <m:t>𝑋</m:t>
                    </m:r>
                  </m:oMath>
                </a14:m>
                <a:r>
                  <a:rPr lang="en-US" sz="1300" dirty="0">
                    <a:latin typeface="Arial" panose="020B0604020202020204" pitchFamily="34" charset="0"/>
                    <a:cs typeface="Arial" panose="020B0604020202020204" pitchFamily="34" charset="0"/>
                  </a:rPr>
                  <a:t>. The </a:t>
                </a:r>
                <a:r>
                  <a:rPr lang="en-US" sz="1300" b="1" dirty="0">
                    <a:latin typeface="Arial" panose="020B0604020202020204" pitchFamily="34" charset="0"/>
                    <a:cs typeface="Arial" panose="020B0604020202020204" pitchFamily="34" charset="0"/>
                  </a:rPr>
                  <a:t>range </a:t>
                </a:r>
                <a:r>
                  <a:rPr lang="en-US" sz="1300" dirty="0">
                    <a:latin typeface="Arial" panose="020B0604020202020204" pitchFamily="34" charset="0"/>
                    <a:cs typeface="Arial" panose="020B0604020202020204" pitchFamily="34" charset="0"/>
                  </a:rPr>
                  <a:t>of the set is the difference between the largest (</a:t>
                </a:r>
                <a:r>
                  <a:rPr lang="en-US" sz="1300" b="1" dirty="0">
                    <a:latin typeface="Arial" panose="020B0604020202020204" pitchFamily="34" charset="0"/>
                    <a:cs typeface="Arial" panose="020B0604020202020204" pitchFamily="34" charset="0"/>
                  </a:rPr>
                  <a:t>max()</a:t>
                </a:r>
                <a:r>
                  <a:rPr lang="en-US" sz="1300" dirty="0">
                    <a:latin typeface="Arial" panose="020B0604020202020204" pitchFamily="34" charset="0"/>
                    <a:cs typeface="Arial" panose="020B0604020202020204" pitchFamily="34" charset="0"/>
                  </a:rPr>
                  <a:t>) and smallest (</a:t>
                </a:r>
                <a:r>
                  <a:rPr lang="en-US" sz="1300" b="1" dirty="0">
                    <a:latin typeface="Arial" panose="020B0604020202020204" pitchFamily="34" charset="0"/>
                    <a:cs typeface="Arial" panose="020B0604020202020204" pitchFamily="34" charset="0"/>
                  </a:rPr>
                  <a:t>min()</a:t>
                </a:r>
                <a:r>
                  <a:rPr lang="en-US" sz="1300" dirty="0">
                    <a:latin typeface="Arial" panose="020B0604020202020204" pitchFamily="34" charset="0"/>
                    <a:cs typeface="Arial" panose="020B0604020202020204" pitchFamily="34" charset="0"/>
                  </a:rPr>
                  <a:t>) values.</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Example:</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657350" lvl="3"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The range of [-10,0,3,1,-15,22.5] is [-15, 22.5].</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The range statistic is a special case of a more general summary statistic named </a:t>
                </a:r>
                <a:r>
                  <a:rPr lang="en-US" sz="1300" b="1" dirty="0">
                    <a:latin typeface="Arial" panose="020B0604020202020204" pitchFamily="34" charset="0"/>
                    <a:cs typeface="Arial" panose="020B0604020202020204" pitchFamily="34" charset="0"/>
                  </a:rPr>
                  <a:t>Inter-quantile Range</a:t>
                </a:r>
                <a:r>
                  <a:rPr lang="en-US" sz="1300" dirty="0">
                    <a:latin typeface="Arial" panose="020B0604020202020204" pitchFamily="34" charset="0"/>
                    <a:cs typeface="Arial" panose="020B0604020202020204" pitchFamily="34" charset="0"/>
                  </a:rPr>
                  <a:t>.</a:t>
                </a:r>
              </a:p>
              <a:p>
                <a:pPr marL="742950" lvl="1"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Quantile</a:t>
                </a:r>
              </a:p>
              <a:p>
                <a:pPr marL="742950" lvl="1"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Suppose that the data for attribute </a:t>
                </a:r>
                <a14:m>
                  <m:oMath xmlns:m="http://schemas.openxmlformats.org/officeDocument/2006/math">
                    <m:r>
                      <a:rPr lang="en-US" sz="1300" i="1" dirty="0" smtClean="0">
                        <a:latin typeface="Cambria Math" panose="02040503050406030204" pitchFamily="18" charset="0"/>
                        <a:cs typeface="Arial" panose="020B0604020202020204" pitchFamily="34" charset="0"/>
                      </a:rPr>
                      <m:t>𝑋</m:t>
                    </m:r>
                  </m:oMath>
                </a14:m>
                <a:r>
                  <a:rPr lang="en-US" sz="1300" dirty="0">
                    <a:latin typeface="Arial" panose="020B0604020202020204" pitchFamily="34" charset="0"/>
                    <a:cs typeface="Arial" panose="020B0604020202020204" pitchFamily="34" charset="0"/>
                  </a:rPr>
                  <a:t> are sorted in increasing numeric order. Imagine that we can pick certain data points so as to split the data distribution into equal-size consecutive sets. These data points are called </a:t>
                </a:r>
                <a:r>
                  <a:rPr lang="en-US" sz="1300" b="1" dirty="0">
                    <a:latin typeface="Arial" panose="020B0604020202020204" pitchFamily="34" charset="0"/>
                    <a:cs typeface="Arial" panose="020B0604020202020204" pitchFamily="34" charset="0"/>
                  </a:rPr>
                  <a:t>quantiles</a:t>
                </a:r>
                <a:r>
                  <a:rPr lang="en-US" sz="1300" dirty="0">
                    <a:latin typeface="Arial" panose="020B0604020202020204" pitchFamily="34" charset="0"/>
                    <a:cs typeface="Arial" panose="020B0604020202020204" pitchFamily="34" charset="0"/>
                  </a:rPr>
                  <a:t>. Quantiles are points taken at regular intervals of a data distribution, dividing it into essentially equal-size consecutive sets. Sometimes, there may not be data values of </a:t>
                </a:r>
                <a14:m>
                  <m:oMath xmlns:m="http://schemas.openxmlformats.org/officeDocument/2006/math">
                    <m:r>
                      <a:rPr lang="en-US" sz="1300" i="1" dirty="0" smtClean="0">
                        <a:latin typeface="Cambria Math" panose="02040503050406030204" pitchFamily="18" charset="0"/>
                        <a:cs typeface="Arial" panose="020B0604020202020204" pitchFamily="34" charset="0"/>
                      </a:rPr>
                      <m:t>𝑋</m:t>
                    </m:r>
                  </m:oMath>
                </a14:m>
                <a:r>
                  <a:rPr lang="en-US" sz="1300" dirty="0">
                    <a:latin typeface="Arial" panose="020B0604020202020204" pitchFamily="34" charset="0"/>
                    <a:cs typeface="Arial" panose="020B0604020202020204" pitchFamily="34" charset="0"/>
                  </a:rPr>
                  <a:t> that divide the data into exactly equal-sized subsets. The </a:t>
                </a:r>
                <a14:m>
                  <m:oMath xmlns:m="http://schemas.openxmlformats.org/officeDocument/2006/math">
                    <m:r>
                      <a:rPr lang="en-US" sz="1300" i="1" dirty="0" smtClean="0">
                        <a:latin typeface="Cambria Math" panose="02040503050406030204" pitchFamily="18" charset="0"/>
                        <a:cs typeface="Arial" panose="020B0604020202020204" pitchFamily="34" charset="0"/>
                      </a:rPr>
                      <m:t>𝑘</m:t>
                    </m:r>
                  </m:oMath>
                </a14:m>
                <a:r>
                  <a:rPr lang="en-US" sz="1300" dirty="0">
                    <a:latin typeface="Arial" panose="020B0604020202020204" pitchFamily="34" charset="0"/>
                    <a:cs typeface="Arial" panose="020B0604020202020204" pitchFamily="34" charset="0"/>
                  </a:rPr>
                  <a:t>th </a:t>
                </a:r>
                <a14:m>
                  <m:oMath xmlns:m="http://schemas.openxmlformats.org/officeDocument/2006/math">
                    <m:r>
                      <a:rPr lang="en-US" sz="1300" i="1" dirty="0" smtClean="0">
                        <a:latin typeface="Cambria Math" panose="02040503050406030204" pitchFamily="18" charset="0"/>
                        <a:cs typeface="Arial" panose="020B0604020202020204" pitchFamily="34" charset="0"/>
                      </a:rPr>
                      <m:t>𝑞</m:t>
                    </m:r>
                  </m:oMath>
                </a14:m>
                <a:r>
                  <a:rPr lang="en-US" sz="1300" dirty="0">
                    <a:latin typeface="Arial" panose="020B0604020202020204" pitchFamily="34" charset="0"/>
                    <a:cs typeface="Arial" panose="020B0604020202020204" pitchFamily="34" charset="0"/>
                  </a:rPr>
                  <a:t>-quantile for a given data distribution is the value </a:t>
                </a:r>
                <a14:m>
                  <m:oMath xmlns:m="http://schemas.openxmlformats.org/officeDocument/2006/math">
                    <m:r>
                      <a:rPr lang="en-US" sz="1300" i="1" dirty="0" smtClean="0">
                        <a:latin typeface="Cambria Math" panose="02040503050406030204" pitchFamily="18" charset="0"/>
                        <a:cs typeface="Arial" panose="020B0604020202020204" pitchFamily="34" charset="0"/>
                      </a:rPr>
                      <m:t>𝑥</m:t>
                    </m:r>
                  </m:oMath>
                </a14:m>
                <a:r>
                  <a:rPr lang="en-US" sz="1300" dirty="0">
                    <a:latin typeface="Arial" panose="020B0604020202020204" pitchFamily="34" charset="0"/>
                    <a:cs typeface="Arial" panose="020B0604020202020204" pitchFamily="34" charset="0"/>
                  </a:rPr>
                  <a:t> such that at most </a:t>
                </a:r>
                <a14:m>
                  <m:oMath xmlns:m="http://schemas.openxmlformats.org/officeDocument/2006/math">
                    <m:r>
                      <a:rPr lang="en-US" sz="1300" i="1" dirty="0" smtClean="0">
                        <a:latin typeface="Cambria Math" panose="02040503050406030204" pitchFamily="18" charset="0"/>
                        <a:cs typeface="Arial" panose="020B0604020202020204" pitchFamily="34" charset="0"/>
                      </a:rPr>
                      <m:t>𝑘</m:t>
                    </m:r>
                    <m:r>
                      <a:rPr lang="en-US" sz="1300" i="1" dirty="0" smtClean="0">
                        <a:latin typeface="Cambria Math" panose="02040503050406030204" pitchFamily="18" charset="0"/>
                        <a:cs typeface="Arial" panose="020B0604020202020204" pitchFamily="34" charset="0"/>
                      </a:rPr>
                      <m:t>=</m:t>
                    </m:r>
                    <m:r>
                      <a:rPr lang="en-US" sz="1300" i="1" dirty="0" smtClean="0">
                        <a:latin typeface="Cambria Math" panose="02040503050406030204" pitchFamily="18" charset="0"/>
                        <a:cs typeface="Arial" panose="020B0604020202020204" pitchFamily="34" charset="0"/>
                      </a:rPr>
                      <m:t>𝑞</m:t>
                    </m:r>
                  </m:oMath>
                </a14:m>
                <a:r>
                  <a:rPr lang="en-US" sz="1300" dirty="0">
                    <a:latin typeface="Arial" panose="020B0604020202020204" pitchFamily="34" charset="0"/>
                    <a:cs typeface="Arial" panose="020B0604020202020204" pitchFamily="34" charset="0"/>
                  </a:rPr>
                  <a:t> of the data values are less than </a:t>
                </a:r>
                <a14:m>
                  <m:oMath xmlns:m="http://schemas.openxmlformats.org/officeDocument/2006/math">
                    <m:r>
                      <a:rPr lang="en-US" sz="1300" i="1" dirty="0" smtClean="0">
                        <a:latin typeface="Cambria Math" panose="02040503050406030204" pitchFamily="18" charset="0"/>
                        <a:cs typeface="Arial" panose="020B0604020202020204" pitchFamily="34" charset="0"/>
                      </a:rPr>
                      <m:t>𝑥</m:t>
                    </m:r>
                  </m:oMath>
                </a14:m>
                <a:r>
                  <a:rPr lang="en-US" sz="1300" dirty="0">
                    <a:latin typeface="Arial" panose="020B0604020202020204" pitchFamily="34" charset="0"/>
                    <a:cs typeface="Arial" panose="020B0604020202020204" pitchFamily="34" charset="0"/>
                  </a:rPr>
                  <a:t> and at most </a:t>
                </a:r>
                <a14:m>
                  <m:oMath xmlns:m="http://schemas.openxmlformats.org/officeDocument/2006/math">
                    <m:r>
                      <a:rPr lang="en-US" sz="1300" i="1" dirty="0" smtClean="0">
                        <a:latin typeface="Cambria Math" panose="02040503050406030204" pitchFamily="18" charset="0"/>
                        <a:cs typeface="Arial" panose="020B0604020202020204" pitchFamily="34" charset="0"/>
                      </a:rPr>
                      <m:t>(</m:t>
                    </m:r>
                    <m:r>
                      <a:rPr lang="en-US" sz="1300" i="1" dirty="0" smtClean="0">
                        <a:latin typeface="Cambria Math" panose="02040503050406030204" pitchFamily="18" charset="0"/>
                        <a:cs typeface="Arial" panose="020B0604020202020204" pitchFamily="34" charset="0"/>
                      </a:rPr>
                      <m:t>𝑞</m:t>
                    </m:r>
                    <m:r>
                      <a:rPr lang="en-US" sz="1300" i="1" dirty="0" smtClean="0">
                        <a:latin typeface="Cambria Math" panose="02040503050406030204" pitchFamily="18" charset="0"/>
                        <a:cs typeface="Arial" panose="020B0604020202020204" pitchFamily="34" charset="0"/>
                      </a:rPr>
                      <m:t>−</m:t>
                    </m:r>
                    <m:r>
                      <a:rPr lang="en-US" sz="1300" i="1" dirty="0" smtClean="0">
                        <a:latin typeface="Cambria Math" panose="02040503050406030204" pitchFamily="18" charset="0"/>
                        <a:cs typeface="Arial" panose="020B0604020202020204" pitchFamily="34" charset="0"/>
                      </a:rPr>
                      <m:t>𝑘</m:t>
                    </m:r>
                    <m:r>
                      <a:rPr lang="en-US" sz="1300" i="1" dirty="0" smtClean="0">
                        <a:latin typeface="Cambria Math" panose="02040503050406030204" pitchFamily="18" charset="0"/>
                        <a:cs typeface="Arial" panose="020B0604020202020204" pitchFamily="34" charset="0"/>
                      </a:rPr>
                      <m:t>)/</m:t>
                    </m:r>
                    <m:r>
                      <a:rPr lang="en-US" sz="1300" i="1" dirty="0" smtClean="0">
                        <a:latin typeface="Cambria Math" panose="02040503050406030204" pitchFamily="18" charset="0"/>
                        <a:cs typeface="Arial" panose="020B0604020202020204" pitchFamily="34" charset="0"/>
                      </a:rPr>
                      <m:t>𝑞</m:t>
                    </m:r>
                  </m:oMath>
                </a14:m>
                <a:r>
                  <a:rPr lang="en-US" sz="1300" dirty="0">
                    <a:latin typeface="Arial" panose="020B0604020202020204" pitchFamily="34" charset="0"/>
                    <a:cs typeface="Arial" panose="020B0604020202020204" pitchFamily="34" charset="0"/>
                  </a:rPr>
                  <a:t> of the data values are more than </a:t>
                </a:r>
                <a14:m>
                  <m:oMath xmlns:m="http://schemas.openxmlformats.org/officeDocument/2006/math">
                    <m:r>
                      <a:rPr lang="en-US" sz="1300" i="1" dirty="0" smtClean="0">
                        <a:latin typeface="Cambria Math" panose="02040503050406030204" pitchFamily="18" charset="0"/>
                        <a:cs typeface="Arial" panose="020B0604020202020204" pitchFamily="34" charset="0"/>
                      </a:rPr>
                      <m:t>𝑥</m:t>
                    </m:r>
                  </m:oMath>
                </a14:m>
                <a:r>
                  <a:rPr lang="en-US" sz="1300" dirty="0">
                    <a:latin typeface="Arial" panose="020B0604020202020204" pitchFamily="34" charset="0"/>
                    <a:cs typeface="Arial" panose="020B0604020202020204" pitchFamily="34" charset="0"/>
                  </a:rPr>
                  <a:t>, where </a:t>
                </a:r>
                <a14:m>
                  <m:oMath xmlns:m="http://schemas.openxmlformats.org/officeDocument/2006/math">
                    <m:r>
                      <a:rPr lang="en-US" sz="1300" i="1" dirty="0" smtClean="0">
                        <a:latin typeface="Cambria Math" panose="02040503050406030204" pitchFamily="18" charset="0"/>
                        <a:cs typeface="Arial" panose="020B0604020202020204" pitchFamily="34" charset="0"/>
                      </a:rPr>
                      <m:t>𝑘</m:t>
                    </m:r>
                  </m:oMath>
                </a14:m>
                <a:r>
                  <a:rPr lang="en-US" sz="1300" dirty="0">
                    <a:latin typeface="Arial" panose="020B0604020202020204" pitchFamily="34" charset="0"/>
                    <a:cs typeface="Arial" panose="020B0604020202020204" pitchFamily="34" charset="0"/>
                  </a:rPr>
                  <a:t> is an integer such that </a:t>
                </a:r>
                <a14:m>
                  <m:oMath xmlns:m="http://schemas.openxmlformats.org/officeDocument/2006/math">
                    <m:r>
                      <a:rPr lang="en-US" sz="1300" i="1" dirty="0" smtClean="0">
                        <a:latin typeface="Cambria Math" panose="02040503050406030204" pitchFamily="18" charset="0"/>
                        <a:cs typeface="Arial" panose="020B0604020202020204" pitchFamily="34" charset="0"/>
                      </a:rPr>
                      <m:t>0 &lt; </m:t>
                    </m:r>
                    <m:r>
                      <a:rPr lang="en-US" sz="1300" i="1" dirty="0" smtClean="0">
                        <a:latin typeface="Cambria Math" panose="02040503050406030204" pitchFamily="18" charset="0"/>
                        <a:cs typeface="Arial" panose="020B0604020202020204" pitchFamily="34" charset="0"/>
                      </a:rPr>
                      <m:t>𝑘</m:t>
                    </m:r>
                    <m:r>
                      <a:rPr lang="en-US" sz="1300" i="1" dirty="0" smtClean="0">
                        <a:latin typeface="Cambria Math" panose="02040503050406030204" pitchFamily="18" charset="0"/>
                        <a:cs typeface="Arial" panose="020B0604020202020204" pitchFamily="34" charset="0"/>
                      </a:rPr>
                      <m:t> &lt; </m:t>
                    </m:r>
                    <m:r>
                      <a:rPr lang="en-US" sz="1300" i="1" dirty="0" smtClean="0">
                        <a:latin typeface="Cambria Math" panose="02040503050406030204" pitchFamily="18" charset="0"/>
                        <a:cs typeface="Arial" panose="020B0604020202020204" pitchFamily="34" charset="0"/>
                      </a:rPr>
                      <m:t>𝑞</m:t>
                    </m:r>
                  </m:oMath>
                </a14:m>
                <a:r>
                  <a:rPr lang="en-US" sz="1300" dirty="0">
                    <a:latin typeface="Arial" panose="020B0604020202020204" pitchFamily="34" charset="0"/>
                    <a:cs typeface="Arial" panose="020B0604020202020204" pitchFamily="34" charset="0"/>
                  </a:rPr>
                  <a:t>. There are </a:t>
                </a:r>
                <a14:m>
                  <m:oMath xmlns:m="http://schemas.openxmlformats.org/officeDocument/2006/math">
                    <m:r>
                      <a:rPr lang="en-US" sz="1300" i="1" dirty="0" smtClean="0">
                        <a:latin typeface="Cambria Math" panose="02040503050406030204" pitchFamily="18" charset="0"/>
                        <a:cs typeface="Arial" panose="020B0604020202020204" pitchFamily="34" charset="0"/>
                      </a:rPr>
                      <m:t>𝑞</m:t>
                    </m:r>
                    <m:r>
                      <a:rPr lang="en-US" sz="1300" i="1" dirty="0" smtClean="0">
                        <a:latin typeface="Cambria Math" panose="02040503050406030204" pitchFamily="18" charset="0"/>
                        <a:cs typeface="Arial" panose="020B0604020202020204" pitchFamily="34" charset="0"/>
                      </a:rPr>
                      <m:t>−1</m:t>
                    </m:r>
                  </m:oMath>
                </a14:m>
                <a:r>
                  <a:rPr lang="en-US" sz="1300" dirty="0">
                    <a:latin typeface="Arial" panose="020B0604020202020204" pitchFamily="34" charset="0"/>
                    <a:cs typeface="Arial" panose="020B0604020202020204" pitchFamily="34" charset="0"/>
                  </a:rPr>
                  <a:t> </a:t>
                </a:r>
                <a14:m>
                  <m:oMath xmlns:m="http://schemas.openxmlformats.org/officeDocument/2006/math">
                    <m:r>
                      <a:rPr lang="en-US" sz="1300" i="1" dirty="0" smtClean="0">
                        <a:latin typeface="Cambria Math" panose="02040503050406030204" pitchFamily="18" charset="0"/>
                        <a:cs typeface="Arial" panose="020B0604020202020204" pitchFamily="34" charset="0"/>
                      </a:rPr>
                      <m:t>𝑞</m:t>
                    </m:r>
                  </m:oMath>
                </a14:m>
                <a:r>
                  <a:rPr lang="en-US" sz="1300" dirty="0">
                    <a:latin typeface="Arial" panose="020B0604020202020204" pitchFamily="34" charset="0"/>
                    <a:cs typeface="Arial" panose="020B0604020202020204" pitchFamily="34" charset="0"/>
                  </a:rPr>
                  <a:t>-quantiles.</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p:txBody>
          </p:sp>
        </mc:Choice>
        <mc:Fallback xmlns="">
          <p:sp>
            <p:nvSpPr>
              <p:cNvPr id="5" name="Rectangle 4">
                <a:extLst>
                  <a:ext uri="{FF2B5EF4-FFF2-40B4-BE49-F238E27FC236}">
                    <a16:creationId xmlns:a16="http://schemas.microsoft.com/office/drawing/2014/main" id="{62ACD4D9-676D-4F87-8CBE-879DED31070E}"/>
                  </a:ext>
                </a:extLst>
              </p:cNvPr>
              <p:cNvSpPr>
                <a:spLocks noRot="1" noChangeAspect="1" noMove="1" noResize="1" noEditPoints="1" noAdjustHandles="1" noChangeArrowheads="1" noChangeShapeType="1" noTextEdit="1"/>
              </p:cNvSpPr>
              <p:nvPr/>
            </p:nvSpPr>
            <p:spPr>
              <a:xfrm>
                <a:off x="335422" y="596800"/>
                <a:ext cx="8473155" cy="5093702"/>
              </a:xfrm>
              <a:prstGeom prst="rect">
                <a:avLst/>
              </a:prstGeom>
              <a:blipFill>
                <a:blip r:embed="rId3"/>
                <a:stretch>
                  <a:fillRect t="-120" r="-144"/>
                </a:stretch>
              </a:blipFill>
            </p:spPr>
            <p:txBody>
              <a:bodyPr/>
              <a:lstStyle/>
              <a:p>
                <a:r>
                  <a:rPr lang="en-US">
                    <a:noFill/>
                  </a:rPr>
                  <a:t> </a:t>
                </a:r>
              </a:p>
            </p:txBody>
          </p:sp>
        </mc:Fallback>
      </mc:AlternateContent>
    </p:spTree>
    <p:extLst>
      <p:ext uri="{BB962C8B-B14F-4D97-AF65-F5344CB8AC3E}">
        <p14:creationId xmlns:p14="http://schemas.microsoft.com/office/powerpoint/2010/main" val="29418657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6DBA56B-C7E5-416D-99D6-40835B613332}"/>
              </a:ext>
            </a:extLst>
          </p:cNvPr>
          <p:cNvPicPr>
            <a:picLocks noChangeAspect="1"/>
          </p:cNvPicPr>
          <p:nvPr/>
        </p:nvPicPr>
        <p:blipFill>
          <a:blip r:embed="rId3"/>
          <a:stretch>
            <a:fillRect/>
          </a:stretch>
        </p:blipFill>
        <p:spPr>
          <a:xfrm>
            <a:off x="1927860" y="2613481"/>
            <a:ext cx="5288278" cy="2772398"/>
          </a:xfrm>
          <a:prstGeom prst="rect">
            <a:avLst/>
          </a:prstGeom>
        </p:spPr>
      </p:pic>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Basic Data Summarization Techniques</a:t>
            </a:r>
          </a:p>
        </p:txBody>
      </p:sp>
      <p:sp>
        <p:nvSpPr>
          <p:cNvPr id="5" name="Rectangle 4">
            <a:extLst>
              <a:ext uri="{FF2B5EF4-FFF2-40B4-BE49-F238E27FC236}">
                <a16:creationId xmlns:a16="http://schemas.microsoft.com/office/drawing/2014/main" id="{62ACD4D9-676D-4F87-8CBE-879DED31070E}"/>
              </a:ext>
            </a:extLst>
          </p:cNvPr>
          <p:cNvSpPr/>
          <p:nvPr/>
        </p:nvSpPr>
        <p:spPr>
          <a:xfrm>
            <a:off x="335422" y="596800"/>
            <a:ext cx="8473155" cy="2092881"/>
          </a:xfrm>
          <a:prstGeom prst="rect">
            <a:avLst/>
          </a:prstGeom>
        </p:spPr>
        <p:txBody>
          <a:bodyPr wrap="square">
            <a:spAutoFit/>
          </a:bodyPr>
          <a:lstStyle/>
          <a:p>
            <a:pPr marL="285750"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Measuring the dispersion of data (variance, interquartile range)</a:t>
            </a:r>
          </a:p>
          <a:p>
            <a:pPr marL="285750"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Quantile</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The 2-quantile is the data point dividing the lower and upper halves of the data distribution. It corresponds to the median. The 4-quantiles are the three data points that split the data distribution into four equal parts; each part represents one-fourth of the data distribution. They are more commonly referred to as </a:t>
            </a:r>
            <a:r>
              <a:rPr lang="en-US" sz="1300" b="1" dirty="0">
                <a:latin typeface="Arial" panose="020B0604020202020204" pitchFamily="34" charset="0"/>
                <a:cs typeface="Arial" panose="020B0604020202020204" pitchFamily="34" charset="0"/>
              </a:rPr>
              <a:t>quartiles</a:t>
            </a:r>
            <a:r>
              <a:rPr lang="en-US" sz="1300" dirty="0">
                <a:latin typeface="Arial" panose="020B0604020202020204" pitchFamily="34" charset="0"/>
                <a:cs typeface="Arial" panose="020B0604020202020204" pitchFamily="34" charset="0"/>
              </a:rPr>
              <a:t>. The 100-quantiles are more commonly referred to as </a:t>
            </a:r>
            <a:r>
              <a:rPr lang="en-US" sz="1300" b="1" dirty="0">
                <a:latin typeface="Arial" panose="020B0604020202020204" pitchFamily="34" charset="0"/>
                <a:cs typeface="Arial" panose="020B0604020202020204" pitchFamily="34" charset="0"/>
              </a:rPr>
              <a:t>percentiles</a:t>
            </a:r>
            <a:r>
              <a:rPr lang="en-US" sz="1300" dirty="0">
                <a:latin typeface="Arial" panose="020B0604020202020204" pitchFamily="34" charset="0"/>
                <a:cs typeface="Arial" panose="020B0604020202020204" pitchFamily="34" charset="0"/>
              </a:rPr>
              <a:t>; they divide the data distribution into 100 equal-sized consecutive sets. The </a:t>
            </a:r>
            <a:r>
              <a:rPr lang="en-US" sz="1300" b="1" dirty="0">
                <a:latin typeface="Arial" panose="020B0604020202020204" pitchFamily="34" charset="0"/>
                <a:cs typeface="Arial" panose="020B0604020202020204" pitchFamily="34" charset="0"/>
              </a:rPr>
              <a:t>median</a:t>
            </a:r>
            <a:r>
              <a:rPr lang="en-US" sz="1300" dirty="0">
                <a:latin typeface="Arial" panose="020B0604020202020204" pitchFamily="34" charset="0"/>
                <a:cs typeface="Arial" panose="020B0604020202020204" pitchFamily="34" charset="0"/>
              </a:rPr>
              <a:t>, </a:t>
            </a:r>
            <a:r>
              <a:rPr lang="en-US" sz="1300" b="1" dirty="0">
                <a:latin typeface="Arial" panose="020B0604020202020204" pitchFamily="34" charset="0"/>
                <a:cs typeface="Arial" panose="020B0604020202020204" pitchFamily="34" charset="0"/>
              </a:rPr>
              <a:t>quartiles</a:t>
            </a:r>
            <a:r>
              <a:rPr lang="en-US" sz="1300" dirty="0">
                <a:latin typeface="Arial" panose="020B0604020202020204" pitchFamily="34" charset="0"/>
                <a:cs typeface="Arial" panose="020B0604020202020204" pitchFamily="34" charset="0"/>
              </a:rPr>
              <a:t>, and </a:t>
            </a:r>
            <a:r>
              <a:rPr lang="en-US" sz="1300" b="1" dirty="0">
                <a:latin typeface="Arial" panose="020B0604020202020204" pitchFamily="34" charset="0"/>
                <a:cs typeface="Arial" panose="020B0604020202020204" pitchFamily="34" charset="0"/>
              </a:rPr>
              <a:t>percentiles</a:t>
            </a:r>
            <a:r>
              <a:rPr lang="en-US" sz="1300" dirty="0">
                <a:latin typeface="Arial" panose="020B0604020202020204" pitchFamily="34" charset="0"/>
                <a:cs typeface="Arial" panose="020B0604020202020204" pitchFamily="34" charset="0"/>
              </a:rPr>
              <a:t> are </a:t>
            </a:r>
            <a:r>
              <a:rPr lang="en-US" sz="1300" b="1" dirty="0">
                <a:latin typeface="Arial" panose="020B0604020202020204" pitchFamily="34" charset="0"/>
                <a:cs typeface="Arial" panose="020B0604020202020204" pitchFamily="34" charset="0"/>
              </a:rPr>
              <a:t>the most widely used forms of quantiles</a:t>
            </a:r>
            <a:r>
              <a:rPr lang="en-US" sz="1300" dirty="0">
                <a:latin typeface="Arial" panose="020B0604020202020204" pitchFamily="34" charset="0"/>
                <a:cs typeface="Arial" panose="020B0604020202020204" pitchFamily="34" charset="0"/>
              </a:rPr>
              <a:t>.</a:t>
            </a: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FAB0A6A8-2610-4342-869E-E67794AFEBE6}"/>
                  </a:ext>
                </a:extLst>
              </p:cNvPr>
              <p:cNvSpPr/>
              <p:nvPr/>
            </p:nvSpPr>
            <p:spPr>
              <a:xfrm>
                <a:off x="139446" y="5294439"/>
                <a:ext cx="8865106" cy="1292662"/>
              </a:xfrm>
              <a:prstGeom prst="rect">
                <a:avLst/>
              </a:prstGeom>
            </p:spPr>
            <p:txBody>
              <a:bodyPr wrap="square">
                <a:spAutoFit/>
              </a:bodyPr>
              <a:lstStyle/>
              <a:p>
                <a:pPr algn="just"/>
                <a:r>
                  <a:rPr lang="en-US" sz="1300" dirty="0">
                    <a:latin typeface="Arial" panose="020B0604020202020204" pitchFamily="34" charset="0"/>
                    <a:cs typeface="Arial" panose="020B0604020202020204" pitchFamily="34" charset="0"/>
                  </a:rPr>
                  <a:t>An example illustration of the data distribution for some attribute </a:t>
                </a:r>
                <a14:m>
                  <m:oMath xmlns:m="http://schemas.openxmlformats.org/officeDocument/2006/math">
                    <m:r>
                      <a:rPr lang="en-US" sz="1300" i="1" dirty="0" smtClean="0">
                        <a:latin typeface="Cambria Math" panose="02040503050406030204" pitchFamily="18" charset="0"/>
                        <a:cs typeface="Arial" panose="020B0604020202020204" pitchFamily="34" charset="0"/>
                      </a:rPr>
                      <m:t>𝑋</m:t>
                    </m:r>
                  </m:oMath>
                </a14:m>
                <a:r>
                  <a:rPr lang="en-US" sz="1300" dirty="0">
                    <a:latin typeface="Arial" panose="020B0604020202020204" pitchFamily="34" charset="0"/>
                    <a:cs typeface="Arial" panose="020B0604020202020204" pitchFamily="34" charset="0"/>
                  </a:rPr>
                  <a:t>. The quantiles plotted are quartiles. The three quartiles divide the distribution into four equal-size consecutive subsets. The </a:t>
                </a:r>
                <a:r>
                  <a:rPr lang="en-US" sz="1300" b="1" dirty="0">
                    <a:latin typeface="Arial" panose="020B0604020202020204" pitchFamily="34" charset="0"/>
                    <a:cs typeface="Arial" panose="020B0604020202020204" pitchFamily="34" charset="0"/>
                  </a:rPr>
                  <a:t>second quartile </a:t>
                </a:r>
                <a:r>
                  <a:rPr lang="en-US" sz="1300" dirty="0">
                    <a:latin typeface="Arial" panose="020B0604020202020204" pitchFamily="34" charset="0"/>
                    <a:cs typeface="Arial" panose="020B0604020202020204" pitchFamily="34" charset="0"/>
                  </a:rPr>
                  <a:t>corresponds to the median. The quartiles give an indication of a distribution’s center, spread, and shape. The </a:t>
                </a:r>
                <a:r>
                  <a:rPr lang="en-US" sz="1300" b="1" dirty="0">
                    <a:latin typeface="Arial" panose="020B0604020202020204" pitchFamily="34" charset="0"/>
                    <a:cs typeface="Arial" panose="020B0604020202020204" pitchFamily="34" charset="0"/>
                  </a:rPr>
                  <a:t>first quartile</a:t>
                </a:r>
                <a:r>
                  <a:rPr lang="en-US" sz="1300" dirty="0">
                    <a:latin typeface="Arial" panose="020B0604020202020204" pitchFamily="34" charset="0"/>
                    <a:cs typeface="Arial" panose="020B0604020202020204" pitchFamily="34" charset="0"/>
                  </a:rPr>
                  <a:t>, denoted by </a:t>
                </a:r>
                <a14:m>
                  <m:oMath xmlns:m="http://schemas.openxmlformats.org/officeDocument/2006/math">
                    <m:r>
                      <a:rPr lang="en-US" sz="1300" b="1" i="1" dirty="0" smtClean="0">
                        <a:latin typeface="Cambria Math" panose="02040503050406030204" pitchFamily="18" charset="0"/>
                        <a:cs typeface="Arial" panose="020B0604020202020204" pitchFamily="34" charset="0"/>
                      </a:rPr>
                      <m:t>𝑸</m:t>
                    </m:r>
                    <m:r>
                      <a:rPr lang="en-US" sz="1300" b="1" i="1" dirty="0" smtClean="0">
                        <a:latin typeface="Cambria Math" panose="02040503050406030204" pitchFamily="18" charset="0"/>
                        <a:cs typeface="Arial" panose="020B0604020202020204" pitchFamily="34" charset="0"/>
                      </a:rPr>
                      <m:t>𝟏</m:t>
                    </m:r>
                  </m:oMath>
                </a14:m>
                <a:r>
                  <a:rPr lang="en-US" sz="1300" dirty="0">
                    <a:latin typeface="Arial" panose="020B0604020202020204" pitchFamily="34" charset="0"/>
                    <a:cs typeface="Arial" panose="020B0604020202020204" pitchFamily="34" charset="0"/>
                  </a:rPr>
                  <a:t>, is the </a:t>
                </a:r>
                <a14:m>
                  <m:oMath xmlns:m="http://schemas.openxmlformats.org/officeDocument/2006/math">
                    <m:r>
                      <a:rPr lang="en-US" sz="1300" i="1" dirty="0" smtClean="0">
                        <a:latin typeface="Cambria Math" panose="02040503050406030204" pitchFamily="18" charset="0"/>
                        <a:cs typeface="Arial" panose="020B0604020202020204" pitchFamily="34" charset="0"/>
                      </a:rPr>
                      <m:t>25</m:t>
                    </m:r>
                  </m:oMath>
                </a14:m>
                <a:r>
                  <a:rPr lang="en-US" sz="1300" dirty="0">
                    <a:latin typeface="Arial" panose="020B0604020202020204" pitchFamily="34" charset="0"/>
                    <a:cs typeface="Arial" panose="020B0604020202020204" pitchFamily="34" charset="0"/>
                  </a:rPr>
                  <a:t>th percentile. It cuts off the lowest 25% of the data. The </a:t>
                </a:r>
                <a:r>
                  <a:rPr lang="en-US" sz="1300" b="1" dirty="0">
                    <a:latin typeface="Arial" panose="020B0604020202020204" pitchFamily="34" charset="0"/>
                    <a:cs typeface="Arial" panose="020B0604020202020204" pitchFamily="34" charset="0"/>
                  </a:rPr>
                  <a:t>third quartile</a:t>
                </a:r>
                <a:r>
                  <a:rPr lang="en-US" sz="1300" dirty="0">
                    <a:latin typeface="Arial" panose="020B0604020202020204" pitchFamily="34" charset="0"/>
                    <a:cs typeface="Arial" panose="020B0604020202020204" pitchFamily="34" charset="0"/>
                  </a:rPr>
                  <a:t>, denoted by </a:t>
                </a:r>
                <a14:m>
                  <m:oMath xmlns:m="http://schemas.openxmlformats.org/officeDocument/2006/math">
                    <m:r>
                      <a:rPr lang="en-US" sz="1300" b="1" i="1" dirty="0" smtClean="0">
                        <a:latin typeface="Cambria Math" panose="02040503050406030204" pitchFamily="18" charset="0"/>
                        <a:cs typeface="Arial" panose="020B0604020202020204" pitchFamily="34" charset="0"/>
                      </a:rPr>
                      <m:t>𝑸</m:t>
                    </m:r>
                    <m:r>
                      <a:rPr lang="en-US" sz="1300" b="1" i="1" dirty="0" smtClean="0">
                        <a:latin typeface="Cambria Math" panose="02040503050406030204" pitchFamily="18" charset="0"/>
                        <a:cs typeface="Arial" panose="020B0604020202020204" pitchFamily="34" charset="0"/>
                      </a:rPr>
                      <m:t>𝟑</m:t>
                    </m:r>
                  </m:oMath>
                </a14:m>
                <a:r>
                  <a:rPr lang="en-US" sz="1300" dirty="0">
                    <a:latin typeface="Arial" panose="020B0604020202020204" pitchFamily="34" charset="0"/>
                    <a:cs typeface="Arial" panose="020B0604020202020204" pitchFamily="34" charset="0"/>
                  </a:rPr>
                  <a:t>, is the 75th percentile; it cuts off the lowest 75% (or highest 25%) of the data. The second quartile is the 50th percentile. As the median, it gives the center of the data distribution.</a:t>
                </a:r>
              </a:p>
            </p:txBody>
          </p:sp>
        </mc:Choice>
        <mc:Fallback xmlns="">
          <p:sp>
            <p:nvSpPr>
              <p:cNvPr id="8" name="Rectangle 7">
                <a:extLst>
                  <a:ext uri="{FF2B5EF4-FFF2-40B4-BE49-F238E27FC236}">
                    <a16:creationId xmlns:a16="http://schemas.microsoft.com/office/drawing/2014/main" id="{FAB0A6A8-2610-4342-869E-E67794AFEBE6}"/>
                  </a:ext>
                </a:extLst>
              </p:cNvPr>
              <p:cNvSpPr>
                <a:spLocks noRot="1" noChangeAspect="1" noMove="1" noResize="1" noEditPoints="1" noAdjustHandles="1" noChangeArrowheads="1" noChangeShapeType="1" noTextEdit="1"/>
              </p:cNvSpPr>
              <p:nvPr/>
            </p:nvSpPr>
            <p:spPr>
              <a:xfrm>
                <a:off x="139446" y="5294439"/>
                <a:ext cx="8865106" cy="1292662"/>
              </a:xfrm>
              <a:prstGeom prst="rect">
                <a:avLst/>
              </a:prstGeom>
              <a:blipFill>
                <a:blip r:embed="rId4"/>
                <a:stretch>
                  <a:fillRect l="-138" t="-472" r="-69" b="-3302"/>
                </a:stretch>
              </a:blipFill>
            </p:spPr>
            <p:txBody>
              <a:bodyPr/>
              <a:lstStyle/>
              <a:p>
                <a:r>
                  <a:rPr lang="en-US">
                    <a:noFill/>
                  </a:rPr>
                  <a:t> </a:t>
                </a:r>
              </a:p>
            </p:txBody>
          </p:sp>
        </mc:Fallback>
      </mc:AlternateContent>
    </p:spTree>
    <p:extLst>
      <p:ext uri="{BB962C8B-B14F-4D97-AF65-F5344CB8AC3E}">
        <p14:creationId xmlns:p14="http://schemas.microsoft.com/office/powerpoint/2010/main" val="10580714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6DBA56B-C7E5-416D-99D6-40835B613332}"/>
              </a:ext>
            </a:extLst>
          </p:cNvPr>
          <p:cNvPicPr>
            <a:picLocks noChangeAspect="1"/>
          </p:cNvPicPr>
          <p:nvPr/>
        </p:nvPicPr>
        <p:blipFill>
          <a:blip r:embed="rId3"/>
          <a:stretch>
            <a:fillRect/>
          </a:stretch>
        </p:blipFill>
        <p:spPr>
          <a:xfrm>
            <a:off x="1927860" y="2613481"/>
            <a:ext cx="5288278" cy="2772398"/>
          </a:xfrm>
          <a:prstGeom prst="rect">
            <a:avLst/>
          </a:prstGeom>
        </p:spPr>
      </p:pic>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Basic Data Summarization Techniques</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62ACD4D9-676D-4F87-8CBE-879DED31070E}"/>
                  </a:ext>
                </a:extLst>
              </p:cNvPr>
              <p:cNvSpPr/>
              <p:nvPr/>
            </p:nvSpPr>
            <p:spPr>
              <a:xfrm>
                <a:off x="335422" y="596800"/>
                <a:ext cx="8473155" cy="1892826"/>
              </a:xfrm>
              <a:prstGeom prst="rect">
                <a:avLst/>
              </a:prstGeom>
            </p:spPr>
            <p:txBody>
              <a:bodyPr wrap="square">
                <a:spAutoFit/>
              </a:bodyPr>
              <a:lstStyle/>
              <a:p>
                <a:pPr marL="285750"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Measuring the dispersion of data (variance, interquartile range)</a:t>
                </a:r>
              </a:p>
              <a:p>
                <a:pPr marL="285750"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Interquartile Range (IQR)</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The distance between the first and third quartiles is a simple measure of spread that gives the range covered by the middle half of the data. This distance is called the </a:t>
                </a:r>
                <a:r>
                  <a:rPr lang="en-US" sz="1300" b="1" dirty="0">
                    <a:latin typeface="Arial" panose="020B0604020202020204" pitchFamily="34" charset="0"/>
                    <a:cs typeface="Arial" panose="020B0604020202020204" pitchFamily="34" charset="0"/>
                  </a:rPr>
                  <a:t>interquartile range (IQR)</a:t>
                </a:r>
                <a:r>
                  <a:rPr lang="en-US" sz="1300" dirty="0">
                    <a:latin typeface="Arial" panose="020B0604020202020204" pitchFamily="34" charset="0"/>
                    <a:cs typeface="Arial" panose="020B0604020202020204" pitchFamily="34" charset="0"/>
                  </a:rPr>
                  <a:t> and is defined as </a:t>
                </a:r>
                <a14:m>
                  <m:oMath xmlns:m="http://schemas.openxmlformats.org/officeDocument/2006/math">
                    <m:r>
                      <a:rPr lang="en-US" sz="1300" b="0" i="1" u="none" strike="noStrike" baseline="0" dirty="0" smtClean="0">
                        <a:latin typeface="Cambria Math" panose="02040503050406030204" pitchFamily="18" charset="0"/>
                      </a:rPr>
                      <m:t>𝐼𝑄𝑅</m:t>
                    </m:r>
                    <m:r>
                      <a:rPr lang="en-US" sz="1300" b="0" i="1" u="none" strike="noStrike" baseline="0" dirty="0" smtClean="0">
                        <a:latin typeface="Cambria Math" panose="02040503050406030204" pitchFamily="18" charset="0"/>
                      </a:rPr>
                      <m:t>= </m:t>
                    </m:r>
                    <m:r>
                      <a:rPr lang="en-US" sz="1300" b="0" i="1" u="none" strike="noStrike" baseline="0" dirty="0" smtClean="0">
                        <a:latin typeface="Cambria Math" panose="02040503050406030204" pitchFamily="18" charset="0"/>
                      </a:rPr>
                      <m:t>𝑄</m:t>
                    </m:r>
                    <m:r>
                      <a:rPr lang="en-US" sz="1300" b="0" i="1" u="none" strike="noStrike" baseline="0" dirty="0" smtClean="0">
                        <a:latin typeface="Cambria Math" panose="02040503050406030204" pitchFamily="18" charset="0"/>
                      </a:rPr>
                      <m:t>3 −</m:t>
                    </m:r>
                    <m:r>
                      <a:rPr lang="en-US" sz="1300" b="0" i="1" u="none" strike="noStrike" baseline="0" dirty="0" smtClean="0">
                        <a:latin typeface="Cambria Math" panose="02040503050406030204" pitchFamily="18" charset="0"/>
                      </a:rPr>
                      <m:t>𝑄</m:t>
                    </m:r>
                    <m:r>
                      <a:rPr lang="en-US" sz="1300" b="0" i="1" u="none" strike="noStrike" baseline="0" dirty="0" smtClean="0">
                        <a:latin typeface="Cambria Math" panose="02040503050406030204" pitchFamily="18" charset="0"/>
                      </a:rPr>
                      <m:t>1</m:t>
                    </m:r>
                  </m:oMath>
                </a14:m>
                <a:r>
                  <a:rPr lang="en-US" sz="1300" dirty="0">
                    <a:latin typeface="Arial" panose="020B0604020202020204" pitchFamily="34" charset="0"/>
                    <a:cs typeface="Arial" panose="020B0604020202020204" pitchFamily="34" charset="0"/>
                  </a:rPr>
                  <a:t>.</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IQR statistic is less sensitive to the presence of outliers, unlike variance.</a:t>
                </a:r>
              </a:p>
            </p:txBody>
          </p:sp>
        </mc:Choice>
        <mc:Fallback xmlns="">
          <p:sp>
            <p:nvSpPr>
              <p:cNvPr id="5" name="Rectangle 4">
                <a:extLst>
                  <a:ext uri="{FF2B5EF4-FFF2-40B4-BE49-F238E27FC236}">
                    <a16:creationId xmlns:a16="http://schemas.microsoft.com/office/drawing/2014/main" id="{62ACD4D9-676D-4F87-8CBE-879DED31070E}"/>
                  </a:ext>
                </a:extLst>
              </p:cNvPr>
              <p:cNvSpPr>
                <a:spLocks noRot="1" noChangeAspect="1" noMove="1" noResize="1" noEditPoints="1" noAdjustHandles="1" noChangeArrowheads="1" noChangeShapeType="1" noTextEdit="1"/>
              </p:cNvSpPr>
              <p:nvPr/>
            </p:nvSpPr>
            <p:spPr>
              <a:xfrm>
                <a:off x="335422" y="596800"/>
                <a:ext cx="8473155" cy="1892826"/>
              </a:xfrm>
              <a:prstGeom prst="rect">
                <a:avLst/>
              </a:prstGeom>
              <a:blipFill>
                <a:blip r:embed="rId4"/>
                <a:stretch>
                  <a:fillRect t="-323" r="-144" b="-1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FAB0A6A8-2610-4342-869E-E67794AFEBE6}"/>
                  </a:ext>
                </a:extLst>
              </p:cNvPr>
              <p:cNvSpPr/>
              <p:nvPr/>
            </p:nvSpPr>
            <p:spPr>
              <a:xfrm>
                <a:off x="139446" y="5294439"/>
                <a:ext cx="8865106" cy="1292662"/>
              </a:xfrm>
              <a:prstGeom prst="rect">
                <a:avLst/>
              </a:prstGeom>
            </p:spPr>
            <p:txBody>
              <a:bodyPr wrap="square">
                <a:spAutoFit/>
              </a:bodyPr>
              <a:lstStyle/>
              <a:p>
                <a:pPr algn="just"/>
                <a:r>
                  <a:rPr lang="en-US" sz="1300" dirty="0">
                    <a:latin typeface="Arial" panose="020B0604020202020204" pitchFamily="34" charset="0"/>
                    <a:cs typeface="Arial" panose="020B0604020202020204" pitchFamily="34" charset="0"/>
                  </a:rPr>
                  <a:t>An example illustration of the data distribution for some attribute </a:t>
                </a:r>
                <a14:m>
                  <m:oMath xmlns:m="http://schemas.openxmlformats.org/officeDocument/2006/math">
                    <m:r>
                      <a:rPr lang="en-US" sz="1300" i="1" dirty="0" smtClean="0">
                        <a:latin typeface="Cambria Math" panose="02040503050406030204" pitchFamily="18" charset="0"/>
                        <a:cs typeface="Arial" panose="020B0604020202020204" pitchFamily="34" charset="0"/>
                      </a:rPr>
                      <m:t>𝑋</m:t>
                    </m:r>
                  </m:oMath>
                </a14:m>
                <a:r>
                  <a:rPr lang="en-US" sz="1300" dirty="0">
                    <a:latin typeface="Arial" panose="020B0604020202020204" pitchFamily="34" charset="0"/>
                    <a:cs typeface="Arial" panose="020B0604020202020204" pitchFamily="34" charset="0"/>
                  </a:rPr>
                  <a:t>. The quantiles plotted are quartiles. The three quartiles divide the distribution into four equal-size consecutive subsets. The second quartile corresponds to the median. The quartiles give an indication of a distribution’s center, spread, and shape. The first quartile, denoted by </a:t>
                </a:r>
                <a14:m>
                  <m:oMath xmlns:m="http://schemas.openxmlformats.org/officeDocument/2006/math">
                    <m:r>
                      <a:rPr lang="en-US" sz="1300" b="1" i="1" dirty="0" smtClean="0">
                        <a:latin typeface="Cambria Math" panose="02040503050406030204" pitchFamily="18" charset="0"/>
                        <a:cs typeface="Arial" panose="020B0604020202020204" pitchFamily="34" charset="0"/>
                      </a:rPr>
                      <m:t>𝑸</m:t>
                    </m:r>
                    <m:r>
                      <a:rPr lang="en-US" sz="1300" b="1" i="1" dirty="0" smtClean="0">
                        <a:latin typeface="Cambria Math" panose="02040503050406030204" pitchFamily="18" charset="0"/>
                        <a:cs typeface="Arial" panose="020B0604020202020204" pitchFamily="34" charset="0"/>
                      </a:rPr>
                      <m:t>𝟏</m:t>
                    </m:r>
                  </m:oMath>
                </a14:m>
                <a:r>
                  <a:rPr lang="en-US" sz="1300" dirty="0">
                    <a:latin typeface="Arial" panose="020B0604020202020204" pitchFamily="34" charset="0"/>
                    <a:cs typeface="Arial" panose="020B0604020202020204" pitchFamily="34" charset="0"/>
                  </a:rPr>
                  <a:t>, is the </a:t>
                </a:r>
                <a14:m>
                  <m:oMath xmlns:m="http://schemas.openxmlformats.org/officeDocument/2006/math">
                    <m:r>
                      <a:rPr lang="en-US" sz="1300" i="1" dirty="0" smtClean="0">
                        <a:latin typeface="Cambria Math" panose="02040503050406030204" pitchFamily="18" charset="0"/>
                        <a:cs typeface="Arial" panose="020B0604020202020204" pitchFamily="34" charset="0"/>
                      </a:rPr>
                      <m:t>25</m:t>
                    </m:r>
                  </m:oMath>
                </a14:m>
                <a:r>
                  <a:rPr lang="en-US" sz="1300" dirty="0">
                    <a:latin typeface="Arial" panose="020B0604020202020204" pitchFamily="34" charset="0"/>
                    <a:cs typeface="Arial" panose="020B0604020202020204" pitchFamily="34" charset="0"/>
                  </a:rPr>
                  <a:t>th percentile. It cuts off the lowest 25% of the data. The third quartile, denoted by </a:t>
                </a:r>
                <a14:m>
                  <m:oMath xmlns:m="http://schemas.openxmlformats.org/officeDocument/2006/math">
                    <m:r>
                      <a:rPr lang="en-US" sz="1300" b="1" i="1" dirty="0" smtClean="0">
                        <a:latin typeface="Cambria Math" panose="02040503050406030204" pitchFamily="18" charset="0"/>
                        <a:cs typeface="Arial" panose="020B0604020202020204" pitchFamily="34" charset="0"/>
                      </a:rPr>
                      <m:t>𝑸</m:t>
                    </m:r>
                    <m:r>
                      <a:rPr lang="en-US" sz="1300" b="1" i="1" dirty="0" smtClean="0">
                        <a:latin typeface="Cambria Math" panose="02040503050406030204" pitchFamily="18" charset="0"/>
                        <a:cs typeface="Arial" panose="020B0604020202020204" pitchFamily="34" charset="0"/>
                      </a:rPr>
                      <m:t>𝟑</m:t>
                    </m:r>
                  </m:oMath>
                </a14:m>
                <a:r>
                  <a:rPr lang="en-US" sz="1300" dirty="0">
                    <a:latin typeface="Arial" panose="020B0604020202020204" pitchFamily="34" charset="0"/>
                    <a:cs typeface="Arial" panose="020B0604020202020204" pitchFamily="34" charset="0"/>
                  </a:rPr>
                  <a:t>, is the 75th percentile; it cuts off the lowest 75% (or highest 25%) of the data. The second quartile is the 50th percentile. As the median, it</a:t>
                </a:r>
              </a:p>
              <a:p>
                <a:pPr algn="ctr"/>
                <a:r>
                  <a:rPr lang="en-US" sz="1300" dirty="0">
                    <a:latin typeface="Arial" panose="020B0604020202020204" pitchFamily="34" charset="0"/>
                    <a:cs typeface="Arial" panose="020B0604020202020204" pitchFamily="34" charset="0"/>
                  </a:rPr>
                  <a:t>gives the center of the data distribution.</a:t>
                </a:r>
              </a:p>
            </p:txBody>
          </p:sp>
        </mc:Choice>
        <mc:Fallback xmlns="">
          <p:sp>
            <p:nvSpPr>
              <p:cNvPr id="8" name="Rectangle 7">
                <a:extLst>
                  <a:ext uri="{FF2B5EF4-FFF2-40B4-BE49-F238E27FC236}">
                    <a16:creationId xmlns:a16="http://schemas.microsoft.com/office/drawing/2014/main" id="{FAB0A6A8-2610-4342-869E-E67794AFEBE6}"/>
                  </a:ext>
                </a:extLst>
              </p:cNvPr>
              <p:cNvSpPr>
                <a:spLocks noRot="1" noChangeAspect="1" noMove="1" noResize="1" noEditPoints="1" noAdjustHandles="1" noChangeArrowheads="1" noChangeShapeType="1" noTextEdit="1"/>
              </p:cNvSpPr>
              <p:nvPr/>
            </p:nvSpPr>
            <p:spPr>
              <a:xfrm>
                <a:off x="139446" y="5294439"/>
                <a:ext cx="8865106" cy="1292662"/>
              </a:xfrm>
              <a:prstGeom prst="rect">
                <a:avLst/>
              </a:prstGeom>
              <a:blipFill>
                <a:blip r:embed="rId5"/>
                <a:stretch>
                  <a:fillRect l="-138" t="-472" r="-69" b="-3302"/>
                </a:stretch>
              </a:blipFill>
            </p:spPr>
            <p:txBody>
              <a:bodyPr/>
              <a:lstStyle/>
              <a:p>
                <a:r>
                  <a:rPr lang="en-US">
                    <a:noFill/>
                  </a:rPr>
                  <a:t> </a:t>
                </a:r>
              </a:p>
            </p:txBody>
          </p:sp>
        </mc:Fallback>
      </mc:AlternateContent>
    </p:spTree>
    <p:extLst>
      <p:ext uri="{BB962C8B-B14F-4D97-AF65-F5344CB8AC3E}">
        <p14:creationId xmlns:p14="http://schemas.microsoft.com/office/powerpoint/2010/main" val="3728370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6DBA56B-C7E5-416D-99D6-40835B613332}"/>
              </a:ext>
            </a:extLst>
          </p:cNvPr>
          <p:cNvPicPr>
            <a:picLocks noChangeAspect="1"/>
          </p:cNvPicPr>
          <p:nvPr/>
        </p:nvPicPr>
        <p:blipFill>
          <a:blip r:embed="rId3"/>
          <a:stretch>
            <a:fillRect/>
          </a:stretch>
        </p:blipFill>
        <p:spPr>
          <a:xfrm>
            <a:off x="1927860" y="2613481"/>
            <a:ext cx="5288278" cy="2772398"/>
          </a:xfrm>
          <a:prstGeom prst="rect">
            <a:avLst/>
          </a:prstGeom>
        </p:spPr>
      </p:pic>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Basic Data Summarization Techniques</a:t>
            </a:r>
          </a:p>
        </p:txBody>
      </p:sp>
      <p:sp>
        <p:nvSpPr>
          <p:cNvPr id="5" name="Rectangle 4">
            <a:extLst>
              <a:ext uri="{FF2B5EF4-FFF2-40B4-BE49-F238E27FC236}">
                <a16:creationId xmlns:a16="http://schemas.microsoft.com/office/drawing/2014/main" id="{62ACD4D9-676D-4F87-8CBE-879DED31070E}"/>
              </a:ext>
            </a:extLst>
          </p:cNvPr>
          <p:cNvSpPr/>
          <p:nvPr/>
        </p:nvSpPr>
        <p:spPr>
          <a:xfrm>
            <a:off x="335422" y="596800"/>
            <a:ext cx="8473155" cy="1892826"/>
          </a:xfrm>
          <a:prstGeom prst="rect">
            <a:avLst/>
          </a:prstGeom>
        </p:spPr>
        <p:txBody>
          <a:bodyPr wrap="square">
            <a:spAutoFit/>
          </a:bodyPr>
          <a:lstStyle/>
          <a:p>
            <a:pPr marL="285750"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Measuring the dispersion of data (variance, interquartile range)</a:t>
            </a:r>
          </a:p>
          <a:p>
            <a:pPr marL="285750"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The five-number summary</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When data is highly skewed, even the interquartile range can become ineffective summary of data. In such a case, it is more sensible to report the interquartile range of the attribute along with the median (the value at 50%-quantile), as well as the minimum and the maximum of the values. The five-number summary is best illustrated by a special type of visualization known as the </a:t>
            </a:r>
            <a:r>
              <a:rPr lang="en-US" sz="1300" b="1" dirty="0">
                <a:latin typeface="Arial" panose="020B0604020202020204" pitchFamily="34" charset="0"/>
                <a:cs typeface="Arial" panose="020B0604020202020204" pitchFamily="34" charset="0"/>
              </a:rPr>
              <a:t>Box-Plot </a:t>
            </a:r>
            <a:r>
              <a:rPr lang="en-US" sz="1300" dirty="0">
                <a:latin typeface="Arial" panose="020B0604020202020204" pitchFamily="34" charset="0"/>
                <a:cs typeface="Arial" panose="020B0604020202020204" pitchFamily="34" charset="0"/>
              </a:rPr>
              <a:t>as we shall see later on in this course.</a:t>
            </a: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FAB0A6A8-2610-4342-869E-E67794AFEBE6}"/>
                  </a:ext>
                </a:extLst>
              </p:cNvPr>
              <p:cNvSpPr/>
              <p:nvPr/>
            </p:nvSpPr>
            <p:spPr>
              <a:xfrm>
                <a:off x="139446" y="5294439"/>
                <a:ext cx="8865106" cy="1292662"/>
              </a:xfrm>
              <a:prstGeom prst="rect">
                <a:avLst/>
              </a:prstGeom>
            </p:spPr>
            <p:txBody>
              <a:bodyPr wrap="square">
                <a:spAutoFit/>
              </a:bodyPr>
              <a:lstStyle/>
              <a:p>
                <a:pPr algn="just"/>
                <a:r>
                  <a:rPr lang="en-US" sz="1300" dirty="0">
                    <a:latin typeface="Arial" panose="020B0604020202020204" pitchFamily="34" charset="0"/>
                    <a:cs typeface="Arial" panose="020B0604020202020204" pitchFamily="34" charset="0"/>
                  </a:rPr>
                  <a:t>An example illustration of the data distribution for some attribute </a:t>
                </a:r>
                <a14:m>
                  <m:oMath xmlns:m="http://schemas.openxmlformats.org/officeDocument/2006/math">
                    <m:r>
                      <a:rPr lang="en-US" sz="1300" i="1" dirty="0" smtClean="0">
                        <a:latin typeface="Cambria Math" panose="02040503050406030204" pitchFamily="18" charset="0"/>
                        <a:cs typeface="Arial" panose="020B0604020202020204" pitchFamily="34" charset="0"/>
                      </a:rPr>
                      <m:t>𝑋</m:t>
                    </m:r>
                  </m:oMath>
                </a14:m>
                <a:r>
                  <a:rPr lang="en-US" sz="1300" dirty="0">
                    <a:latin typeface="Arial" panose="020B0604020202020204" pitchFamily="34" charset="0"/>
                    <a:cs typeface="Arial" panose="020B0604020202020204" pitchFamily="34" charset="0"/>
                  </a:rPr>
                  <a:t>. The quantiles plotted are quartiles. The three quartiles divide the distribution into four equal-size consecutive subsets. The second quartile corresponds to the median. The quartiles give an indication of a distribution’s center, spread, and shape. The first quartile, denoted by </a:t>
                </a:r>
                <a14:m>
                  <m:oMath xmlns:m="http://schemas.openxmlformats.org/officeDocument/2006/math">
                    <m:r>
                      <a:rPr lang="en-US" sz="1300" b="1" i="1" dirty="0" smtClean="0">
                        <a:latin typeface="Cambria Math" panose="02040503050406030204" pitchFamily="18" charset="0"/>
                        <a:cs typeface="Arial" panose="020B0604020202020204" pitchFamily="34" charset="0"/>
                      </a:rPr>
                      <m:t>𝑸</m:t>
                    </m:r>
                    <m:r>
                      <a:rPr lang="en-US" sz="1300" b="1" i="1" dirty="0" smtClean="0">
                        <a:latin typeface="Cambria Math" panose="02040503050406030204" pitchFamily="18" charset="0"/>
                        <a:cs typeface="Arial" panose="020B0604020202020204" pitchFamily="34" charset="0"/>
                      </a:rPr>
                      <m:t>𝟏</m:t>
                    </m:r>
                  </m:oMath>
                </a14:m>
                <a:r>
                  <a:rPr lang="en-US" sz="1300" dirty="0">
                    <a:latin typeface="Arial" panose="020B0604020202020204" pitchFamily="34" charset="0"/>
                    <a:cs typeface="Arial" panose="020B0604020202020204" pitchFamily="34" charset="0"/>
                  </a:rPr>
                  <a:t>, is the </a:t>
                </a:r>
                <a14:m>
                  <m:oMath xmlns:m="http://schemas.openxmlformats.org/officeDocument/2006/math">
                    <m:r>
                      <a:rPr lang="en-US" sz="1300" i="1" dirty="0" smtClean="0">
                        <a:latin typeface="Cambria Math" panose="02040503050406030204" pitchFamily="18" charset="0"/>
                        <a:cs typeface="Arial" panose="020B0604020202020204" pitchFamily="34" charset="0"/>
                      </a:rPr>
                      <m:t>25</m:t>
                    </m:r>
                  </m:oMath>
                </a14:m>
                <a:r>
                  <a:rPr lang="en-US" sz="1300" dirty="0">
                    <a:latin typeface="Arial" panose="020B0604020202020204" pitchFamily="34" charset="0"/>
                    <a:cs typeface="Arial" panose="020B0604020202020204" pitchFamily="34" charset="0"/>
                  </a:rPr>
                  <a:t>th percentile. It cuts off the lowest 25% of the data. The third quartile, denoted by </a:t>
                </a:r>
                <a14:m>
                  <m:oMath xmlns:m="http://schemas.openxmlformats.org/officeDocument/2006/math">
                    <m:r>
                      <a:rPr lang="en-US" sz="1300" b="1" i="1" dirty="0" smtClean="0">
                        <a:latin typeface="Cambria Math" panose="02040503050406030204" pitchFamily="18" charset="0"/>
                        <a:cs typeface="Arial" panose="020B0604020202020204" pitchFamily="34" charset="0"/>
                      </a:rPr>
                      <m:t>𝑸</m:t>
                    </m:r>
                    <m:r>
                      <a:rPr lang="en-US" sz="1300" b="1" i="1" dirty="0" smtClean="0">
                        <a:latin typeface="Cambria Math" panose="02040503050406030204" pitchFamily="18" charset="0"/>
                        <a:cs typeface="Arial" panose="020B0604020202020204" pitchFamily="34" charset="0"/>
                      </a:rPr>
                      <m:t>𝟑</m:t>
                    </m:r>
                  </m:oMath>
                </a14:m>
                <a:r>
                  <a:rPr lang="en-US" sz="1300" dirty="0">
                    <a:latin typeface="Arial" panose="020B0604020202020204" pitchFamily="34" charset="0"/>
                    <a:cs typeface="Arial" panose="020B0604020202020204" pitchFamily="34" charset="0"/>
                  </a:rPr>
                  <a:t>, is the 75th percentile; it cuts off the lowest 75% (or highest 25%) of the data. The second quartile is the 50th percentile. As the median, it</a:t>
                </a:r>
              </a:p>
              <a:p>
                <a:pPr algn="ctr"/>
                <a:r>
                  <a:rPr lang="en-US" sz="1300" dirty="0">
                    <a:latin typeface="Arial" panose="020B0604020202020204" pitchFamily="34" charset="0"/>
                    <a:cs typeface="Arial" panose="020B0604020202020204" pitchFamily="34" charset="0"/>
                  </a:rPr>
                  <a:t>gives the center of the data distribution.</a:t>
                </a:r>
              </a:p>
            </p:txBody>
          </p:sp>
        </mc:Choice>
        <mc:Fallback xmlns="">
          <p:sp>
            <p:nvSpPr>
              <p:cNvPr id="8" name="Rectangle 7">
                <a:extLst>
                  <a:ext uri="{FF2B5EF4-FFF2-40B4-BE49-F238E27FC236}">
                    <a16:creationId xmlns:a16="http://schemas.microsoft.com/office/drawing/2014/main" id="{FAB0A6A8-2610-4342-869E-E67794AFEBE6}"/>
                  </a:ext>
                </a:extLst>
              </p:cNvPr>
              <p:cNvSpPr>
                <a:spLocks noRot="1" noChangeAspect="1" noMove="1" noResize="1" noEditPoints="1" noAdjustHandles="1" noChangeArrowheads="1" noChangeShapeType="1" noTextEdit="1"/>
              </p:cNvSpPr>
              <p:nvPr/>
            </p:nvSpPr>
            <p:spPr>
              <a:xfrm>
                <a:off x="139446" y="5294439"/>
                <a:ext cx="8865106" cy="1292662"/>
              </a:xfrm>
              <a:prstGeom prst="rect">
                <a:avLst/>
              </a:prstGeom>
              <a:blipFill>
                <a:blip r:embed="rId4"/>
                <a:stretch>
                  <a:fillRect l="-138" t="-472" r="-69" b="-3302"/>
                </a:stretch>
              </a:blipFill>
            </p:spPr>
            <p:txBody>
              <a:bodyPr/>
              <a:lstStyle/>
              <a:p>
                <a:r>
                  <a:rPr lang="en-US">
                    <a:noFill/>
                  </a:rPr>
                  <a:t> </a:t>
                </a:r>
              </a:p>
            </p:txBody>
          </p:sp>
        </mc:Fallback>
      </mc:AlternateContent>
    </p:spTree>
    <p:extLst>
      <p:ext uri="{BB962C8B-B14F-4D97-AF65-F5344CB8AC3E}">
        <p14:creationId xmlns:p14="http://schemas.microsoft.com/office/powerpoint/2010/main" val="7497626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hart, diagram&#10;&#10;Description automatically generated with medium confidence">
            <a:extLst>
              <a:ext uri="{FF2B5EF4-FFF2-40B4-BE49-F238E27FC236}">
                <a16:creationId xmlns:a16="http://schemas.microsoft.com/office/drawing/2014/main" id="{7A1A9AB9-82FA-4FFD-8347-5B50EEE221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9010" y="4341437"/>
            <a:ext cx="6425980" cy="2428252"/>
          </a:xfrm>
          <a:prstGeom prst="rect">
            <a:avLst/>
          </a:prstGeom>
        </p:spPr>
      </p:pic>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Basic Data Summarization Techniques </a:t>
            </a:r>
            <a:r>
              <a:rPr lang="en-US" sz="1800" b="1">
                <a:solidFill>
                  <a:schemeClr val="tx1"/>
                </a:solidFill>
              </a:rPr>
              <a:t>(optional)</a:t>
            </a:r>
            <a:endParaRPr lang="en-US" sz="1800" b="1" dirty="0">
              <a:solidFill>
                <a:schemeClr val="tx1"/>
              </a:solidFill>
            </a:endParaRPr>
          </a:p>
        </p:txBody>
      </p:sp>
      <p:sp>
        <p:nvSpPr>
          <p:cNvPr id="5" name="Rectangle 4">
            <a:extLst>
              <a:ext uri="{FF2B5EF4-FFF2-40B4-BE49-F238E27FC236}">
                <a16:creationId xmlns:a16="http://schemas.microsoft.com/office/drawing/2014/main" id="{62ACD4D9-676D-4F87-8CBE-879DED31070E}"/>
              </a:ext>
            </a:extLst>
          </p:cNvPr>
          <p:cNvSpPr/>
          <p:nvPr/>
        </p:nvSpPr>
        <p:spPr>
          <a:xfrm>
            <a:off x="167782" y="596800"/>
            <a:ext cx="5661518" cy="3693319"/>
          </a:xfrm>
          <a:prstGeom prst="rect">
            <a:avLst/>
          </a:prstGeom>
        </p:spPr>
        <p:txBody>
          <a:bodyPr wrap="square">
            <a:spAutoFit/>
          </a:bodyPr>
          <a:lstStyle/>
          <a:p>
            <a:pPr marL="285750"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Measuring the asymmetry of data (skewness)</a:t>
            </a:r>
          </a:p>
          <a:p>
            <a:pPr marL="285750" indent="-285750" algn="just">
              <a:buFont typeface="Arial" panose="020B0604020202020204" pitchFamily="34" charset="0"/>
              <a:buChar char="•"/>
            </a:pPr>
            <a:endParaRPr lang="en-US" sz="13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300" b="1" dirty="0">
                <a:latin typeface="Arial" panose="020B0604020202020204" pitchFamily="34" charset="0"/>
                <a:cs typeface="Arial" panose="020B0604020202020204" pitchFamily="34" charset="0"/>
              </a:rPr>
              <a:t>Skewness</a:t>
            </a:r>
          </a:p>
          <a:p>
            <a:pPr marL="742950" lvl="1"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The most common measure of the asymmetry in the values of an attribute of a dataset is the </a:t>
            </a:r>
            <a:r>
              <a:rPr lang="en-US" sz="1300" b="1" dirty="0">
                <a:latin typeface="Arial" panose="020B0604020202020204" pitchFamily="34" charset="0"/>
                <a:cs typeface="Arial" panose="020B0604020202020204" pitchFamily="34" charset="0"/>
              </a:rPr>
              <a:t>skewness</a:t>
            </a:r>
            <a:r>
              <a:rPr lang="en-US" sz="1300" dirty="0">
                <a:latin typeface="Arial" panose="020B0604020202020204" pitchFamily="34" charset="0"/>
                <a:cs typeface="Arial" panose="020B0604020202020204" pitchFamily="34" charset="0"/>
              </a:rPr>
              <a:t>. </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An attribute with </a:t>
            </a:r>
            <a:r>
              <a:rPr lang="en-US" sz="1300" b="1" dirty="0">
                <a:latin typeface="Arial" panose="020B0604020202020204" pitchFamily="34" charset="0"/>
                <a:cs typeface="Arial" panose="020B0604020202020204" pitchFamily="34" charset="0"/>
              </a:rPr>
              <a:t>positive skewness</a:t>
            </a:r>
            <a:r>
              <a:rPr lang="en-US" sz="1300" dirty="0">
                <a:latin typeface="Arial" panose="020B0604020202020204" pitchFamily="34" charset="0"/>
                <a:cs typeface="Arial" panose="020B0604020202020204" pitchFamily="34" charset="0"/>
              </a:rPr>
              <a:t> has a </a:t>
            </a:r>
            <a:r>
              <a:rPr lang="en-US" sz="1300" b="1" dirty="0">
                <a:latin typeface="Arial" panose="020B0604020202020204" pitchFamily="34" charset="0"/>
                <a:cs typeface="Arial" panose="020B0604020202020204" pitchFamily="34" charset="0"/>
              </a:rPr>
              <a:t>few extremely large positive values </a:t>
            </a:r>
            <a:r>
              <a:rPr lang="en-US" sz="1300" dirty="0">
                <a:latin typeface="Arial" panose="020B0604020202020204" pitchFamily="34" charset="0"/>
                <a:cs typeface="Arial" panose="020B0604020202020204" pitchFamily="34" charset="0"/>
              </a:rPr>
              <a:t>relative to the central tendency of data as measured by attribute’s mean. Its histogram has a long tail toward large positive values. </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An attribute with </a:t>
            </a:r>
            <a:r>
              <a:rPr lang="en-US" sz="1300" b="1" dirty="0">
                <a:latin typeface="Arial" panose="020B0604020202020204" pitchFamily="34" charset="0"/>
                <a:cs typeface="Arial" panose="020B0604020202020204" pitchFamily="34" charset="0"/>
              </a:rPr>
              <a:t>negative skewness</a:t>
            </a:r>
            <a:r>
              <a:rPr lang="en-US" sz="1300" dirty="0">
                <a:latin typeface="Arial" panose="020B0604020202020204" pitchFamily="34" charset="0"/>
                <a:cs typeface="Arial" panose="020B0604020202020204" pitchFamily="34" charset="0"/>
              </a:rPr>
              <a:t> has a </a:t>
            </a:r>
            <a:r>
              <a:rPr lang="en-US" sz="1300" b="1" dirty="0">
                <a:latin typeface="Arial" panose="020B0604020202020204" pitchFamily="34" charset="0"/>
                <a:cs typeface="Arial" panose="020B0604020202020204" pitchFamily="34" charset="0"/>
              </a:rPr>
              <a:t>few extremely large negative values </a:t>
            </a:r>
            <a:r>
              <a:rPr lang="en-US" sz="1300" dirty="0">
                <a:latin typeface="Arial" panose="020B0604020202020204" pitchFamily="34" charset="0"/>
                <a:cs typeface="Arial" panose="020B0604020202020204" pitchFamily="34" charset="0"/>
              </a:rPr>
              <a:t>relative to the central tendency of data as measured by attribute’s mean. Its histogram has a long tail toward large negative values.</a:t>
            </a:r>
          </a:p>
          <a:p>
            <a:pPr marL="1200150" lvl="2" indent="-285750" algn="just">
              <a:buFont typeface="Arial" panose="020B0604020202020204" pitchFamily="34" charset="0"/>
              <a:buChar char="•"/>
            </a:pPr>
            <a:endParaRPr lang="en-US" sz="13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300" dirty="0">
                <a:latin typeface="Arial" panose="020B0604020202020204" pitchFamily="34" charset="0"/>
                <a:cs typeface="Arial" panose="020B0604020202020204" pitchFamily="34" charset="0"/>
              </a:rPr>
              <a:t>Skewness can be negative or positive, just like the </a:t>
            </a:r>
            <a:r>
              <a:rPr lang="en-US" sz="1300" b="1" dirty="0">
                <a:latin typeface="Arial" panose="020B0604020202020204" pitchFamily="34" charset="0"/>
                <a:cs typeface="Arial" panose="020B0604020202020204" pitchFamily="34" charset="0"/>
              </a:rPr>
              <a:t>mean</a:t>
            </a:r>
            <a:r>
              <a:rPr lang="en-US" sz="1300" dirty="0">
                <a:latin typeface="Arial" panose="020B0604020202020204" pitchFamily="34" charset="0"/>
                <a:cs typeface="Arial" panose="020B0604020202020204" pitchFamily="34" charset="0"/>
              </a:rPr>
              <a:t>.</a:t>
            </a:r>
          </a:p>
        </p:txBody>
      </p:sp>
      <p:pic>
        <p:nvPicPr>
          <p:cNvPr id="3" name="Graphic 2">
            <a:extLst>
              <a:ext uri="{FF2B5EF4-FFF2-40B4-BE49-F238E27FC236}">
                <a16:creationId xmlns:a16="http://schemas.microsoft.com/office/drawing/2014/main" id="{1F623D22-605F-46AC-B10F-3197A46FAEF7}"/>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660987" y="815340"/>
            <a:ext cx="3230716" cy="2020808"/>
          </a:xfrm>
          <a:prstGeom prst="rect">
            <a:avLst/>
          </a:prstGeom>
        </p:spPr>
      </p:pic>
    </p:spTree>
    <p:extLst>
      <p:ext uri="{BB962C8B-B14F-4D97-AF65-F5344CB8AC3E}">
        <p14:creationId xmlns:p14="http://schemas.microsoft.com/office/powerpoint/2010/main" val="1341965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500" b="1" dirty="0">
                <a:solidFill>
                  <a:schemeClr val="tx1"/>
                </a:solidFill>
              </a:rPr>
              <a:t>Basic Data Summarization Techniques (optional)</a:t>
            </a:r>
          </a:p>
        </p:txBody>
      </p:sp>
      <p:sp>
        <p:nvSpPr>
          <p:cNvPr id="5" name="Rectangle 4">
            <a:extLst>
              <a:ext uri="{FF2B5EF4-FFF2-40B4-BE49-F238E27FC236}">
                <a16:creationId xmlns:a16="http://schemas.microsoft.com/office/drawing/2014/main" id="{62ACD4D9-676D-4F87-8CBE-879DED31070E}"/>
              </a:ext>
            </a:extLst>
          </p:cNvPr>
          <p:cNvSpPr/>
          <p:nvPr/>
        </p:nvSpPr>
        <p:spPr>
          <a:xfrm>
            <a:off x="160163" y="596800"/>
            <a:ext cx="4968097" cy="5262979"/>
          </a:xfrm>
          <a:prstGeom prst="rect">
            <a:avLst/>
          </a:prstGeom>
        </p:spPr>
        <p:txBody>
          <a:bodyPr wrap="square">
            <a:spAutoFit/>
          </a:bodyPr>
          <a:lstStyle/>
          <a:p>
            <a:pPr marL="285750" indent="-285750" algn="just">
              <a:buFont typeface="Arial" panose="020B0604020202020204" pitchFamily="34" charset="0"/>
              <a:buChar char="•"/>
            </a:pPr>
            <a:r>
              <a:rPr lang="en-US" sz="1200" b="1" dirty="0">
                <a:latin typeface="Arial" panose="020B0604020202020204" pitchFamily="34" charset="0"/>
                <a:cs typeface="Arial" panose="020B0604020202020204" pitchFamily="34" charset="0"/>
              </a:rPr>
              <a:t>Measuring the </a:t>
            </a:r>
            <a:r>
              <a:rPr lang="en-US" sz="1200" b="1" dirty="0" err="1">
                <a:latin typeface="Arial" panose="020B0604020202020204" pitchFamily="34" charset="0"/>
                <a:cs typeface="Arial" panose="020B0604020202020204" pitchFamily="34" charset="0"/>
              </a:rPr>
              <a:t>tailedness</a:t>
            </a:r>
            <a:r>
              <a:rPr lang="en-US" sz="1200" b="1" dirty="0">
                <a:latin typeface="Arial" panose="020B0604020202020204" pitchFamily="34" charset="0"/>
                <a:cs typeface="Arial" panose="020B0604020202020204" pitchFamily="34" charset="0"/>
              </a:rPr>
              <a:t> of data (kurtosis)</a:t>
            </a:r>
          </a:p>
          <a:p>
            <a:pPr marL="285750" indent="-285750" algn="just">
              <a:buFont typeface="Arial" panose="020B0604020202020204" pitchFamily="34" charset="0"/>
              <a:buChar char="•"/>
            </a:pPr>
            <a:endParaRPr lang="en-US" sz="1200" b="1" dirty="0">
              <a:latin typeface="Arial" panose="020B0604020202020204" pitchFamily="34" charset="0"/>
              <a:cs typeface="Arial" panose="020B0604020202020204" pitchFamily="34" charset="0"/>
            </a:endParaRPr>
          </a:p>
          <a:p>
            <a:pPr marL="742950" lvl="1" indent="-285750" algn="just">
              <a:buFont typeface="Arial" panose="020B0604020202020204" pitchFamily="34" charset="0"/>
              <a:buChar char="•"/>
            </a:pPr>
            <a:r>
              <a:rPr lang="en-US" sz="1200" b="1" dirty="0">
                <a:latin typeface="Arial" panose="020B0604020202020204" pitchFamily="34" charset="0"/>
                <a:cs typeface="Arial" panose="020B0604020202020204" pitchFamily="34" charset="0"/>
              </a:rPr>
              <a:t>(Excess-) Kurtosis</a:t>
            </a:r>
          </a:p>
          <a:p>
            <a:pPr marL="742950" lvl="1" indent="-285750" algn="just">
              <a:buFont typeface="Arial" panose="020B0604020202020204" pitchFamily="34" charset="0"/>
              <a:buChar char="•"/>
            </a:pPr>
            <a:endParaRPr lang="en-US" sz="12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200" dirty="0">
                <a:latin typeface="Arial" panose="020B0604020202020204" pitchFamily="34" charset="0"/>
                <a:cs typeface="Arial" panose="020B0604020202020204" pitchFamily="34" charset="0"/>
              </a:rPr>
              <a:t>The most common measure of the (heavy-)</a:t>
            </a:r>
            <a:r>
              <a:rPr lang="en-US" sz="1200" b="1" dirty="0" err="1">
                <a:latin typeface="Arial" panose="020B0604020202020204" pitchFamily="34" charset="0"/>
                <a:cs typeface="Arial" panose="020B0604020202020204" pitchFamily="34" charset="0"/>
              </a:rPr>
              <a:t>tailedness</a:t>
            </a:r>
            <a:r>
              <a:rPr lang="en-US" sz="1200" dirty="0">
                <a:latin typeface="Arial" panose="020B0604020202020204" pitchFamily="34" charset="0"/>
                <a:cs typeface="Arial" panose="020B0604020202020204" pitchFamily="34" charset="0"/>
              </a:rPr>
              <a:t> of the values of an attribute of a dataset is the </a:t>
            </a:r>
            <a:r>
              <a:rPr lang="en-US" sz="1200" b="1" dirty="0">
                <a:latin typeface="Arial" panose="020B0604020202020204" pitchFamily="34" charset="0"/>
                <a:cs typeface="Arial" panose="020B0604020202020204" pitchFamily="34" charset="0"/>
              </a:rPr>
              <a:t>Kurtosis</a:t>
            </a:r>
            <a:r>
              <a:rPr lang="en-US" sz="1200" dirty="0">
                <a:latin typeface="Arial" panose="020B0604020202020204" pitchFamily="34" charset="0"/>
                <a:cs typeface="Arial" panose="020B0604020202020204" pitchFamily="34" charset="0"/>
              </a:rPr>
              <a:t>. Kurtosis is, by definition, a </a:t>
            </a:r>
            <a:r>
              <a:rPr lang="en-US" sz="1200" b="1" dirty="0">
                <a:latin typeface="Arial" panose="020B0604020202020204" pitchFamily="34" charset="0"/>
                <a:cs typeface="Arial" panose="020B0604020202020204" pitchFamily="34" charset="0"/>
              </a:rPr>
              <a:t>positive number</a:t>
            </a:r>
            <a:r>
              <a:rPr lang="en-US" sz="1200" dirty="0">
                <a:latin typeface="Arial" panose="020B0604020202020204" pitchFamily="34" charset="0"/>
                <a:cs typeface="Arial" panose="020B0604020202020204" pitchFamily="34" charset="0"/>
              </a:rPr>
              <a:t>, just like the variance.</a:t>
            </a:r>
          </a:p>
          <a:p>
            <a:pPr marL="1200150" lvl="2" indent="-285750" algn="just">
              <a:buFont typeface="Arial" panose="020B0604020202020204" pitchFamily="34" charset="0"/>
              <a:buChar char="•"/>
            </a:pPr>
            <a:endParaRPr lang="en-US" sz="12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200" dirty="0">
                <a:latin typeface="Arial" panose="020B0604020202020204" pitchFamily="34" charset="0"/>
                <a:cs typeface="Arial" panose="020B0604020202020204" pitchFamily="34" charset="0"/>
              </a:rPr>
              <a:t>Since the </a:t>
            </a:r>
            <a:r>
              <a:rPr lang="en-US" sz="1200" b="1" dirty="0">
                <a:latin typeface="Arial" panose="020B0604020202020204" pitchFamily="34" charset="0"/>
                <a:cs typeface="Arial" panose="020B0604020202020204" pitchFamily="34" charset="0"/>
              </a:rPr>
              <a:t>Normal distribution</a:t>
            </a:r>
            <a:r>
              <a:rPr lang="en-US" sz="1200" dirty="0">
                <a:latin typeface="Arial" panose="020B0604020202020204" pitchFamily="34" charset="0"/>
                <a:cs typeface="Arial" panose="020B0604020202020204" pitchFamily="34" charset="0"/>
              </a:rPr>
              <a:t> has a kurtosis of </a:t>
            </a:r>
            <a:r>
              <a:rPr lang="en-US" sz="1200" b="1" dirty="0">
                <a:latin typeface="Arial" panose="020B0604020202020204" pitchFamily="34" charset="0"/>
                <a:cs typeface="Arial" panose="020B0604020202020204" pitchFamily="34" charset="0"/>
              </a:rPr>
              <a:t>3</a:t>
            </a:r>
            <a:r>
              <a:rPr lang="en-US" sz="1200" dirty="0">
                <a:latin typeface="Arial" panose="020B0604020202020204" pitchFamily="34" charset="0"/>
                <a:cs typeface="Arial" panose="020B0604020202020204" pitchFamily="34" charset="0"/>
              </a:rPr>
              <a:t>, Kurtosis is commonly normalized to 3 to obtain the </a:t>
            </a:r>
            <a:r>
              <a:rPr lang="en-US" sz="1200" b="1" dirty="0">
                <a:latin typeface="Arial" panose="020B0604020202020204" pitchFamily="34" charset="0"/>
                <a:cs typeface="Arial" panose="020B0604020202020204" pitchFamily="34" charset="0"/>
              </a:rPr>
              <a:t>excess kurtosis</a:t>
            </a:r>
            <a:r>
              <a:rPr lang="en-US" sz="1200" dirty="0">
                <a:latin typeface="Arial" panose="020B0604020202020204" pitchFamily="34" charset="0"/>
                <a:cs typeface="Arial" panose="020B0604020202020204" pitchFamily="34" charset="0"/>
              </a:rPr>
              <a:t> (with respect to the Normal distribution).</a:t>
            </a:r>
          </a:p>
          <a:p>
            <a:pPr marL="1200150" lvl="2" indent="-285750" algn="just">
              <a:buFont typeface="Arial" panose="020B0604020202020204" pitchFamily="34" charset="0"/>
              <a:buChar char="•"/>
            </a:pPr>
            <a:endParaRPr lang="en-US" sz="12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200" b="1" dirty="0">
                <a:latin typeface="Arial" panose="020B0604020202020204" pitchFamily="34" charset="0"/>
                <a:cs typeface="Arial" panose="020B0604020202020204" pitchFamily="34" charset="0"/>
              </a:rPr>
              <a:t>Higher kurtosis</a:t>
            </a:r>
            <a:r>
              <a:rPr lang="en-US" sz="1200" dirty="0">
                <a:latin typeface="Arial" panose="020B0604020202020204" pitchFamily="34" charset="0"/>
                <a:cs typeface="Arial" panose="020B0604020202020204" pitchFamily="34" charset="0"/>
              </a:rPr>
              <a:t> corresponds to </a:t>
            </a:r>
            <a:r>
              <a:rPr lang="en-US" sz="1200" b="1" dirty="0">
                <a:latin typeface="Arial" panose="020B0604020202020204" pitchFamily="34" charset="0"/>
                <a:cs typeface="Arial" panose="020B0604020202020204" pitchFamily="34" charset="0"/>
              </a:rPr>
              <a:t>greater extremity of deviations</a:t>
            </a:r>
            <a:r>
              <a:rPr lang="en-US" sz="1200" dirty="0">
                <a:latin typeface="Arial" panose="020B0604020202020204" pitchFamily="34" charset="0"/>
                <a:cs typeface="Arial" panose="020B0604020202020204" pitchFamily="34" charset="0"/>
              </a:rPr>
              <a:t> (or outliers) compared to the center of data.</a:t>
            </a:r>
          </a:p>
          <a:p>
            <a:pPr marL="1200150" lvl="2" indent="-285750" algn="just">
              <a:buFont typeface="Arial" panose="020B0604020202020204" pitchFamily="34" charset="0"/>
              <a:buChar char="•"/>
            </a:pPr>
            <a:endParaRPr lang="en-US" sz="12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200" dirty="0">
                <a:latin typeface="Arial" panose="020B0604020202020204" pitchFamily="34" charset="0"/>
                <a:cs typeface="Arial" panose="020B0604020202020204" pitchFamily="34" charset="0"/>
              </a:rPr>
              <a:t>An attribute with </a:t>
            </a:r>
            <a:r>
              <a:rPr lang="en-US" sz="1200" b="1" dirty="0">
                <a:latin typeface="Arial" panose="020B0604020202020204" pitchFamily="34" charset="0"/>
                <a:cs typeface="Arial" panose="020B0604020202020204" pitchFamily="34" charset="0"/>
              </a:rPr>
              <a:t>zero excess kurtosis</a:t>
            </a:r>
            <a:r>
              <a:rPr lang="en-US" sz="1200" dirty="0">
                <a:latin typeface="Arial" panose="020B0604020202020204" pitchFamily="34" charset="0"/>
                <a:cs typeface="Arial" panose="020B0604020202020204" pitchFamily="34" charset="0"/>
              </a:rPr>
              <a:t> are called </a:t>
            </a:r>
            <a:r>
              <a:rPr lang="en-US" sz="1200" b="1" dirty="0">
                <a:latin typeface="Arial" panose="020B0604020202020204" pitchFamily="34" charset="0"/>
                <a:cs typeface="Arial" panose="020B0604020202020204" pitchFamily="34" charset="0"/>
              </a:rPr>
              <a:t>mesokurtic </a:t>
            </a:r>
            <a:r>
              <a:rPr lang="en-US" sz="1200" dirty="0">
                <a:latin typeface="Arial" panose="020B0604020202020204" pitchFamily="34" charset="0"/>
                <a:cs typeface="Arial" panose="020B0604020202020204" pitchFamily="34" charset="0"/>
              </a:rPr>
              <a:t>(for example, Normally distributed).</a:t>
            </a:r>
          </a:p>
          <a:p>
            <a:pPr marL="1200150" lvl="2" indent="-285750" algn="just">
              <a:buFont typeface="Arial" panose="020B0604020202020204" pitchFamily="34" charset="0"/>
              <a:buChar char="•"/>
            </a:pPr>
            <a:endParaRPr lang="en-US" sz="12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200" dirty="0">
                <a:latin typeface="Arial" panose="020B0604020202020204" pitchFamily="34" charset="0"/>
                <a:cs typeface="Arial" panose="020B0604020202020204" pitchFamily="34" charset="0"/>
              </a:rPr>
              <a:t>A distribution with </a:t>
            </a:r>
            <a:r>
              <a:rPr lang="en-US" sz="1200" b="1" dirty="0">
                <a:latin typeface="Arial" panose="020B0604020202020204" pitchFamily="34" charset="0"/>
                <a:cs typeface="Arial" panose="020B0604020202020204" pitchFamily="34" charset="0"/>
              </a:rPr>
              <a:t>positive excess kurtosis</a:t>
            </a:r>
            <a:r>
              <a:rPr lang="en-US" sz="1200" dirty="0">
                <a:latin typeface="Arial" panose="020B0604020202020204" pitchFamily="34" charset="0"/>
                <a:cs typeface="Arial" panose="020B0604020202020204" pitchFamily="34" charset="0"/>
              </a:rPr>
              <a:t> is called </a:t>
            </a:r>
            <a:r>
              <a:rPr lang="en-US" sz="1200" b="1" dirty="0">
                <a:latin typeface="Arial" panose="020B0604020202020204" pitchFamily="34" charset="0"/>
                <a:cs typeface="Arial" panose="020B0604020202020204" pitchFamily="34" charset="0"/>
              </a:rPr>
              <a:t>leptokurtic</a:t>
            </a:r>
            <a:r>
              <a:rPr lang="en-US" sz="1200" dirty="0">
                <a:latin typeface="Arial" panose="020B0604020202020204" pitchFamily="34" charset="0"/>
                <a:cs typeface="Arial" panose="020B0604020202020204" pitchFamily="34" charset="0"/>
              </a:rPr>
              <a:t>, meaning that more outliers are present in the tails of data.</a:t>
            </a:r>
          </a:p>
          <a:p>
            <a:pPr marL="1200150" lvl="2" indent="-285750" algn="just">
              <a:buFont typeface="Arial" panose="020B0604020202020204" pitchFamily="34" charset="0"/>
              <a:buChar char="•"/>
            </a:pPr>
            <a:endParaRPr lang="en-US" sz="1200" dirty="0">
              <a:latin typeface="Arial" panose="020B0604020202020204" pitchFamily="34" charset="0"/>
              <a:cs typeface="Arial" panose="020B0604020202020204" pitchFamily="34" charset="0"/>
            </a:endParaRPr>
          </a:p>
          <a:p>
            <a:pPr marL="1200150" lvl="2" indent="-285750" algn="just">
              <a:buFont typeface="Arial" panose="020B0604020202020204" pitchFamily="34" charset="0"/>
              <a:buChar char="•"/>
            </a:pPr>
            <a:r>
              <a:rPr lang="en-US" sz="1200" dirty="0">
                <a:latin typeface="Arial" panose="020B0604020202020204" pitchFamily="34" charset="0"/>
                <a:cs typeface="Arial" panose="020B0604020202020204" pitchFamily="34" charset="0"/>
              </a:rPr>
              <a:t>A distribution with </a:t>
            </a:r>
            <a:r>
              <a:rPr lang="en-US" sz="1200" b="1" dirty="0">
                <a:latin typeface="Arial" panose="020B0604020202020204" pitchFamily="34" charset="0"/>
                <a:cs typeface="Arial" panose="020B0604020202020204" pitchFamily="34" charset="0"/>
              </a:rPr>
              <a:t>negative excess kurtosis </a:t>
            </a:r>
            <a:r>
              <a:rPr lang="en-US" sz="1200" dirty="0">
                <a:latin typeface="Arial" panose="020B0604020202020204" pitchFamily="34" charset="0"/>
                <a:cs typeface="Arial" panose="020B0604020202020204" pitchFamily="34" charset="0"/>
              </a:rPr>
              <a:t>is called </a:t>
            </a:r>
            <a:r>
              <a:rPr lang="en-US" sz="1200" b="1" dirty="0">
                <a:latin typeface="Arial" panose="020B0604020202020204" pitchFamily="34" charset="0"/>
                <a:cs typeface="Arial" panose="020B0604020202020204" pitchFamily="34" charset="0"/>
              </a:rPr>
              <a:t>platykurtic</a:t>
            </a:r>
            <a:r>
              <a:rPr lang="en-US" sz="1200" dirty="0">
                <a:latin typeface="Arial" panose="020B0604020202020204" pitchFamily="34" charset="0"/>
                <a:cs typeface="Arial" panose="020B0604020202020204" pitchFamily="34" charset="0"/>
              </a:rPr>
              <a:t>, meaning that it has thinner tails (and fewer outliers in the tails).</a:t>
            </a:r>
          </a:p>
        </p:txBody>
      </p:sp>
      <p:pic>
        <p:nvPicPr>
          <p:cNvPr id="10" name="Graphic 9">
            <a:extLst>
              <a:ext uri="{FF2B5EF4-FFF2-40B4-BE49-F238E27FC236}">
                <a16:creationId xmlns:a16="http://schemas.microsoft.com/office/drawing/2014/main" id="{D4C3DF7A-135B-4C3A-85F1-20CC619A0C9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17852" y="6080759"/>
            <a:ext cx="3864868" cy="548642"/>
          </a:xfrm>
          <a:prstGeom prst="rect">
            <a:avLst/>
          </a:prstGeom>
        </p:spPr>
      </p:pic>
      <p:pic>
        <p:nvPicPr>
          <p:cNvPr id="12" name="Picture 11" descr="Chart&#10;&#10;Description automatically generated">
            <a:extLst>
              <a:ext uri="{FF2B5EF4-FFF2-40B4-BE49-F238E27FC236}">
                <a16:creationId xmlns:a16="http://schemas.microsoft.com/office/drawing/2014/main" id="{F1E2E3AE-CE9E-4658-A011-30ED642DB5B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222239" y="187342"/>
            <a:ext cx="3682131" cy="2761598"/>
          </a:xfrm>
          <a:prstGeom prst="rect">
            <a:avLst/>
          </a:prstGeom>
        </p:spPr>
      </p:pic>
      <p:sp>
        <p:nvSpPr>
          <p:cNvPr id="19" name="TextBox 18">
            <a:extLst>
              <a:ext uri="{FF2B5EF4-FFF2-40B4-BE49-F238E27FC236}">
                <a16:creationId xmlns:a16="http://schemas.microsoft.com/office/drawing/2014/main" id="{C46FA695-A435-45B5-8306-891314597013}"/>
              </a:ext>
            </a:extLst>
          </p:cNvPr>
          <p:cNvSpPr txBox="1"/>
          <p:nvPr/>
        </p:nvSpPr>
        <p:spPr>
          <a:xfrm>
            <a:off x="5295900" y="2878127"/>
            <a:ext cx="3534808" cy="461665"/>
          </a:xfrm>
          <a:prstGeom prst="rect">
            <a:avLst/>
          </a:prstGeom>
          <a:noFill/>
        </p:spPr>
        <p:txBody>
          <a:bodyPr wrap="square">
            <a:spAutoFit/>
          </a:bodyPr>
          <a:lstStyle/>
          <a:p>
            <a:pPr algn="ctr"/>
            <a:r>
              <a:rPr lang="en-US" sz="1200" dirty="0"/>
              <a:t>Probability density functions for selected distributions with mean 0, variance 1 and different excess kurtosis.</a:t>
            </a:r>
          </a:p>
        </p:txBody>
      </p:sp>
      <p:pic>
        <p:nvPicPr>
          <p:cNvPr id="21" name="Picture 20" descr="Chart&#10;&#10;Description automatically generated">
            <a:extLst>
              <a:ext uri="{FF2B5EF4-FFF2-40B4-BE49-F238E27FC236}">
                <a16:creationId xmlns:a16="http://schemas.microsoft.com/office/drawing/2014/main" id="{7CD49C6C-3941-4E38-822B-B7A57546C5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128260" y="3248676"/>
            <a:ext cx="3776110" cy="2832083"/>
          </a:xfrm>
          <a:prstGeom prst="rect">
            <a:avLst/>
          </a:prstGeom>
        </p:spPr>
      </p:pic>
      <p:sp>
        <p:nvSpPr>
          <p:cNvPr id="22" name="TextBox 21">
            <a:extLst>
              <a:ext uri="{FF2B5EF4-FFF2-40B4-BE49-F238E27FC236}">
                <a16:creationId xmlns:a16="http://schemas.microsoft.com/office/drawing/2014/main" id="{9C9B6BEE-B581-4D6B-9684-02197E4ED722}"/>
              </a:ext>
            </a:extLst>
          </p:cNvPr>
          <p:cNvSpPr txBox="1"/>
          <p:nvPr/>
        </p:nvSpPr>
        <p:spPr>
          <a:xfrm>
            <a:off x="5295900" y="6042986"/>
            <a:ext cx="3534808" cy="646331"/>
          </a:xfrm>
          <a:prstGeom prst="rect">
            <a:avLst/>
          </a:prstGeom>
          <a:noFill/>
        </p:spPr>
        <p:txBody>
          <a:bodyPr wrap="square">
            <a:spAutoFit/>
          </a:bodyPr>
          <a:lstStyle/>
          <a:p>
            <a:pPr algn="ctr"/>
            <a:r>
              <a:rPr lang="en-US" sz="1200" dirty="0"/>
              <a:t>Logarithms of probability density functions for selected distributions with mean 0, variance 1 and different excess kurtosis.</a:t>
            </a:r>
          </a:p>
        </p:txBody>
      </p:sp>
    </p:spTree>
    <p:extLst>
      <p:ext uri="{BB962C8B-B14F-4D97-AF65-F5344CB8AC3E}">
        <p14:creationId xmlns:p14="http://schemas.microsoft.com/office/powerpoint/2010/main" val="268513895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4 1"/>
          <p:cNvSpPr>
            <a:spLocks noGrp="1"/>
          </p:cNvSpPr>
          <p:nvPr>
            <p:ph type="title"/>
          </p:nvPr>
        </p:nvSpPr>
        <p:spPr>
          <a:xfrm>
            <a:off x="139446" y="164483"/>
            <a:ext cx="8839200" cy="380999"/>
          </a:xfrm>
        </p:spPr>
        <p:txBody>
          <a:bodyPr>
            <a:normAutofit/>
          </a:bodyPr>
          <a:lstStyle/>
          <a:p>
            <a:r>
              <a:rPr lang="en-US" sz="1800" b="1" dirty="0">
                <a:solidFill>
                  <a:schemeClr val="tx1"/>
                </a:solidFill>
              </a:rPr>
              <a:t>Basic Data Summarization Techniques</a:t>
            </a:r>
          </a:p>
        </p:txBody>
      </p:sp>
      <p:pic>
        <p:nvPicPr>
          <p:cNvPr id="4" name="Picture 3" descr="A graph of a test&#10;&#10;Description automatically generated with medium confidence">
            <a:extLst>
              <a:ext uri="{FF2B5EF4-FFF2-40B4-BE49-F238E27FC236}">
                <a16:creationId xmlns:a16="http://schemas.microsoft.com/office/drawing/2014/main" id="{A72BA2EE-77D3-C4DE-E043-DA06ADDB78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05000" y="1428750"/>
            <a:ext cx="5334000" cy="4000500"/>
          </a:xfrm>
          <a:prstGeom prst="rect">
            <a:avLst/>
          </a:prstGeom>
        </p:spPr>
      </p:pic>
    </p:spTree>
    <p:extLst>
      <p:ext uri="{BB962C8B-B14F-4D97-AF65-F5344CB8AC3E}">
        <p14:creationId xmlns:p14="http://schemas.microsoft.com/office/powerpoint/2010/main" val="10313880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1"/>
          <p:cNvSpPr>
            <a:spLocks noGrp="1"/>
          </p:cNvSpPr>
          <p:nvPr>
            <p:ph type="title"/>
          </p:nvPr>
        </p:nvSpPr>
        <p:spPr>
          <a:xfrm>
            <a:off x="152400" y="228601"/>
            <a:ext cx="8839200" cy="468875"/>
          </a:xfrm>
        </p:spPr>
        <p:txBody>
          <a:bodyPr>
            <a:normAutofit/>
          </a:bodyPr>
          <a:lstStyle/>
          <a:p>
            <a:r>
              <a:rPr lang="en-US" sz="2000" b="1" dirty="0">
                <a:solidFill>
                  <a:schemeClr val="tx1"/>
                </a:solidFill>
              </a:rPr>
              <a:t>Time Series Data</a:t>
            </a:r>
          </a:p>
        </p:txBody>
      </p:sp>
      <p:pic>
        <p:nvPicPr>
          <p:cNvPr id="3" name="Picture 2" descr="Chart, line chart&#10;&#10;Description automatically generated">
            <a:extLst>
              <a:ext uri="{FF2B5EF4-FFF2-40B4-BE49-F238E27FC236}">
                <a16:creationId xmlns:a16="http://schemas.microsoft.com/office/drawing/2014/main" id="{D9C8F997-3833-469E-9176-57C7AB3382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5967" y="2268908"/>
            <a:ext cx="8012066" cy="3807154"/>
          </a:xfrm>
          <a:prstGeom prst="rect">
            <a:avLst/>
          </a:prstGeom>
        </p:spPr>
      </p:pic>
      <p:sp>
        <p:nvSpPr>
          <p:cNvPr id="6" name="Rectangle 5">
            <a:extLst>
              <a:ext uri="{FF2B5EF4-FFF2-40B4-BE49-F238E27FC236}">
                <a16:creationId xmlns:a16="http://schemas.microsoft.com/office/drawing/2014/main" id="{532C7573-93EE-4EA8-AE74-A5E3C7D793AB}"/>
              </a:ext>
            </a:extLst>
          </p:cNvPr>
          <p:cNvSpPr/>
          <p:nvPr/>
        </p:nvSpPr>
        <p:spPr>
          <a:xfrm>
            <a:off x="152399" y="781938"/>
            <a:ext cx="8425633" cy="646331"/>
          </a:xfrm>
          <a:prstGeom prst="rect">
            <a:avLst/>
          </a:prstGeom>
        </p:spPr>
        <p:txBody>
          <a:bodyPr wrap="square">
            <a:spAutoFit/>
          </a:bodyPr>
          <a:lstStyle/>
          <a:p>
            <a:r>
              <a:rPr lang="en-US" dirty="0"/>
              <a:t>A </a:t>
            </a:r>
            <a:r>
              <a:rPr lang="en-US" b="1" dirty="0"/>
              <a:t>time series</a:t>
            </a:r>
            <a:r>
              <a:rPr lang="en-US" dirty="0"/>
              <a:t> is a series of observations that are sequentially ordered. Typically, </a:t>
            </a:r>
            <a:r>
              <a:rPr lang="en-US"/>
              <a:t>this  </a:t>
            </a:r>
            <a:r>
              <a:rPr lang="en-US" dirty="0"/>
              <a:t>order is determined by the times of observations. </a:t>
            </a:r>
          </a:p>
        </p:txBody>
      </p:sp>
      <p:sp>
        <p:nvSpPr>
          <p:cNvPr id="28" name="Rectangle 27">
            <a:extLst>
              <a:ext uri="{FF2B5EF4-FFF2-40B4-BE49-F238E27FC236}">
                <a16:creationId xmlns:a16="http://schemas.microsoft.com/office/drawing/2014/main" id="{F0C35A6C-25C5-491C-99D6-2E3B90F81407}"/>
              </a:ext>
            </a:extLst>
          </p:cNvPr>
          <p:cNvSpPr/>
          <p:nvPr/>
        </p:nvSpPr>
        <p:spPr>
          <a:xfrm>
            <a:off x="359183" y="1622577"/>
            <a:ext cx="8425633" cy="369332"/>
          </a:xfrm>
          <a:prstGeom prst="rect">
            <a:avLst/>
          </a:prstGeom>
        </p:spPr>
        <p:txBody>
          <a:bodyPr wrap="square">
            <a:spAutoFit/>
          </a:bodyPr>
          <a:lstStyle/>
          <a:p>
            <a:pPr algn="ctr"/>
            <a:r>
              <a:rPr lang="en-US" dirty="0"/>
              <a:t>Example Time Series data: The history of US Mortgage rates</a:t>
            </a:r>
          </a:p>
        </p:txBody>
      </p:sp>
    </p:spTree>
    <p:extLst>
      <p:ext uri="{BB962C8B-B14F-4D97-AF65-F5344CB8AC3E}">
        <p14:creationId xmlns:p14="http://schemas.microsoft.com/office/powerpoint/2010/main" val="4257467827"/>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42CF2B0-2D99-4AD6-802B-CB4C5E6920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48742" y="2112341"/>
            <a:ext cx="5632946" cy="4097959"/>
          </a:xfrm>
          <a:prstGeom prst="rect">
            <a:avLst/>
          </a:prstGeom>
        </p:spPr>
      </p:pic>
      <p:sp>
        <p:nvSpPr>
          <p:cNvPr id="5" name="Title 4 1"/>
          <p:cNvSpPr>
            <a:spLocks noGrp="1"/>
          </p:cNvSpPr>
          <p:nvPr>
            <p:ph type="title"/>
          </p:nvPr>
        </p:nvSpPr>
        <p:spPr>
          <a:xfrm>
            <a:off x="152400" y="228601"/>
            <a:ext cx="8839200" cy="468875"/>
          </a:xfrm>
        </p:spPr>
        <p:txBody>
          <a:bodyPr>
            <a:normAutofit/>
          </a:bodyPr>
          <a:lstStyle/>
          <a:p>
            <a:r>
              <a:rPr lang="en-US" sz="2000" b="1" dirty="0">
                <a:solidFill>
                  <a:schemeClr val="tx1"/>
                </a:solidFill>
              </a:rPr>
              <a:t>Time Series Data</a:t>
            </a:r>
          </a:p>
        </p:txBody>
      </p:sp>
      <p:sp>
        <p:nvSpPr>
          <p:cNvPr id="6" name="Rectangle 5">
            <a:extLst>
              <a:ext uri="{FF2B5EF4-FFF2-40B4-BE49-F238E27FC236}">
                <a16:creationId xmlns:a16="http://schemas.microsoft.com/office/drawing/2014/main" id="{532C7573-93EE-4EA8-AE74-A5E3C7D793AB}"/>
              </a:ext>
            </a:extLst>
          </p:cNvPr>
          <p:cNvSpPr/>
          <p:nvPr/>
        </p:nvSpPr>
        <p:spPr>
          <a:xfrm>
            <a:off x="152399" y="781938"/>
            <a:ext cx="8425633" cy="646331"/>
          </a:xfrm>
          <a:prstGeom prst="rect">
            <a:avLst/>
          </a:prstGeom>
        </p:spPr>
        <p:txBody>
          <a:bodyPr wrap="square">
            <a:spAutoFit/>
          </a:bodyPr>
          <a:lstStyle/>
          <a:p>
            <a:r>
              <a:rPr lang="en-US" dirty="0"/>
              <a:t>A </a:t>
            </a:r>
            <a:r>
              <a:rPr lang="en-US" b="1" dirty="0"/>
              <a:t>time series</a:t>
            </a:r>
            <a:r>
              <a:rPr lang="en-US" dirty="0"/>
              <a:t> is a series of observations that are sequentially ordered. Typically, this is order is determined by the times of observations. </a:t>
            </a:r>
          </a:p>
        </p:txBody>
      </p:sp>
      <p:sp>
        <p:nvSpPr>
          <p:cNvPr id="28" name="Rectangle 27">
            <a:extLst>
              <a:ext uri="{FF2B5EF4-FFF2-40B4-BE49-F238E27FC236}">
                <a16:creationId xmlns:a16="http://schemas.microsoft.com/office/drawing/2014/main" id="{F0C35A6C-25C5-491C-99D6-2E3B90F81407}"/>
              </a:ext>
            </a:extLst>
          </p:cNvPr>
          <p:cNvSpPr/>
          <p:nvPr/>
        </p:nvSpPr>
        <p:spPr>
          <a:xfrm>
            <a:off x="359182" y="1512731"/>
            <a:ext cx="8425633" cy="369332"/>
          </a:xfrm>
          <a:prstGeom prst="rect">
            <a:avLst/>
          </a:prstGeom>
        </p:spPr>
        <p:txBody>
          <a:bodyPr wrap="square">
            <a:spAutoFit/>
          </a:bodyPr>
          <a:lstStyle/>
          <a:p>
            <a:pPr algn="ctr"/>
            <a:r>
              <a:rPr lang="en-US" dirty="0"/>
              <a:t>Example Time Series data: Global temperature increase with a </a:t>
            </a:r>
            <a:r>
              <a:rPr lang="en-US" b="1" dirty="0"/>
              <a:t>linear</a:t>
            </a:r>
            <a:r>
              <a:rPr lang="en-US" dirty="0"/>
              <a:t> hypothesis</a:t>
            </a:r>
          </a:p>
        </p:txBody>
      </p:sp>
    </p:spTree>
    <p:extLst>
      <p:ext uri="{BB962C8B-B14F-4D97-AF65-F5344CB8AC3E}">
        <p14:creationId xmlns:p14="http://schemas.microsoft.com/office/powerpoint/2010/main" val="197250525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1"/>
          <p:cNvSpPr>
            <a:spLocks noGrp="1"/>
          </p:cNvSpPr>
          <p:nvPr>
            <p:ph type="title"/>
          </p:nvPr>
        </p:nvSpPr>
        <p:spPr>
          <a:xfrm>
            <a:off x="152400" y="228601"/>
            <a:ext cx="8839200" cy="468875"/>
          </a:xfrm>
        </p:spPr>
        <p:txBody>
          <a:bodyPr>
            <a:normAutofit/>
          </a:bodyPr>
          <a:lstStyle/>
          <a:p>
            <a:r>
              <a:rPr lang="en-US" sz="2000" b="1" dirty="0">
                <a:solidFill>
                  <a:schemeClr val="tx1"/>
                </a:solidFill>
              </a:rPr>
              <a:t>Correlation, Dependence, and Causation</a:t>
            </a:r>
          </a:p>
        </p:txBody>
      </p:sp>
      <p:sp>
        <p:nvSpPr>
          <p:cNvPr id="28" name="Rectangle 27">
            <a:extLst>
              <a:ext uri="{FF2B5EF4-FFF2-40B4-BE49-F238E27FC236}">
                <a16:creationId xmlns:a16="http://schemas.microsoft.com/office/drawing/2014/main" id="{F0C35A6C-25C5-491C-99D6-2E3B90F81407}"/>
              </a:ext>
            </a:extLst>
          </p:cNvPr>
          <p:cNvSpPr/>
          <p:nvPr/>
        </p:nvSpPr>
        <p:spPr>
          <a:xfrm>
            <a:off x="359182" y="2015683"/>
            <a:ext cx="8425633" cy="369332"/>
          </a:xfrm>
          <a:prstGeom prst="rect">
            <a:avLst/>
          </a:prstGeom>
        </p:spPr>
        <p:txBody>
          <a:bodyPr wrap="square">
            <a:spAutoFit/>
          </a:bodyPr>
          <a:lstStyle/>
          <a:p>
            <a:pPr algn="ctr"/>
            <a:r>
              <a:rPr lang="en-US" dirty="0"/>
              <a:t>Correlations could be linear or non-linear</a:t>
            </a:r>
          </a:p>
        </p:txBody>
      </p:sp>
      <p:pic>
        <p:nvPicPr>
          <p:cNvPr id="4" name="Picture 3" descr="Diagram, engineering drawing&#10;&#10;Description automatically generated">
            <a:extLst>
              <a:ext uri="{FF2B5EF4-FFF2-40B4-BE49-F238E27FC236}">
                <a16:creationId xmlns:a16="http://schemas.microsoft.com/office/drawing/2014/main" id="{BBD18769-82E6-4DB1-A3CD-94E63ED6EC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328" y="2682256"/>
            <a:ext cx="7911342" cy="3612846"/>
          </a:xfrm>
          <a:prstGeom prst="rect">
            <a:avLst/>
          </a:prstGeom>
        </p:spPr>
      </p:pic>
      <p:sp>
        <p:nvSpPr>
          <p:cNvPr id="7" name="Rectangle 6">
            <a:extLst>
              <a:ext uri="{FF2B5EF4-FFF2-40B4-BE49-F238E27FC236}">
                <a16:creationId xmlns:a16="http://schemas.microsoft.com/office/drawing/2014/main" id="{263F04CA-9678-4110-AFE6-E5B0400B0FFD}"/>
              </a:ext>
            </a:extLst>
          </p:cNvPr>
          <p:cNvSpPr/>
          <p:nvPr/>
        </p:nvSpPr>
        <p:spPr>
          <a:xfrm>
            <a:off x="359181" y="733367"/>
            <a:ext cx="8425633" cy="1477328"/>
          </a:xfrm>
          <a:prstGeom prst="rect">
            <a:avLst/>
          </a:prstGeom>
        </p:spPr>
        <p:txBody>
          <a:bodyPr wrap="square">
            <a:spAutoFit/>
          </a:bodyPr>
          <a:lstStyle/>
          <a:p>
            <a:pPr algn="ctr"/>
            <a:r>
              <a:rPr lang="en-US" dirty="0"/>
              <a:t>Correlation is a statistical concept, typically quantified by a real number between -1 and 1, that represents the amount of co-variation of two random variables with each other. </a:t>
            </a:r>
          </a:p>
          <a:p>
            <a:pPr algn="ctr"/>
            <a:r>
              <a:rPr lang="en-US" b="1" dirty="0"/>
              <a:t>NOTE: Correlation does NOT necessitate causation. </a:t>
            </a:r>
          </a:p>
          <a:p>
            <a:pPr algn="ctr"/>
            <a:r>
              <a:rPr lang="en-US" b="1" dirty="0"/>
              <a:t>NOTE: Lack of (linear) correlation does NOT mean independence. </a:t>
            </a:r>
          </a:p>
          <a:p>
            <a:pPr algn="ctr"/>
            <a:endParaRPr lang="en-US" b="1" dirty="0"/>
          </a:p>
        </p:txBody>
      </p:sp>
    </p:spTree>
    <p:extLst>
      <p:ext uri="{BB962C8B-B14F-4D97-AF65-F5344CB8AC3E}">
        <p14:creationId xmlns:p14="http://schemas.microsoft.com/office/powerpoint/2010/main" val="2775284057"/>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1"/>
          <p:cNvSpPr>
            <a:spLocks noGrp="1"/>
          </p:cNvSpPr>
          <p:nvPr>
            <p:ph type="title"/>
          </p:nvPr>
        </p:nvSpPr>
        <p:spPr>
          <a:xfrm>
            <a:off x="152400" y="228601"/>
            <a:ext cx="8839200" cy="468875"/>
          </a:xfrm>
        </p:spPr>
        <p:txBody>
          <a:bodyPr>
            <a:normAutofit/>
          </a:bodyPr>
          <a:lstStyle/>
          <a:p>
            <a:r>
              <a:rPr lang="en-US" sz="2000" b="1" dirty="0">
                <a:solidFill>
                  <a:schemeClr val="tx1"/>
                </a:solidFill>
              </a:rPr>
              <a:t>Correlation, Dependence, and Causation</a:t>
            </a:r>
          </a:p>
        </p:txBody>
      </p:sp>
      <p:sp>
        <p:nvSpPr>
          <p:cNvPr id="28" name="Rectangle 27">
            <a:extLst>
              <a:ext uri="{FF2B5EF4-FFF2-40B4-BE49-F238E27FC236}">
                <a16:creationId xmlns:a16="http://schemas.microsoft.com/office/drawing/2014/main" id="{F0C35A6C-25C5-491C-99D6-2E3B90F81407}"/>
              </a:ext>
            </a:extLst>
          </p:cNvPr>
          <p:cNvSpPr/>
          <p:nvPr/>
        </p:nvSpPr>
        <p:spPr>
          <a:xfrm>
            <a:off x="359182" y="2015683"/>
            <a:ext cx="8425633" cy="369332"/>
          </a:xfrm>
          <a:prstGeom prst="rect">
            <a:avLst/>
          </a:prstGeom>
        </p:spPr>
        <p:txBody>
          <a:bodyPr wrap="square">
            <a:spAutoFit/>
          </a:bodyPr>
          <a:lstStyle/>
          <a:p>
            <a:pPr algn="ctr"/>
            <a:r>
              <a:rPr lang="en-US" dirty="0"/>
              <a:t>Correlations could be linear or non-linear</a:t>
            </a:r>
          </a:p>
        </p:txBody>
      </p:sp>
      <p:sp>
        <p:nvSpPr>
          <p:cNvPr id="7" name="Rectangle 6">
            <a:extLst>
              <a:ext uri="{FF2B5EF4-FFF2-40B4-BE49-F238E27FC236}">
                <a16:creationId xmlns:a16="http://schemas.microsoft.com/office/drawing/2014/main" id="{263F04CA-9678-4110-AFE6-E5B0400B0FFD}"/>
              </a:ext>
            </a:extLst>
          </p:cNvPr>
          <p:cNvSpPr/>
          <p:nvPr/>
        </p:nvSpPr>
        <p:spPr>
          <a:xfrm>
            <a:off x="359181" y="733367"/>
            <a:ext cx="8425633" cy="1200329"/>
          </a:xfrm>
          <a:prstGeom prst="rect">
            <a:avLst/>
          </a:prstGeom>
        </p:spPr>
        <p:txBody>
          <a:bodyPr wrap="square">
            <a:spAutoFit/>
          </a:bodyPr>
          <a:lstStyle/>
          <a:p>
            <a:pPr algn="ctr"/>
            <a:r>
              <a:rPr lang="en-US" dirty="0"/>
              <a:t>Correlation is a statistical concept, typically quantified by a real number between -1 and 1, that represents the amount of co-variation of two random variables with each other. </a:t>
            </a:r>
          </a:p>
          <a:p>
            <a:pPr algn="ctr"/>
            <a:endParaRPr lang="en-US" dirty="0"/>
          </a:p>
          <a:p>
            <a:pPr algn="ctr"/>
            <a:r>
              <a:rPr lang="en-US" b="1" dirty="0"/>
              <a:t>NOTE: Correlation does NOT necessitate causation. </a:t>
            </a:r>
          </a:p>
        </p:txBody>
      </p:sp>
      <p:pic>
        <p:nvPicPr>
          <p:cNvPr id="6" name="Picture 5" descr="Chart, line chart&#10;&#10;Description automatically generated">
            <a:extLst>
              <a:ext uri="{FF2B5EF4-FFF2-40B4-BE49-F238E27FC236}">
                <a16:creationId xmlns:a16="http://schemas.microsoft.com/office/drawing/2014/main" id="{71FCB811-D6AC-421E-99B4-97B210D2DF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82644" y="2295369"/>
            <a:ext cx="5778706" cy="4334030"/>
          </a:xfrm>
          <a:prstGeom prst="rect">
            <a:avLst/>
          </a:prstGeom>
        </p:spPr>
      </p:pic>
    </p:spTree>
    <p:extLst>
      <p:ext uri="{BB962C8B-B14F-4D97-AF65-F5344CB8AC3E}">
        <p14:creationId xmlns:p14="http://schemas.microsoft.com/office/powerpoint/2010/main" val="196321269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1"/>
          <p:cNvSpPr>
            <a:spLocks noGrp="1"/>
          </p:cNvSpPr>
          <p:nvPr>
            <p:ph type="title"/>
          </p:nvPr>
        </p:nvSpPr>
        <p:spPr>
          <a:xfrm>
            <a:off x="152400" y="228601"/>
            <a:ext cx="8839200" cy="468875"/>
          </a:xfrm>
        </p:spPr>
        <p:txBody>
          <a:bodyPr>
            <a:normAutofit/>
          </a:bodyPr>
          <a:lstStyle/>
          <a:p>
            <a:r>
              <a:rPr lang="en-US" sz="2000" b="1" dirty="0">
                <a:solidFill>
                  <a:schemeClr val="tx1"/>
                </a:solidFill>
              </a:rPr>
              <a:t>Time Series Data</a:t>
            </a:r>
          </a:p>
        </p:txBody>
      </p:sp>
      <p:sp>
        <p:nvSpPr>
          <p:cNvPr id="6" name="Rectangle 5">
            <a:extLst>
              <a:ext uri="{FF2B5EF4-FFF2-40B4-BE49-F238E27FC236}">
                <a16:creationId xmlns:a16="http://schemas.microsoft.com/office/drawing/2014/main" id="{532C7573-93EE-4EA8-AE74-A5E3C7D793AB}"/>
              </a:ext>
            </a:extLst>
          </p:cNvPr>
          <p:cNvSpPr/>
          <p:nvPr/>
        </p:nvSpPr>
        <p:spPr>
          <a:xfrm>
            <a:off x="152399" y="781938"/>
            <a:ext cx="8425633" cy="646331"/>
          </a:xfrm>
          <a:prstGeom prst="rect">
            <a:avLst/>
          </a:prstGeom>
        </p:spPr>
        <p:txBody>
          <a:bodyPr wrap="square">
            <a:spAutoFit/>
          </a:bodyPr>
          <a:lstStyle/>
          <a:p>
            <a:r>
              <a:rPr lang="en-US" dirty="0"/>
              <a:t>A </a:t>
            </a:r>
            <a:r>
              <a:rPr lang="en-US" b="1" dirty="0"/>
              <a:t>time series</a:t>
            </a:r>
            <a:r>
              <a:rPr lang="en-US" dirty="0"/>
              <a:t> is a series of observations that are sequentially ordered. Typically, this is order is determined by the times of observations. </a:t>
            </a:r>
          </a:p>
        </p:txBody>
      </p:sp>
      <p:sp>
        <p:nvSpPr>
          <p:cNvPr id="28" name="Rectangle 27">
            <a:extLst>
              <a:ext uri="{FF2B5EF4-FFF2-40B4-BE49-F238E27FC236}">
                <a16:creationId xmlns:a16="http://schemas.microsoft.com/office/drawing/2014/main" id="{F0C35A6C-25C5-491C-99D6-2E3B90F81407}"/>
              </a:ext>
            </a:extLst>
          </p:cNvPr>
          <p:cNvSpPr/>
          <p:nvPr/>
        </p:nvSpPr>
        <p:spPr>
          <a:xfrm>
            <a:off x="359182" y="1512731"/>
            <a:ext cx="8425633" cy="369332"/>
          </a:xfrm>
          <a:prstGeom prst="rect">
            <a:avLst/>
          </a:prstGeom>
        </p:spPr>
        <p:txBody>
          <a:bodyPr wrap="square">
            <a:spAutoFit/>
          </a:bodyPr>
          <a:lstStyle/>
          <a:p>
            <a:pPr algn="ctr"/>
            <a:r>
              <a:rPr lang="en-US" dirty="0"/>
              <a:t>Example Time Series data: Global temperature increase with an </a:t>
            </a:r>
            <a:r>
              <a:rPr lang="en-US" b="1" dirty="0"/>
              <a:t>exponential</a:t>
            </a:r>
            <a:r>
              <a:rPr lang="en-US" dirty="0"/>
              <a:t> hypothesis</a:t>
            </a:r>
          </a:p>
        </p:txBody>
      </p:sp>
      <p:pic>
        <p:nvPicPr>
          <p:cNvPr id="9" name="Picture 8" descr="Chart, line chart&#10;&#10;Description automatically generated">
            <a:extLst>
              <a:ext uri="{FF2B5EF4-FFF2-40B4-BE49-F238E27FC236}">
                <a16:creationId xmlns:a16="http://schemas.microsoft.com/office/drawing/2014/main" id="{3E1F11B1-C04E-47AA-9716-6D5499935F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86836" y="1851655"/>
            <a:ext cx="6370326" cy="4777744"/>
          </a:xfrm>
          <a:prstGeom prst="rect">
            <a:avLst/>
          </a:prstGeom>
        </p:spPr>
      </p:pic>
    </p:spTree>
    <p:extLst>
      <p:ext uri="{BB962C8B-B14F-4D97-AF65-F5344CB8AC3E}">
        <p14:creationId xmlns:p14="http://schemas.microsoft.com/office/powerpoint/2010/main" val="125251378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1"/>
          <p:cNvSpPr>
            <a:spLocks noGrp="1"/>
          </p:cNvSpPr>
          <p:nvPr>
            <p:ph type="title"/>
          </p:nvPr>
        </p:nvSpPr>
        <p:spPr>
          <a:xfrm>
            <a:off x="152400" y="228601"/>
            <a:ext cx="8839200" cy="468875"/>
          </a:xfrm>
        </p:spPr>
        <p:txBody>
          <a:bodyPr>
            <a:normAutofit/>
          </a:bodyPr>
          <a:lstStyle/>
          <a:p>
            <a:r>
              <a:rPr lang="en-US" sz="2000" b="1" dirty="0">
                <a:solidFill>
                  <a:schemeClr val="tx1"/>
                </a:solidFill>
              </a:rPr>
              <a:t>Correlation, Dependence, and Causation</a:t>
            </a:r>
          </a:p>
        </p:txBody>
      </p:sp>
      <p:sp>
        <p:nvSpPr>
          <p:cNvPr id="6" name="Rectangle 5">
            <a:extLst>
              <a:ext uri="{FF2B5EF4-FFF2-40B4-BE49-F238E27FC236}">
                <a16:creationId xmlns:a16="http://schemas.microsoft.com/office/drawing/2014/main" id="{532C7573-93EE-4EA8-AE74-A5E3C7D793AB}"/>
              </a:ext>
            </a:extLst>
          </p:cNvPr>
          <p:cNvSpPr/>
          <p:nvPr/>
        </p:nvSpPr>
        <p:spPr>
          <a:xfrm>
            <a:off x="359181" y="733367"/>
            <a:ext cx="8425633" cy="1200329"/>
          </a:xfrm>
          <a:prstGeom prst="rect">
            <a:avLst/>
          </a:prstGeom>
        </p:spPr>
        <p:txBody>
          <a:bodyPr wrap="square">
            <a:spAutoFit/>
          </a:bodyPr>
          <a:lstStyle/>
          <a:p>
            <a:pPr algn="ctr"/>
            <a:r>
              <a:rPr lang="en-US" dirty="0"/>
              <a:t>Correlation is a statistical concept, typically quantified by a real number between -1 and 1, that represents the amount of co-variation of two random variables with each other. </a:t>
            </a:r>
          </a:p>
          <a:p>
            <a:pPr algn="ctr"/>
            <a:endParaRPr lang="en-US" dirty="0"/>
          </a:p>
          <a:p>
            <a:pPr algn="ctr"/>
            <a:r>
              <a:rPr lang="en-US" b="1" dirty="0"/>
              <a:t>NOTE: Correlation does NOT necessitate causation. </a:t>
            </a:r>
          </a:p>
        </p:txBody>
      </p:sp>
      <p:sp>
        <p:nvSpPr>
          <p:cNvPr id="28" name="Rectangle 27">
            <a:extLst>
              <a:ext uri="{FF2B5EF4-FFF2-40B4-BE49-F238E27FC236}">
                <a16:creationId xmlns:a16="http://schemas.microsoft.com/office/drawing/2014/main" id="{F0C35A6C-25C5-491C-99D6-2E3B90F81407}"/>
              </a:ext>
            </a:extLst>
          </p:cNvPr>
          <p:cNvSpPr/>
          <p:nvPr/>
        </p:nvSpPr>
        <p:spPr>
          <a:xfrm>
            <a:off x="359182" y="2007137"/>
            <a:ext cx="8425633" cy="646331"/>
          </a:xfrm>
          <a:prstGeom prst="rect">
            <a:avLst/>
          </a:prstGeom>
        </p:spPr>
        <p:txBody>
          <a:bodyPr wrap="square">
            <a:spAutoFit/>
          </a:bodyPr>
          <a:lstStyle/>
          <a:p>
            <a:pPr algn="ctr"/>
            <a:r>
              <a:rPr lang="en-US" dirty="0"/>
              <a:t>Examples of correlation but no causation: </a:t>
            </a:r>
          </a:p>
          <a:p>
            <a:pPr algn="ctr"/>
            <a:r>
              <a:rPr lang="en-US" dirty="0"/>
              <a:t>Internet Explorer usage and Murder Rate in the US</a:t>
            </a:r>
          </a:p>
        </p:txBody>
      </p:sp>
      <p:pic>
        <p:nvPicPr>
          <p:cNvPr id="3" name="Picture 2" descr="A picture containing chart&#10;&#10;Description automatically generated">
            <a:extLst>
              <a:ext uri="{FF2B5EF4-FFF2-40B4-BE49-F238E27FC236}">
                <a16:creationId xmlns:a16="http://schemas.microsoft.com/office/drawing/2014/main" id="{486A5B2C-017A-4130-B1D5-BBFB11DE4B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70774" y="2800349"/>
            <a:ext cx="6802448" cy="3829050"/>
          </a:xfrm>
          <a:prstGeom prst="rect">
            <a:avLst/>
          </a:prstGeom>
        </p:spPr>
      </p:pic>
    </p:spTree>
    <p:extLst>
      <p:ext uri="{BB962C8B-B14F-4D97-AF65-F5344CB8AC3E}">
        <p14:creationId xmlns:p14="http://schemas.microsoft.com/office/powerpoint/2010/main" val="383099403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1"/>
          <p:cNvSpPr>
            <a:spLocks noGrp="1"/>
          </p:cNvSpPr>
          <p:nvPr>
            <p:ph type="title"/>
          </p:nvPr>
        </p:nvSpPr>
        <p:spPr>
          <a:xfrm>
            <a:off x="152400" y="228601"/>
            <a:ext cx="8839200" cy="468875"/>
          </a:xfrm>
        </p:spPr>
        <p:txBody>
          <a:bodyPr>
            <a:normAutofit/>
          </a:bodyPr>
          <a:lstStyle/>
          <a:p>
            <a:r>
              <a:rPr lang="en-US" sz="2000" b="1" dirty="0">
                <a:solidFill>
                  <a:schemeClr val="tx1"/>
                </a:solidFill>
              </a:rPr>
              <a:t>Correlation, Dependence, and Causation</a:t>
            </a:r>
          </a:p>
        </p:txBody>
      </p:sp>
      <p:sp>
        <p:nvSpPr>
          <p:cNvPr id="6" name="Rectangle 5">
            <a:extLst>
              <a:ext uri="{FF2B5EF4-FFF2-40B4-BE49-F238E27FC236}">
                <a16:creationId xmlns:a16="http://schemas.microsoft.com/office/drawing/2014/main" id="{532C7573-93EE-4EA8-AE74-A5E3C7D793AB}"/>
              </a:ext>
            </a:extLst>
          </p:cNvPr>
          <p:cNvSpPr/>
          <p:nvPr/>
        </p:nvSpPr>
        <p:spPr>
          <a:xfrm>
            <a:off x="535082" y="746217"/>
            <a:ext cx="8073830" cy="369332"/>
          </a:xfrm>
          <a:prstGeom prst="rect">
            <a:avLst/>
          </a:prstGeom>
        </p:spPr>
        <p:txBody>
          <a:bodyPr wrap="square">
            <a:spAutoFit/>
          </a:bodyPr>
          <a:lstStyle/>
          <a:p>
            <a:pPr algn="ctr"/>
            <a:r>
              <a:rPr lang="en-US" b="1" dirty="0"/>
              <a:t>Correlation does NOT necessitate causation. </a:t>
            </a:r>
          </a:p>
        </p:txBody>
      </p:sp>
      <p:sp>
        <p:nvSpPr>
          <p:cNvPr id="28" name="Rectangle 27">
            <a:extLst>
              <a:ext uri="{FF2B5EF4-FFF2-40B4-BE49-F238E27FC236}">
                <a16:creationId xmlns:a16="http://schemas.microsoft.com/office/drawing/2014/main" id="{F0C35A6C-25C5-491C-99D6-2E3B90F81407}"/>
              </a:ext>
            </a:extLst>
          </p:cNvPr>
          <p:cNvSpPr/>
          <p:nvPr/>
        </p:nvSpPr>
        <p:spPr>
          <a:xfrm>
            <a:off x="359181" y="1200424"/>
            <a:ext cx="8425633" cy="369332"/>
          </a:xfrm>
          <a:prstGeom prst="rect">
            <a:avLst/>
          </a:prstGeom>
        </p:spPr>
        <p:txBody>
          <a:bodyPr wrap="square">
            <a:spAutoFit/>
          </a:bodyPr>
          <a:lstStyle/>
          <a:p>
            <a:pPr algn="ctr"/>
            <a:r>
              <a:rPr lang="en-US" dirty="0"/>
              <a:t>Eating more chocolate leads to winning more Nobel Prizes! </a:t>
            </a:r>
            <a:r>
              <a:rPr lang="en-US" b="1" dirty="0"/>
              <a:t>Wrong</a:t>
            </a:r>
            <a:endParaRPr lang="en-US" dirty="0"/>
          </a:p>
        </p:txBody>
      </p:sp>
      <p:pic>
        <p:nvPicPr>
          <p:cNvPr id="8" name="Picture 7" descr="A screenshot of a computer&#10;&#10;Description automatically generated with medium confidence">
            <a:extLst>
              <a:ext uri="{FF2B5EF4-FFF2-40B4-BE49-F238E27FC236}">
                <a16:creationId xmlns:a16="http://schemas.microsoft.com/office/drawing/2014/main" id="{5265DF7A-59C0-43A8-B057-ACD29E6D53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78304" y="1803163"/>
            <a:ext cx="5987386" cy="4915572"/>
          </a:xfrm>
          <a:prstGeom prst="rect">
            <a:avLst/>
          </a:prstGeom>
        </p:spPr>
      </p:pic>
    </p:spTree>
    <p:extLst>
      <p:ext uri="{BB962C8B-B14F-4D97-AF65-F5344CB8AC3E}">
        <p14:creationId xmlns:p14="http://schemas.microsoft.com/office/powerpoint/2010/main" val="29254308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1"/>
          <p:cNvSpPr>
            <a:spLocks noGrp="1"/>
          </p:cNvSpPr>
          <p:nvPr>
            <p:ph type="title"/>
          </p:nvPr>
        </p:nvSpPr>
        <p:spPr>
          <a:xfrm>
            <a:off x="152400" y="228601"/>
            <a:ext cx="8839200" cy="468875"/>
          </a:xfrm>
        </p:spPr>
        <p:txBody>
          <a:bodyPr>
            <a:normAutofit/>
          </a:bodyPr>
          <a:lstStyle/>
          <a:p>
            <a:r>
              <a:rPr lang="en-US" sz="2000" b="1" dirty="0">
                <a:solidFill>
                  <a:schemeClr val="tx1"/>
                </a:solidFill>
              </a:rPr>
              <a:t>Correlation, Dependence, and Causation</a:t>
            </a:r>
          </a:p>
        </p:txBody>
      </p:sp>
      <p:sp>
        <p:nvSpPr>
          <p:cNvPr id="28" name="Rectangle 27">
            <a:extLst>
              <a:ext uri="{FF2B5EF4-FFF2-40B4-BE49-F238E27FC236}">
                <a16:creationId xmlns:a16="http://schemas.microsoft.com/office/drawing/2014/main" id="{F0C35A6C-25C5-491C-99D6-2E3B90F81407}"/>
              </a:ext>
            </a:extLst>
          </p:cNvPr>
          <p:cNvSpPr/>
          <p:nvPr/>
        </p:nvSpPr>
        <p:spPr>
          <a:xfrm>
            <a:off x="359181" y="1200424"/>
            <a:ext cx="8425633" cy="369332"/>
          </a:xfrm>
          <a:prstGeom prst="rect">
            <a:avLst/>
          </a:prstGeom>
        </p:spPr>
        <p:txBody>
          <a:bodyPr wrap="square">
            <a:spAutoFit/>
          </a:bodyPr>
          <a:lstStyle/>
          <a:p>
            <a:pPr algn="ctr"/>
            <a:r>
              <a:rPr lang="en-US" dirty="0"/>
              <a:t>Drinking more milk leads to winning more Nobel Prizes! </a:t>
            </a:r>
            <a:r>
              <a:rPr lang="en-US" b="1" dirty="0"/>
              <a:t>Wrong</a:t>
            </a:r>
          </a:p>
        </p:txBody>
      </p:sp>
      <p:pic>
        <p:nvPicPr>
          <p:cNvPr id="10" name="Picture 9" descr="A screenshot of a computer&#10;&#10;Description automatically generated with medium confidence">
            <a:extLst>
              <a:ext uri="{FF2B5EF4-FFF2-40B4-BE49-F238E27FC236}">
                <a16:creationId xmlns:a16="http://schemas.microsoft.com/office/drawing/2014/main" id="{12400BA0-775E-4C2F-84C6-290D0AA379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213" y="1828801"/>
            <a:ext cx="7571568" cy="4732232"/>
          </a:xfrm>
          <a:prstGeom prst="rect">
            <a:avLst/>
          </a:prstGeom>
        </p:spPr>
      </p:pic>
      <p:sp>
        <p:nvSpPr>
          <p:cNvPr id="12" name="Rectangle 11">
            <a:extLst>
              <a:ext uri="{FF2B5EF4-FFF2-40B4-BE49-F238E27FC236}">
                <a16:creationId xmlns:a16="http://schemas.microsoft.com/office/drawing/2014/main" id="{E2F97095-D916-47F2-A6BF-C70B49605709}"/>
              </a:ext>
            </a:extLst>
          </p:cNvPr>
          <p:cNvSpPr/>
          <p:nvPr/>
        </p:nvSpPr>
        <p:spPr>
          <a:xfrm>
            <a:off x="535082" y="746217"/>
            <a:ext cx="8073830" cy="369332"/>
          </a:xfrm>
          <a:prstGeom prst="rect">
            <a:avLst/>
          </a:prstGeom>
        </p:spPr>
        <p:txBody>
          <a:bodyPr wrap="square">
            <a:spAutoFit/>
          </a:bodyPr>
          <a:lstStyle/>
          <a:p>
            <a:pPr algn="ctr"/>
            <a:r>
              <a:rPr lang="en-US" b="1" dirty="0"/>
              <a:t>Correlation does NOT necessitate causation. </a:t>
            </a:r>
          </a:p>
        </p:txBody>
      </p:sp>
    </p:spTree>
    <p:extLst>
      <p:ext uri="{BB962C8B-B14F-4D97-AF65-F5344CB8AC3E}">
        <p14:creationId xmlns:p14="http://schemas.microsoft.com/office/powerpoint/2010/main" val="268717153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OUTPUTDPI" val="1200"/>
  <p:tag name="ORIGINALHEIGHT" val="674.9156"/>
  <p:tag name="ORIGINALWIDTH" val="3178.853"/>
  <p:tag name="LATEXADDIN" val="\documentclass{article}&#10;\usepackage{amsfonts,amssymb,amsbsy,amsmath}&#10;\pagestyle{empty}&#10;\begin{document}&#10;&#10;\begin{eqnarray}&#10;A  &amp;\equiv&amp; {\text{The probability that I will go to school today}} \nonumber \\&#10;B  &amp;\equiv&amp; {\text{The probability that it will rain today}} \nonumber \\&#10;C  &amp;\equiv&amp; {\text{The probability that the sky will be sunny today}} \nonumber \\&#10;C'  &amp;\equiv&amp; {\text{The probability that the sky will be cloudy today}} \nonumber&#10;\end{eqnarray}&#10;&#10;\end{document}"/>
  <p:tag name="IGUANATEXSIZE" val="20"/>
  <p:tag name="IGUANATEXCURSOR" val="441"/>
  <p:tag name="TRANSPARENCY" val="True"/>
  <p:tag name="FILENAME" val=""/>
  <p:tag name="LATEXENGINEID" val="0"/>
  <p:tag name="TEMPFOLDER" val="c:\temp\"/>
  <p:tag name="LATEXFORMHEIGHT" val="486.75"/>
  <p:tag name="LATEXFORMWIDTH" val="885.75"/>
  <p:tag name="LATEXFORMWRAP" val="True"/>
  <p:tag name="BITMAPVECTOR" val="0"/>
</p:tagLst>
</file>

<file path=ppt/tags/tag2.xml><?xml version="1.0" encoding="utf-8"?>
<p:tagLst xmlns:a="http://schemas.openxmlformats.org/drawingml/2006/main" xmlns:r="http://schemas.openxmlformats.org/officeDocument/2006/relationships" xmlns:p="http://schemas.openxmlformats.org/presentationml/2006/main">
  <p:tag name="OUTPUTDPI" val="1200"/>
  <p:tag name="ORIGINALHEIGHT" val="674.9156"/>
  <p:tag name="ORIGINALWIDTH" val="3178.853"/>
  <p:tag name="LATEXADDIN" val="\documentclass{article}&#10;\usepackage{amsfonts,amssymb,amsbsy,amsmath}&#10;\pagestyle{empty}&#10;\begin{document}&#10;&#10;\begin{eqnarray}&#10;A  &amp;\equiv&amp; {\text{The probability that I will go to school today}} \nonumber \\&#10;B  &amp;\equiv&amp; {\text{The probability that it will rain today}} \nonumber \\&#10;C  &amp;\equiv&amp; {\text{The probability that the sky will be sunny today}} \nonumber \\&#10;C'  &amp;\equiv&amp; {\text{The probability that the sky will be cloudy today}} \nonumber&#10;\end{eqnarray}&#10;&#10;\end{document}"/>
  <p:tag name="IGUANATEXSIZE" val="20"/>
  <p:tag name="IGUANATEXCURSOR" val="441"/>
  <p:tag name="TRANSPARENCY" val="True"/>
  <p:tag name="FILENAME" val=""/>
  <p:tag name="LATEXENGINEID" val="0"/>
  <p:tag name="TEMPFOLDER" val="c:\temp\"/>
  <p:tag name="LATEXFORMHEIGHT" val="486.75"/>
  <p:tag name="LATEXFORMWIDTH" val="885.75"/>
  <p:tag name="LATEXFORMWRAP" val="True"/>
  <p:tag name="BITMAPVECTOR" val="0"/>
</p:tagLst>
</file>

<file path=ppt/tags/tag3.xml><?xml version="1.0" encoding="utf-8"?>
<p:tagLst xmlns:a="http://schemas.openxmlformats.org/drawingml/2006/main" xmlns:r="http://schemas.openxmlformats.org/officeDocument/2006/relationships" xmlns:p="http://schemas.openxmlformats.org/presentationml/2006/main">
  <p:tag name="ORIGINALHEIGHT" val="341.9572"/>
  <p:tag name="ORIGINALWIDTH" val="1757.78"/>
  <p:tag name="OUTPUTDPI" val="1200"/>
  <p:tag name="LATEXADDIN" val="\documentclass{article}&#10;\usepackage{amsmath}&#10;\pagestyle{empty}&#10;&#10;\newcommand{\diff}{\operatorname{d}}&#10;\newcommand{\sline}{\rule{\textwidth}{1pt}}&#10;\newcommand{\bs}{\boldsymbol}&#10;&#10;\begin{document}&#10;&#10;\begin{equation}&#10;P(A|B) = \frac{AB}{B} = \frac{\frac{AB}{U}}{\frac{B}{U}} = \frac{P(AB)}{P(B)} \nonumber&#10;\end{equation}&#10;&#10;\end{document}"/>
  <p:tag name="IGUANATEXSIZE" val="20"/>
  <p:tag name="IGUANATEXCURSOR" val="287"/>
  <p:tag name="TRANSPARENCY" val="True"/>
  <p:tag name="FILENAME" val=""/>
  <p:tag name="INPUTTYPE" val="0"/>
  <p:tag name="LATEXENGINEID" val="0"/>
  <p:tag name="TEMPFOLDER" val="c:\temp\"/>
</p:tagLst>
</file>

<file path=ppt/tags/tag4.xml><?xml version="1.0" encoding="utf-8"?>
<p:tagLst xmlns:a="http://schemas.openxmlformats.org/drawingml/2006/main" xmlns:r="http://schemas.openxmlformats.org/officeDocument/2006/relationships" xmlns:p="http://schemas.openxmlformats.org/presentationml/2006/main">
  <p:tag name="ORIGINALHEIGHT" val="341.9572"/>
  <p:tag name="ORIGINALWIDTH" val="1757.78"/>
  <p:tag name="OUTPUTDPI" val="1200"/>
  <p:tag name="LATEXADDIN" val="\documentclass{article}&#10;\usepackage{amsmath}&#10;\pagestyle{empty}&#10;&#10;\newcommand{\diff}{\operatorname{d}}&#10;\newcommand{\sline}{\rule{\textwidth}{1pt}}&#10;\newcommand{\bs}{\boldsymbol}&#10;&#10;\begin{document}&#10;&#10;\begin{equation}&#10;P(B|A) = \frac{AB}{A} = \frac{\frac{AB}{U}}{\frac{A}{U}} = \frac{P(AB)}{P(A)} \nonumber&#10;\end{equation}&#10;&#10;\end{document}"/>
  <p:tag name="IGUANATEXSIZE" val="20"/>
  <p:tag name="IGUANATEXCURSOR" val="231"/>
  <p:tag name="TRANSPARENCY" val="True"/>
  <p:tag name="FILENAME" val=""/>
  <p:tag name="INPUTTYPE" val="0"/>
  <p:tag name="LATEXENGINEID" val="0"/>
  <p:tag name="TEMPFOLDER" val="c:\temp\"/>
</p:tagLst>
</file>

<file path=ppt/tags/tag5.xml><?xml version="1.0" encoding="utf-8"?>
<p:tagLst xmlns:a="http://schemas.openxmlformats.org/drawingml/2006/main" xmlns:r="http://schemas.openxmlformats.org/officeDocument/2006/relationships" xmlns:p="http://schemas.openxmlformats.org/presentationml/2006/main">
  <p:tag name="ORIGINALHEIGHT" val="293.9632"/>
  <p:tag name="ORIGINALWIDTH" val="1316.835"/>
  <p:tag name="OUTPUTDPI" val="1200"/>
  <p:tag name="LATEXADDIN" val="\documentclass{article}&#10;\usepackage{amsmath}&#10;\pagestyle{empty}&#10;&#10;\newcommand{\diff}{\operatorname{d}}&#10;\newcommand{\sline}{\rule{\textwidth}{1pt}}&#10;\newcommand{\bs}{\boldsymbol}&#10;&#10;\begin{document}&#10;&#10;\begin{equation}&#10;P(B|A) = \frac{P(A|B)P(B)}{P(A)} \nonumber&#10;\end{equation}&#10;&#10;\end{document}"/>
  <p:tag name="IGUANATEXSIZE" val="20"/>
  <p:tag name="IGUANATEXCURSOR" val="242"/>
  <p:tag name="TRANSPARENCY" val="True"/>
  <p:tag name="FILENAME" val=""/>
  <p:tag name="INPUTTYPE" val="0"/>
  <p:tag name="LATEXENGINEID" val="0"/>
  <p:tag name="TEMPFOLDER" val="c:\temp\"/>
</p:tagLst>
</file>

<file path=ppt/tags/tag6.xml><?xml version="1.0" encoding="utf-8"?>
<p:tagLst xmlns:a="http://schemas.openxmlformats.org/drawingml/2006/main" xmlns:r="http://schemas.openxmlformats.org/officeDocument/2006/relationships" xmlns:p="http://schemas.openxmlformats.org/presentationml/2006/main">
  <p:tag name="ORIGINALHEIGHT" val="261.75"/>
  <p:tag name="ORIGINALWIDTH" val="759"/>
  <p:tag name="OUTPUTDPI" val="1200"/>
  <p:tag name="LATEXADDIN" val="\documentclass{article}&#10;\usepackage{amsmath}&#10;\pagestyle{empty}&#10;&#10;\newcommand{\diff}{\operatorname{d}}&#10;\newcommand{\sline}{\rule{\textwidth}{1pt}}&#10;\newcommand{\bs}{\boldsymbol}&#10;&#10;\begin{document}&#10;&#10;\begin{equation}&#10;P(AB)=\frac{AB}{U} \nonumber&#10;\end{equation}&#10;&#10;\end{document}"/>
  <p:tag name="IGUANATEXSIZE" val="20"/>
  <p:tag name="IGUANATEXCURSOR" val="214"/>
  <p:tag name="TRANSPARENCY" val="True"/>
  <p:tag name="FILENAME" val=""/>
  <p:tag name="INPUTTYPE" val="0"/>
  <p:tag name="LATEXENGINEID" val="0"/>
  <p:tag name="TEMPFOLDER" val="c:\temp\"/>
</p:tagLst>
</file>

<file path=ppt/tags/tag7.xml><?xml version="1.0" encoding="utf-8"?>
<p:tagLst xmlns:a="http://schemas.openxmlformats.org/drawingml/2006/main" xmlns:r="http://schemas.openxmlformats.org/officeDocument/2006/relationships" xmlns:p="http://schemas.openxmlformats.org/presentationml/2006/main">
  <p:tag name="ORIGINALHEIGHT" val="257.2179"/>
  <p:tag name="ORIGINALWIDTH" val="572.9283"/>
  <p:tag name="OUTPUTDPI" val="1200"/>
  <p:tag name="LATEXADDIN" val="\documentclass{article}&#10;\usepackage{amsmath}&#10;\pagestyle{empty}&#10;&#10;\newcommand{\diff}{\operatorname{d}}&#10;\newcommand{\sline}{\rule{\textwidth}{1pt}}&#10;\newcommand{\bs}{\boldsymbol}&#10;&#10;\begin{document}&#10;&#10;\begin{equation}&#10;P(B)=\frac{B}{U} \nonumber&#10;\end{equation}&#10;&#10;\end{document}"/>
  <p:tag name="IGUANATEXSIZE" val="20"/>
  <p:tag name="IGUANATEXCURSOR" val="223"/>
  <p:tag name="TRANSPARENCY" val="True"/>
  <p:tag name="FILENAME" val=""/>
  <p:tag name="INPUTTYPE" val="0"/>
  <p:tag name="LATEXENGINEID" val="0"/>
  <p:tag name="TEMPFOLDER" val="c:\temp\"/>
</p:tagLst>
</file>

<file path=ppt/tags/tag8.xml><?xml version="1.0" encoding="utf-8"?>
<p:tagLst xmlns:a="http://schemas.openxmlformats.org/drawingml/2006/main" xmlns:r="http://schemas.openxmlformats.org/officeDocument/2006/relationships" xmlns:p="http://schemas.openxmlformats.org/presentationml/2006/main">
  <p:tag name="ORIGINALHEIGHT" val="261.7173"/>
  <p:tag name="ORIGINALWIDTH" val="562.4297"/>
  <p:tag name="OUTPUTDPI" val="1200"/>
  <p:tag name="LATEXADDIN" val="\documentclass{article}&#10;\usepackage{amsmath}&#10;\pagestyle{empty}&#10;&#10;\newcommand{\diff}{\operatorname{d}}&#10;\newcommand{\sline}{\rule{\textwidth}{1pt}}&#10;\newcommand{\bs}{\boldsymbol}&#10;&#10;\begin{document}&#10;&#10;\begin{equation}&#10;P(A)=\frac{A}{U} \nonumber&#10;\end{equation}&#10;&#10;\end{document}"/>
  <p:tag name="IGUANATEXSIZE" val="20"/>
  <p:tag name="IGUANATEXCURSOR" val="237"/>
  <p:tag name="TRANSPARENCY" val="True"/>
  <p:tag name="FILENAME" val=""/>
  <p:tag name="INPUTTYPE" val="0"/>
  <p:tag name="LATEXENGINEID" val="0"/>
  <p:tag name="TEMPFOLDER" val="c:\temp\"/>
</p:tagLst>
</file>

<file path=ppt/tags/tag9.xml><?xml version="1.0" encoding="utf-8"?>
<p:tagLst xmlns:a="http://schemas.openxmlformats.org/drawingml/2006/main" xmlns:r="http://schemas.openxmlformats.org/officeDocument/2006/relationships" xmlns:p="http://schemas.openxmlformats.org/presentationml/2006/main">
  <p:tag name="ORIGINALHEIGHT" val="293.9632"/>
  <p:tag name="ORIGINALWIDTH" val="1774.278"/>
  <p:tag name="OUTPUTDPI" val="1200"/>
  <p:tag name="LATEXADDIN" val="\documentclass{article}&#10;\usepackage{amsmath}&#10;\usepackage{xcolor}&#10;\pagestyle{empty}&#10;&#10;\newcommand{\diff}{\operatorname{d}}&#10;\newcommand{\sline}{\rule{\textwidth}{1pt}}&#10;\newcommand{\bs}{\boldsymbol}&#10;&#10;\begin{document}&#10;&#10;\begin{equation}&#10;\pi(\bs\theta|\mathcal{D},M) = \frac&#10;{ \textcolor{blue}{\pi(\mathcal{D}|\bs\theta,M)} ~ \textcolor{red}{\pi(\bs\theta|M)} }&#10;{ \pi(\mathcal{D}|M)}&#10;\nonumber&#10;\end{equation}&#10;&#10;\end{document}"/>
  <p:tag name="IGUANATEXSIZE" val="20"/>
  <p:tag name="IGUANATEXCURSOR" val="352"/>
  <p:tag name="TRANSPARENCY" val="True"/>
  <p:tag name="FILENAME" val=""/>
  <p:tag name="INPUTTYPE" val="0"/>
  <p:tag name="LATEXENGINEID" val="0"/>
  <p:tag name="TEMPFOLDER" val="c:\temp\"/>
</p:tagLst>
</file>

<file path=ppt/tags/tag10.xml><?xml version="1.0" encoding="utf-8"?>
<p:tagLst xmlns:a="http://schemas.openxmlformats.org/drawingml/2006/main" xmlns:r="http://schemas.openxmlformats.org/officeDocument/2006/relationships" xmlns:p="http://schemas.openxmlformats.org/presentationml/2006/main">
  <p:tag name="ORIGINALHEIGHT" val="294"/>
  <p:tag name="ORIGINALWIDTH" val="2133"/>
  <p:tag name="OUTPUTDPI" val="1200"/>
  <p:tag name="LATEXADDIN" val="\documentclass{article}&#10;\usepackage{amsmath}&#10;\usepackage{nicefrac}&#10;\pagestyle{empty}&#10;&#10;\newcommand{\diff}{\operatorname{d}}&#10;\newcommand{\sline}{\rule{\textwidth}{1pt}}&#10;\newcommand{\bs}{\boldsymbol}&#10;&#10;\begin{document}&#10;&#10;\begin{equation}&#10;P(C2|H3,G1)&#10;= \frac{P(H3|C2,G1)~P(C2)}{P(H3|G1)}&#10;\nonumber&#10;\end{equation}&#10;&#10;\end{document}"/>
  <p:tag name="IGUANATEXSIZE" val="20"/>
  <p:tag name="IGUANATEXCURSOR" val="282"/>
  <p:tag name="TRANSPARENCY" val="True"/>
  <p:tag name="FILENAME" val=""/>
  <p:tag name="INPUTTYPE" val="0"/>
  <p:tag name="LATEXENGINEID" val="0"/>
  <p:tag name="TEMPFOLDER" val="c:\temp\"/>
</p:tagLst>
</file>

<file path=ppt/tags/tag11.xml><?xml version="1.0" encoding="utf-8"?>
<p:tagLst xmlns:a="http://schemas.openxmlformats.org/drawingml/2006/main" xmlns:r="http://schemas.openxmlformats.org/officeDocument/2006/relationships" xmlns:p="http://schemas.openxmlformats.org/presentationml/2006/main">
  <p:tag name="ORIGINALHEIGHT" val="293.9632"/>
  <p:tag name="ORIGINALWIDTH" val="2950.881"/>
  <p:tag name="OUTPUTDPI" val="1200"/>
  <p:tag name="LATEXADDIN" val="\documentclass{article}&#10;\usepackage{amsmath}&#10;\usepackage{nicefrac}&#10;\pagestyle{empty}&#10;&#10;\newcommand{\diff}{\operatorname{d}}&#10;\newcommand{\sline}{\rule{\textwidth}{1pt}}&#10;\newcommand{\bs}{\boldsymbol}&#10;&#10;\begin{document}&#10;&#10;\begin{equation}&#10;P(C2|H3,G1)&#10;= \frac{P(H3|C2,G1)~P(C2)}{P(H3|G1)}&#10;= \frac{1\times \nicefrac{1}{3}}{\nicefrac{1}{2}}&#10;=\mathbf{\dfrac{2}{3}}&#10;\nonumber&#10;\end{equation}&#10;&#10;\end{document}"/>
  <p:tag name="IGUANATEXSIZE" val="20"/>
  <p:tag name="IGUANATEXCURSOR" val="265"/>
  <p:tag name="TRANSPARENCY" val="True"/>
  <p:tag name="FILENAME" val=""/>
  <p:tag name="INPUTTYPE" val="0"/>
  <p:tag name="LATEXENGINEID" val="0"/>
  <p:tag name="TEMPFOLDER" val="c:\temp\"/>
</p:tagLst>
</file>

<file path=ppt/tags/tag12.xml><?xml version="1.0" encoding="utf-8"?>
<p:tagLst xmlns:a="http://schemas.openxmlformats.org/drawingml/2006/main" xmlns:r="http://schemas.openxmlformats.org/officeDocument/2006/relationships" xmlns:p="http://schemas.openxmlformats.org/presentationml/2006/main">
  <p:tag name="ORIGINALHEIGHT" val="253.4684"/>
  <p:tag name="ORIGINALWIDTH" val="2747.657"/>
  <p:tag name="OUTPUTDPI" val="1200"/>
  <p:tag name="LATEXADDIN" val="\documentclass{article}&#10;\usepackage{amsmath}&#10;\usepackage{nicefrac}&#10;\pagestyle{empty}&#10;&#10;\newcommand{\diff}{\operatorname{d}}&#10;\newcommand{\sline}{\rule{\textwidth}{1pt}}&#10;\newcommand{\bs}{\boldsymbol}&#10;&#10;\begin{document}&#10;&#10;\begin{equation}&#10;P(C2|G1) = P(C1|G1)= P(C3|G1) = P(C2) = \mathbf{\frac{1}{3}}&#10;\nonumber&#10;\end{equation}&#10;&#10;\end{document}"/>
  <p:tag name="IGUANATEXSIZE" val="20"/>
  <p:tag name="IGUANATEXCURSOR" val="273"/>
  <p:tag name="TRANSPARENCY" val="True"/>
  <p:tag name="FILENAME" val=""/>
  <p:tag name="INPUTTYPE" val="0"/>
  <p:tag name="LATEXENGINEID" val="0"/>
  <p:tag name="TEMPFOLDER" val="c:\temp\"/>
</p:tagLst>
</file>

<file path=ppt/tags/tag13.xml><?xml version="1.0" encoding="utf-8"?>
<p:tagLst xmlns:a="http://schemas.openxmlformats.org/drawingml/2006/main" xmlns:r="http://schemas.openxmlformats.org/officeDocument/2006/relationships" xmlns:p="http://schemas.openxmlformats.org/presentationml/2006/main">
  <p:tag name="ORIGINALHEIGHT" val="124.4844"/>
  <p:tag name="ORIGINALWIDTH" val="1003.375"/>
  <p:tag name="OUTPUTDPI" val="1200"/>
  <p:tag name="LATEXADDIN" val="\documentclass{article}&#10;\usepackage{amsmath}&#10;\usepackage{nicefrac}&#10;\pagestyle{empty}&#10;&#10;\newcommand{\diff}{\operatorname{d}}&#10;\newcommand{\sline}{\rule{\textwidth}{1pt}}&#10;\newcommand{\bs}{\boldsymbol}&#10;&#10;\begin{document}&#10;&#10;\begin{equation}&#10;P(H3|C2,G1) = \mathbf{1}&#10;\nonumber&#10;\end{equation}&#10;&#10;\end{document}"/>
  <p:tag name="IGUANATEXSIZE" val="20"/>
  <p:tag name="IGUANATEXCURSOR" val="243"/>
  <p:tag name="TRANSPARENCY" val="True"/>
  <p:tag name="FILENAME" val=""/>
  <p:tag name="INPUTTYPE" val="0"/>
  <p:tag name="LATEXENGINEID" val="0"/>
  <p:tag name="TEMPFOLDER" val="c:\temp\"/>
</p:tagLst>
</file>

<file path=ppt/tags/tag14.xml><?xml version="1.0" encoding="utf-8"?>
<p:tagLst xmlns:a="http://schemas.openxmlformats.org/drawingml/2006/main" xmlns:r="http://schemas.openxmlformats.org/officeDocument/2006/relationships" xmlns:p="http://schemas.openxmlformats.org/presentationml/2006/main">
  <p:tag name="ORIGINALHEIGHT" val="251.9685"/>
  <p:tag name="ORIGINALWIDTH" val="812.8984"/>
  <p:tag name="OUTPUTDPI" val="1200"/>
  <p:tag name="LATEXADDIN" val="\documentclass{article}&#10;\usepackage{amsmath}&#10;\usepackage{nicefrac}&#10;\pagestyle{empty}&#10;&#10;\newcommand{\diff}{\operatorname{d}}&#10;\newcommand{\sline}{\rule{\textwidth}{1pt}}&#10;\newcommand{\bs}{\boldsymbol}&#10;&#10;\begin{document}&#10;&#10;\begin{equation}&#10;P(H3|G1) = \mathbf{\frac{1}{2}}&#10;\nonumber&#10;\end{equation}&#10;&#10;\end{document}"/>
  <p:tag name="IGUANATEXSIZE" val="20"/>
  <p:tag name="IGUANATEXCURSOR" val="240"/>
  <p:tag name="TRANSPARENCY" val="True"/>
  <p:tag name="FILENAME" val=""/>
  <p:tag name="INPUTTYPE" val="0"/>
  <p:tag name="LATEXENGINEID" val="0"/>
  <p:tag name="TEMPFOLDER" val="c:\temp\"/>
</p:tagLst>
</file>

<file path=ppt/tags/tag15.xml><?xml version="1.0" encoding="utf-8"?>
<p:tagLst xmlns:a="http://schemas.openxmlformats.org/drawingml/2006/main" xmlns:r="http://schemas.openxmlformats.org/officeDocument/2006/relationships" xmlns:p="http://schemas.openxmlformats.org/presentationml/2006/main">
  <p:tag name="ORIGINALHEIGHT" val="293.9632"/>
  <p:tag name="ORIGINALWIDTH" val="2950.881"/>
  <p:tag name="OUTPUTDPI" val="1200"/>
  <p:tag name="LATEXADDIN" val="\documentclass{article}&#10;\usepackage{amsmath}&#10;\usepackage{nicefrac}&#10;\pagestyle{empty}&#10;&#10;\newcommand{\diff}{\operatorname{d}}&#10;\newcommand{\sline}{\rule{\textwidth}{1pt}}&#10;\newcommand{\bs}{\boldsymbol}&#10;&#10;\begin{document}&#10;&#10;\begin{equation}&#10;P(C2|H3,G1)&#10;= \frac{P(H3|C2,G1)~P(C2)}{P(H3|G1)}&#10;= \frac{1\times \nicefrac{1}{3}}{\nicefrac{1}{2}}&#10;=\mathbf{\dfrac{2}{3}}&#10;\nonumber&#10;\end{equation}&#10;&#10;\end{document}"/>
  <p:tag name="IGUANATEXSIZE" val="20"/>
  <p:tag name="IGUANATEXCURSOR" val="265"/>
  <p:tag name="TRANSPARENCY" val="True"/>
  <p:tag name="FILENAME" val=""/>
  <p:tag name="INPUTTYPE" val="0"/>
  <p:tag name="LATEXENGINEID" val="0"/>
  <p:tag name="TEMPFOLDER" val="c:\temp\"/>
</p:tagLst>
</file>

<file path=ppt/tags/tag16.xml><?xml version="1.0" encoding="utf-8"?>
<p:tagLst xmlns:a="http://schemas.openxmlformats.org/drawingml/2006/main" xmlns:r="http://schemas.openxmlformats.org/officeDocument/2006/relationships" xmlns:p="http://schemas.openxmlformats.org/presentationml/2006/main">
  <p:tag name="ORIGINALHEIGHT" val="253.4684"/>
  <p:tag name="ORIGINALWIDTH" val="2747.657"/>
  <p:tag name="OUTPUTDPI" val="1200"/>
  <p:tag name="LATEXADDIN" val="\documentclass{article}&#10;\usepackage{amsmath}&#10;\usepackage{nicefrac}&#10;\pagestyle{empty}&#10;&#10;\newcommand{\diff}{\operatorname{d}}&#10;\newcommand{\sline}{\rule{\textwidth}{1pt}}&#10;\newcommand{\bs}{\boldsymbol}&#10;&#10;\begin{document}&#10;&#10;\begin{equation}&#10;P(C2|G1) = P(C1|G1)= P(C3|G1) = P(C2) = \mathbf{\frac{1}{3}}&#10;\nonumber&#10;\end{equation}&#10;&#10;\end{document}"/>
  <p:tag name="IGUANATEXSIZE" val="20"/>
  <p:tag name="IGUANATEXCURSOR" val="273"/>
  <p:tag name="TRANSPARENCY" val="True"/>
  <p:tag name="FILENAME" val=""/>
  <p:tag name="INPUTTYPE" val="0"/>
  <p:tag name="LATEXENGINEID" val="0"/>
  <p:tag name="TEMPFOLDER" val="c:\temp\"/>
</p:tagLst>
</file>

<file path=ppt/tags/tag17.xml><?xml version="1.0" encoding="utf-8"?>
<p:tagLst xmlns:a="http://schemas.openxmlformats.org/drawingml/2006/main" xmlns:r="http://schemas.openxmlformats.org/officeDocument/2006/relationships" xmlns:p="http://schemas.openxmlformats.org/presentationml/2006/main">
  <p:tag name="ORIGINALHEIGHT" val="124.4844"/>
  <p:tag name="ORIGINALWIDTH" val="1003.375"/>
  <p:tag name="OUTPUTDPI" val="1200"/>
  <p:tag name="LATEXADDIN" val="\documentclass{article}&#10;\usepackage{amsmath}&#10;\usepackage{nicefrac}&#10;\pagestyle{empty}&#10;&#10;\newcommand{\diff}{\operatorname{d}}&#10;\newcommand{\sline}{\rule{\textwidth}{1pt}}&#10;\newcommand{\bs}{\boldsymbol}&#10;&#10;\begin{document}&#10;&#10;\begin{equation}&#10;P(H3|C2,G1) = \mathbf{1}&#10;\nonumber&#10;\end{equation}&#10;&#10;\end{document}"/>
  <p:tag name="IGUANATEXSIZE" val="20"/>
  <p:tag name="IGUANATEXCURSOR" val="243"/>
  <p:tag name="TRANSPARENCY" val="True"/>
  <p:tag name="FILENAME" val=""/>
  <p:tag name="INPUTTYPE" val="0"/>
  <p:tag name="LATEXENGINEID" val="0"/>
  <p:tag name="TEMPFOLDER" val="c:\temp\"/>
</p:tagLst>
</file>

<file path=ppt/tags/tag18.xml><?xml version="1.0" encoding="utf-8"?>
<p:tagLst xmlns:a="http://schemas.openxmlformats.org/drawingml/2006/main" xmlns:r="http://schemas.openxmlformats.org/officeDocument/2006/relationships" xmlns:p="http://schemas.openxmlformats.org/presentationml/2006/main">
  <p:tag name="ORIGINALHEIGHT" val="251.9685"/>
  <p:tag name="ORIGINALWIDTH" val="812.8984"/>
  <p:tag name="OUTPUTDPI" val="1200"/>
  <p:tag name="LATEXADDIN" val="\documentclass{article}&#10;\usepackage{amsmath}&#10;\usepackage{nicefrac}&#10;\pagestyle{empty}&#10;&#10;\newcommand{\diff}{\operatorname{d}}&#10;\newcommand{\sline}{\rule{\textwidth}{1pt}}&#10;\newcommand{\bs}{\boldsymbol}&#10;&#10;\begin{document}&#10;&#10;\begin{equation}&#10;P(H3|G1) = \mathbf{\frac{1}{2}}&#10;\nonumber&#10;\end{equation}&#10;&#10;\end{document}"/>
  <p:tag name="IGUANATEXSIZE" val="20"/>
  <p:tag name="IGUANATEXCURSOR" val="240"/>
  <p:tag name="TRANSPARENCY" val="True"/>
  <p:tag name="FILENAME" val=""/>
  <p:tag name="INPUTTYPE" val="0"/>
  <p:tag name="LATEXENGINEID" val="0"/>
  <p:tag name="TEMPFOLDER" val="c:\temp\"/>
</p:tagLst>
</file>

<file path=ppt/tags/tag19.xml><?xml version="1.0" encoding="utf-8"?>
<p:tagLst xmlns:a="http://schemas.openxmlformats.org/drawingml/2006/main" xmlns:r="http://schemas.openxmlformats.org/officeDocument/2006/relationships" xmlns:p="http://schemas.openxmlformats.org/presentationml/2006/main">
  <p:tag name="ORIGINALHEIGHT" val="253.4684"/>
  <p:tag name="ORIGINALWIDTH" val="901.3873"/>
  <p:tag name="OUTPUTDPI" val="1200"/>
  <p:tag name="LATEXADDIN" val="\documentclass{article}&#10;\usepackage{amsmath}&#10;\usepackage{nicefrac}&#10;\pagestyle{empty}&#10;&#10;\newcommand{\diff}{\operatorname{d}}&#10;\newcommand{\sline}{\rule{\textwidth}{1pt}}&#10;\newcommand{\bs}{\boldsymbol}&#10;&#10;\begin{document}&#10;&#10;\begin{equation}&#10;P(C2\cup C3) = \mathbf{\dfrac{2}{3}}&#10;\nonumber&#10;\end{equation}&#10;&#10;\end{document}"/>
  <p:tag name="IGUANATEXSIZE" val="20"/>
  <p:tag name="IGUANATEXCURSOR" val="258"/>
  <p:tag name="TRANSPARENCY" val="True"/>
  <p:tag name="FILENAME" val=""/>
  <p:tag name="INPUTTYPE" val="0"/>
  <p:tag name="LATEXENGINEID" val="0"/>
  <p:tag name="TEMPFOLDER" val="c:\temp\"/>
</p:tagLst>
</file>

<file path=ppt/tags/tag20.xml><?xml version="1.0" encoding="utf-8"?>
<p:tagLst xmlns:a="http://schemas.openxmlformats.org/drawingml/2006/main" xmlns:r="http://schemas.openxmlformats.org/officeDocument/2006/relationships" xmlns:p="http://schemas.openxmlformats.org/presentationml/2006/main">
  <p:tag name="ORIGINALHEIGHT" val="253.4684"/>
  <p:tag name="ORIGINALWIDTH" val="602.9246"/>
  <p:tag name="OUTPUTDPI" val="1200"/>
  <p:tag name="LATEXADDIN" val="\documentclass{article}&#10;\usepackage{amsmath}&#10;\usepackage{nicefrac}&#10;\pagestyle{empty}&#10;&#10;\newcommand{\diff}{\operatorname{d}}&#10;\newcommand{\sline}{\rule{\textwidth}{1pt}}&#10;\newcommand{\bs}{\boldsymbol}&#10;&#10;\begin{document}&#10;&#10;\begin{equation}&#10;P(C1) = \mathbf{\dfrac{1}{3}}&#10;\nonumber&#10;\end{equation}&#10;&#10;\end{document}"/>
  <p:tag name="IGUANATEXSIZE" val="20"/>
  <p:tag name="IGUANATEXCURSOR" val="251"/>
  <p:tag name="TRANSPARENCY" val="True"/>
  <p:tag name="FILENAME" val=""/>
  <p:tag name="INPUTTYPE" val="0"/>
  <p:tag name="LATEXENGINEID" val="0"/>
  <p:tag name="TEMPFOLDER" val="c:\temp\"/>
</p:tagLst>
</file>

<file path=ppt/tags/tag21.xml><?xml version="1.0" encoding="utf-8"?>
<p:tagLst xmlns:a="http://schemas.openxmlformats.org/drawingml/2006/main" xmlns:r="http://schemas.openxmlformats.org/officeDocument/2006/relationships" xmlns:p="http://schemas.openxmlformats.org/presentationml/2006/main">
  <p:tag name="ORIGINALHEIGHT" val="293.9632"/>
  <p:tag name="ORIGINALWIDTH" val="3029.621"/>
  <p:tag name="OUTPUTDPI" val="1200"/>
  <p:tag name="LATEXADDIN" val="\documentclass{article}&#10;\usepackage{amsmath}&#10;\usepackage{nicefrac}&#10;\pagestyle{empty}&#10;&#10;\newcommand{\diff}{\operatorname{d}}&#10;\newcommand{\sline}{\rule{\textwidth}{1pt}}&#10;\newcommand{\bs}{\boldsymbol}&#10;&#10;\begin{document}&#10;&#10;\begin{equation}&#10;P(C2|H3,G1)&#10;= \frac{P(H3|C2,G1)~P(C2)}{P(H3|G1)}&#10;= \frac{\nicefrac{1}{2} \times \nicefrac{1}{3}}{\nicefrac{1}{2}}&#10;=\mathbf{\dfrac{1}{3}}&#10;\nonumber&#10;\end{equation}&#10;&#10;\end{document}"/>
  <p:tag name="IGUANATEXSIZE" val="20"/>
  <p:tag name="IGUANATEXCURSOR" val="265"/>
  <p:tag name="TRANSPARENCY" val="True"/>
  <p:tag name="FILENAME" val=""/>
  <p:tag name="INPUTTYPE" val="0"/>
  <p:tag name="LATEXENGINEID" val="0"/>
  <p:tag name="TEMPFOLDER" val="c:\temp\"/>
</p:tagLst>
</file>

<file path=ppt/tags/tag22.xml><?xml version="1.0" encoding="utf-8"?>
<p:tagLst xmlns:a="http://schemas.openxmlformats.org/drawingml/2006/main" xmlns:r="http://schemas.openxmlformats.org/officeDocument/2006/relationships" xmlns:p="http://schemas.openxmlformats.org/presentationml/2006/main">
  <p:tag name="ORIGINALHEIGHT" val="251.9685"/>
  <p:tag name="ORIGINALWIDTH" val="1028.871"/>
  <p:tag name="OUTPUTDPI" val="1200"/>
  <p:tag name="LATEXADDIN" val="\documentclass{article}&#10;\usepackage{amsmath}&#10;\usepackage{nicefrac}&#10;\pagestyle{empty}&#10;&#10;\newcommand{\diff}{\operatorname{d}}&#10;\newcommand{\sline}{\rule{\textwidth}{1pt}}&#10;\newcommand{\bs}{\boldsymbol}&#10;&#10;\begin{document}&#10;&#10;\begin{equation}&#10;P(H3|C2,G1) = \mathbf{\frac{1}{2}}&#10;\nonumber&#10;\end{equation}&#10;&#10;\end{document}"/>
  <p:tag name="IGUANATEXSIZE" val="20"/>
  <p:tag name="IGUANATEXCURSOR" val="266"/>
  <p:tag name="TRANSPARENCY" val="True"/>
  <p:tag name="FILENAME" val=""/>
  <p:tag name="INPUTTYPE" val="0"/>
  <p:tag name="LATEXENGINEID" val="0"/>
  <p:tag name="TEMPFOLDER" val="c:\temp\"/>
</p:tagLst>
</file>

<file path=ppt/tags/tag23.xml><?xml version="1.0" encoding="utf-8"?>
<p:tagLst xmlns:a="http://schemas.openxmlformats.org/drawingml/2006/main" xmlns:r="http://schemas.openxmlformats.org/officeDocument/2006/relationships" xmlns:p="http://schemas.openxmlformats.org/presentationml/2006/main">
  <p:tag name="ORIGINALHEIGHT" val="253.4684"/>
  <p:tag name="ORIGINALWIDTH" val="2747.657"/>
  <p:tag name="OUTPUTDPI" val="1200"/>
  <p:tag name="LATEXADDIN" val="\documentclass{article}&#10;\usepackage{amsmath}&#10;\usepackage{nicefrac}&#10;\pagestyle{empty}&#10;&#10;\newcommand{\diff}{\operatorname{d}}&#10;\newcommand{\sline}{\rule{\textwidth}{1pt}}&#10;\newcommand{\bs}{\boldsymbol}&#10;&#10;\begin{document}&#10;&#10;\begin{equation}&#10;P(C2|G1) = P(C1|G1)= P(C3|G1) = P(C2) = \mathbf{\frac{1}{3}}&#10;\nonumber&#10;\end{equation}&#10;&#10;\end{document}"/>
  <p:tag name="IGUANATEXSIZE" val="20"/>
  <p:tag name="IGUANATEXCURSOR" val="273"/>
  <p:tag name="TRANSPARENCY" val="True"/>
  <p:tag name="FILENAME" val=""/>
  <p:tag name="INPUTTYPE" val="0"/>
  <p:tag name="LATEXENGINEID" val="0"/>
  <p:tag name="TEMPFOLDER" val="c:\temp\"/>
</p:tagLst>
</file>

<file path=ppt/tags/tag24.xml><?xml version="1.0" encoding="utf-8"?>
<p:tagLst xmlns:a="http://schemas.openxmlformats.org/drawingml/2006/main" xmlns:r="http://schemas.openxmlformats.org/officeDocument/2006/relationships" xmlns:p="http://schemas.openxmlformats.org/presentationml/2006/main">
  <p:tag name="ORIGINALHEIGHT" val="251.9685"/>
  <p:tag name="ORIGINALWIDTH" val="812.8984"/>
  <p:tag name="OUTPUTDPI" val="1200"/>
  <p:tag name="LATEXADDIN" val="\documentclass{article}&#10;\usepackage{amsmath}&#10;\usepackage{nicefrac}&#10;\pagestyle{empty}&#10;&#10;\newcommand{\diff}{\operatorname{d}}&#10;\newcommand{\sline}{\rule{\textwidth}{1pt}}&#10;\newcommand{\bs}{\boldsymbol}&#10;&#10;\begin{document}&#10;&#10;\begin{equation}&#10;P(H3|G1) = \mathbf{\frac{1}{2}}&#10;\nonumber&#10;\end{equation}&#10;&#10;\end{document}"/>
  <p:tag name="IGUANATEXSIZE" val="20"/>
  <p:tag name="IGUANATEXCURSOR" val="240"/>
  <p:tag name="TRANSPARENCY" val="True"/>
  <p:tag name="FILENAME" val=""/>
  <p:tag name="INPUTTYPE" val="0"/>
  <p:tag name="LATEXENGINEID" val="0"/>
  <p:tag name="TEMPFOLDER" val="c:\temp\"/>
</p:tagLst>
</file>

<file path=ppt/tags/tag25.xml><?xml version="1.0" encoding="utf-8"?>
<p:tagLst xmlns:a="http://schemas.openxmlformats.org/drawingml/2006/main" xmlns:r="http://schemas.openxmlformats.org/officeDocument/2006/relationships" xmlns:p="http://schemas.openxmlformats.org/presentationml/2006/main">
  <p:tag name="OUTPUTDPI" val="1200"/>
  <p:tag name="ORIGINALHEIGHT" val="111.7361"/>
  <p:tag name="ORIGINALWIDTH" val="2782.902"/>
  <p:tag name="LATEXADDIN" val="\documentclass{article}&#10;\usepackage{amsmath}&#10;\pagestyle{empty}&#10;&#10;\newcommand{\diff}{\operatorname{d}}&#10;\newcommand{\sline}{\rule{\textwidth}{1pt}}&#10;\newcommand{\bs}{\boldsymbol}&#10;&#10;\begin{document}&#10;&#10;$m=5 \text{~attributes, variables, features, or dimensions}$&#10;&#10;\end{document}"/>
  <p:tag name="IGUANATEXSIZE" val="20"/>
  <p:tag name="IGUANATEXCURSOR" val="242"/>
  <p:tag name="TRANSPARENCY" val="True"/>
  <p:tag name="FILENAME" val=""/>
  <p:tag name="LATEXENGINEID" val="0"/>
  <p:tag name="TEMPFOLDER" val="c:\temp\"/>
  <p:tag name="LATEXFORMHEIGHT" val="312"/>
  <p:tag name="LATEXFORMWIDTH" val="384"/>
  <p:tag name="LATEXFORMWRAP" val="True"/>
  <p:tag name="BITMAPVECTOR" val="0"/>
</p:tagLst>
</file>

<file path=ppt/tags/tag26.xml><?xml version="1.0" encoding="utf-8"?>
<p:tagLst xmlns:a="http://schemas.openxmlformats.org/drawingml/2006/main" xmlns:r="http://schemas.openxmlformats.org/officeDocument/2006/relationships" xmlns:p="http://schemas.openxmlformats.org/presentationml/2006/main">
  <p:tag name="ORIGINALHEIGHT" val="85.48929"/>
  <p:tag name="ORIGINALWIDTH" val="93.73827"/>
  <p:tag name="OUTPUTDPI" val="1200"/>
  <p:tag name="LATEXADDIN" val="\documentclass{article}&#10;\usepackage{amsmath}&#10;\pagestyle{empty}&#10;&#10;\newcommand{\diff}{\operatorname{d}}&#10;\newcommand{\sline}{\rule{\textwidth}{1pt}}&#10;\newcommand{\bs}{\boldsymbol}&#10;&#10;\begin{document}&#10;&#10;$\mathcal{D}$&#10;&#10;\end{document}"/>
  <p:tag name="IGUANATEXSIZE" val="20"/>
  <p:tag name="IGUANATEXCURSOR" val="206"/>
  <p:tag name="TRANSPARENCY" val="True"/>
  <p:tag name="FILENAME" val=""/>
  <p:tag name="INPUTTYPE" val="0"/>
  <p:tag name="LATEXENGINEID" val="0"/>
  <p:tag name="TEMPFOLDER" val="c:\temp\"/>
</p:tagLst>
</file>

<file path=ppt/tags/tag27.xml><?xml version="1.0" encoding="utf-8"?>
<p:tagLst xmlns:a="http://schemas.openxmlformats.org/drawingml/2006/main" xmlns:r="http://schemas.openxmlformats.org/officeDocument/2006/relationships" xmlns:p="http://schemas.openxmlformats.org/presentationml/2006/main">
  <p:tag name="ORIGINALHEIGHT" val="124.4844"/>
  <p:tag name="ORIGINALWIDTH" val="1190.101"/>
  <p:tag name="OUTPUTDPI" val="1200"/>
  <p:tag name="LATEXADDIN" val="\documentclass{article}&#10;\usepackage{amsmath}&#10;\pagestyle{empty}&#10;&#10;\newcommand{\diff}{\operatorname{d}}&#10;\newcommand{\sline}{\rule{\textwidth}{1pt}}&#10;\newcommand{\bs}{\boldsymbol}&#10;&#10;\begin{document}&#10;&#10;$\mathcal{D}=\{\bs{D}_1,\bs{D}_2,...,\bs{D}_n\}$&#10;&#10;\end{document}"/>
  <p:tag name="IGUANATEXSIZE" val="20"/>
  <p:tag name="IGUANATEXCURSOR" val="242"/>
  <p:tag name="TRANSPARENCY" val="True"/>
  <p:tag name="FILENAME" val=""/>
  <p:tag name="INPUTTYPE" val="0"/>
  <p:tag name="LATEXENGINEID" val="0"/>
  <p:tag name="TEMPFOLDER" val="c:\temp\"/>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ew_Wordmark">
  <a:themeElements>
    <a:clrScheme name="Custom 11">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040300"/>
      </a:hlink>
      <a:folHlink>
        <a:srgbClr val="96A9A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834</TotalTime>
  <Words>5538</Words>
  <Application>Microsoft Office PowerPoint</Application>
  <PresentationFormat>On-screen Show (4:3)</PresentationFormat>
  <Paragraphs>595</Paragraphs>
  <Slides>45</Slides>
  <Notes>45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45</vt:i4>
      </vt:variant>
    </vt:vector>
  </HeadingPairs>
  <TitlesOfParts>
    <vt:vector size="53" baseType="lpstr">
      <vt:lpstr>Arial</vt:lpstr>
      <vt:lpstr>Calibri</vt:lpstr>
      <vt:lpstr>Calibri Light</vt:lpstr>
      <vt:lpstr>Cambria Math</vt:lpstr>
      <vt:lpstr>Times New Roman</vt:lpstr>
      <vt:lpstr>Times-Roman</vt:lpstr>
      <vt:lpstr>Office Theme</vt:lpstr>
      <vt:lpstr>New_Wordmark</vt:lpstr>
      <vt:lpstr>PowerPoint Presentation</vt:lpstr>
      <vt:lpstr>The two classical pillars of science: Experiment and Theory</vt:lpstr>
      <vt:lpstr>The two classical pillars of science: Experiment and Theory</vt:lpstr>
      <vt:lpstr>The desiderata of Probability Theory</vt:lpstr>
      <vt:lpstr>An example of correspondence with common sense</vt:lpstr>
      <vt:lpstr>An example of correspondence with common sense</vt:lpstr>
      <vt:lpstr>An example of correspondence with common sense</vt:lpstr>
      <vt:lpstr>Probability is real number whose range must be either [0,1] or [1,+infinity]</vt:lpstr>
      <vt:lpstr>The product Rule (A prelude to the Bayesian Probability Theory)</vt:lpstr>
      <vt:lpstr>A Tug-of-War in the History of Probability Theory</vt:lpstr>
      <vt:lpstr>Two Philosophically distinct approaches to Scientific inference</vt:lpstr>
      <vt:lpstr>Two Philosophically distinct approaches to Scientific inference</vt:lpstr>
      <vt:lpstr>Digression: Bayes rule - The optimal method of inference</vt:lpstr>
      <vt:lpstr>Digression: Bayes rule - The optimal method of inference</vt:lpstr>
      <vt:lpstr>PowerPoint Presentation</vt:lpstr>
      <vt:lpstr>Digression: Bayes rule - The optimal method of inference</vt:lpstr>
      <vt:lpstr>Digression: Bayes rule - The optimal method of inference</vt:lpstr>
      <vt:lpstr>PowerPoint Presentation</vt:lpstr>
      <vt:lpstr>PowerPoint Presentation</vt:lpstr>
      <vt:lpstr>There is only one type of uncertainty in the world – epistemic</vt:lpstr>
      <vt:lpstr>There is only one type of uncertainty in the world – epistemic</vt:lpstr>
      <vt:lpstr>There is only one type of uncertainty in the world – epistemic</vt:lpstr>
      <vt:lpstr>Observations, random variables, and the likelihood principle</vt:lpstr>
      <vt:lpstr>What is a Data Object?</vt:lpstr>
      <vt:lpstr>What is a Data Attribute?</vt:lpstr>
      <vt:lpstr>What are the kinds of Data Attribute?</vt:lpstr>
      <vt:lpstr>What are the kinds of Data Attribute?</vt:lpstr>
      <vt:lpstr>Basic Data Summarization Techniques</vt:lpstr>
      <vt:lpstr>Basic Data Summarization Techniques</vt:lpstr>
      <vt:lpstr>Basic Data Summarization Techniques</vt:lpstr>
      <vt:lpstr>Basic Data Summarization Techniques</vt:lpstr>
      <vt:lpstr>Basic Data Summarization Techniques</vt:lpstr>
      <vt:lpstr>Basic Data Summarization Techniques</vt:lpstr>
      <vt:lpstr>Basic Data Summarization Techniques</vt:lpstr>
      <vt:lpstr>Basic Data Summarization Techniques (optional)</vt:lpstr>
      <vt:lpstr>Basic Data Summarization Techniques (optional)</vt:lpstr>
      <vt:lpstr>Basic Data Summarization Techniques</vt:lpstr>
      <vt:lpstr>Time Series Data</vt:lpstr>
      <vt:lpstr>Time Series Data</vt:lpstr>
      <vt:lpstr>Correlation, Dependence, and Causation</vt:lpstr>
      <vt:lpstr>Correlation, Dependence, and Causation</vt:lpstr>
      <vt:lpstr>Time Series Data</vt:lpstr>
      <vt:lpstr>Correlation, Dependence, and Causation</vt:lpstr>
      <vt:lpstr>Correlation, Dependence, and Causation</vt:lpstr>
      <vt:lpstr>Correlation, Dependence, and Causation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Shahmoradi, Amir</dc:creator>
  <cp:lastModifiedBy>Shahmoradi, Amir</cp:lastModifiedBy>
  <cp:revision>123</cp:revision>
  <dcterms:created xsi:type="dcterms:W3CDTF">2020-09-30T17:58:36Z</dcterms:created>
  <dcterms:modified xsi:type="dcterms:W3CDTF">2024-04-24T20:48:44Z</dcterms:modified>
</cp:coreProperties>
</file>